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[도입부 30초]
- "작년 11월, 신규 입사자가 한꺼번에 17명 들어왔습니다. 그달 교육일지 7건이 누락됐습니다."
- "종이로는 누가 빠졌는지 볼 방법이 없었기 때문입니다."
- "올해 6월, 그보다 많은 24건이 몰렸지만 누락은 0건이었습니다. 무엇이 달라졌는지 말씀드리겠습니다."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"PDCA 순서로 말씀드리겠습니다." (5초, 바로 넘김)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김광현: 총괄 / 장은선(보건관리자): 플랫폼 기획 · 직접 코딩 / 장종문(안전관리자): MSDS · AI 위험성평가
- 4월 1주 프로토타입 → 고위험 부서 우선 → 전 부서 확대
- 8~10월 표준화 이후 AI 고도화 (Slide 11)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교육 미이행 시 과태료, 중대재해 시 교육 이행 기록이 핵심 증빙
- 인증 조사 때 바인더를 넘기며 누락자를 찾던 경험
- 근거: 산안법 제29조, 인증기준 10.7 · 11.3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1"/>
          <p:cNvSpPr txBox="1"/>
          <p:nvPr/>
        </p:nvSpPr>
        <p:spPr>
          <a:xfrm>
            <a:off x="609600" y="6096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A1F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QI 경진대회 · 구연 발표</a:t>
            </a:r>
            <a:endParaRPr lang="en-US" sz="1200" dirty="0"/>
          </a:p>
        </p:txBody>
      </p:sp>
      <p:sp>
        <p:nvSpPr>
          <p:cNvPr id="3" name="o2"/>
          <p:cNvSpPr txBox="1"/>
          <p:nvPr/>
        </p:nvSpPr>
        <p:spPr>
          <a:xfrm>
            <a:off x="609600" y="2152650"/>
            <a:ext cx="647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통합 안전보건 플랫폼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구축을 통한 업무 효율성 증가</a:t>
            </a:r>
            <a:endParaRPr lang="en-US" sz="3400" dirty="0"/>
          </a:p>
        </p:txBody>
      </p:sp>
      <p:sp>
        <p:nvSpPr>
          <p:cNvPr id="4" name="o3"/>
          <p:cNvSpPr txBox="1"/>
          <p:nvPr/>
        </p:nvSpPr>
        <p:spPr>
          <a:xfrm>
            <a:off x="609600" y="3733800"/>
            <a:ext cx="5715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of an AI-integrated occupational safety and health platform for improved work efficiency</a:t>
            </a:r>
            <a:endParaRPr lang="en-US" sz="1300" dirty="0"/>
          </a:p>
        </p:txBody>
      </p:sp>
      <p:sp>
        <p:nvSpPr>
          <p:cNvPr id="5" name="o4"/>
          <p:cNvSpPr txBox="1"/>
          <p:nvPr/>
        </p:nvSpPr>
        <p:spPr>
          <a:xfrm>
            <a:off x="609600" y="5334000"/>
            <a:ext cx="609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총무-안전보건팀 (Safety First)</a:t>
            </a:r>
            <a:endParaRPr lang="en-US" sz="1600" dirty="0"/>
          </a:p>
        </p:txBody>
      </p:sp>
      <p:sp>
        <p:nvSpPr>
          <p:cNvPr id="6" name="o5"/>
          <p:cNvSpPr txBox="1"/>
          <p:nvPr/>
        </p:nvSpPr>
        <p:spPr>
          <a:xfrm>
            <a:off x="609600" y="5638800"/>
            <a:ext cx="609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6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장은선 · 팀장 김광현 · 팀원 장종문 · 인당의료재단 부민병원</a:t>
            </a:r>
            <a:endParaRPr lang="en-US" sz="1300" dirty="0"/>
          </a:p>
        </p:txBody>
      </p:sp>
      <p:sp>
        <p:nvSpPr>
          <p:cNvPr id="7" name="o6"/>
          <p:cNvSpPr/>
          <p:nvPr/>
        </p:nvSpPr>
        <p:spPr>
          <a:xfrm>
            <a:off x="7239000" y="609600"/>
            <a:ext cx="4343400" cy="5638800"/>
          </a:xfrm>
          <a:prstGeom prst="roundRect">
            <a:avLst>
              <a:gd name="adj" fmla="val 6140"/>
            </a:avLst>
          </a:prstGeom>
          <a:solidFill>
            <a:srgbClr val="F5F5F7"/>
          </a:solidFill>
          <a:ln/>
        </p:spPr>
      </p:sp>
      <p:sp>
        <p:nvSpPr>
          <p:cNvPr id="8" name="o7"/>
          <p:cNvSpPr txBox="1"/>
          <p:nvPr/>
        </p:nvSpPr>
        <p:spPr>
          <a:xfrm>
            <a:off x="7620000" y="952500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36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전(2025) → 개선 후(2026.05–07)</a:t>
            </a:r>
            <a:endParaRPr lang="en-US" sz="1200" dirty="0"/>
          </a:p>
        </p:txBody>
      </p:sp>
      <p:sp>
        <p:nvSpPr>
          <p:cNvPr id="9" name="o8"/>
          <p:cNvSpPr txBox="1"/>
          <p:nvPr/>
        </p:nvSpPr>
        <p:spPr>
          <a:xfrm>
            <a:off x="7620000" y="1428750"/>
            <a:ext cx="358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6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특별교육 행정시간</a:t>
            </a:r>
            <a:endParaRPr lang="en-US" sz="1300" dirty="0"/>
          </a:p>
        </p:txBody>
      </p:sp>
      <p:sp>
        <p:nvSpPr>
          <p:cNvPr id="10" name="o9"/>
          <p:cNvSpPr txBox="1"/>
          <p:nvPr/>
        </p:nvSpPr>
        <p:spPr>
          <a:xfrm>
            <a:off x="7620000" y="1676400"/>
            <a:ext cx="3581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−93%</a:t>
            </a:r>
            <a:endParaRPr lang="en-US" sz="5000" dirty="0"/>
          </a:p>
        </p:txBody>
      </p:sp>
      <p:sp>
        <p:nvSpPr>
          <p:cNvPr id="11" name="o10"/>
          <p:cNvSpPr txBox="1"/>
          <p:nvPr/>
        </p:nvSpPr>
        <p:spPr>
          <a:xfrm>
            <a:off x="7620000" y="2419350"/>
            <a:ext cx="358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33:48 → 2:22 (분:초)</a:t>
            </a:r>
            <a:endParaRPr lang="en-US" sz="1200" dirty="0"/>
          </a:p>
        </p:txBody>
      </p:sp>
      <p:sp>
        <p:nvSpPr>
          <p:cNvPr id="12" name="o11"/>
          <p:cNvSpPr/>
          <p:nvPr/>
        </p:nvSpPr>
        <p:spPr>
          <a:xfrm>
            <a:off x="7620000" y="2876550"/>
            <a:ext cx="358140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3" name="o12"/>
          <p:cNvSpPr txBox="1"/>
          <p:nvPr/>
        </p:nvSpPr>
        <p:spPr>
          <a:xfrm>
            <a:off x="7620000" y="3009900"/>
            <a:ext cx="358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6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법정교육 누락</a:t>
            </a:r>
            <a:endParaRPr lang="en-US" sz="1300" dirty="0"/>
          </a:p>
        </p:txBody>
      </p:sp>
      <p:sp>
        <p:nvSpPr>
          <p:cNvPr id="14" name="o13"/>
          <p:cNvSpPr txBox="1"/>
          <p:nvPr/>
        </p:nvSpPr>
        <p:spPr>
          <a:xfrm>
            <a:off x="7620000" y="3257550"/>
            <a:ext cx="3581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→ 0건</a:t>
            </a:r>
            <a:endParaRPr lang="en-US" sz="5000" dirty="0"/>
          </a:p>
        </p:txBody>
      </p:sp>
      <p:sp>
        <p:nvSpPr>
          <p:cNvPr id="15" name="o14"/>
          <p:cNvSpPr txBox="1"/>
          <p:nvPr/>
        </p:nvSpPr>
        <p:spPr>
          <a:xfrm>
            <a:off x="7620000" y="4000500"/>
            <a:ext cx="358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준수율 83% → 100%</a:t>
            </a:r>
            <a:endParaRPr lang="en-US" sz="1200" dirty="0"/>
          </a:p>
        </p:txBody>
      </p:sp>
      <p:sp>
        <p:nvSpPr>
          <p:cNvPr id="16" name="o15"/>
          <p:cNvSpPr/>
          <p:nvPr/>
        </p:nvSpPr>
        <p:spPr>
          <a:xfrm>
            <a:off x="7620000" y="4457700"/>
            <a:ext cx="358140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7" name="o16"/>
          <p:cNvSpPr txBox="1"/>
          <p:nvPr/>
        </p:nvSpPr>
        <p:spPr>
          <a:xfrm>
            <a:off x="7620000" y="4591050"/>
            <a:ext cx="358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6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종이 출력</a:t>
            </a:r>
            <a:endParaRPr lang="en-US" sz="1300" dirty="0"/>
          </a:p>
        </p:txBody>
      </p:sp>
      <p:sp>
        <p:nvSpPr>
          <p:cNvPr id="18" name="o17"/>
          <p:cNvSpPr txBox="1"/>
          <p:nvPr/>
        </p:nvSpPr>
        <p:spPr>
          <a:xfrm>
            <a:off x="7620000" y="4838700"/>
            <a:ext cx="3581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 → 0건</a:t>
            </a:r>
            <a:endParaRPr lang="en-US" sz="5000" dirty="0"/>
          </a:p>
        </p:txBody>
      </p:sp>
      <p:sp>
        <p:nvSpPr>
          <p:cNvPr id="19" name="o18"/>
          <p:cNvSpPr txBox="1"/>
          <p:nvPr/>
        </p:nvSpPr>
        <p:spPr>
          <a:xfrm>
            <a:off x="7620000" y="5581650"/>
            <a:ext cx="358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페이퍼리스 0% → 100%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19"/>
          <p:cNvSpPr txBox="1"/>
          <p:nvPr/>
        </p:nvSpPr>
        <p:spPr>
          <a:xfrm>
            <a:off x="609600" y="4191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1F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1000" dirty="0"/>
          </a:p>
        </p:txBody>
      </p:sp>
      <p:sp>
        <p:nvSpPr>
          <p:cNvPr id="3" name="o20"/>
          <p:cNvSpPr txBox="1"/>
          <p:nvPr/>
        </p:nvSpPr>
        <p:spPr>
          <a:xfrm>
            <a:off x="609600" y="66675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o21"/>
          <p:cNvSpPr txBox="1"/>
          <p:nvPr/>
        </p:nvSpPr>
        <p:spPr>
          <a:xfrm>
            <a:off x="609600" y="1162050"/>
            <a:ext cx="10972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PDCA 4단계 순서로 말씀드립니다</a:t>
            </a:r>
            <a:endParaRPr lang="en-US" sz="1500" dirty="0"/>
          </a:p>
        </p:txBody>
      </p:sp>
      <p:sp>
        <p:nvSpPr>
          <p:cNvPr id="5" name="o22"/>
          <p:cNvSpPr txBox="1"/>
          <p:nvPr/>
        </p:nvSpPr>
        <p:spPr>
          <a:xfrm>
            <a:off x="609600" y="647700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부산부민병원 안전보건 통합관리 시스템</a:t>
            </a:r>
            <a:endParaRPr lang="en-US" sz="900" dirty="0"/>
          </a:p>
        </p:txBody>
      </p:sp>
      <p:sp>
        <p:nvSpPr>
          <p:cNvPr id="6" name="o23"/>
          <p:cNvSpPr txBox="1"/>
          <p:nvPr/>
        </p:nvSpPr>
        <p:spPr>
          <a:xfrm>
            <a:off x="10629900" y="647700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o24"/>
          <p:cNvSpPr/>
          <p:nvPr/>
        </p:nvSpPr>
        <p:spPr>
          <a:xfrm>
            <a:off x="609600" y="1676400"/>
            <a:ext cx="2600325" cy="4476750"/>
          </a:xfrm>
          <a:prstGeom prst="roundRect">
            <a:avLst>
              <a:gd name="adj" fmla="val 7326"/>
            </a:avLst>
          </a:prstGeom>
          <a:solidFill>
            <a:srgbClr val="F5F5F7"/>
          </a:solidFill>
          <a:ln/>
        </p:spPr>
      </p:sp>
      <p:sp>
        <p:nvSpPr>
          <p:cNvPr id="8" name="o25"/>
          <p:cNvSpPr txBox="1"/>
          <p:nvPr/>
        </p:nvSpPr>
        <p:spPr>
          <a:xfrm>
            <a:off x="914400" y="1962150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6400" dirty="0"/>
          </a:p>
        </p:txBody>
      </p:sp>
      <p:sp>
        <p:nvSpPr>
          <p:cNvPr id="9" name="o26"/>
          <p:cNvSpPr txBox="1"/>
          <p:nvPr/>
        </p:nvSpPr>
        <p:spPr>
          <a:xfrm>
            <a:off x="933450" y="2876550"/>
            <a:ext cx="1990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400" dirty="0"/>
          </a:p>
        </p:txBody>
      </p:sp>
      <p:sp>
        <p:nvSpPr>
          <p:cNvPr id="10" name="o27"/>
          <p:cNvSpPr txBox="1"/>
          <p:nvPr/>
        </p:nvSpPr>
        <p:spPr>
          <a:xfrm>
            <a:off x="895350" y="3352800"/>
            <a:ext cx="2143125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 배경</a:t>
            </a:r>
            <a:endParaRPr lang="en-US" sz="15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 분석</a:t>
            </a:r>
            <a:endParaRPr lang="en-US" sz="15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 정의 · 목표</a:t>
            </a:r>
            <a:endParaRPr lang="en-US" sz="15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분석 · 개선 전략</a:t>
            </a:r>
            <a:endParaRPr lang="en-US" sz="1500" dirty="0"/>
          </a:p>
        </p:txBody>
      </p:sp>
      <p:sp>
        <p:nvSpPr>
          <p:cNvPr id="11" name="o28"/>
          <p:cNvSpPr txBox="1"/>
          <p:nvPr/>
        </p:nvSpPr>
        <p:spPr>
          <a:xfrm>
            <a:off x="933450" y="5772150"/>
            <a:ext cx="1990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04 – 07</a:t>
            </a:r>
            <a:endParaRPr lang="en-US" sz="1000" dirty="0"/>
          </a:p>
        </p:txBody>
      </p:sp>
      <p:sp>
        <p:nvSpPr>
          <p:cNvPr id="12" name="o29"/>
          <p:cNvSpPr/>
          <p:nvPr/>
        </p:nvSpPr>
        <p:spPr>
          <a:xfrm>
            <a:off x="3400425" y="1676400"/>
            <a:ext cx="2600325" cy="4476750"/>
          </a:xfrm>
          <a:prstGeom prst="roundRect">
            <a:avLst>
              <a:gd name="adj" fmla="val 7326"/>
            </a:avLst>
          </a:prstGeom>
          <a:solidFill>
            <a:srgbClr val="F5F5F7"/>
          </a:solidFill>
          <a:ln/>
        </p:spPr>
      </p:sp>
      <p:sp>
        <p:nvSpPr>
          <p:cNvPr id="13" name="o30"/>
          <p:cNvSpPr txBox="1"/>
          <p:nvPr/>
        </p:nvSpPr>
        <p:spPr>
          <a:xfrm>
            <a:off x="3705225" y="1962150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6400" dirty="0"/>
          </a:p>
        </p:txBody>
      </p:sp>
      <p:sp>
        <p:nvSpPr>
          <p:cNvPr id="14" name="o31"/>
          <p:cNvSpPr txBox="1"/>
          <p:nvPr/>
        </p:nvSpPr>
        <p:spPr>
          <a:xfrm>
            <a:off x="3724275" y="2876550"/>
            <a:ext cx="1990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</a:t>
            </a:r>
            <a:endParaRPr lang="en-US" sz="1400" dirty="0"/>
          </a:p>
        </p:txBody>
      </p:sp>
      <p:sp>
        <p:nvSpPr>
          <p:cNvPr id="15" name="o32"/>
          <p:cNvSpPr txBox="1"/>
          <p:nvPr/>
        </p:nvSpPr>
        <p:spPr>
          <a:xfrm>
            <a:off x="3686175" y="3352800"/>
            <a:ext cx="2143125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6대 모듈 구축</a:t>
            </a:r>
            <a:endParaRPr lang="en-US" sz="15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시연</a:t>
            </a:r>
            <a:endParaRPr lang="en-US" sz="1500" dirty="0"/>
          </a:p>
        </p:txBody>
      </p:sp>
      <p:sp>
        <p:nvSpPr>
          <p:cNvPr id="16" name="o33"/>
          <p:cNvSpPr txBox="1"/>
          <p:nvPr/>
        </p:nvSpPr>
        <p:spPr>
          <a:xfrm>
            <a:off x="3724275" y="5772150"/>
            <a:ext cx="1990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08</a:t>
            </a:r>
            <a:endParaRPr lang="en-US" sz="1000" dirty="0"/>
          </a:p>
        </p:txBody>
      </p:sp>
      <p:sp>
        <p:nvSpPr>
          <p:cNvPr id="17" name="o34"/>
          <p:cNvSpPr/>
          <p:nvPr/>
        </p:nvSpPr>
        <p:spPr>
          <a:xfrm>
            <a:off x="6191250" y="1676400"/>
            <a:ext cx="2600325" cy="4476750"/>
          </a:xfrm>
          <a:prstGeom prst="roundRect">
            <a:avLst>
              <a:gd name="adj" fmla="val 7326"/>
            </a:avLst>
          </a:prstGeom>
          <a:solidFill>
            <a:srgbClr val="F5F5F7"/>
          </a:solidFill>
          <a:ln/>
        </p:spPr>
      </p:sp>
      <p:sp>
        <p:nvSpPr>
          <p:cNvPr id="18" name="o35"/>
          <p:cNvSpPr txBox="1"/>
          <p:nvPr/>
        </p:nvSpPr>
        <p:spPr>
          <a:xfrm>
            <a:off x="6496050" y="1962150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6400" dirty="0"/>
          </a:p>
        </p:txBody>
      </p:sp>
      <p:sp>
        <p:nvSpPr>
          <p:cNvPr id="19" name="o36"/>
          <p:cNvSpPr txBox="1"/>
          <p:nvPr/>
        </p:nvSpPr>
        <p:spPr>
          <a:xfrm>
            <a:off x="6515100" y="2876550"/>
            <a:ext cx="1990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</a:t>
            </a:r>
            <a:endParaRPr lang="en-US" sz="1400" dirty="0"/>
          </a:p>
        </p:txBody>
      </p:sp>
      <p:sp>
        <p:nvSpPr>
          <p:cNvPr id="20" name="o37"/>
          <p:cNvSpPr txBox="1"/>
          <p:nvPr/>
        </p:nvSpPr>
        <p:spPr>
          <a:xfrm>
            <a:off x="6477000" y="3352800"/>
            <a:ext cx="2143125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법정교육 준수율</a:t>
            </a:r>
            <a:endParaRPr lang="en-US" sz="15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페이퍼리스 전환율</a:t>
            </a:r>
            <a:endParaRPr lang="en-US" sz="15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 소요시간</a:t>
            </a:r>
            <a:endParaRPr lang="en-US" sz="1500" dirty="0"/>
          </a:p>
        </p:txBody>
      </p:sp>
      <p:sp>
        <p:nvSpPr>
          <p:cNvPr id="21" name="o38"/>
          <p:cNvSpPr txBox="1"/>
          <p:nvPr/>
        </p:nvSpPr>
        <p:spPr>
          <a:xfrm>
            <a:off x="6515100" y="5772150"/>
            <a:ext cx="1990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09 – 10</a:t>
            </a:r>
            <a:endParaRPr lang="en-US" sz="1000" dirty="0"/>
          </a:p>
        </p:txBody>
      </p:sp>
      <p:sp>
        <p:nvSpPr>
          <p:cNvPr id="22" name="o39"/>
          <p:cNvSpPr/>
          <p:nvPr/>
        </p:nvSpPr>
        <p:spPr>
          <a:xfrm>
            <a:off x="8982075" y="1676400"/>
            <a:ext cx="2600325" cy="4476750"/>
          </a:xfrm>
          <a:prstGeom prst="roundRect">
            <a:avLst>
              <a:gd name="adj" fmla="val 7326"/>
            </a:avLst>
          </a:prstGeom>
          <a:solidFill>
            <a:srgbClr val="F5F5F7"/>
          </a:solidFill>
          <a:ln/>
        </p:spPr>
      </p:sp>
      <p:sp>
        <p:nvSpPr>
          <p:cNvPr id="23" name="o40"/>
          <p:cNvSpPr txBox="1"/>
          <p:nvPr/>
        </p:nvSpPr>
        <p:spPr>
          <a:xfrm>
            <a:off x="9286875" y="1962150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6400" dirty="0"/>
          </a:p>
        </p:txBody>
      </p:sp>
      <p:sp>
        <p:nvSpPr>
          <p:cNvPr id="24" name="o41"/>
          <p:cNvSpPr txBox="1"/>
          <p:nvPr/>
        </p:nvSpPr>
        <p:spPr>
          <a:xfrm>
            <a:off x="9305925" y="2876550"/>
            <a:ext cx="1990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</a:t>
            </a:r>
            <a:endParaRPr lang="en-US" sz="1400" dirty="0"/>
          </a:p>
        </p:txBody>
      </p:sp>
      <p:sp>
        <p:nvSpPr>
          <p:cNvPr id="25" name="o42"/>
          <p:cNvSpPr txBox="1"/>
          <p:nvPr/>
        </p:nvSpPr>
        <p:spPr>
          <a:xfrm>
            <a:off x="9267825" y="3352800"/>
            <a:ext cx="2143125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</a:t>
            </a:r>
            <a:endParaRPr lang="en-US" sz="15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통합 플랫폼 고도화</a:t>
            </a:r>
            <a:endParaRPr lang="en-US" sz="15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제언</a:t>
            </a:r>
            <a:endParaRPr lang="en-US" sz="1500" dirty="0"/>
          </a:p>
        </p:txBody>
      </p:sp>
      <p:sp>
        <p:nvSpPr>
          <p:cNvPr id="26" name="o43"/>
          <p:cNvSpPr txBox="1"/>
          <p:nvPr/>
        </p:nvSpPr>
        <p:spPr>
          <a:xfrm>
            <a:off x="9305925" y="5772150"/>
            <a:ext cx="1990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–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44"/>
          <p:cNvSpPr txBox="1"/>
          <p:nvPr/>
        </p:nvSpPr>
        <p:spPr>
          <a:xfrm>
            <a:off x="609600" y="4191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1F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</a:t>
            </a:r>
            <a:endParaRPr lang="en-US" sz="1000" dirty="0"/>
          </a:p>
        </p:txBody>
      </p:sp>
      <p:sp>
        <p:nvSpPr>
          <p:cNvPr id="3" name="o45"/>
          <p:cNvSpPr txBox="1"/>
          <p:nvPr/>
        </p:nvSpPr>
        <p:spPr>
          <a:xfrm>
            <a:off x="609600" y="66675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3명의 팀이 외부 개발 없이 기획부터 표준화까지 직접 수행했다</a:t>
            </a:r>
            <a:endParaRPr lang="en-US" sz="2800" dirty="0"/>
          </a:p>
        </p:txBody>
      </p:sp>
      <p:sp>
        <p:nvSpPr>
          <p:cNvPr id="4" name="o46"/>
          <p:cNvSpPr txBox="1"/>
          <p:nvPr/>
        </p:nvSpPr>
        <p:spPr>
          <a:xfrm>
            <a:off x="609600" y="1162050"/>
            <a:ext cx="10972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구성 · 1–10월 활동 일정</a:t>
            </a:r>
            <a:endParaRPr lang="en-US" sz="1500" dirty="0"/>
          </a:p>
        </p:txBody>
      </p:sp>
      <p:sp>
        <p:nvSpPr>
          <p:cNvPr id="5" name="o47"/>
          <p:cNvSpPr txBox="1"/>
          <p:nvPr/>
        </p:nvSpPr>
        <p:spPr>
          <a:xfrm>
            <a:off x="609600" y="647700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부산부민병원 안전보건 통합관리 시스템</a:t>
            </a:r>
            <a:endParaRPr lang="en-US" sz="900" dirty="0"/>
          </a:p>
        </p:txBody>
      </p:sp>
      <p:sp>
        <p:nvSpPr>
          <p:cNvPr id="6" name="o48"/>
          <p:cNvSpPr txBox="1"/>
          <p:nvPr/>
        </p:nvSpPr>
        <p:spPr>
          <a:xfrm>
            <a:off x="10629900" y="647700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o49"/>
          <p:cNvSpPr/>
          <p:nvPr/>
        </p:nvSpPr>
        <p:spPr>
          <a:xfrm>
            <a:off x="609600" y="1676400"/>
            <a:ext cx="3530600" cy="1066800"/>
          </a:xfrm>
          <a:prstGeom prst="roundRect">
            <a:avLst>
              <a:gd name="adj" fmla="val 17857"/>
            </a:avLst>
          </a:prstGeom>
          <a:solidFill>
            <a:srgbClr val="F5F5F7"/>
          </a:solidFill>
          <a:ln/>
        </p:spPr>
      </p:sp>
      <p:sp>
        <p:nvSpPr>
          <p:cNvPr id="8" name="o50"/>
          <p:cNvSpPr/>
          <p:nvPr/>
        </p:nvSpPr>
        <p:spPr>
          <a:xfrm>
            <a:off x="838200" y="1943100"/>
            <a:ext cx="533400" cy="53340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9" name="o51"/>
          <p:cNvSpPr txBox="1"/>
          <p:nvPr/>
        </p:nvSpPr>
        <p:spPr>
          <a:xfrm>
            <a:off x="838200" y="1943100"/>
            <a:ext cx="53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</a:t>
            </a:r>
            <a:endParaRPr lang="en-US" sz="1800" dirty="0"/>
          </a:p>
        </p:txBody>
      </p:sp>
      <p:sp>
        <p:nvSpPr>
          <p:cNvPr id="10" name="o52"/>
          <p:cNvSpPr txBox="1"/>
          <p:nvPr/>
        </p:nvSpPr>
        <p:spPr>
          <a:xfrm>
            <a:off x="1562100" y="1924050"/>
            <a:ext cx="2387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김광현</a:t>
            </a:r>
            <a:endParaRPr lang="en-US" sz="1800" dirty="0"/>
          </a:p>
        </p:txBody>
      </p:sp>
      <p:sp>
        <p:nvSpPr>
          <p:cNvPr id="11" name="o53"/>
          <p:cNvSpPr txBox="1"/>
          <p:nvPr/>
        </p:nvSpPr>
        <p:spPr>
          <a:xfrm>
            <a:off x="1562100" y="2190750"/>
            <a:ext cx="2387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</a:t>
            </a:r>
            <a:endParaRPr lang="en-US" sz="1100" dirty="0"/>
          </a:p>
        </p:txBody>
      </p:sp>
      <p:sp>
        <p:nvSpPr>
          <p:cNvPr id="12" name="o54"/>
          <p:cNvSpPr txBox="1"/>
          <p:nvPr/>
        </p:nvSpPr>
        <p:spPr>
          <a:xfrm>
            <a:off x="1562100" y="2381250"/>
            <a:ext cx="2387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6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총괄</a:t>
            </a:r>
            <a:endParaRPr lang="en-US" sz="1100" dirty="0"/>
          </a:p>
        </p:txBody>
      </p:sp>
      <p:sp>
        <p:nvSpPr>
          <p:cNvPr id="13" name="o55"/>
          <p:cNvSpPr/>
          <p:nvPr/>
        </p:nvSpPr>
        <p:spPr>
          <a:xfrm>
            <a:off x="4330700" y="1676400"/>
            <a:ext cx="3530600" cy="1066800"/>
          </a:xfrm>
          <a:prstGeom prst="roundRect">
            <a:avLst>
              <a:gd name="adj" fmla="val 17857"/>
            </a:avLst>
          </a:prstGeom>
          <a:solidFill>
            <a:srgbClr val="F5F5F7"/>
          </a:solidFill>
          <a:ln/>
        </p:spPr>
      </p:sp>
      <p:sp>
        <p:nvSpPr>
          <p:cNvPr id="14" name="o56"/>
          <p:cNvSpPr/>
          <p:nvPr/>
        </p:nvSpPr>
        <p:spPr>
          <a:xfrm>
            <a:off x="4559300" y="1943100"/>
            <a:ext cx="533400" cy="53340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15" name="o57"/>
          <p:cNvSpPr txBox="1"/>
          <p:nvPr/>
        </p:nvSpPr>
        <p:spPr>
          <a:xfrm>
            <a:off x="4559300" y="1943100"/>
            <a:ext cx="53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</a:t>
            </a:r>
            <a:endParaRPr lang="en-US" sz="1800" dirty="0"/>
          </a:p>
        </p:txBody>
      </p:sp>
      <p:sp>
        <p:nvSpPr>
          <p:cNvPr id="16" name="o58"/>
          <p:cNvSpPr txBox="1"/>
          <p:nvPr/>
        </p:nvSpPr>
        <p:spPr>
          <a:xfrm>
            <a:off x="5283200" y="1924050"/>
            <a:ext cx="2387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장은선</a:t>
            </a:r>
            <a:endParaRPr lang="en-US" sz="1800" dirty="0"/>
          </a:p>
        </p:txBody>
      </p:sp>
      <p:sp>
        <p:nvSpPr>
          <p:cNvPr id="17" name="o59"/>
          <p:cNvSpPr txBox="1"/>
          <p:nvPr/>
        </p:nvSpPr>
        <p:spPr>
          <a:xfrm>
            <a:off x="5283200" y="2190750"/>
            <a:ext cx="2387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· 보건관리자</a:t>
            </a:r>
            <a:endParaRPr lang="en-US" sz="1100" dirty="0"/>
          </a:p>
        </p:txBody>
      </p:sp>
      <p:sp>
        <p:nvSpPr>
          <p:cNvPr id="18" name="o60"/>
          <p:cNvSpPr txBox="1"/>
          <p:nvPr/>
        </p:nvSpPr>
        <p:spPr>
          <a:xfrm>
            <a:off x="5283200" y="2381250"/>
            <a:ext cx="2387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6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기획 · 직접 개발</a:t>
            </a:r>
            <a:endParaRPr lang="en-US" sz="1100" dirty="0"/>
          </a:p>
        </p:txBody>
      </p:sp>
      <p:sp>
        <p:nvSpPr>
          <p:cNvPr id="19" name="o61"/>
          <p:cNvSpPr/>
          <p:nvPr/>
        </p:nvSpPr>
        <p:spPr>
          <a:xfrm>
            <a:off x="8051800" y="1676400"/>
            <a:ext cx="3530600" cy="1066800"/>
          </a:xfrm>
          <a:prstGeom prst="roundRect">
            <a:avLst>
              <a:gd name="adj" fmla="val 17857"/>
            </a:avLst>
          </a:prstGeom>
          <a:solidFill>
            <a:srgbClr val="F5F5F7"/>
          </a:solidFill>
          <a:ln/>
        </p:spPr>
      </p:sp>
      <p:sp>
        <p:nvSpPr>
          <p:cNvPr id="20" name="o62"/>
          <p:cNvSpPr/>
          <p:nvPr/>
        </p:nvSpPr>
        <p:spPr>
          <a:xfrm>
            <a:off x="8280400" y="1943100"/>
            <a:ext cx="533400" cy="53340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21" name="o63"/>
          <p:cNvSpPr txBox="1"/>
          <p:nvPr/>
        </p:nvSpPr>
        <p:spPr>
          <a:xfrm>
            <a:off x="8280400" y="1943100"/>
            <a:ext cx="53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</a:t>
            </a:r>
            <a:endParaRPr lang="en-US" sz="1800" dirty="0"/>
          </a:p>
        </p:txBody>
      </p:sp>
      <p:sp>
        <p:nvSpPr>
          <p:cNvPr id="22" name="o64"/>
          <p:cNvSpPr txBox="1"/>
          <p:nvPr/>
        </p:nvSpPr>
        <p:spPr>
          <a:xfrm>
            <a:off x="9004300" y="1924050"/>
            <a:ext cx="2387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장종문</a:t>
            </a:r>
            <a:endParaRPr lang="en-US" sz="1800" dirty="0"/>
          </a:p>
        </p:txBody>
      </p:sp>
      <p:sp>
        <p:nvSpPr>
          <p:cNvPr id="23" name="o65"/>
          <p:cNvSpPr txBox="1"/>
          <p:nvPr/>
        </p:nvSpPr>
        <p:spPr>
          <a:xfrm>
            <a:off x="9004300" y="2190750"/>
            <a:ext cx="2387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· 안전관리자</a:t>
            </a:r>
            <a:endParaRPr lang="en-US" sz="1100" dirty="0"/>
          </a:p>
        </p:txBody>
      </p:sp>
      <p:sp>
        <p:nvSpPr>
          <p:cNvPr id="24" name="o66"/>
          <p:cNvSpPr txBox="1"/>
          <p:nvPr/>
        </p:nvSpPr>
        <p:spPr>
          <a:xfrm>
            <a:off x="9004300" y="2381250"/>
            <a:ext cx="2387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6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MSDS · AI 위험성평가</a:t>
            </a:r>
            <a:endParaRPr lang="en-US" sz="1100" dirty="0"/>
          </a:p>
        </p:txBody>
      </p:sp>
      <p:sp>
        <p:nvSpPr>
          <p:cNvPr id="25" name="o67"/>
          <p:cNvSpPr/>
          <p:nvPr/>
        </p:nvSpPr>
        <p:spPr>
          <a:xfrm>
            <a:off x="609600" y="2933700"/>
            <a:ext cx="10972800" cy="3314700"/>
          </a:xfrm>
          <a:prstGeom prst="roundRect">
            <a:avLst>
              <a:gd name="adj" fmla="val 5747"/>
            </a:avLst>
          </a:prstGeom>
          <a:solidFill>
            <a:srgbClr val="F5F5F7"/>
          </a:solidFill>
          <a:ln/>
        </p:spPr>
      </p:sp>
      <p:sp>
        <p:nvSpPr>
          <p:cNvPr id="26" name="o68"/>
          <p:cNvSpPr txBox="1"/>
          <p:nvPr/>
        </p:nvSpPr>
        <p:spPr>
          <a:xfrm>
            <a:off x="3143250" y="3143250"/>
            <a:ext cx="813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1월</a:t>
            </a:r>
            <a:endParaRPr lang="en-US" sz="1000" dirty="0"/>
          </a:p>
        </p:txBody>
      </p:sp>
      <p:sp>
        <p:nvSpPr>
          <p:cNvPr id="27" name="o69"/>
          <p:cNvSpPr/>
          <p:nvPr/>
        </p:nvSpPr>
        <p:spPr>
          <a:xfrm>
            <a:off x="3143250" y="3390900"/>
            <a:ext cx="0" cy="266700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28" name="o70"/>
          <p:cNvSpPr txBox="1"/>
          <p:nvPr/>
        </p:nvSpPr>
        <p:spPr>
          <a:xfrm>
            <a:off x="3956685" y="3143250"/>
            <a:ext cx="813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2월</a:t>
            </a:r>
            <a:endParaRPr lang="en-US" sz="1000" dirty="0"/>
          </a:p>
        </p:txBody>
      </p:sp>
      <p:sp>
        <p:nvSpPr>
          <p:cNvPr id="29" name="o71"/>
          <p:cNvSpPr/>
          <p:nvPr/>
        </p:nvSpPr>
        <p:spPr>
          <a:xfrm>
            <a:off x="3956685" y="3390900"/>
            <a:ext cx="0" cy="266700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30" name="o72"/>
          <p:cNvSpPr txBox="1"/>
          <p:nvPr/>
        </p:nvSpPr>
        <p:spPr>
          <a:xfrm>
            <a:off x="4770120" y="3143250"/>
            <a:ext cx="813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3월</a:t>
            </a:r>
            <a:endParaRPr lang="en-US" sz="1000" dirty="0"/>
          </a:p>
        </p:txBody>
      </p:sp>
      <p:sp>
        <p:nvSpPr>
          <p:cNvPr id="31" name="o73"/>
          <p:cNvSpPr/>
          <p:nvPr/>
        </p:nvSpPr>
        <p:spPr>
          <a:xfrm>
            <a:off x="4770120" y="3390900"/>
            <a:ext cx="0" cy="266700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32" name="o74"/>
          <p:cNvSpPr txBox="1"/>
          <p:nvPr/>
        </p:nvSpPr>
        <p:spPr>
          <a:xfrm>
            <a:off x="5583555" y="3143250"/>
            <a:ext cx="813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4월</a:t>
            </a:r>
            <a:endParaRPr lang="en-US" sz="1000" dirty="0"/>
          </a:p>
        </p:txBody>
      </p:sp>
      <p:sp>
        <p:nvSpPr>
          <p:cNvPr id="33" name="o75"/>
          <p:cNvSpPr/>
          <p:nvPr/>
        </p:nvSpPr>
        <p:spPr>
          <a:xfrm>
            <a:off x="5583555" y="3390900"/>
            <a:ext cx="0" cy="266700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34" name="o76"/>
          <p:cNvSpPr txBox="1"/>
          <p:nvPr/>
        </p:nvSpPr>
        <p:spPr>
          <a:xfrm>
            <a:off x="6396990" y="3143250"/>
            <a:ext cx="813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5월</a:t>
            </a:r>
            <a:endParaRPr lang="en-US" sz="1000" dirty="0"/>
          </a:p>
        </p:txBody>
      </p:sp>
      <p:sp>
        <p:nvSpPr>
          <p:cNvPr id="35" name="o77"/>
          <p:cNvSpPr/>
          <p:nvPr/>
        </p:nvSpPr>
        <p:spPr>
          <a:xfrm>
            <a:off x="6396990" y="3390900"/>
            <a:ext cx="0" cy="266700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36" name="o78"/>
          <p:cNvSpPr txBox="1"/>
          <p:nvPr/>
        </p:nvSpPr>
        <p:spPr>
          <a:xfrm>
            <a:off x="7210425" y="3143250"/>
            <a:ext cx="813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6월</a:t>
            </a:r>
            <a:endParaRPr lang="en-US" sz="1000" dirty="0"/>
          </a:p>
        </p:txBody>
      </p:sp>
      <p:sp>
        <p:nvSpPr>
          <p:cNvPr id="37" name="o79"/>
          <p:cNvSpPr/>
          <p:nvPr/>
        </p:nvSpPr>
        <p:spPr>
          <a:xfrm>
            <a:off x="7210425" y="3390900"/>
            <a:ext cx="0" cy="266700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38" name="o80"/>
          <p:cNvSpPr txBox="1"/>
          <p:nvPr/>
        </p:nvSpPr>
        <p:spPr>
          <a:xfrm>
            <a:off x="8023860" y="3143250"/>
            <a:ext cx="813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7월</a:t>
            </a:r>
            <a:endParaRPr lang="en-US" sz="1000" dirty="0"/>
          </a:p>
        </p:txBody>
      </p:sp>
      <p:sp>
        <p:nvSpPr>
          <p:cNvPr id="39" name="o81"/>
          <p:cNvSpPr/>
          <p:nvPr/>
        </p:nvSpPr>
        <p:spPr>
          <a:xfrm>
            <a:off x="8023860" y="3390900"/>
            <a:ext cx="0" cy="266700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40" name="o82"/>
          <p:cNvSpPr txBox="1"/>
          <p:nvPr/>
        </p:nvSpPr>
        <p:spPr>
          <a:xfrm>
            <a:off x="8837295" y="3143250"/>
            <a:ext cx="813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8월</a:t>
            </a:r>
            <a:endParaRPr lang="en-US" sz="1000" dirty="0"/>
          </a:p>
        </p:txBody>
      </p:sp>
      <p:sp>
        <p:nvSpPr>
          <p:cNvPr id="41" name="o83"/>
          <p:cNvSpPr/>
          <p:nvPr/>
        </p:nvSpPr>
        <p:spPr>
          <a:xfrm>
            <a:off x="8837295" y="3390900"/>
            <a:ext cx="0" cy="266700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42" name="o84"/>
          <p:cNvSpPr txBox="1"/>
          <p:nvPr/>
        </p:nvSpPr>
        <p:spPr>
          <a:xfrm>
            <a:off x="9650730" y="3143250"/>
            <a:ext cx="813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9월</a:t>
            </a:r>
            <a:endParaRPr lang="en-US" sz="1000" dirty="0"/>
          </a:p>
        </p:txBody>
      </p:sp>
      <p:sp>
        <p:nvSpPr>
          <p:cNvPr id="43" name="o85"/>
          <p:cNvSpPr/>
          <p:nvPr/>
        </p:nvSpPr>
        <p:spPr>
          <a:xfrm>
            <a:off x="9650730" y="3390900"/>
            <a:ext cx="0" cy="266700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44" name="o86"/>
          <p:cNvSpPr txBox="1"/>
          <p:nvPr/>
        </p:nvSpPr>
        <p:spPr>
          <a:xfrm>
            <a:off x="10464165" y="3143250"/>
            <a:ext cx="813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10월</a:t>
            </a:r>
            <a:endParaRPr lang="en-US" sz="1000" dirty="0"/>
          </a:p>
        </p:txBody>
      </p:sp>
      <p:sp>
        <p:nvSpPr>
          <p:cNvPr id="45" name="o87"/>
          <p:cNvSpPr/>
          <p:nvPr/>
        </p:nvSpPr>
        <p:spPr>
          <a:xfrm>
            <a:off x="10464165" y="3390900"/>
            <a:ext cx="0" cy="266700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46" name="o88"/>
          <p:cNvSpPr/>
          <p:nvPr/>
        </p:nvSpPr>
        <p:spPr>
          <a:xfrm>
            <a:off x="11277600" y="3390900"/>
            <a:ext cx="0" cy="266700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47" name="o89"/>
          <p:cNvSpPr txBox="1"/>
          <p:nvPr/>
        </p:nvSpPr>
        <p:spPr>
          <a:xfrm>
            <a:off x="914400" y="3524250"/>
            <a:ext cx="571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000" dirty="0"/>
          </a:p>
        </p:txBody>
      </p:sp>
      <p:sp>
        <p:nvSpPr>
          <p:cNvPr id="48" name="o90"/>
          <p:cNvSpPr txBox="1"/>
          <p:nvPr/>
        </p:nvSpPr>
        <p:spPr>
          <a:xfrm>
            <a:off x="1504950" y="3524250"/>
            <a:ext cx="161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 · 원인 분석</a:t>
            </a:r>
            <a:endParaRPr lang="en-US" sz="1200" dirty="0"/>
          </a:p>
        </p:txBody>
      </p:sp>
      <p:sp>
        <p:nvSpPr>
          <p:cNvPr id="49" name="o91"/>
          <p:cNvSpPr/>
          <p:nvPr/>
        </p:nvSpPr>
        <p:spPr>
          <a:xfrm>
            <a:off x="3190875" y="3562350"/>
            <a:ext cx="2345055" cy="171450"/>
          </a:xfrm>
          <a:prstGeom prst="roundRect">
            <a:avLst>
              <a:gd name="adj" fmla="val 33333"/>
            </a:avLst>
          </a:prstGeom>
          <a:solidFill>
            <a:srgbClr val="8FA6C9"/>
          </a:solidFill>
          <a:ln/>
        </p:spPr>
      </p:sp>
      <p:sp>
        <p:nvSpPr>
          <p:cNvPr id="50" name="o92"/>
          <p:cNvSpPr txBox="1"/>
          <p:nvPr/>
        </p:nvSpPr>
        <p:spPr>
          <a:xfrm>
            <a:off x="914400" y="3943350"/>
            <a:ext cx="571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</a:t>
            </a:r>
            <a:endParaRPr lang="en-US" sz="1000" dirty="0"/>
          </a:p>
        </p:txBody>
      </p:sp>
      <p:sp>
        <p:nvSpPr>
          <p:cNvPr id="51" name="o93"/>
          <p:cNvSpPr txBox="1"/>
          <p:nvPr/>
        </p:nvSpPr>
        <p:spPr>
          <a:xfrm>
            <a:off x="1504950" y="3943350"/>
            <a:ext cx="161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개발</a:t>
            </a:r>
            <a:endParaRPr lang="en-US" sz="1200" dirty="0"/>
          </a:p>
        </p:txBody>
      </p:sp>
      <p:sp>
        <p:nvSpPr>
          <p:cNvPr id="52" name="o94"/>
          <p:cNvSpPr/>
          <p:nvPr/>
        </p:nvSpPr>
        <p:spPr>
          <a:xfrm>
            <a:off x="4817745" y="3981450"/>
            <a:ext cx="1531620" cy="171450"/>
          </a:xfrm>
          <a:prstGeom prst="roundRect">
            <a:avLst>
              <a:gd name="adj" fmla="val 33333"/>
            </a:avLst>
          </a:prstGeom>
          <a:solidFill>
            <a:srgbClr val="4F6A96"/>
          </a:solidFill>
          <a:ln/>
        </p:spPr>
      </p:sp>
      <p:sp>
        <p:nvSpPr>
          <p:cNvPr id="53" name="o95"/>
          <p:cNvSpPr txBox="1"/>
          <p:nvPr/>
        </p:nvSpPr>
        <p:spPr>
          <a:xfrm>
            <a:off x="914400" y="4362450"/>
            <a:ext cx="571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</a:t>
            </a:r>
            <a:endParaRPr lang="en-US" sz="1000" dirty="0"/>
          </a:p>
        </p:txBody>
      </p:sp>
      <p:sp>
        <p:nvSpPr>
          <p:cNvPr id="54" name="o96"/>
          <p:cNvSpPr txBox="1"/>
          <p:nvPr/>
        </p:nvSpPr>
        <p:spPr>
          <a:xfrm>
            <a:off x="1504950" y="4362450"/>
            <a:ext cx="161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시범 적용</a:t>
            </a:r>
            <a:endParaRPr lang="en-US" sz="1200" dirty="0"/>
          </a:p>
        </p:txBody>
      </p:sp>
      <p:sp>
        <p:nvSpPr>
          <p:cNvPr id="55" name="o97"/>
          <p:cNvSpPr/>
          <p:nvPr/>
        </p:nvSpPr>
        <p:spPr>
          <a:xfrm>
            <a:off x="6444615" y="4400550"/>
            <a:ext cx="2345055" cy="171450"/>
          </a:xfrm>
          <a:prstGeom prst="roundRect">
            <a:avLst>
              <a:gd name="adj" fmla="val 33333"/>
            </a:avLst>
          </a:prstGeom>
          <a:solidFill>
            <a:srgbClr val="4F6A96"/>
          </a:solidFill>
          <a:ln/>
        </p:spPr>
      </p:sp>
      <p:sp>
        <p:nvSpPr>
          <p:cNvPr id="56" name="o98"/>
          <p:cNvSpPr txBox="1"/>
          <p:nvPr/>
        </p:nvSpPr>
        <p:spPr>
          <a:xfrm>
            <a:off x="914400" y="4781550"/>
            <a:ext cx="571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</a:t>
            </a:r>
            <a:endParaRPr lang="en-US" sz="1000" dirty="0"/>
          </a:p>
        </p:txBody>
      </p:sp>
      <p:sp>
        <p:nvSpPr>
          <p:cNvPr id="57" name="o99"/>
          <p:cNvSpPr txBox="1"/>
          <p:nvPr/>
        </p:nvSpPr>
        <p:spPr>
          <a:xfrm>
            <a:off x="1504950" y="4781550"/>
            <a:ext cx="161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확인</a:t>
            </a:r>
            <a:endParaRPr lang="en-US" sz="1200" dirty="0"/>
          </a:p>
        </p:txBody>
      </p:sp>
      <p:sp>
        <p:nvSpPr>
          <p:cNvPr id="58" name="o100"/>
          <p:cNvSpPr/>
          <p:nvPr/>
        </p:nvSpPr>
        <p:spPr>
          <a:xfrm>
            <a:off x="8071485" y="4819650"/>
            <a:ext cx="718185" cy="171450"/>
          </a:xfrm>
          <a:prstGeom prst="roundRect">
            <a:avLst>
              <a:gd name="adj" fmla="val 33333"/>
            </a:avLst>
          </a:prstGeom>
          <a:solidFill>
            <a:srgbClr val="2A4472"/>
          </a:solidFill>
          <a:ln/>
        </p:spPr>
      </p:sp>
      <p:sp>
        <p:nvSpPr>
          <p:cNvPr id="59" name="o101"/>
          <p:cNvSpPr txBox="1"/>
          <p:nvPr/>
        </p:nvSpPr>
        <p:spPr>
          <a:xfrm>
            <a:off x="914400" y="5200650"/>
            <a:ext cx="571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</a:t>
            </a:r>
            <a:endParaRPr lang="en-US" sz="1000" dirty="0"/>
          </a:p>
        </p:txBody>
      </p:sp>
      <p:sp>
        <p:nvSpPr>
          <p:cNvPr id="60" name="o102"/>
          <p:cNvSpPr txBox="1"/>
          <p:nvPr/>
        </p:nvSpPr>
        <p:spPr>
          <a:xfrm>
            <a:off x="1504950" y="5200650"/>
            <a:ext cx="161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 · AI 고도화</a:t>
            </a:r>
            <a:endParaRPr lang="en-US" sz="1200" dirty="0"/>
          </a:p>
        </p:txBody>
      </p:sp>
      <p:sp>
        <p:nvSpPr>
          <p:cNvPr id="61" name="o103"/>
          <p:cNvSpPr/>
          <p:nvPr/>
        </p:nvSpPr>
        <p:spPr>
          <a:xfrm>
            <a:off x="8884920" y="5238750"/>
            <a:ext cx="2345055" cy="171450"/>
          </a:xfrm>
          <a:prstGeom prst="roundRect">
            <a:avLst>
              <a:gd name="adj" fmla="val 33333"/>
            </a:avLst>
          </a:prstGeom>
          <a:solidFill>
            <a:srgbClr val="0A1F44"/>
          </a:solidFill>
          <a:ln/>
        </p:spPr>
      </p:sp>
      <p:sp>
        <p:nvSpPr>
          <p:cNvPr id="62" name="o104"/>
          <p:cNvSpPr txBox="1"/>
          <p:nvPr/>
        </p:nvSpPr>
        <p:spPr>
          <a:xfrm>
            <a:off x="914400" y="5619750"/>
            <a:ext cx="571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3" name="o105"/>
          <p:cNvSpPr txBox="1"/>
          <p:nvPr/>
        </p:nvSpPr>
        <p:spPr>
          <a:xfrm>
            <a:off x="1504950" y="5619750"/>
            <a:ext cx="161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QI 경진대회</a:t>
            </a:r>
            <a:endParaRPr lang="en-US" sz="1200" dirty="0"/>
          </a:p>
        </p:txBody>
      </p:sp>
      <p:sp>
        <p:nvSpPr>
          <p:cNvPr id="64" name="o106"/>
          <p:cNvSpPr/>
          <p:nvPr/>
        </p:nvSpPr>
        <p:spPr>
          <a:xfrm>
            <a:off x="9698355" y="5657850"/>
            <a:ext cx="718185" cy="17145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107"/>
          <p:cNvSpPr txBox="1"/>
          <p:nvPr/>
        </p:nvSpPr>
        <p:spPr>
          <a:xfrm>
            <a:off x="609600" y="4191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1F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 · 주제 선정 배경</a:t>
            </a:r>
            <a:endParaRPr lang="en-US" sz="1000" dirty="0"/>
          </a:p>
        </p:txBody>
      </p:sp>
      <p:sp>
        <p:nvSpPr>
          <p:cNvPr id="3" name="o108"/>
          <p:cNvSpPr txBox="1"/>
          <p:nvPr/>
        </p:nvSpPr>
        <p:spPr>
          <a:xfrm>
            <a:off x="8953500" y="41910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900" dirty="0"/>
          </a:p>
        </p:txBody>
      </p:sp>
      <p:sp>
        <p:nvSpPr>
          <p:cNvPr id="4" name="o109"/>
          <p:cNvSpPr/>
          <p:nvPr/>
        </p:nvSpPr>
        <p:spPr>
          <a:xfrm>
            <a:off x="9086850" y="609600"/>
            <a:ext cx="342900" cy="1905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5" name="o110"/>
          <p:cNvSpPr txBox="1"/>
          <p:nvPr/>
        </p:nvSpPr>
        <p:spPr>
          <a:xfrm>
            <a:off x="9620250" y="41910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</a:t>
            </a:r>
            <a:endParaRPr lang="en-US" sz="900" dirty="0"/>
          </a:p>
        </p:txBody>
      </p:sp>
      <p:sp>
        <p:nvSpPr>
          <p:cNvPr id="6" name="o111"/>
          <p:cNvSpPr txBox="1"/>
          <p:nvPr/>
        </p:nvSpPr>
        <p:spPr>
          <a:xfrm>
            <a:off x="10287000" y="41910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</a:t>
            </a:r>
            <a:endParaRPr lang="en-US" sz="900" dirty="0"/>
          </a:p>
        </p:txBody>
      </p:sp>
      <p:sp>
        <p:nvSpPr>
          <p:cNvPr id="7" name="o112"/>
          <p:cNvSpPr txBox="1"/>
          <p:nvPr/>
        </p:nvSpPr>
        <p:spPr>
          <a:xfrm>
            <a:off x="10953750" y="41910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</a:t>
            </a:r>
            <a:endParaRPr lang="en-US" sz="900" dirty="0"/>
          </a:p>
        </p:txBody>
      </p:sp>
      <p:sp>
        <p:nvSpPr>
          <p:cNvPr id="8" name="o113"/>
          <p:cNvSpPr txBox="1"/>
          <p:nvPr/>
        </p:nvSpPr>
        <p:spPr>
          <a:xfrm>
            <a:off x="609600" y="66675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법은 실시간 증빙을 요구했지만, 안전보건 기록은 100% 종이였다</a:t>
            </a:r>
            <a:endParaRPr lang="en-US" sz="2800" dirty="0"/>
          </a:p>
        </p:txBody>
      </p:sp>
      <p:sp>
        <p:nvSpPr>
          <p:cNvPr id="9" name="o114"/>
          <p:cNvSpPr txBox="1"/>
          <p:nvPr/>
        </p:nvSpPr>
        <p:spPr>
          <a:xfrm>
            <a:off x="609600" y="1162050"/>
            <a:ext cx="10972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 배경 — 법 · 현장 · 경영 세 측면</a:t>
            </a:r>
            <a:endParaRPr lang="en-US" sz="1500" dirty="0"/>
          </a:p>
        </p:txBody>
      </p:sp>
      <p:sp>
        <p:nvSpPr>
          <p:cNvPr id="10" name="o115"/>
          <p:cNvSpPr txBox="1"/>
          <p:nvPr/>
        </p:nvSpPr>
        <p:spPr>
          <a:xfrm>
            <a:off x="609600" y="647700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부산부민병원 안전보건 통합관리 시스템</a:t>
            </a:r>
            <a:endParaRPr lang="en-US" sz="900" dirty="0"/>
          </a:p>
        </p:txBody>
      </p:sp>
      <p:sp>
        <p:nvSpPr>
          <p:cNvPr id="11" name="o116"/>
          <p:cNvSpPr txBox="1"/>
          <p:nvPr/>
        </p:nvSpPr>
        <p:spPr>
          <a:xfrm>
            <a:off x="10629900" y="647700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2" name="o117"/>
          <p:cNvSpPr/>
          <p:nvPr/>
        </p:nvSpPr>
        <p:spPr>
          <a:xfrm>
            <a:off x="609600" y="1676400"/>
            <a:ext cx="3530600" cy="3238500"/>
          </a:xfrm>
          <a:prstGeom prst="roundRect">
            <a:avLst>
              <a:gd name="adj" fmla="val 5882"/>
            </a:avLst>
          </a:prstGeom>
          <a:solidFill>
            <a:srgbClr val="F5F5F7"/>
          </a:solidFill>
          <a:ln/>
        </p:spPr>
      </p:sp>
      <p:sp>
        <p:nvSpPr>
          <p:cNvPr id="13" name="o118"/>
          <p:cNvSpPr txBox="1"/>
          <p:nvPr/>
        </p:nvSpPr>
        <p:spPr>
          <a:xfrm>
            <a:off x="914400" y="19431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o119"/>
          <p:cNvSpPr txBox="1"/>
          <p:nvPr/>
        </p:nvSpPr>
        <p:spPr>
          <a:xfrm>
            <a:off x="914400" y="2247900"/>
            <a:ext cx="292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 · 인증</a:t>
            </a:r>
            <a:endParaRPr lang="en-US" sz="2200" dirty="0"/>
          </a:p>
        </p:txBody>
      </p:sp>
      <p:sp>
        <p:nvSpPr>
          <p:cNvPr id="15" name="o120"/>
          <p:cNvSpPr txBox="1"/>
          <p:nvPr/>
        </p:nvSpPr>
        <p:spPr>
          <a:xfrm>
            <a:off x="914400" y="27813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A3A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산업안전보건법 제29조</a:t>
            </a:r>
            <a:endParaRPr lang="en-US" sz="15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A3A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중대재해처벌법</a:t>
            </a:r>
            <a:endParaRPr lang="en-US" sz="15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A3A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의료기관 인증기준 10.7 · 11.3</a:t>
            </a:r>
            <a:endParaRPr lang="en-US" sz="1500" dirty="0"/>
          </a:p>
        </p:txBody>
      </p:sp>
      <p:sp>
        <p:nvSpPr>
          <p:cNvPr id="16" name="o121"/>
          <p:cNvSpPr/>
          <p:nvPr/>
        </p:nvSpPr>
        <p:spPr>
          <a:xfrm>
            <a:off x="914400" y="4095750"/>
            <a:ext cx="292100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7" name="o122"/>
          <p:cNvSpPr txBox="1"/>
          <p:nvPr/>
        </p:nvSpPr>
        <p:spPr>
          <a:xfrm>
            <a:off x="914400" y="4267200"/>
            <a:ext cx="29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실시간 증빙 요구</a:t>
            </a:r>
            <a:endParaRPr lang="en-US" sz="2200" dirty="0"/>
          </a:p>
        </p:txBody>
      </p:sp>
      <p:sp>
        <p:nvSpPr>
          <p:cNvPr id="18" name="o123"/>
          <p:cNvSpPr/>
          <p:nvPr/>
        </p:nvSpPr>
        <p:spPr>
          <a:xfrm>
            <a:off x="4330700" y="1676400"/>
            <a:ext cx="3530600" cy="3238500"/>
          </a:xfrm>
          <a:prstGeom prst="roundRect">
            <a:avLst>
              <a:gd name="adj" fmla="val 5882"/>
            </a:avLst>
          </a:prstGeom>
          <a:solidFill>
            <a:srgbClr val="F5F5F7"/>
          </a:solidFill>
          <a:ln/>
        </p:spPr>
      </p:sp>
      <p:sp>
        <p:nvSpPr>
          <p:cNvPr id="19" name="o124"/>
          <p:cNvSpPr txBox="1"/>
          <p:nvPr/>
        </p:nvSpPr>
        <p:spPr>
          <a:xfrm>
            <a:off x="4635500" y="19431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o125"/>
          <p:cNvSpPr txBox="1"/>
          <p:nvPr/>
        </p:nvSpPr>
        <p:spPr>
          <a:xfrm>
            <a:off x="4635500" y="2247900"/>
            <a:ext cx="292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</a:t>
            </a:r>
            <a:endParaRPr lang="en-US" sz="2200" dirty="0"/>
          </a:p>
        </p:txBody>
      </p:sp>
      <p:sp>
        <p:nvSpPr>
          <p:cNvPr id="21" name="o126"/>
          <p:cNvSpPr txBox="1"/>
          <p:nvPr/>
        </p:nvSpPr>
        <p:spPr>
          <a:xfrm>
            <a:off x="4635500" y="27813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A3A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교육일지 100% 수기 작성</a:t>
            </a:r>
            <a:endParaRPr lang="en-US" sz="15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A3A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대면 서명 · 오프라인 결재</a:t>
            </a:r>
            <a:endParaRPr lang="en-US" sz="15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A3A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바인더 편철 보관</a:t>
            </a:r>
            <a:endParaRPr lang="en-US" sz="1500" dirty="0"/>
          </a:p>
        </p:txBody>
      </p:sp>
      <p:sp>
        <p:nvSpPr>
          <p:cNvPr id="22" name="o127"/>
          <p:cNvSpPr/>
          <p:nvPr/>
        </p:nvSpPr>
        <p:spPr>
          <a:xfrm>
            <a:off x="4635500" y="4095750"/>
            <a:ext cx="292100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3" name="o128"/>
          <p:cNvSpPr txBox="1"/>
          <p:nvPr/>
        </p:nvSpPr>
        <p:spPr>
          <a:xfrm>
            <a:off x="4635500" y="4267200"/>
            <a:ext cx="29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건당 최대 33:48</a:t>
            </a:r>
            <a:endParaRPr lang="en-US" sz="2200" dirty="0"/>
          </a:p>
        </p:txBody>
      </p:sp>
      <p:sp>
        <p:nvSpPr>
          <p:cNvPr id="24" name="o129"/>
          <p:cNvSpPr/>
          <p:nvPr/>
        </p:nvSpPr>
        <p:spPr>
          <a:xfrm>
            <a:off x="8051800" y="1676400"/>
            <a:ext cx="3530600" cy="3238500"/>
          </a:xfrm>
          <a:prstGeom prst="roundRect">
            <a:avLst>
              <a:gd name="adj" fmla="val 5882"/>
            </a:avLst>
          </a:prstGeom>
          <a:solidFill>
            <a:srgbClr val="F5F5F7"/>
          </a:solidFill>
          <a:ln/>
        </p:spPr>
      </p:sp>
      <p:sp>
        <p:nvSpPr>
          <p:cNvPr id="25" name="o130"/>
          <p:cNvSpPr txBox="1"/>
          <p:nvPr/>
        </p:nvSpPr>
        <p:spPr>
          <a:xfrm>
            <a:off x="8356600" y="19431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o131"/>
          <p:cNvSpPr txBox="1"/>
          <p:nvPr/>
        </p:nvSpPr>
        <p:spPr>
          <a:xfrm>
            <a:off x="8356600" y="2247900"/>
            <a:ext cx="292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 (ESG)</a:t>
            </a:r>
            <a:endParaRPr lang="en-US" sz="2200" dirty="0"/>
          </a:p>
        </p:txBody>
      </p:sp>
      <p:sp>
        <p:nvSpPr>
          <p:cNvPr id="27" name="o132"/>
          <p:cNvSpPr txBox="1"/>
          <p:nvPr/>
        </p:nvSpPr>
        <p:spPr>
          <a:xfrm>
            <a:off x="8356600" y="27813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A3A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94건 종이 출력 · 보관</a:t>
            </a:r>
            <a:endParaRPr lang="en-US" sz="15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A3A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친환경 경영 방향과 불일치</a:t>
            </a:r>
            <a:endParaRPr lang="en-US" sz="15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A3A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MSDS 개정본 비치 확인 어려움</a:t>
            </a:r>
            <a:endParaRPr lang="en-US" sz="1500" dirty="0"/>
          </a:p>
        </p:txBody>
      </p:sp>
      <p:sp>
        <p:nvSpPr>
          <p:cNvPr id="28" name="o133"/>
          <p:cNvSpPr/>
          <p:nvPr/>
        </p:nvSpPr>
        <p:spPr>
          <a:xfrm>
            <a:off x="8356600" y="4095750"/>
            <a:ext cx="292100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9" name="o134"/>
          <p:cNvSpPr txBox="1"/>
          <p:nvPr/>
        </p:nvSpPr>
        <p:spPr>
          <a:xfrm>
            <a:off x="8356600" y="4267200"/>
            <a:ext cx="29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 94건 출력</a:t>
            </a:r>
            <a:endParaRPr lang="en-US" sz="2200" dirty="0"/>
          </a:p>
        </p:txBody>
      </p:sp>
      <p:sp>
        <p:nvSpPr>
          <p:cNvPr id="30" name="o135"/>
          <p:cNvSpPr/>
          <p:nvPr/>
        </p:nvSpPr>
        <p:spPr>
          <a:xfrm>
            <a:off x="609600" y="5143500"/>
            <a:ext cx="10972800" cy="1104900"/>
          </a:xfrm>
          <a:prstGeom prst="roundRect">
            <a:avLst>
              <a:gd name="adj" fmla="val 18966"/>
            </a:avLst>
          </a:prstGeom>
          <a:solidFill>
            <a:srgbClr val="0A1F44"/>
          </a:solidFill>
          <a:ln/>
        </p:spPr>
      </p:sp>
      <p:sp>
        <p:nvSpPr>
          <p:cNvPr id="31" name="o136"/>
          <p:cNvSpPr txBox="1"/>
          <p:nvPr/>
        </p:nvSpPr>
        <p:spPr>
          <a:xfrm>
            <a:off x="1028700" y="5143500"/>
            <a:ext cx="9144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기반 통합 디지털 안전보건 체계가 필요했습니다</a:t>
            </a:r>
            <a:endParaRPr lang="en-US" sz="2400" dirty="0"/>
          </a:p>
        </p:txBody>
      </p:sp>
      <p:sp>
        <p:nvSpPr>
          <p:cNvPr id="32" name="o137"/>
          <p:cNvSpPr txBox="1"/>
          <p:nvPr/>
        </p:nvSpPr>
        <p:spPr>
          <a:xfrm>
            <a:off x="10668000" y="5143500"/>
            <a:ext cx="5715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4DA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min Navy">
  <a:themeElements>
    <a:clrScheme name="Bumin Navy">
      <a:dk1>
        <a:srgbClr val="1D1D1F"/>
      </a:dk1>
      <a:lt1>
        <a:srgbClr val="FFFFFF"/>
      </a:lt1>
      <a:dk2>
        <a:srgbClr val="636366"/>
      </a:dk2>
      <a:lt2>
        <a:srgbClr val="F5F5F7"/>
      </a:lt2>
      <a:accent1>
        <a:srgbClr val="0A1F44"/>
      </a:accent1>
      <a:accent2>
        <a:srgbClr val="0066CC"/>
      </a:accent2>
      <a:accent3>
        <a:srgbClr val="C7C7CC"/>
      </a:accent3>
      <a:accent4>
        <a:srgbClr val="F56300"/>
      </a:accent4>
      <a:accent5>
        <a:srgbClr val="4F6A96"/>
      </a:accent5>
      <a:accent6>
        <a:srgbClr val="8FA6C9"/>
      </a:accent6>
      <a:hlink>
        <a:srgbClr val="0066CC"/>
      </a:hlink>
      <a:folHlink>
        <a:srgbClr val="0A1F44"/>
      </a:folHlink>
    </a:clrScheme>
    <a:fontScheme name="Bumin Navy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통합 안전보건 플랫폼 구축을 통한 업무 효율성 증가</dc:title>
  <dc:subject>PptxGenJS Presentation</dc:subject>
  <dc:creator>총무-안전보건팀 (Safety First)</dc:creator>
  <cp:lastModifiedBy>총무-안전보건팀 (Safety First)</cp:lastModifiedBy>
  <cp:revision>1</cp:revision>
  <dcterms:created xsi:type="dcterms:W3CDTF">2026-10-27T07:27:24Z</dcterms:created>
  <dcterms:modified xsi:type="dcterms:W3CDTF">2026-10-27T07:27:24Z</dcterms:modified>
</cp:coreProperties>
</file>