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[도입부 30초]
- "작년 11월, 신규 입사자가 한꺼번에 17명 들어왔습니다. 그달 교육일지 7건이 누락됐습니다."
- "종이로는 누가 빠졌는지 볼 방법이 없었기 때문입니다."
- "올해 6월, 그보다 많은 24건이 몰렸지만 누락은 0건이었습니다. 무엇이 달라졌는지 말씀드리겠습니다."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"PDCA 순서로 말씀드리겠습니다." (5초, 바로 넘김)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교육 미이행 시 과태료, 중대재해 시 교육 이행 기록이 핵심 증빙
- 인증 조사 때 바인더를 넘기며 누락자를 찾던 경험
- 근거: 산안법 제29조, 인증기준 10.7 · 11.3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김광현: 총괄 / 장은선(보건관리자): 플랫폼 기획 · 직접 코딩 / 장종문(안전관리자): MSDS · AI 위험성평가
- 4월 1주 프로토타입 → 고위험 부서 우선 → 전 부서 확대
- 8~10월 표준화 이후 AI 고도화 (Slide 11)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연결: "먼저 현황을 조사했습니다. 첫째, 누락과 종이였습니다."
- "교육 106건 중 18건이 기록 없이 지나갔습니다. 바쁜 달의 문제가 아니라 12개월 중 8개월에서 반복됐습니다."
- "모든 기록이 종이에 있으니, 누가 아직 안 했는지 볼 방법이 없었습니다."
- (입사 규모와 누락률 상관 0.03 — 질문 대비)
- 다음 장 연결: "둘째, 시간이었습니다." (30초)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연결: "둘째, 시간이었습니다."
- "교육 1건에 33분 48초. 그중 57%는 결재를 기다린 시간, 21%는 보건관리실까지 걸어온 시간입니다."
- "이 두 단계는 노력으로 줄일 수 없고, 체계를 바꿔야만 없어집니다 — 그래서 목표를 70%로 잡았습니다."
- 다음 장 연결: "이 결과를 기준값으로 지표와 목표를 정했습니다." (25초)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연결: "이 결과를 기준값으로 지표와 목표를 정했습니다."
- 행정시간은 실제 교육 시간 제외 — 작성 · 서명 · 취합 · 결재만
- 목표 70% 근거: 기다림과 이동만 없애도 78%
- 다음 장 연결: "그렇다면 왜 이렇게 됐는지, 원인을 따라가 봤습니다." (20초)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P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"/>
          <p:cNvSpPr txBox="1"/>
          <p:nvPr/>
        </p:nvSpPr>
        <p:spPr>
          <a:xfrm>
            <a:off x="609600" y="609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QI 경진대회 · 구연 발표</a:t>
            </a:r>
            <a:endParaRPr lang="en-US" sz="1200" dirty="0"/>
          </a:p>
        </p:txBody>
      </p:sp>
      <p:sp>
        <p:nvSpPr>
          <p:cNvPr id="3" name="o2"/>
          <p:cNvSpPr txBox="1"/>
          <p:nvPr/>
        </p:nvSpPr>
        <p:spPr>
          <a:xfrm>
            <a:off x="609600" y="2152650"/>
            <a:ext cx="6477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통합 안전보건 플랫폼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구축을 통한 업무 효율성 증가</a:t>
            </a:r>
            <a:endParaRPr lang="en-US" sz="3400" dirty="0"/>
          </a:p>
        </p:txBody>
      </p:sp>
      <p:sp>
        <p:nvSpPr>
          <p:cNvPr id="4" name="o3"/>
          <p:cNvSpPr txBox="1"/>
          <p:nvPr/>
        </p:nvSpPr>
        <p:spPr>
          <a:xfrm>
            <a:off x="609600" y="3733800"/>
            <a:ext cx="5715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Development of an AI-integrated occupational safety and health platform for improved work efficiency</a:t>
            </a:r>
            <a:endParaRPr lang="en-US" sz="1300" dirty="0"/>
          </a:p>
        </p:txBody>
      </p:sp>
      <p:sp>
        <p:nvSpPr>
          <p:cNvPr id="5" name="o4"/>
          <p:cNvSpPr txBox="1"/>
          <p:nvPr/>
        </p:nvSpPr>
        <p:spPr>
          <a:xfrm>
            <a:off x="609600" y="5334000"/>
            <a:ext cx="6096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총무-안전보건팀 (Safety First)</a:t>
            </a:r>
            <a:endParaRPr lang="en-US" sz="1600" dirty="0"/>
          </a:p>
        </p:txBody>
      </p:sp>
      <p:sp>
        <p:nvSpPr>
          <p:cNvPr id="6" name="o5"/>
          <p:cNvSpPr txBox="1"/>
          <p:nvPr/>
        </p:nvSpPr>
        <p:spPr>
          <a:xfrm>
            <a:off x="609600" y="5638800"/>
            <a:ext cx="609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 장은선 · 팀장 김광현 · 팀원 장종문 · 인당의료재단 부민병원</a:t>
            </a:r>
            <a:endParaRPr lang="en-US" sz="1300" dirty="0"/>
          </a:p>
        </p:txBody>
      </p:sp>
      <p:sp>
        <p:nvSpPr>
          <p:cNvPr id="7" name="o6"/>
          <p:cNvSpPr/>
          <p:nvPr/>
        </p:nvSpPr>
        <p:spPr>
          <a:xfrm>
            <a:off x="7239000" y="609600"/>
            <a:ext cx="4343400" cy="5638800"/>
          </a:xfrm>
          <a:prstGeom prst="roundRect">
            <a:avLst>
              <a:gd name="adj" fmla="val 6140"/>
            </a:avLst>
          </a:prstGeom>
          <a:solidFill>
            <a:srgbClr val="F5F5F7"/>
          </a:solidFill>
          <a:ln/>
        </p:spPr>
      </p:sp>
      <p:sp>
        <p:nvSpPr>
          <p:cNvPr id="8" name="o7"/>
          <p:cNvSpPr txBox="1"/>
          <p:nvPr/>
        </p:nvSpPr>
        <p:spPr>
          <a:xfrm>
            <a:off x="7620000" y="952500"/>
            <a:ext cx="361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전(2025) → 개선 후(2026.05–07)</a:t>
            </a:r>
            <a:endParaRPr lang="en-US" sz="1200" dirty="0"/>
          </a:p>
        </p:txBody>
      </p:sp>
      <p:sp>
        <p:nvSpPr>
          <p:cNvPr id="9" name="o8"/>
          <p:cNvSpPr txBox="1"/>
          <p:nvPr/>
        </p:nvSpPr>
        <p:spPr>
          <a:xfrm>
            <a:off x="7620000" y="1428750"/>
            <a:ext cx="358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특별교육 행정시간</a:t>
            </a:r>
            <a:endParaRPr lang="en-US" sz="1300" dirty="0"/>
          </a:p>
        </p:txBody>
      </p:sp>
      <p:sp>
        <p:nvSpPr>
          <p:cNvPr id="10" name="o9"/>
          <p:cNvSpPr txBox="1"/>
          <p:nvPr/>
        </p:nvSpPr>
        <p:spPr>
          <a:xfrm>
            <a:off x="7620000" y="1676400"/>
            <a:ext cx="358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−93%</a:t>
            </a:r>
            <a:endParaRPr lang="en-US" sz="5000" dirty="0"/>
          </a:p>
        </p:txBody>
      </p:sp>
      <p:sp>
        <p:nvSpPr>
          <p:cNvPr id="11" name="o10"/>
          <p:cNvSpPr txBox="1"/>
          <p:nvPr/>
        </p:nvSpPr>
        <p:spPr>
          <a:xfrm>
            <a:off x="7620000" y="2419350"/>
            <a:ext cx="358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33:48 → 2:22 (분:초)</a:t>
            </a:r>
            <a:endParaRPr lang="en-US" sz="1200" dirty="0"/>
          </a:p>
        </p:txBody>
      </p:sp>
      <p:sp>
        <p:nvSpPr>
          <p:cNvPr id="12" name="o11"/>
          <p:cNvSpPr/>
          <p:nvPr/>
        </p:nvSpPr>
        <p:spPr>
          <a:xfrm>
            <a:off x="7620000" y="2876550"/>
            <a:ext cx="35814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13" name="o12"/>
          <p:cNvSpPr txBox="1"/>
          <p:nvPr/>
        </p:nvSpPr>
        <p:spPr>
          <a:xfrm>
            <a:off x="7620000" y="3009900"/>
            <a:ext cx="358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법정교육 누락</a:t>
            </a:r>
            <a:endParaRPr lang="en-US" sz="1300" dirty="0"/>
          </a:p>
        </p:txBody>
      </p:sp>
      <p:sp>
        <p:nvSpPr>
          <p:cNvPr id="14" name="o13"/>
          <p:cNvSpPr txBox="1"/>
          <p:nvPr/>
        </p:nvSpPr>
        <p:spPr>
          <a:xfrm>
            <a:off x="7620000" y="3257550"/>
            <a:ext cx="358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→ 0건</a:t>
            </a:r>
            <a:endParaRPr lang="en-US" sz="5000" dirty="0"/>
          </a:p>
        </p:txBody>
      </p:sp>
      <p:sp>
        <p:nvSpPr>
          <p:cNvPr id="15" name="o14"/>
          <p:cNvSpPr txBox="1"/>
          <p:nvPr/>
        </p:nvSpPr>
        <p:spPr>
          <a:xfrm>
            <a:off x="7620000" y="4000500"/>
            <a:ext cx="358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준수율 83% → 100%</a:t>
            </a:r>
            <a:endParaRPr lang="en-US" sz="1200" dirty="0"/>
          </a:p>
        </p:txBody>
      </p:sp>
      <p:sp>
        <p:nvSpPr>
          <p:cNvPr id="16" name="o15"/>
          <p:cNvSpPr/>
          <p:nvPr/>
        </p:nvSpPr>
        <p:spPr>
          <a:xfrm>
            <a:off x="7620000" y="4457700"/>
            <a:ext cx="35814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17" name="o16"/>
          <p:cNvSpPr txBox="1"/>
          <p:nvPr/>
        </p:nvSpPr>
        <p:spPr>
          <a:xfrm>
            <a:off x="7620000" y="4591050"/>
            <a:ext cx="358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종이 출력</a:t>
            </a:r>
            <a:endParaRPr lang="en-US" sz="1300" dirty="0"/>
          </a:p>
        </p:txBody>
      </p:sp>
      <p:sp>
        <p:nvSpPr>
          <p:cNvPr id="18" name="o17"/>
          <p:cNvSpPr txBox="1"/>
          <p:nvPr/>
        </p:nvSpPr>
        <p:spPr>
          <a:xfrm>
            <a:off x="7620000" y="4838700"/>
            <a:ext cx="358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 → 0건</a:t>
            </a:r>
            <a:endParaRPr lang="en-US" sz="5000" dirty="0"/>
          </a:p>
        </p:txBody>
      </p:sp>
      <p:sp>
        <p:nvSpPr>
          <p:cNvPr id="19" name="o18"/>
          <p:cNvSpPr txBox="1"/>
          <p:nvPr/>
        </p:nvSpPr>
        <p:spPr>
          <a:xfrm>
            <a:off x="7620000" y="5581650"/>
            <a:ext cx="358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페이퍼리스 0% → 100%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9"/>
          <p:cNvSpPr txBox="1"/>
          <p:nvPr/>
        </p:nvSpPr>
        <p:spPr>
          <a:xfrm>
            <a:off x="609600" y="4191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o20"/>
          <p:cNvSpPr txBox="1"/>
          <p:nvPr/>
        </p:nvSpPr>
        <p:spPr>
          <a:xfrm>
            <a:off x="609600" y="66675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o21"/>
          <p:cNvSpPr txBox="1"/>
          <p:nvPr/>
        </p:nvSpPr>
        <p:spPr>
          <a:xfrm>
            <a:off x="609600" y="1162050"/>
            <a:ext cx="1097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PDCA 4단계 순서로 말씀드립니다</a:t>
            </a:r>
            <a:endParaRPr lang="en-US" sz="1500" dirty="0"/>
          </a:p>
        </p:txBody>
      </p:sp>
      <p:sp>
        <p:nvSpPr>
          <p:cNvPr id="5" name="o22"/>
          <p:cNvSpPr txBox="1"/>
          <p:nvPr/>
        </p:nvSpPr>
        <p:spPr>
          <a:xfrm>
            <a:off x="609600" y="6477000"/>
            <a:ext cx="571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부산부민병원 안전보건 통합관리 시스템</a:t>
            </a:r>
            <a:endParaRPr lang="en-US" sz="900" dirty="0"/>
          </a:p>
        </p:txBody>
      </p:sp>
      <p:sp>
        <p:nvSpPr>
          <p:cNvPr id="6" name="o23"/>
          <p:cNvSpPr txBox="1"/>
          <p:nvPr/>
        </p:nvSpPr>
        <p:spPr>
          <a:xfrm>
            <a:off x="10629900" y="647700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o24"/>
          <p:cNvSpPr/>
          <p:nvPr/>
        </p:nvSpPr>
        <p:spPr>
          <a:xfrm>
            <a:off x="609600" y="1676400"/>
            <a:ext cx="2600325" cy="4476750"/>
          </a:xfrm>
          <a:prstGeom prst="roundRect">
            <a:avLst>
              <a:gd name="adj" fmla="val 7326"/>
            </a:avLst>
          </a:prstGeom>
          <a:solidFill>
            <a:srgbClr val="F5F5F7"/>
          </a:solidFill>
          <a:ln/>
        </p:spPr>
      </p:sp>
      <p:sp>
        <p:nvSpPr>
          <p:cNvPr id="8" name="o25"/>
          <p:cNvSpPr txBox="1"/>
          <p:nvPr/>
        </p:nvSpPr>
        <p:spPr>
          <a:xfrm>
            <a:off x="914400" y="1962150"/>
            <a:ext cx="1143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</a:t>
            </a:r>
            <a:endParaRPr lang="en-US" sz="6400" dirty="0"/>
          </a:p>
        </p:txBody>
      </p:sp>
      <p:sp>
        <p:nvSpPr>
          <p:cNvPr id="9" name="o26"/>
          <p:cNvSpPr txBox="1"/>
          <p:nvPr/>
        </p:nvSpPr>
        <p:spPr>
          <a:xfrm>
            <a:off x="933450" y="2876550"/>
            <a:ext cx="19907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1400" dirty="0"/>
          </a:p>
        </p:txBody>
      </p:sp>
      <p:sp>
        <p:nvSpPr>
          <p:cNvPr id="10" name="o27"/>
          <p:cNvSpPr txBox="1"/>
          <p:nvPr/>
        </p:nvSpPr>
        <p:spPr>
          <a:xfrm>
            <a:off x="895350" y="3352800"/>
            <a:ext cx="2143125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 배경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구성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현황 분석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지표 설정 · 목표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원인 분석 · 개선 전략</a:t>
            </a:r>
            <a:endParaRPr lang="en-US" sz="1500" dirty="0"/>
          </a:p>
        </p:txBody>
      </p:sp>
      <p:sp>
        <p:nvSpPr>
          <p:cNvPr id="11" name="o28"/>
          <p:cNvSpPr txBox="1"/>
          <p:nvPr/>
        </p:nvSpPr>
        <p:spPr>
          <a:xfrm>
            <a:off x="933450" y="5772150"/>
            <a:ext cx="1990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03 – 08</a:t>
            </a:r>
            <a:endParaRPr lang="en-US" sz="1000" dirty="0"/>
          </a:p>
        </p:txBody>
      </p:sp>
      <p:sp>
        <p:nvSpPr>
          <p:cNvPr id="12" name="o29"/>
          <p:cNvSpPr/>
          <p:nvPr/>
        </p:nvSpPr>
        <p:spPr>
          <a:xfrm>
            <a:off x="3400425" y="1676400"/>
            <a:ext cx="2600325" cy="4476750"/>
          </a:xfrm>
          <a:prstGeom prst="roundRect">
            <a:avLst>
              <a:gd name="adj" fmla="val 7326"/>
            </a:avLst>
          </a:prstGeom>
          <a:solidFill>
            <a:srgbClr val="F5F5F7"/>
          </a:solidFill>
          <a:ln/>
        </p:spPr>
      </p:sp>
      <p:sp>
        <p:nvSpPr>
          <p:cNvPr id="13" name="o30"/>
          <p:cNvSpPr txBox="1"/>
          <p:nvPr/>
        </p:nvSpPr>
        <p:spPr>
          <a:xfrm>
            <a:off x="3705225" y="1962150"/>
            <a:ext cx="1143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6400" dirty="0"/>
          </a:p>
        </p:txBody>
      </p:sp>
      <p:sp>
        <p:nvSpPr>
          <p:cNvPr id="14" name="o31"/>
          <p:cNvSpPr txBox="1"/>
          <p:nvPr/>
        </p:nvSpPr>
        <p:spPr>
          <a:xfrm>
            <a:off x="3724275" y="2876550"/>
            <a:ext cx="19907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1400" dirty="0"/>
          </a:p>
        </p:txBody>
      </p:sp>
      <p:sp>
        <p:nvSpPr>
          <p:cNvPr id="15" name="o32"/>
          <p:cNvSpPr txBox="1"/>
          <p:nvPr/>
        </p:nvSpPr>
        <p:spPr>
          <a:xfrm>
            <a:off x="3686175" y="3352800"/>
            <a:ext cx="2143125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6대 모듈 구축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시연</a:t>
            </a:r>
            <a:endParaRPr lang="en-US" sz="1500" dirty="0"/>
          </a:p>
        </p:txBody>
      </p:sp>
      <p:sp>
        <p:nvSpPr>
          <p:cNvPr id="16" name="o33"/>
          <p:cNvSpPr txBox="1"/>
          <p:nvPr/>
        </p:nvSpPr>
        <p:spPr>
          <a:xfrm>
            <a:off x="3724275" y="5772150"/>
            <a:ext cx="1990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09</a:t>
            </a:r>
            <a:endParaRPr lang="en-US" sz="1000" dirty="0"/>
          </a:p>
        </p:txBody>
      </p:sp>
      <p:sp>
        <p:nvSpPr>
          <p:cNvPr id="17" name="o34"/>
          <p:cNvSpPr/>
          <p:nvPr/>
        </p:nvSpPr>
        <p:spPr>
          <a:xfrm>
            <a:off x="6191250" y="1676400"/>
            <a:ext cx="2600325" cy="4476750"/>
          </a:xfrm>
          <a:prstGeom prst="roundRect">
            <a:avLst>
              <a:gd name="adj" fmla="val 7326"/>
            </a:avLst>
          </a:prstGeom>
          <a:solidFill>
            <a:srgbClr val="F5F5F7"/>
          </a:solidFill>
          <a:ln/>
        </p:spPr>
      </p:sp>
      <p:sp>
        <p:nvSpPr>
          <p:cNvPr id="18" name="o35"/>
          <p:cNvSpPr txBox="1"/>
          <p:nvPr/>
        </p:nvSpPr>
        <p:spPr>
          <a:xfrm>
            <a:off x="6496050" y="1962150"/>
            <a:ext cx="1143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6400" dirty="0"/>
          </a:p>
        </p:txBody>
      </p:sp>
      <p:sp>
        <p:nvSpPr>
          <p:cNvPr id="19" name="o36"/>
          <p:cNvSpPr txBox="1"/>
          <p:nvPr/>
        </p:nvSpPr>
        <p:spPr>
          <a:xfrm>
            <a:off x="6515100" y="2876550"/>
            <a:ext cx="19907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</a:t>
            </a:r>
            <a:endParaRPr lang="en-US" sz="1400" dirty="0"/>
          </a:p>
        </p:txBody>
      </p:sp>
      <p:sp>
        <p:nvSpPr>
          <p:cNvPr id="20" name="o37"/>
          <p:cNvSpPr txBox="1"/>
          <p:nvPr/>
        </p:nvSpPr>
        <p:spPr>
          <a:xfrm>
            <a:off x="6477000" y="3352800"/>
            <a:ext cx="2143125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법정교육 준수율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페이퍼리스 전환율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 소요시간</a:t>
            </a:r>
            <a:endParaRPr lang="en-US" sz="1500" dirty="0"/>
          </a:p>
        </p:txBody>
      </p:sp>
      <p:sp>
        <p:nvSpPr>
          <p:cNvPr id="21" name="o38"/>
          <p:cNvSpPr txBox="1"/>
          <p:nvPr/>
        </p:nvSpPr>
        <p:spPr>
          <a:xfrm>
            <a:off x="6515100" y="5772150"/>
            <a:ext cx="1990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10 – 11</a:t>
            </a:r>
            <a:endParaRPr lang="en-US" sz="1000" dirty="0"/>
          </a:p>
        </p:txBody>
      </p:sp>
      <p:sp>
        <p:nvSpPr>
          <p:cNvPr id="22" name="o39"/>
          <p:cNvSpPr/>
          <p:nvPr/>
        </p:nvSpPr>
        <p:spPr>
          <a:xfrm>
            <a:off x="8982075" y="1676400"/>
            <a:ext cx="2600325" cy="4476750"/>
          </a:xfrm>
          <a:prstGeom prst="roundRect">
            <a:avLst>
              <a:gd name="adj" fmla="val 7326"/>
            </a:avLst>
          </a:prstGeom>
          <a:solidFill>
            <a:srgbClr val="F5F5F7"/>
          </a:solidFill>
          <a:ln/>
        </p:spPr>
      </p:sp>
      <p:sp>
        <p:nvSpPr>
          <p:cNvPr id="23" name="o40"/>
          <p:cNvSpPr txBox="1"/>
          <p:nvPr/>
        </p:nvSpPr>
        <p:spPr>
          <a:xfrm>
            <a:off x="9286875" y="1962150"/>
            <a:ext cx="1143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6400" dirty="0"/>
          </a:p>
        </p:txBody>
      </p:sp>
      <p:sp>
        <p:nvSpPr>
          <p:cNvPr id="24" name="o41"/>
          <p:cNvSpPr txBox="1"/>
          <p:nvPr/>
        </p:nvSpPr>
        <p:spPr>
          <a:xfrm>
            <a:off x="9305925" y="2876550"/>
            <a:ext cx="19907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</a:t>
            </a:r>
            <a:endParaRPr lang="en-US" sz="1400" dirty="0"/>
          </a:p>
        </p:txBody>
      </p:sp>
      <p:sp>
        <p:nvSpPr>
          <p:cNvPr id="25" name="o42"/>
          <p:cNvSpPr txBox="1"/>
          <p:nvPr/>
        </p:nvSpPr>
        <p:spPr>
          <a:xfrm>
            <a:off x="9267825" y="3352800"/>
            <a:ext cx="2143125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표준화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통합 플랫폼 고도화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및 제언</a:t>
            </a:r>
            <a:endParaRPr lang="en-US" sz="1500" dirty="0"/>
          </a:p>
        </p:txBody>
      </p:sp>
      <p:sp>
        <p:nvSpPr>
          <p:cNvPr id="26" name="o43"/>
          <p:cNvSpPr txBox="1"/>
          <p:nvPr/>
        </p:nvSpPr>
        <p:spPr>
          <a:xfrm>
            <a:off x="9305925" y="5772150"/>
            <a:ext cx="1990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 12 – 13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44"/>
          <p:cNvSpPr txBox="1"/>
          <p:nvPr/>
        </p:nvSpPr>
        <p:spPr>
          <a:xfrm>
            <a:off x="609600" y="4191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PLAN · 주제 선정 배경</a:t>
            </a:r>
            <a:endParaRPr lang="en-US" sz="1000" dirty="0"/>
          </a:p>
        </p:txBody>
      </p:sp>
      <p:sp>
        <p:nvSpPr>
          <p:cNvPr id="3" name="o45"/>
          <p:cNvSpPr txBox="1"/>
          <p:nvPr/>
        </p:nvSpPr>
        <p:spPr>
          <a:xfrm>
            <a:off x="89535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900" dirty="0"/>
          </a:p>
        </p:txBody>
      </p:sp>
      <p:sp>
        <p:nvSpPr>
          <p:cNvPr id="4" name="o46"/>
          <p:cNvSpPr/>
          <p:nvPr/>
        </p:nvSpPr>
        <p:spPr>
          <a:xfrm>
            <a:off x="9086850" y="609600"/>
            <a:ext cx="342900" cy="19050"/>
          </a:xfrm>
          <a:prstGeom prst="rect">
            <a:avLst/>
          </a:prstGeom>
          <a:solidFill>
            <a:srgbClr val="0A1F44"/>
          </a:solidFill>
          <a:ln/>
        </p:spPr>
      </p:sp>
      <p:sp>
        <p:nvSpPr>
          <p:cNvPr id="5" name="o47"/>
          <p:cNvSpPr txBox="1"/>
          <p:nvPr/>
        </p:nvSpPr>
        <p:spPr>
          <a:xfrm>
            <a:off x="96202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900" dirty="0"/>
          </a:p>
        </p:txBody>
      </p:sp>
      <p:sp>
        <p:nvSpPr>
          <p:cNvPr id="6" name="o48"/>
          <p:cNvSpPr txBox="1"/>
          <p:nvPr/>
        </p:nvSpPr>
        <p:spPr>
          <a:xfrm>
            <a:off x="102870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</a:t>
            </a:r>
            <a:endParaRPr lang="en-US" sz="900" dirty="0"/>
          </a:p>
        </p:txBody>
      </p:sp>
      <p:sp>
        <p:nvSpPr>
          <p:cNvPr id="7" name="o49"/>
          <p:cNvSpPr txBox="1"/>
          <p:nvPr/>
        </p:nvSpPr>
        <p:spPr>
          <a:xfrm>
            <a:off x="109537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</a:t>
            </a:r>
            <a:endParaRPr lang="en-US" sz="900" dirty="0"/>
          </a:p>
        </p:txBody>
      </p:sp>
      <p:sp>
        <p:nvSpPr>
          <p:cNvPr id="8" name="o50"/>
          <p:cNvSpPr txBox="1"/>
          <p:nvPr/>
        </p:nvSpPr>
        <p:spPr>
          <a:xfrm>
            <a:off x="609600" y="66675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법은 실시간 증빙을 요구했지만, 안전보건 기록은 100% 종이였다</a:t>
            </a:r>
            <a:endParaRPr lang="en-US" sz="2800" dirty="0"/>
          </a:p>
        </p:txBody>
      </p:sp>
      <p:sp>
        <p:nvSpPr>
          <p:cNvPr id="9" name="o51"/>
          <p:cNvSpPr txBox="1"/>
          <p:nvPr/>
        </p:nvSpPr>
        <p:spPr>
          <a:xfrm>
            <a:off x="609600" y="1162050"/>
            <a:ext cx="1097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 배경 — 법 · 현장 · 경영 세 측면</a:t>
            </a:r>
            <a:endParaRPr lang="en-US" sz="1500" dirty="0"/>
          </a:p>
        </p:txBody>
      </p:sp>
      <p:sp>
        <p:nvSpPr>
          <p:cNvPr id="10" name="o52"/>
          <p:cNvSpPr txBox="1"/>
          <p:nvPr/>
        </p:nvSpPr>
        <p:spPr>
          <a:xfrm>
            <a:off x="609600" y="6477000"/>
            <a:ext cx="571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부산부민병원 안전보건 통합관리 시스템</a:t>
            </a:r>
            <a:endParaRPr lang="en-US" sz="900" dirty="0"/>
          </a:p>
        </p:txBody>
      </p:sp>
      <p:sp>
        <p:nvSpPr>
          <p:cNvPr id="11" name="o53"/>
          <p:cNvSpPr txBox="1"/>
          <p:nvPr/>
        </p:nvSpPr>
        <p:spPr>
          <a:xfrm>
            <a:off x="10629900" y="647700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900" dirty="0"/>
          </a:p>
        </p:txBody>
      </p:sp>
      <p:sp>
        <p:nvSpPr>
          <p:cNvPr id="12" name="o54"/>
          <p:cNvSpPr/>
          <p:nvPr/>
        </p:nvSpPr>
        <p:spPr>
          <a:xfrm>
            <a:off x="609600" y="1676400"/>
            <a:ext cx="3530600" cy="3238500"/>
          </a:xfrm>
          <a:prstGeom prst="roundRect">
            <a:avLst>
              <a:gd name="adj" fmla="val 5882"/>
            </a:avLst>
          </a:prstGeom>
          <a:solidFill>
            <a:srgbClr val="F5F5F7"/>
          </a:solidFill>
          <a:ln/>
        </p:spPr>
      </p:sp>
      <p:sp>
        <p:nvSpPr>
          <p:cNvPr id="13" name="o55"/>
          <p:cNvSpPr txBox="1"/>
          <p:nvPr/>
        </p:nvSpPr>
        <p:spPr>
          <a:xfrm>
            <a:off x="914400" y="19431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14" name="o56"/>
          <p:cNvSpPr txBox="1"/>
          <p:nvPr/>
        </p:nvSpPr>
        <p:spPr>
          <a:xfrm>
            <a:off x="914400" y="2247900"/>
            <a:ext cx="292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· 인증</a:t>
            </a:r>
            <a:endParaRPr lang="en-US" sz="2200" dirty="0"/>
          </a:p>
        </p:txBody>
      </p:sp>
      <p:sp>
        <p:nvSpPr>
          <p:cNvPr id="15" name="o57"/>
          <p:cNvSpPr txBox="1"/>
          <p:nvPr/>
        </p:nvSpPr>
        <p:spPr>
          <a:xfrm>
            <a:off x="914400" y="2781300"/>
            <a:ext cx="292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산업안전보건법 제29조</a:t>
            </a:r>
            <a:endParaRPr lang="en-US" sz="1500" dirty="0"/>
          </a:p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중대재해처벌법</a:t>
            </a:r>
            <a:endParaRPr lang="en-US" sz="1500" dirty="0"/>
          </a:p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의료기관 인증기준 10.7 · 11.3</a:t>
            </a:r>
            <a:endParaRPr lang="en-US" sz="1500" dirty="0"/>
          </a:p>
        </p:txBody>
      </p:sp>
      <p:sp>
        <p:nvSpPr>
          <p:cNvPr id="16" name="o58"/>
          <p:cNvSpPr/>
          <p:nvPr/>
        </p:nvSpPr>
        <p:spPr>
          <a:xfrm>
            <a:off x="914400" y="4095750"/>
            <a:ext cx="29210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17" name="o59"/>
          <p:cNvSpPr txBox="1"/>
          <p:nvPr/>
        </p:nvSpPr>
        <p:spPr>
          <a:xfrm>
            <a:off x="914400" y="42672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실시간 증빙 요구</a:t>
            </a:r>
            <a:endParaRPr lang="en-US" sz="2200" dirty="0"/>
          </a:p>
        </p:txBody>
      </p:sp>
      <p:sp>
        <p:nvSpPr>
          <p:cNvPr id="18" name="o60"/>
          <p:cNvSpPr/>
          <p:nvPr/>
        </p:nvSpPr>
        <p:spPr>
          <a:xfrm>
            <a:off x="4330700" y="1676400"/>
            <a:ext cx="3530600" cy="3238500"/>
          </a:xfrm>
          <a:prstGeom prst="roundRect">
            <a:avLst>
              <a:gd name="adj" fmla="val 5882"/>
            </a:avLst>
          </a:prstGeom>
          <a:solidFill>
            <a:srgbClr val="F5F5F7"/>
          </a:solidFill>
          <a:ln/>
        </p:spPr>
      </p:sp>
      <p:sp>
        <p:nvSpPr>
          <p:cNvPr id="19" name="o61"/>
          <p:cNvSpPr txBox="1"/>
          <p:nvPr/>
        </p:nvSpPr>
        <p:spPr>
          <a:xfrm>
            <a:off x="4635500" y="19431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20" name="o62"/>
          <p:cNvSpPr txBox="1"/>
          <p:nvPr/>
        </p:nvSpPr>
        <p:spPr>
          <a:xfrm>
            <a:off x="4635500" y="2247900"/>
            <a:ext cx="292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2200" dirty="0"/>
          </a:p>
        </p:txBody>
      </p:sp>
      <p:sp>
        <p:nvSpPr>
          <p:cNvPr id="21" name="o63"/>
          <p:cNvSpPr txBox="1"/>
          <p:nvPr/>
        </p:nvSpPr>
        <p:spPr>
          <a:xfrm>
            <a:off x="4635500" y="2781300"/>
            <a:ext cx="292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교육일지 100% 수기 작성</a:t>
            </a:r>
            <a:endParaRPr lang="en-US" sz="1500" dirty="0"/>
          </a:p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대면 서명 · 오프라인 결재</a:t>
            </a:r>
            <a:endParaRPr lang="en-US" sz="1500" dirty="0"/>
          </a:p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바인더 편철 보관</a:t>
            </a:r>
            <a:endParaRPr lang="en-US" sz="1500" dirty="0"/>
          </a:p>
        </p:txBody>
      </p:sp>
      <p:sp>
        <p:nvSpPr>
          <p:cNvPr id="22" name="o64"/>
          <p:cNvSpPr/>
          <p:nvPr/>
        </p:nvSpPr>
        <p:spPr>
          <a:xfrm>
            <a:off x="4635500" y="4095750"/>
            <a:ext cx="29210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23" name="o65"/>
          <p:cNvSpPr txBox="1"/>
          <p:nvPr/>
        </p:nvSpPr>
        <p:spPr>
          <a:xfrm>
            <a:off x="4635500" y="42672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건당 최대 33:48</a:t>
            </a:r>
            <a:endParaRPr lang="en-US" sz="2200" dirty="0"/>
          </a:p>
        </p:txBody>
      </p:sp>
      <p:sp>
        <p:nvSpPr>
          <p:cNvPr id="24" name="o66"/>
          <p:cNvSpPr/>
          <p:nvPr/>
        </p:nvSpPr>
        <p:spPr>
          <a:xfrm>
            <a:off x="8051800" y="1676400"/>
            <a:ext cx="3530600" cy="3238500"/>
          </a:xfrm>
          <a:prstGeom prst="roundRect">
            <a:avLst>
              <a:gd name="adj" fmla="val 5882"/>
            </a:avLst>
          </a:prstGeom>
          <a:solidFill>
            <a:srgbClr val="F5F5F7"/>
          </a:solidFill>
          <a:ln/>
        </p:spPr>
      </p:sp>
      <p:sp>
        <p:nvSpPr>
          <p:cNvPr id="25" name="o67"/>
          <p:cNvSpPr txBox="1"/>
          <p:nvPr/>
        </p:nvSpPr>
        <p:spPr>
          <a:xfrm>
            <a:off x="8356600" y="19431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26" name="o68"/>
          <p:cNvSpPr txBox="1"/>
          <p:nvPr/>
        </p:nvSpPr>
        <p:spPr>
          <a:xfrm>
            <a:off x="8356600" y="2247900"/>
            <a:ext cx="292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경영 (ESG)</a:t>
            </a:r>
            <a:endParaRPr lang="en-US" sz="2200" dirty="0"/>
          </a:p>
        </p:txBody>
      </p:sp>
      <p:sp>
        <p:nvSpPr>
          <p:cNvPr id="27" name="o69"/>
          <p:cNvSpPr txBox="1"/>
          <p:nvPr/>
        </p:nvSpPr>
        <p:spPr>
          <a:xfrm>
            <a:off x="8356600" y="2781300"/>
            <a:ext cx="292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94건 종이 출력 · 보관</a:t>
            </a:r>
            <a:endParaRPr lang="en-US" sz="1500" dirty="0"/>
          </a:p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친환경 경영 방향과 불일치</a:t>
            </a:r>
            <a:endParaRPr lang="en-US" sz="1500" dirty="0"/>
          </a:p>
          <a:p>
            <a:pPr indent="0" marL="0">
              <a:lnSpc>
                <a:spcPct val="165000"/>
              </a:lnSpc>
              <a:buNone/>
            </a:pPr>
            <a:r>
              <a:rPr lang="en-US" sz="1500" dirty="0">
                <a:solidFill>
                  <a:srgbClr val="3A3A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MSDS 개정본 비치 확인 어려움</a:t>
            </a:r>
            <a:endParaRPr lang="en-US" sz="1500" dirty="0"/>
          </a:p>
        </p:txBody>
      </p:sp>
      <p:sp>
        <p:nvSpPr>
          <p:cNvPr id="28" name="o70"/>
          <p:cNvSpPr/>
          <p:nvPr/>
        </p:nvSpPr>
        <p:spPr>
          <a:xfrm>
            <a:off x="8356600" y="4095750"/>
            <a:ext cx="29210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29" name="o71"/>
          <p:cNvSpPr txBox="1"/>
          <p:nvPr/>
        </p:nvSpPr>
        <p:spPr>
          <a:xfrm>
            <a:off x="8356600" y="42672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연 94건 출력</a:t>
            </a:r>
            <a:endParaRPr lang="en-US" sz="2200" dirty="0"/>
          </a:p>
        </p:txBody>
      </p:sp>
      <p:sp>
        <p:nvSpPr>
          <p:cNvPr id="30" name="o72"/>
          <p:cNvSpPr/>
          <p:nvPr/>
        </p:nvSpPr>
        <p:spPr>
          <a:xfrm>
            <a:off x="609600" y="5143500"/>
            <a:ext cx="10972800" cy="1104900"/>
          </a:xfrm>
          <a:prstGeom prst="roundRect">
            <a:avLst>
              <a:gd name="adj" fmla="val 18966"/>
            </a:avLst>
          </a:prstGeom>
          <a:solidFill>
            <a:srgbClr val="0A1F44"/>
          </a:solidFill>
          <a:ln/>
        </p:spPr>
      </p:sp>
      <p:sp>
        <p:nvSpPr>
          <p:cNvPr id="31" name="o73"/>
          <p:cNvSpPr txBox="1"/>
          <p:nvPr/>
        </p:nvSpPr>
        <p:spPr>
          <a:xfrm>
            <a:off x="1028700" y="5143500"/>
            <a:ext cx="91440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 기반 통합 디지털 안전보건 체계가 필요했습니다</a:t>
            </a:r>
            <a:endParaRPr lang="en-US" sz="2400" dirty="0"/>
          </a:p>
        </p:txBody>
      </p:sp>
      <p:sp>
        <p:nvSpPr>
          <p:cNvPr id="32" name="o74"/>
          <p:cNvSpPr txBox="1"/>
          <p:nvPr/>
        </p:nvSpPr>
        <p:spPr>
          <a:xfrm>
            <a:off x="10668000" y="5143500"/>
            <a:ext cx="5715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4DA3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75"/>
          <p:cNvSpPr txBox="1"/>
          <p:nvPr/>
        </p:nvSpPr>
        <p:spPr>
          <a:xfrm>
            <a:off x="609600" y="4191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PLAN · 팀 구성</a:t>
            </a:r>
            <a:endParaRPr lang="en-US" sz="1000" dirty="0"/>
          </a:p>
        </p:txBody>
      </p:sp>
      <p:sp>
        <p:nvSpPr>
          <p:cNvPr id="3" name="o76"/>
          <p:cNvSpPr txBox="1"/>
          <p:nvPr/>
        </p:nvSpPr>
        <p:spPr>
          <a:xfrm>
            <a:off x="89535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900" dirty="0"/>
          </a:p>
        </p:txBody>
      </p:sp>
      <p:sp>
        <p:nvSpPr>
          <p:cNvPr id="4" name="o77"/>
          <p:cNvSpPr/>
          <p:nvPr/>
        </p:nvSpPr>
        <p:spPr>
          <a:xfrm>
            <a:off x="9086850" y="609600"/>
            <a:ext cx="342900" cy="19050"/>
          </a:xfrm>
          <a:prstGeom prst="rect">
            <a:avLst/>
          </a:prstGeom>
          <a:solidFill>
            <a:srgbClr val="0A1F44"/>
          </a:solidFill>
          <a:ln/>
        </p:spPr>
      </p:sp>
      <p:sp>
        <p:nvSpPr>
          <p:cNvPr id="5" name="o78"/>
          <p:cNvSpPr txBox="1"/>
          <p:nvPr/>
        </p:nvSpPr>
        <p:spPr>
          <a:xfrm>
            <a:off x="96202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900" dirty="0"/>
          </a:p>
        </p:txBody>
      </p:sp>
      <p:sp>
        <p:nvSpPr>
          <p:cNvPr id="6" name="o79"/>
          <p:cNvSpPr txBox="1"/>
          <p:nvPr/>
        </p:nvSpPr>
        <p:spPr>
          <a:xfrm>
            <a:off x="102870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</a:t>
            </a:r>
            <a:endParaRPr lang="en-US" sz="900" dirty="0"/>
          </a:p>
        </p:txBody>
      </p:sp>
      <p:sp>
        <p:nvSpPr>
          <p:cNvPr id="7" name="o80"/>
          <p:cNvSpPr txBox="1"/>
          <p:nvPr/>
        </p:nvSpPr>
        <p:spPr>
          <a:xfrm>
            <a:off x="109537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</a:t>
            </a:r>
            <a:endParaRPr lang="en-US" sz="900" dirty="0"/>
          </a:p>
        </p:txBody>
      </p:sp>
      <p:sp>
        <p:nvSpPr>
          <p:cNvPr id="8" name="o81"/>
          <p:cNvSpPr txBox="1"/>
          <p:nvPr/>
        </p:nvSpPr>
        <p:spPr>
          <a:xfrm>
            <a:off x="609600" y="66675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3명의 팀이 외부 개발 없이 기획부터 표준화까지 직접 수행했다</a:t>
            </a:r>
            <a:endParaRPr lang="en-US" sz="2800" dirty="0"/>
          </a:p>
        </p:txBody>
      </p:sp>
      <p:sp>
        <p:nvSpPr>
          <p:cNvPr id="9" name="o82"/>
          <p:cNvSpPr txBox="1"/>
          <p:nvPr/>
        </p:nvSpPr>
        <p:spPr>
          <a:xfrm>
            <a:off x="609600" y="1162050"/>
            <a:ext cx="1097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구성 · 1–10월 활동 일정</a:t>
            </a:r>
            <a:endParaRPr lang="en-US" sz="1500" dirty="0"/>
          </a:p>
        </p:txBody>
      </p:sp>
      <p:sp>
        <p:nvSpPr>
          <p:cNvPr id="10" name="o83"/>
          <p:cNvSpPr txBox="1"/>
          <p:nvPr/>
        </p:nvSpPr>
        <p:spPr>
          <a:xfrm>
            <a:off x="609600" y="6477000"/>
            <a:ext cx="571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부산부민병원 안전보건 통합관리 시스템</a:t>
            </a:r>
            <a:endParaRPr lang="en-US" sz="900" dirty="0"/>
          </a:p>
        </p:txBody>
      </p:sp>
      <p:sp>
        <p:nvSpPr>
          <p:cNvPr id="11" name="o84"/>
          <p:cNvSpPr txBox="1"/>
          <p:nvPr/>
        </p:nvSpPr>
        <p:spPr>
          <a:xfrm>
            <a:off x="10629900" y="647700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900" dirty="0"/>
          </a:p>
        </p:txBody>
      </p:sp>
      <p:sp>
        <p:nvSpPr>
          <p:cNvPr id="12" name="o85"/>
          <p:cNvSpPr/>
          <p:nvPr/>
        </p:nvSpPr>
        <p:spPr>
          <a:xfrm>
            <a:off x="609600" y="1676400"/>
            <a:ext cx="3530600" cy="1066800"/>
          </a:xfrm>
          <a:prstGeom prst="roundRect">
            <a:avLst>
              <a:gd name="adj" fmla="val 17857"/>
            </a:avLst>
          </a:prstGeom>
          <a:solidFill>
            <a:srgbClr val="F5F5F7"/>
          </a:solidFill>
          <a:ln/>
        </p:spPr>
      </p:sp>
      <p:sp>
        <p:nvSpPr>
          <p:cNvPr id="13" name="o86"/>
          <p:cNvSpPr/>
          <p:nvPr/>
        </p:nvSpPr>
        <p:spPr>
          <a:xfrm>
            <a:off x="838200" y="1943100"/>
            <a:ext cx="533400" cy="533400"/>
          </a:xfrm>
          <a:prstGeom prst="ellipse">
            <a:avLst/>
          </a:prstGeom>
          <a:solidFill>
            <a:srgbClr val="0A1F44"/>
          </a:solidFill>
          <a:ln/>
        </p:spPr>
      </p:sp>
      <p:sp>
        <p:nvSpPr>
          <p:cNvPr id="14" name="o87"/>
          <p:cNvSpPr txBox="1"/>
          <p:nvPr/>
        </p:nvSpPr>
        <p:spPr>
          <a:xfrm>
            <a:off x="838200" y="1943100"/>
            <a:ext cx="53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</a:t>
            </a:r>
            <a:endParaRPr lang="en-US" sz="1800" dirty="0"/>
          </a:p>
        </p:txBody>
      </p:sp>
      <p:sp>
        <p:nvSpPr>
          <p:cNvPr id="15" name="o88"/>
          <p:cNvSpPr txBox="1"/>
          <p:nvPr/>
        </p:nvSpPr>
        <p:spPr>
          <a:xfrm>
            <a:off x="1562100" y="1924050"/>
            <a:ext cx="2387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김광현</a:t>
            </a:r>
            <a:endParaRPr lang="en-US" sz="1800" dirty="0"/>
          </a:p>
        </p:txBody>
      </p:sp>
      <p:sp>
        <p:nvSpPr>
          <p:cNvPr id="16" name="o89"/>
          <p:cNvSpPr txBox="1"/>
          <p:nvPr/>
        </p:nvSpPr>
        <p:spPr>
          <a:xfrm>
            <a:off x="1562100" y="2190750"/>
            <a:ext cx="2387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팀장</a:t>
            </a:r>
            <a:endParaRPr lang="en-US" sz="1100" dirty="0"/>
          </a:p>
        </p:txBody>
      </p:sp>
      <p:sp>
        <p:nvSpPr>
          <p:cNvPr id="17" name="o90"/>
          <p:cNvSpPr txBox="1"/>
          <p:nvPr/>
        </p:nvSpPr>
        <p:spPr>
          <a:xfrm>
            <a:off x="1562100" y="2381250"/>
            <a:ext cx="2387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 총괄</a:t>
            </a:r>
            <a:endParaRPr lang="en-US" sz="1100" dirty="0"/>
          </a:p>
        </p:txBody>
      </p:sp>
      <p:sp>
        <p:nvSpPr>
          <p:cNvPr id="18" name="o91"/>
          <p:cNvSpPr/>
          <p:nvPr/>
        </p:nvSpPr>
        <p:spPr>
          <a:xfrm>
            <a:off x="4330700" y="1676400"/>
            <a:ext cx="3530600" cy="1066800"/>
          </a:xfrm>
          <a:prstGeom prst="roundRect">
            <a:avLst>
              <a:gd name="adj" fmla="val 17857"/>
            </a:avLst>
          </a:prstGeom>
          <a:solidFill>
            <a:srgbClr val="F5F5F7"/>
          </a:solidFill>
          <a:ln/>
        </p:spPr>
      </p:sp>
      <p:sp>
        <p:nvSpPr>
          <p:cNvPr id="19" name="o92"/>
          <p:cNvSpPr/>
          <p:nvPr/>
        </p:nvSpPr>
        <p:spPr>
          <a:xfrm>
            <a:off x="4559300" y="1943100"/>
            <a:ext cx="533400" cy="533400"/>
          </a:xfrm>
          <a:prstGeom prst="ellipse">
            <a:avLst/>
          </a:prstGeom>
          <a:solidFill>
            <a:srgbClr val="0A1F44"/>
          </a:solidFill>
          <a:ln/>
        </p:spPr>
      </p:sp>
      <p:sp>
        <p:nvSpPr>
          <p:cNvPr id="20" name="o93"/>
          <p:cNvSpPr txBox="1"/>
          <p:nvPr/>
        </p:nvSpPr>
        <p:spPr>
          <a:xfrm>
            <a:off x="4559300" y="1943100"/>
            <a:ext cx="53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</a:t>
            </a:r>
            <a:endParaRPr lang="en-US" sz="1800" dirty="0"/>
          </a:p>
        </p:txBody>
      </p:sp>
      <p:sp>
        <p:nvSpPr>
          <p:cNvPr id="21" name="o94"/>
          <p:cNvSpPr txBox="1"/>
          <p:nvPr/>
        </p:nvSpPr>
        <p:spPr>
          <a:xfrm>
            <a:off x="5283200" y="1924050"/>
            <a:ext cx="2387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장은선</a:t>
            </a:r>
            <a:endParaRPr lang="en-US" sz="1800" dirty="0"/>
          </a:p>
        </p:txBody>
      </p:sp>
      <p:sp>
        <p:nvSpPr>
          <p:cNvPr id="22" name="o95"/>
          <p:cNvSpPr txBox="1"/>
          <p:nvPr/>
        </p:nvSpPr>
        <p:spPr>
          <a:xfrm>
            <a:off x="5283200" y="2190750"/>
            <a:ext cx="2387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 · 보건관리자</a:t>
            </a:r>
            <a:endParaRPr lang="en-US" sz="1100" dirty="0"/>
          </a:p>
        </p:txBody>
      </p:sp>
      <p:sp>
        <p:nvSpPr>
          <p:cNvPr id="23" name="o96"/>
          <p:cNvSpPr txBox="1"/>
          <p:nvPr/>
        </p:nvSpPr>
        <p:spPr>
          <a:xfrm>
            <a:off x="5283200" y="2381250"/>
            <a:ext cx="2387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기획 · 직접 개발</a:t>
            </a:r>
            <a:endParaRPr lang="en-US" sz="1100" dirty="0"/>
          </a:p>
        </p:txBody>
      </p:sp>
      <p:sp>
        <p:nvSpPr>
          <p:cNvPr id="24" name="o97"/>
          <p:cNvSpPr/>
          <p:nvPr/>
        </p:nvSpPr>
        <p:spPr>
          <a:xfrm>
            <a:off x="8051800" y="1676400"/>
            <a:ext cx="3530600" cy="1066800"/>
          </a:xfrm>
          <a:prstGeom prst="roundRect">
            <a:avLst>
              <a:gd name="adj" fmla="val 17857"/>
            </a:avLst>
          </a:prstGeom>
          <a:solidFill>
            <a:srgbClr val="F5F5F7"/>
          </a:solidFill>
          <a:ln/>
        </p:spPr>
      </p:sp>
      <p:sp>
        <p:nvSpPr>
          <p:cNvPr id="25" name="o98"/>
          <p:cNvSpPr/>
          <p:nvPr/>
        </p:nvSpPr>
        <p:spPr>
          <a:xfrm>
            <a:off x="8280400" y="1943100"/>
            <a:ext cx="533400" cy="533400"/>
          </a:xfrm>
          <a:prstGeom prst="ellipse">
            <a:avLst/>
          </a:prstGeom>
          <a:solidFill>
            <a:srgbClr val="0A1F44"/>
          </a:solidFill>
          <a:ln/>
        </p:spPr>
      </p:sp>
      <p:sp>
        <p:nvSpPr>
          <p:cNvPr id="26" name="o99"/>
          <p:cNvSpPr txBox="1"/>
          <p:nvPr/>
        </p:nvSpPr>
        <p:spPr>
          <a:xfrm>
            <a:off x="8280400" y="1943100"/>
            <a:ext cx="53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</a:t>
            </a:r>
            <a:endParaRPr lang="en-US" sz="1800" dirty="0"/>
          </a:p>
        </p:txBody>
      </p:sp>
      <p:sp>
        <p:nvSpPr>
          <p:cNvPr id="27" name="o100"/>
          <p:cNvSpPr txBox="1"/>
          <p:nvPr/>
        </p:nvSpPr>
        <p:spPr>
          <a:xfrm>
            <a:off x="9004300" y="1924050"/>
            <a:ext cx="2387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장종문</a:t>
            </a:r>
            <a:endParaRPr lang="en-US" sz="1800" dirty="0"/>
          </a:p>
        </p:txBody>
      </p:sp>
      <p:sp>
        <p:nvSpPr>
          <p:cNvPr id="28" name="o101"/>
          <p:cNvSpPr txBox="1"/>
          <p:nvPr/>
        </p:nvSpPr>
        <p:spPr>
          <a:xfrm>
            <a:off x="9004300" y="2190750"/>
            <a:ext cx="2387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 · 안전관리자</a:t>
            </a:r>
            <a:endParaRPr lang="en-US" sz="1100" dirty="0"/>
          </a:p>
        </p:txBody>
      </p:sp>
      <p:sp>
        <p:nvSpPr>
          <p:cNvPr id="29" name="o102"/>
          <p:cNvSpPr txBox="1"/>
          <p:nvPr/>
        </p:nvSpPr>
        <p:spPr>
          <a:xfrm>
            <a:off x="9004300" y="2381250"/>
            <a:ext cx="2387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MSDS · AI 위험성평가</a:t>
            </a:r>
            <a:endParaRPr lang="en-US" sz="1100" dirty="0"/>
          </a:p>
        </p:txBody>
      </p:sp>
      <p:sp>
        <p:nvSpPr>
          <p:cNvPr id="30" name="o103"/>
          <p:cNvSpPr/>
          <p:nvPr/>
        </p:nvSpPr>
        <p:spPr>
          <a:xfrm>
            <a:off x="609600" y="2933700"/>
            <a:ext cx="10972800" cy="3314700"/>
          </a:xfrm>
          <a:prstGeom prst="roundRect">
            <a:avLst>
              <a:gd name="adj" fmla="val 5747"/>
            </a:avLst>
          </a:prstGeom>
          <a:solidFill>
            <a:srgbClr val="F5F5F7"/>
          </a:solidFill>
          <a:ln/>
        </p:spPr>
      </p:sp>
      <p:sp>
        <p:nvSpPr>
          <p:cNvPr id="31" name="o104"/>
          <p:cNvSpPr txBox="1"/>
          <p:nvPr/>
        </p:nvSpPr>
        <p:spPr>
          <a:xfrm>
            <a:off x="3143250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1월</a:t>
            </a:r>
            <a:endParaRPr lang="en-US" sz="1000" dirty="0"/>
          </a:p>
        </p:txBody>
      </p:sp>
      <p:sp>
        <p:nvSpPr>
          <p:cNvPr id="32" name="o105"/>
          <p:cNvSpPr/>
          <p:nvPr/>
        </p:nvSpPr>
        <p:spPr>
          <a:xfrm>
            <a:off x="3143250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33" name="o106"/>
          <p:cNvSpPr txBox="1"/>
          <p:nvPr/>
        </p:nvSpPr>
        <p:spPr>
          <a:xfrm>
            <a:off x="3956685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2월</a:t>
            </a:r>
            <a:endParaRPr lang="en-US" sz="1000" dirty="0"/>
          </a:p>
        </p:txBody>
      </p:sp>
      <p:sp>
        <p:nvSpPr>
          <p:cNvPr id="34" name="o107"/>
          <p:cNvSpPr/>
          <p:nvPr/>
        </p:nvSpPr>
        <p:spPr>
          <a:xfrm>
            <a:off x="3956685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35" name="o108"/>
          <p:cNvSpPr txBox="1"/>
          <p:nvPr/>
        </p:nvSpPr>
        <p:spPr>
          <a:xfrm>
            <a:off x="4770120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3월</a:t>
            </a:r>
            <a:endParaRPr lang="en-US" sz="1000" dirty="0"/>
          </a:p>
        </p:txBody>
      </p:sp>
      <p:sp>
        <p:nvSpPr>
          <p:cNvPr id="36" name="o109"/>
          <p:cNvSpPr/>
          <p:nvPr/>
        </p:nvSpPr>
        <p:spPr>
          <a:xfrm>
            <a:off x="4770120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37" name="o110"/>
          <p:cNvSpPr txBox="1"/>
          <p:nvPr/>
        </p:nvSpPr>
        <p:spPr>
          <a:xfrm>
            <a:off x="5583555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4월</a:t>
            </a:r>
            <a:endParaRPr lang="en-US" sz="1000" dirty="0"/>
          </a:p>
        </p:txBody>
      </p:sp>
      <p:sp>
        <p:nvSpPr>
          <p:cNvPr id="38" name="o111"/>
          <p:cNvSpPr/>
          <p:nvPr/>
        </p:nvSpPr>
        <p:spPr>
          <a:xfrm>
            <a:off x="5583555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39" name="o112"/>
          <p:cNvSpPr txBox="1"/>
          <p:nvPr/>
        </p:nvSpPr>
        <p:spPr>
          <a:xfrm>
            <a:off x="6396990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5월</a:t>
            </a:r>
            <a:endParaRPr lang="en-US" sz="1000" dirty="0"/>
          </a:p>
        </p:txBody>
      </p:sp>
      <p:sp>
        <p:nvSpPr>
          <p:cNvPr id="40" name="o113"/>
          <p:cNvSpPr/>
          <p:nvPr/>
        </p:nvSpPr>
        <p:spPr>
          <a:xfrm>
            <a:off x="6396990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41" name="o114"/>
          <p:cNvSpPr txBox="1"/>
          <p:nvPr/>
        </p:nvSpPr>
        <p:spPr>
          <a:xfrm>
            <a:off x="7210425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6월</a:t>
            </a:r>
            <a:endParaRPr lang="en-US" sz="1000" dirty="0"/>
          </a:p>
        </p:txBody>
      </p:sp>
      <p:sp>
        <p:nvSpPr>
          <p:cNvPr id="42" name="o115"/>
          <p:cNvSpPr/>
          <p:nvPr/>
        </p:nvSpPr>
        <p:spPr>
          <a:xfrm>
            <a:off x="7210425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43" name="o116"/>
          <p:cNvSpPr txBox="1"/>
          <p:nvPr/>
        </p:nvSpPr>
        <p:spPr>
          <a:xfrm>
            <a:off x="8023860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7월</a:t>
            </a:r>
            <a:endParaRPr lang="en-US" sz="1000" dirty="0"/>
          </a:p>
        </p:txBody>
      </p:sp>
      <p:sp>
        <p:nvSpPr>
          <p:cNvPr id="44" name="o117"/>
          <p:cNvSpPr/>
          <p:nvPr/>
        </p:nvSpPr>
        <p:spPr>
          <a:xfrm>
            <a:off x="8023860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45" name="o118"/>
          <p:cNvSpPr txBox="1"/>
          <p:nvPr/>
        </p:nvSpPr>
        <p:spPr>
          <a:xfrm>
            <a:off x="8837295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8월</a:t>
            </a:r>
            <a:endParaRPr lang="en-US" sz="1000" dirty="0"/>
          </a:p>
        </p:txBody>
      </p:sp>
      <p:sp>
        <p:nvSpPr>
          <p:cNvPr id="46" name="o119"/>
          <p:cNvSpPr/>
          <p:nvPr/>
        </p:nvSpPr>
        <p:spPr>
          <a:xfrm>
            <a:off x="8837295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47" name="o120"/>
          <p:cNvSpPr txBox="1"/>
          <p:nvPr/>
        </p:nvSpPr>
        <p:spPr>
          <a:xfrm>
            <a:off x="9650730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9월</a:t>
            </a:r>
            <a:endParaRPr lang="en-US" sz="1000" dirty="0"/>
          </a:p>
        </p:txBody>
      </p:sp>
      <p:sp>
        <p:nvSpPr>
          <p:cNvPr id="48" name="o121"/>
          <p:cNvSpPr/>
          <p:nvPr/>
        </p:nvSpPr>
        <p:spPr>
          <a:xfrm>
            <a:off x="9650730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49" name="o122"/>
          <p:cNvSpPr txBox="1"/>
          <p:nvPr/>
        </p:nvSpPr>
        <p:spPr>
          <a:xfrm>
            <a:off x="10464165" y="3143250"/>
            <a:ext cx="8134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10월</a:t>
            </a:r>
            <a:endParaRPr lang="en-US" sz="1000" dirty="0"/>
          </a:p>
        </p:txBody>
      </p:sp>
      <p:sp>
        <p:nvSpPr>
          <p:cNvPr id="50" name="o123"/>
          <p:cNvSpPr/>
          <p:nvPr/>
        </p:nvSpPr>
        <p:spPr>
          <a:xfrm>
            <a:off x="10464165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51" name="o124"/>
          <p:cNvSpPr/>
          <p:nvPr/>
        </p:nvSpPr>
        <p:spPr>
          <a:xfrm>
            <a:off x="11277600" y="3390900"/>
            <a:ext cx="0" cy="2667000"/>
          </a:xfrm>
          <a:prstGeom prst="line">
            <a:avLst/>
          </a:prstGeom>
          <a:noFill/>
          <a:ln w="6350">
            <a:solidFill>
              <a:srgbClr val="E5E5EA"/>
            </a:solidFill>
            <a:prstDash val="solid"/>
          </a:ln>
        </p:spPr>
      </p:sp>
      <p:sp>
        <p:nvSpPr>
          <p:cNvPr id="52" name="o125"/>
          <p:cNvSpPr txBox="1"/>
          <p:nvPr/>
        </p:nvSpPr>
        <p:spPr>
          <a:xfrm>
            <a:off x="914400" y="3524250"/>
            <a:ext cx="571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1000" dirty="0"/>
          </a:p>
        </p:txBody>
      </p:sp>
      <p:sp>
        <p:nvSpPr>
          <p:cNvPr id="53" name="o126"/>
          <p:cNvSpPr txBox="1"/>
          <p:nvPr/>
        </p:nvSpPr>
        <p:spPr>
          <a:xfrm>
            <a:off x="1504950" y="352425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현황 · 원인 분석</a:t>
            </a:r>
            <a:endParaRPr lang="en-US" sz="1200" dirty="0"/>
          </a:p>
        </p:txBody>
      </p:sp>
      <p:sp>
        <p:nvSpPr>
          <p:cNvPr id="54" name="o127"/>
          <p:cNvSpPr/>
          <p:nvPr/>
        </p:nvSpPr>
        <p:spPr>
          <a:xfrm>
            <a:off x="3190875" y="3562350"/>
            <a:ext cx="2345055" cy="171450"/>
          </a:xfrm>
          <a:prstGeom prst="roundRect">
            <a:avLst>
              <a:gd name="adj" fmla="val 33333"/>
            </a:avLst>
          </a:prstGeom>
          <a:solidFill>
            <a:srgbClr val="8FA6C9"/>
          </a:solidFill>
          <a:ln/>
        </p:spPr>
      </p:sp>
      <p:sp>
        <p:nvSpPr>
          <p:cNvPr id="55" name="o128"/>
          <p:cNvSpPr txBox="1"/>
          <p:nvPr/>
        </p:nvSpPr>
        <p:spPr>
          <a:xfrm>
            <a:off x="914400" y="3943350"/>
            <a:ext cx="571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1000" dirty="0"/>
          </a:p>
        </p:txBody>
      </p:sp>
      <p:sp>
        <p:nvSpPr>
          <p:cNvPr id="56" name="o129"/>
          <p:cNvSpPr txBox="1"/>
          <p:nvPr/>
        </p:nvSpPr>
        <p:spPr>
          <a:xfrm>
            <a:off x="1504950" y="394335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개발</a:t>
            </a:r>
            <a:endParaRPr lang="en-US" sz="1200" dirty="0"/>
          </a:p>
        </p:txBody>
      </p:sp>
      <p:sp>
        <p:nvSpPr>
          <p:cNvPr id="57" name="o130"/>
          <p:cNvSpPr/>
          <p:nvPr/>
        </p:nvSpPr>
        <p:spPr>
          <a:xfrm>
            <a:off x="4817745" y="3981450"/>
            <a:ext cx="1531620" cy="171450"/>
          </a:xfrm>
          <a:prstGeom prst="roundRect">
            <a:avLst>
              <a:gd name="adj" fmla="val 33333"/>
            </a:avLst>
          </a:prstGeom>
          <a:solidFill>
            <a:srgbClr val="4F6A96"/>
          </a:solidFill>
          <a:ln/>
        </p:spPr>
      </p:sp>
      <p:sp>
        <p:nvSpPr>
          <p:cNvPr id="58" name="o131"/>
          <p:cNvSpPr txBox="1"/>
          <p:nvPr/>
        </p:nvSpPr>
        <p:spPr>
          <a:xfrm>
            <a:off x="914400" y="4362450"/>
            <a:ext cx="571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1000" dirty="0"/>
          </a:p>
        </p:txBody>
      </p:sp>
      <p:sp>
        <p:nvSpPr>
          <p:cNvPr id="59" name="o132"/>
          <p:cNvSpPr txBox="1"/>
          <p:nvPr/>
        </p:nvSpPr>
        <p:spPr>
          <a:xfrm>
            <a:off x="1504950" y="436245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시범 적용</a:t>
            </a:r>
            <a:endParaRPr lang="en-US" sz="1200" dirty="0"/>
          </a:p>
        </p:txBody>
      </p:sp>
      <p:sp>
        <p:nvSpPr>
          <p:cNvPr id="60" name="o133"/>
          <p:cNvSpPr/>
          <p:nvPr/>
        </p:nvSpPr>
        <p:spPr>
          <a:xfrm>
            <a:off x="6444615" y="4400550"/>
            <a:ext cx="2345055" cy="171450"/>
          </a:xfrm>
          <a:prstGeom prst="roundRect">
            <a:avLst>
              <a:gd name="adj" fmla="val 33333"/>
            </a:avLst>
          </a:prstGeom>
          <a:solidFill>
            <a:srgbClr val="4F6A96"/>
          </a:solidFill>
          <a:ln/>
        </p:spPr>
      </p:sp>
      <p:sp>
        <p:nvSpPr>
          <p:cNvPr id="61" name="o134"/>
          <p:cNvSpPr txBox="1"/>
          <p:nvPr/>
        </p:nvSpPr>
        <p:spPr>
          <a:xfrm>
            <a:off x="914400" y="4781550"/>
            <a:ext cx="571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</a:t>
            </a:r>
            <a:endParaRPr lang="en-US" sz="1000" dirty="0"/>
          </a:p>
        </p:txBody>
      </p:sp>
      <p:sp>
        <p:nvSpPr>
          <p:cNvPr id="62" name="o135"/>
          <p:cNvSpPr txBox="1"/>
          <p:nvPr/>
        </p:nvSpPr>
        <p:spPr>
          <a:xfrm>
            <a:off x="1504950" y="478155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확인</a:t>
            </a:r>
            <a:endParaRPr lang="en-US" sz="1200" dirty="0"/>
          </a:p>
        </p:txBody>
      </p:sp>
      <p:sp>
        <p:nvSpPr>
          <p:cNvPr id="63" name="o136"/>
          <p:cNvSpPr/>
          <p:nvPr/>
        </p:nvSpPr>
        <p:spPr>
          <a:xfrm>
            <a:off x="8071485" y="4819650"/>
            <a:ext cx="718185" cy="171450"/>
          </a:xfrm>
          <a:prstGeom prst="roundRect">
            <a:avLst>
              <a:gd name="adj" fmla="val 33333"/>
            </a:avLst>
          </a:prstGeom>
          <a:solidFill>
            <a:srgbClr val="2A4472"/>
          </a:solidFill>
          <a:ln/>
        </p:spPr>
      </p:sp>
      <p:sp>
        <p:nvSpPr>
          <p:cNvPr id="64" name="o137"/>
          <p:cNvSpPr txBox="1"/>
          <p:nvPr/>
        </p:nvSpPr>
        <p:spPr>
          <a:xfrm>
            <a:off x="914400" y="5200650"/>
            <a:ext cx="571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</a:t>
            </a:r>
            <a:endParaRPr lang="en-US" sz="1000" dirty="0"/>
          </a:p>
        </p:txBody>
      </p:sp>
      <p:sp>
        <p:nvSpPr>
          <p:cNvPr id="65" name="o138"/>
          <p:cNvSpPr txBox="1"/>
          <p:nvPr/>
        </p:nvSpPr>
        <p:spPr>
          <a:xfrm>
            <a:off x="1504950" y="520065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표준화 · AI 고도화</a:t>
            </a:r>
            <a:endParaRPr lang="en-US" sz="1200" dirty="0"/>
          </a:p>
        </p:txBody>
      </p:sp>
      <p:sp>
        <p:nvSpPr>
          <p:cNvPr id="66" name="o139"/>
          <p:cNvSpPr/>
          <p:nvPr/>
        </p:nvSpPr>
        <p:spPr>
          <a:xfrm>
            <a:off x="8884920" y="5238750"/>
            <a:ext cx="2345055" cy="171450"/>
          </a:xfrm>
          <a:prstGeom prst="roundRect">
            <a:avLst>
              <a:gd name="adj" fmla="val 33333"/>
            </a:avLst>
          </a:prstGeom>
          <a:solidFill>
            <a:srgbClr val="0A1F44"/>
          </a:solidFill>
          <a:ln/>
        </p:spPr>
      </p:sp>
      <p:sp>
        <p:nvSpPr>
          <p:cNvPr id="67" name="o140"/>
          <p:cNvSpPr txBox="1"/>
          <p:nvPr/>
        </p:nvSpPr>
        <p:spPr>
          <a:xfrm>
            <a:off x="914400" y="5619750"/>
            <a:ext cx="571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68" name="o141"/>
          <p:cNvSpPr txBox="1"/>
          <p:nvPr/>
        </p:nvSpPr>
        <p:spPr>
          <a:xfrm>
            <a:off x="1504950" y="561975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QI 경진대회</a:t>
            </a:r>
            <a:endParaRPr lang="en-US" sz="1200" dirty="0"/>
          </a:p>
        </p:txBody>
      </p:sp>
      <p:sp>
        <p:nvSpPr>
          <p:cNvPr id="69" name="o142"/>
          <p:cNvSpPr/>
          <p:nvPr/>
        </p:nvSpPr>
        <p:spPr>
          <a:xfrm>
            <a:off x="9698355" y="5657850"/>
            <a:ext cx="718185" cy="171450"/>
          </a:xfrm>
          <a:prstGeom prst="roundRect">
            <a:avLst>
              <a:gd name="adj" fmla="val 33333"/>
            </a:avLst>
          </a:prstGeom>
          <a:solidFill>
            <a:srgbClr val="0066CC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143"/>
          <p:cNvSpPr txBox="1"/>
          <p:nvPr/>
        </p:nvSpPr>
        <p:spPr>
          <a:xfrm>
            <a:off x="609600" y="4191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PLAN · 현황 분석 ①</a:t>
            </a:r>
            <a:endParaRPr lang="en-US" sz="1000" dirty="0"/>
          </a:p>
        </p:txBody>
      </p:sp>
      <p:sp>
        <p:nvSpPr>
          <p:cNvPr id="3" name="o144"/>
          <p:cNvSpPr txBox="1"/>
          <p:nvPr/>
        </p:nvSpPr>
        <p:spPr>
          <a:xfrm>
            <a:off x="89535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900" dirty="0"/>
          </a:p>
        </p:txBody>
      </p:sp>
      <p:sp>
        <p:nvSpPr>
          <p:cNvPr id="4" name="o145"/>
          <p:cNvSpPr/>
          <p:nvPr/>
        </p:nvSpPr>
        <p:spPr>
          <a:xfrm>
            <a:off x="9086850" y="609600"/>
            <a:ext cx="342900" cy="19050"/>
          </a:xfrm>
          <a:prstGeom prst="rect">
            <a:avLst/>
          </a:prstGeom>
          <a:solidFill>
            <a:srgbClr val="0A1F44"/>
          </a:solidFill>
          <a:ln/>
        </p:spPr>
      </p:sp>
      <p:sp>
        <p:nvSpPr>
          <p:cNvPr id="5" name="o146"/>
          <p:cNvSpPr txBox="1"/>
          <p:nvPr/>
        </p:nvSpPr>
        <p:spPr>
          <a:xfrm>
            <a:off x="96202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900" dirty="0"/>
          </a:p>
        </p:txBody>
      </p:sp>
      <p:sp>
        <p:nvSpPr>
          <p:cNvPr id="6" name="o147"/>
          <p:cNvSpPr txBox="1"/>
          <p:nvPr/>
        </p:nvSpPr>
        <p:spPr>
          <a:xfrm>
            <a:off x="102870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</a:t>
            </a:r>
            <a:endParaRPr lang="en-US" sz="900" dirty="0"/>
          </a:p>
        </p:txBody>
      </p:sp>
      <p:sp>
        <p:nvSpPr>
          <p:cNvPr id="7" name="o148"/>
          <p:cNvSpPr txBox="1"/>
          <p:nvPr/>
        </p:nvSpPr>
        <p:spPr>
          <a:xfrm>
            <a:off x="109537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</a:t>
            </a:r>
            <a:endParaRPr lang="en-US" sz="900" dirty="0"/>
          </a:p>
        </p:txBody>
      </p:sp>
      <p:sp>
        <p:nvSpPr>
          <p:cNvPr id="8" name="o149"/>
          <p:cNvSpPr txBox="1"/>
          <p:nvPr/>
        </p:nvSpPr>
        <p:spPr>
          <a:xfrm>
            <a:off x="609600" y="66675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기록이 종이에 있어, 교육 6건 중 1건이 누락됐다</a:t>
            </a:r>
            <a:endParaRPr lang="en-US" sz="2800" dirty="0"/>
          </a:p>
        </p:txBody>
      </p:sp>
      <p:sp>
        <p:nvSpPr>
          <p:cNvPr id="9" name="o150"/>
          <p:cNvSpPr txBox="1"/>
          <p:nvPr/>
        </p:nvSpPr>
        <p:spPr>
          <a:xfrm>
            <a:off x="609600" y="1162050"/>
            <a:ext cx="1097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1–12월 신규 입사자 106명 교육일지 대조 전수조사</a:t>
            </a:r>
            <a:endParaRPr lang="en-US" sz="1500" dirty="0"/>
          </a:p>
        </p:txBody>
      </p:sp>
      <p:sp>
        <p:nvSpPr>
          <p:cNvPr id="10" name="o151"/>
          <p:cNvSpPr txBox="1"/>
          <p:nvPr/>
        </p:nvSpPr>
        <p:spPr>
          <a:xfrm>
            <a:off x="609600" y="6477000"/>
            <a:ext cx="571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부산부민병원 안전보건 통합관리 시스템</a:t>
            </a:r>
            <a:endParaRPr lang="en-US" sz="900" dirty="0"/>
          </a:p>
        </p:txBody>
      </p:sp>
      <p:sp>
        <p:nvSpPr>
          <p:cNvPr id="11" name="o152"/>
          <p:cNvSpPr txBox="1"/>
          <p:nvPr/>
        </p:nvSpPr>
        <p:spPr>
          <a:xfrm>
            <a:off x="10629900" y="647700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900" dirty="0"/>
          </a:p>
        </p:txBody>
      </p:sp>
      <p:sp>
        <p:nvSpPr>
          <p:cNvPr id="12" name="o153"/>
          <p:cNvSpPr/>
          <p:nvPr/>
        </p:nvSpPr>
        <p:spPr>
          <a:xfrm>
            <a:off x="609600" y="1600200"/>
            <a:ext cx="7086600" cy="4648200"/>
          </a:xfrm>
          <a:prstGeom prst="roundRect">
            <a:avLst>
              <a:gd name="adj" fmla="val 4098"/>
            </a:avLst>
          </a:prstGeom>
          <a:solidFill>
            <a:srgbClr val="F5F5F7"/>
          </a:solidFill>
          <a:ln/>
        </p:spPr>
      </p:sp>
      <p:sp>
        <p:nvSpPr>
          <p:cNvPr id="13" name="o154"/>
          <p:cNvSpPr txBox="1"/>
          <p:nvPr/>
        </p:nvSpPr>
        <p:spPr>
          <a:xfrm>
            <a:off x="914400" y="18288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월별 법정교육 이행률</a:t>
            </a:r>
            <a:endParaRPr lang="en-US" sz="1500" dirty="0"/>
          </a:p>
        </p:txBody>
      </p:sp>
      <p:sp>
        <p:nvSpPr>
          <p:cNvPr id="14" name="o155"/>
          <p:cNvSpPr txBox="1"/>
          <p:nvPr/>
        </p:nvSpPr>
        <p:spPr>
          <a:xfrm>
            <a:off x="4762500" y="1847850"/>
            <a:ext cx="266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33F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주황 = 누락이 있었던 달</a:t>
            </a:r>
            <a:endParaRPr lang="en-US" sz="1100" dirty="0"/>
          </a:p>
        </p:txBody>
      </p:sp>
      <p:sp>
        <p:nvSpPr>
          <p:cNvPr id="15" name="o156"/>
          <p:cNvSpPr/>
          <p:nvPr/>
        </p:nvSpPr>
        <p:spPr>
          <a:xfrm>
            <a:off x="1333500" y="5581650"/>
            <a:ext cx="60960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16" name="o157"/>
          <p:cNvSpPr txBox="1"/>
          <p:nvPr/>
        </p:nvSpPr>
        <p:spPr>
          <a:xfrm>
            <a:off x="914400" y="5505450"/>
            <a:ext cx="3429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0%</a:t>
            </a:r>
            <a:endParaRPr lang="en-US" sz="900" dirty="0"/>
          </a:p>
        </p:txBody>
      </p:sp>
      <p:sp>
        <p:nvSpPr>
          <p:cNvPr id="17" name="o158"/>
          <p:cNvSpPr/>
          <p:nvPr/>
        </p:nvSpPr>
        <p:spPr>
          <a:xfrm>
            <a:off x="1333500" y="4152900"/>
            <a:ext cx="60960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18" name="o159"/>
          <p:cNvSpPr txBox="1"/>
          <p:nvPr/>
        </p:nvSpPr>
        <p:spPr>
          <a:xfrm>
            <a:off x="914400" y="4076700"/>
            <a:ext cx="3429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50%</a:t>
            </a:r>
            <a:endParaRPr lang="en-US" sz="900" dirty="0"/>
          </a:p>
        </p:txBody>
      </p:sp>
      <p:sp>
        <p:nvSpPr>
          <p:cNvPr id="19" name="o160"/>
          <p:cNvSpPr/>
          <p:nvPr/>
        </p:nvSpPr>
        <p:spPr>
          <a:xfrm>
            <a:off x="1333500" y="2724150"/>
            <a:ext cx="6096000" cy="0"/>
          </a:xfrm>
          <a:prstGeom prst="line">
            <a:avLst/>
          </a:prstGeom>
          <a:noFill/>
          <a:ln w="9525">
            <a:solidFill>
              <a:srgbClr val="E5E5EA"/>
            </a:solidFill>
            <a:prstDash val="solid"/>
          </a:ln>
        </p:spPr>
      </p:sp>
      <p:sp>
        <p:nvSpPr>
          <p:cNvPr id="20" name="o161"/>
          <p:cNvSpPr txBox="1"/>
          <p:nvPr/>
        </p:nvSpPr>
        <p:spPr>
          <a:xfrm>
            <a:off x="914400" y="2647950"/>
            <a:ext cx="3429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900" dirty="0"/>
          </a:p>
        </p:txBody>
      </p:sp>
      <p:sp>
        <p:nvSpPr>
          <p:cNvPr id="21" name="o162"/>
          <p:cNvSpPr/>
          <p:nvPr/>
        </p:nvSpPr>
        <p:spPr>
          <a:xfrm>
            <a:off x="1333500" y="2724150"/>
            <a:ext cx="6096000" cy="0"/>
          </a:xfrm>
          <a:prstGeom prst="line">
            <a:avLst/>
          </a:prstGeom>
          <a:noFill/>
          <a:ln w="12700">
            <a:solidFill>
              <a:srgbClr val="0A1F44"/>
            </a:solidFill>
            <a:prstDash val="dash"/>
          </a:ln>
        </p:spPr>
      </p:sp>
      <p:sp>
        <p:nvSpPr>
          <p:cNvPr id="22" name="o163"/>
          <p:cNvSpPr txBox="1"/>
          <p:nvPr/>
        </p:nvSpPr>
        <p:spPr>
          <a:xfrm>
            <a:off x="6572250" y="25146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100%</a:t>
            </a:r>
            <a:endParaRPr lang="en-US" sz="1000" dirty="0"/>
          </a:p>
        </p:txBody>
      </p:sp>
      <p:sp>
        <p:nvSpPr>
          <p:cNvPr id="23" name="o164"/>
          <p:cNvSpPr/>
          <p:nvPr/>
        </p:nvSpPr>
        <p:spPr>
          <a:xfrm>
            <a:off x="1440180" y="3795713"/>
            <a:ext cx="294640" cy="1785938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24" name="o165"/>
          <p:cNvSpPr txBox="1"/>
          <p:nvPr/>
        </p:nvSpPr>
        <p:spPr>
          <a:xfrm>
            <a:off x="1363980" y="3624263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</a:t>
            </a:r>
            <a:endParaRPr lang="en-US" sz="1000" dirty="0"/>
          </a:p>
        </p:txBody>
      </p:sp>
      <p:sp>
        <p:nvSpPr>
          <p:cNvPr id="25" name="o166"/>
          <p:cNvSpPr txBox="1"/>
          <p:nvPr/>
        </p:nvSpPr>
        <p:spPr>
          <a:xfrm>
            <a:off x="1363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1월</a:t>
            </a:r>
            <a:endParaRPr lang="en-US" sz="1000" dirty="0"/>
          </a:p>
        </p:txBody>
      </p:sp>
      <p:sp>
        <p:nvSpPr>
          <p:cNvPr id="26" name="o167"/>
          <p:cNvSpPr/>
          <p:nvPr/>
        </p:nvSpPr>
        <p:spPr>
          <a:xfrm>
            <a:off x="1948180" y="3041650"/>
            <a:ext cx="294640" cy="2540000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27" name="o168"/>
          <p:cNvSpPr txBox="1"/>
          <p:nvPr/>
        </p:nvSpPr>
        <p:spPr>
          <a:xfrm>
            <a:off x="1871980" y="287020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</a:t>
            </a:r>
            <a:endParaRPr lang="en-US" sz="1000" dirty="0"/>
          </a:p>
        </p:txBody>
      </p:sp>
      <p:sp>
        <p:nvSpPr>
          <p:cNvPr id="28" name="o169"/>
          <p:cNvSpPr txBox="1"/>
          <p:nvPr/>
        </p:nvSpPr>
        <p:spPr>
          <a:xfrm>
            <a:off x="1871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2월</a:t>
            </a:r>
            <a:endParaRPr lang="en-US" sz="1000" dirty="0"/>
          </a:p>
        </p:txBody>
      </p:sp>
      <p:sp>
        <p:nvSpPr>
          <p:cNvPr id="29" name="o170"/>
          <p:cNvSpPr/>
          <p:nvPr/>
        </p:nvSpPr>
        <p:spPr>
          <a:xfrm>
            <a:off x="2456180" y="3041650"/>
            <a:ext cx="294640" cy="2540000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30" name="o171"/>
          <p:cNvSpPr txBox="1"/>
          <p:nvPr/>
        </p:nvSpPr>
        <p:spPr>
          <a:xfrm>
            <a:off x="2379980" y="287020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</a:t>
            </a:r>
            <a:endParaRPr lang="en-US" sz="1000" dirty="0"/>
          </a:p>
        </p:txBody>
      </p:sp>
      <p:sp>
        <p:nvSpPr>
          <p:cNvPr id="31" name="o172"/>
          <p:cNvSpPr txBox="1"/>
          <p:nvPr/>
        </p:nvSpPr>
        <p:spPr>
          <a:xfrm>
            <a:off x="2379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3월</a:t>
            </a:r>
            <a:endParaRPr lang="en-US" sz="1000" dirty="0"/>
          </a:p>
        </p:txBody>
      </p:sp>
      <p:sp>
        <p:nvSpPr>
          <p:cNvPr id="32" name="o173"/>
          <p:cNvSpPr/>
          <p:nvPr/>
        </p:nvSpPr>
        <p:spPr>
          <a:xfrm>
            <a:off x="2964180" y="2724150"/>
            <a:ext cx="294640" cy="2857500"/>
          </a:xfrm>
          <a:prstGeom prst="roundRect">
            <a:avLst>
              <a:gd name="adj" fmla="val 19397"/>
            </a:avLst>
          </a:prstGeom>
          <a:solidFill>
            <a:srgbClr val="C7C7CC"/>
          </a:solidFill>
          <a:ln/>
        </p:spPr>
      </p:sp>
      <p:sp>
        <p:nvSpPr>
          <p:cNvPr id="33" name="o174"/>
          <p:cNvSpPr txBox="1"/>
          <p:nvPr/>
        </p:nvSpPr>
        <p:spPr>
          <a:xfrm>
            <a:off x="2887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4월</a:t>
            </a:r>
            <a:endParaRPr lang="en-US" sz="1000" dirty="0"/>
          </a:p>
        </p:txBody>
      </p:sp>
      <p:sp>
        <p:nvSpPr>
          <p:cNvPr id="34" name="o175"/>
          <p:cNvSpPr/>
          <p:nvPr/>
        </p:nvSpPr>
        <p:spPr>
          <a:xfrm>
            <a:off x="3472180" y="3132364"/>
            <a:ext cx="294640" cy="2449286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35" name="o176"/>
          <p:cNvSpPr txBox="1"/>
          <p:nvPr/>
        </p:nvSpPr>
        <p:spPr>
          <a:xfrm>
            <a:off x="3395980" y="2960914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</a:t>
            </a:r>
            <a:endParaRPr lang="en-US" sz="1000" dirty="0"/>
          </a:p>
        </p:txBody>
      </p:sp>
      <p:sp>
        <p:nvSpPr>
          <p:cNvPr id="36" name="o177"/>
          <p:cNvSpPr txBox="1"/>
          <p:nvPr/>
        </p:nvSpPr>
        <p:spPr>
          <a:xfrm>
            <a:off x="3395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5월</a:t>
            </a:r>
            <a:endParaRPr lang="en-US" sz="1000" dirty="0"/>
          </a:p>
        </p:txBody>
      </p:sp>
      <p:sp>
        <p:nvSpPr>
          <p:cNvPr id="37" name="o178"/>
          <p:cNvSpPr/>
          <p:nvPr/>
        </p:nvSpPr>
        <p:spPr>
          <a:xfrm>
            <a:off x="3980180" y="2724150"/>
            <a:ext cx="294640" cy="2857500"/>
          </a:xfrm>
          <a:prstGeom prst="roundRect">
            <a:avLst>
              <a:gd name="adj" fmla="val 19397"/>
            </a:avLst>
          </a:prstGeom>
          <a:solidFill>
            <a:srgbClr val="C7C7CC"/>
          </a:solidFill>
          <a:ln/>
        </p:spPr>
      </p:sp>
      <p:sp>
        <p:nvSpPr>
          <p:cNvPr id="38" name="o179"/>
          <p:cNvSpPr txBox="1"/>
          <p:nvPr/>
        </p:nvSpPr>
        <p:spPr>
          <a:xfrm>
            <a:off x="3903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6월</a:t>
            </a:r>
            <a:endParaRPr lang="en-US" sz="1000" dirty="0"/>
          </a:p>
        </p:txBody>
      </p:sp>
      <p:sp>
        <p:nvSpPr>
          <p:cNvPr id="39" name="o180"/>
          <p:cNvSpPr/>
          <p:nvPr/>
        </p:nvSpPr>
        <p:spPr>
          <a:xfrm>
            <a:off x="4488180" y="3163765"/>
            <a:ext cx="294640" cy="2417885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40" name="o181"/>
          <p:cNvSpPr txBox="1"/>
          <p:nvPr/>
        </p:nvSpPr>
        <p:spPr>
          <a:xfrm>
            <a:off x="4411980" y="2992315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</a:t>
            </a:r>
            <a:endParaRPr lang="en-US" sz="1000" dirty="0"/>
          </a:p>
        </p:txBody>
      </p:sp>
      <p:sp>
        <p:nvSpPr>
          <p:cNvPr id="41" name="o182"/>
          <p:cNvSpPr txBox="1"/>
          <p:nvPr/>
        </p:nvSpPr>
        <p:spPr>
          <a:xfrm>
            <a:off x="4411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7월</a:t>
            </a:r>
            <a:endParaRPr lang="en-US" sz="1000" dirty="0"/>
          </a:p>
        </p:txBody>
      </p:sp>
      <p:sp>
        <p:nvSpPr>
          <p:cNvPr id="42" name="o183"/>
          <p:cNvSpPr/>
          <p:nvPr/>
        </p:nvSpPr>
        <p:spPr>
          <a:xfrm>
            <a:off x="4996180" y="2724150"/>
            <a:ext cx="294640" cy="2857500"/>
          </a:xfrm>
          <a:prstGeom prst="roundRect">
            <a:avLst>
              <a:gd name="adj" fmla="val 19397"/>
            </a:avLst>
          </a:prstGeom>
          <a:solidFill>
            <a:srgbClr val="C7C7CC"/>
          </a:solidFill>
          <a:ln/>
        </p:spPr>
      </p:sp>
      <p:sp>
        <p:nvSpPr>
          <p:cNvPr id="43" name="o184"/>
          <p:cNvSpPr txBox="1"/>
          <p:nvPr/>
        </p:nvSpPr>
        <p:spPr>
          <a:xfrm>
            <a:off x="4919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8월</a:t>
            </a:r>
            <a:endParaRPr lang="en-US" sz="1000" dirty="0"/>
          </a:p>
        </p:txBody>
      </p:sp>
      <p:sp>
        <p:nvSpPr>
          <p:cNvPr id="44" name="o185"/>
          <p:cNvSpPr/>
          <p:nvPr/>
        </p:nvSpPr>
        <p:spPr>
          <a:xfrm>
            <a:off x="5504180" y="3295650"/>
            <a:ext cx="294640" cy="2286000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45" name="o186"/>
          <p:cNvSpPr txBox="1"/>
          <p:nvPr/>
        </p:nvSpPr>
        <p:spPr>
          <a:xfrm>
            <a:off x="5427980" y="312420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</a:t>
            </a:r>
            <a:endParaRPr lang="en-US" sz="1000" dirty="0"/>
          </a:p>
        </p:txBody>
      </p:sp>
      <p:sp>
        <p:nvSpPr>
          <p:cNvPr id="46" name="o187"/>
          <p:cNvSpPr txBox="1"/>
          <p:nvPr/>
        </p:nvSpPr>
        <p:spPr>
          <a:xfrm>
            <a:off x="5427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9월</a:t>
            </a:r>
            <a:endParaRPr lang="en-US" sz="1000" dirty="0"/>
          </a:p>
        </p:txBody>
      </p:sp>
      <p:sp>
        <p:nvSpPr>
          <p:cNvPr id="47" name="o188"/>
          <p:cNvSpPr/>
          <p:nvPr/>
        </p:nvSpPr>
        <p:spPr>
          <a:xfrm>
            <a:off x="6012180" y="4152900"/>
            <a:ext cx="294640" cy="1428750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48" name="o189"/>
          <p:cNvSpPr txBox="1"/>
          <p:nvPr/>
        </p:nvSpPr>
        <p:spPr>
          <a:xfrm>
            <a:off x="5935980" y="39814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</a:t>
            </a:r>
            <a:endParaRPr lang="en-US" sz="1000" dirty="0"/>
          </a:p>
        </p:txBody>
      </p:sp>
      <p:sp>
        <p:nvSpPr>
          <p:cNvPr id="49" name="o190"/>
          <p:cNvSpPr txBox="1"/>
          <p:nvPr/>
        </p:nvSpPr>
        <p:spPr>
          <a:xfrm>
            <a:off x="5935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10월</a:t>
            </a:r>
            <a:endParaRPr lang="en-US" sz="1000" dirty="0"/>
          </a:p>
        </p:txBody>
      </p:sp>
      <p:sp>
        <p:nvSpPr>
          <p:cNvPr id="50" name="o191"/>
          <p:cNvSpPr/>
          <p:nvPr/>
        </p:nvSpPr>
        <p:spPr>
          <a:xfrm>
            <a:off x="6520180" y="3900768"/>
            <a:ext cx="294640" cy="1680882"/>
          </a:xfrm>
          <a:prstGeom prst="roundRect">
            <a:avLst>
              <a:gd name="adj" fmla="val 19397"/>
            </a:avLst>
          </a:prstGeom>
          <a:solidFill>
            <a:srgbClr val="F56300"/>
          </a:solidFill>
          <a:ln/>
        </p:spPr>
      </p:sp>
      <p:sp>
        <p:nvSpPr>
          <p:cNvPr id="51" name="o192"/>
          <p:cNvSpPr txBox="1"/>
          <p:nvPr/>
        </p:nvSpPr>
        <p:spPr>
          <a:xfrm>
            <a:off x="6443980" y="3729318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000" dirty="0"/>
          </a:p>
        </p:txBody>
      </p:sp>
      <p:sp>
        <p:nvSpPr>
          <p:cNvPr id="52" name="o193"/>
          <p:cNvSpPr txBox="1"/>
          <p:nvPr/>
        </p:nvSpPr>
        <p:spPr>
          <a:xfrm>
            <a:off x="6443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11월</a:t>
            </a:r>
            <a:endParaRPr lang="en-US" sz="1000" dirty="0"/>
          </a:p>
        </p:txBody>
      </p:sp>
      <p:sp>
        <p:nvSpPr>
          <p:cNvPr id="53" name="o194"/>
          <p:cNvSpPr/>
          <p:nvPr/>
        </p:nvSpPr>
        <p:spPr>
          <a:xfrm>
            <a:off x="7028180" y="2724150"/>
            <a:ext cx="294640" cy="2857500"/>
          </a:xfrm>
          <a:prstGeom prst="roundRect">
            <a:avLst>
              <a:gd name="adj" fmla="val 19397"/>
            </a:avLst>
          </a:prstGeom>
          <a:solidFill>
            <a:srgbClr val="C7C7CC"/>
          </a:solidFill>
          <a:ln/>
        </p:spPr>
      </p:sp>
      <p:sp>
        <p:nvSpPr>
          <p:cNvPr id="54" name="o195"/>
          <p:cNvSpPr txBox="1"/>
          <p:nvPr/>
        </p:nvSpPr>
        <p:spPr>
          <a:xfrm>
            <a:off x="6951980" y="5657850"/>
            <a:ext cx="4470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12월</a:t>
            </a:r>
            <a:endParaRPr lang="en-US" sz="1000" dirty="0"/>
          </a:p>
        </p:txBody>
      </p:sp>
      <p:sp>
        <p:nvSpPr>
          <p:cNvPr id="55" name="o196"/>
          <p:cNvSpPr txBox="1"/>
          <p:nvPr/>
        </p:nvSpPr>
        <p:spPr>
          <a:xfrm>
            <a:off x="914400" y="5886450"/>
            <a:ext cx="666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33F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12개월 중 8개월에서 누락 — 특정 시기가 아니라 1년 내내 반복됐다</a:t>
            </a:r>
            <a:endParaRPr lang="en-US" sz="1300" dirty="0"/>
          </a:p>
        </p:txBody>
      </p:sp>
      <p:sp>
        <p:nvSpPr>
          <p:cNvPr id="56" name="o197"/>
          <p:cNvSpPr/>
          <p:nvPr/>
        </p:nvSpPr>
        <p:spPr>
          <a:xfrm>
            <a:off x="7886700" y="1600200"/>
            <a:ext cx="3695700" cy="2209800"/>
          </a:xfrm>
          <a:prstGeom prst="roundRect">
            <a:avLst>
              <a:gd name="adj" fmla="val 8621"/>
            </a:avLst>
          </a:prstGeom>
          <a:solidFill>
            <a:srgbClr val="F5F5F7"/>
          </a:solidFill>
          <a:ln/>
        </p:spPr>
      </p:sp>
      <p:sp>
        <p:nvSpPr>
          <p:cNvPr id="57" name="o198"/>
          <p:cNvSpPr txBox="1"/>
          <p:nvPr/>
        </p:nvSpPr>
        <p:spPr>
          <a:xfrm>
            <a:off x="8191500" y="18288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법정교육 누락</a:t>
            </a:r>
            <a:endParaRPr lang="en-US" sz="1300" dirty="0"/>
          </a:p>
        </p:txBody>
      </p:sp>
      <p:sp>
        <p:nvSpPr>
          <p:cNvPr id="58" name="o199"/>
          <p:cNvSpPr txBox="1"/>
          <p:nvPr/>
        </p:nvSpPr>
        <p:spPr>
          <a:xfrm>
            <a:off x="8191500" y="20764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B33F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18건</a:t>
            </a:r>
            <a:endParaRPr lang="en-US" sz="5200" dirty="0"/>
          </a:p>
        </p:txBody>
      </p:sp>
      <p:sp>
        <p:nvSpPr>
          <p:cNvPr id="59" name="o200"/>
          <p:cNvSpPr txBox="1"/>
          <p:nvPr/>
        </p:nvSpPr>
        <p:spPr>
          <a:xfrm>
            <a:off x="8191500" y="2857500"/>
            <a:ext cx="304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106명 중 17% · 이행률 83%</a:t>
            </a:r>
            <a:endParaRPr lang="en-US" sz="1300" dirty="0"/>
          </a:p>
        </p:txBody>
      </p:sp>
      <p:sp>
        <p:nvSpPr>
          <p:cNvPr id="60" name="o201"/>
          <p:cNvSpPr txBox="1"/>
          <p:nvPr/>
        </p:nvSpPr>
        <p:spPr>
          <a:xfrm>
            <a:off x="8191500" y="33528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기준값 → 지표 ① 법정교육 준수율</a:t>
            </a:r>
            <a:endParaRPr lang="en-US" sz="1200" dirty="0"/>
          </a:p>
        </p:txBody>
      </p:sp>
      <p:sp>
        <p:nvSpPr>
          <p:cNvPr id="61" name="o202"/>
          <p:cNvSpPr/>
          <p:nvPr/>
        </p:nvSpPr>
        <p:spPr>
          <a:xfrm>
            <a:off x="7886700" y="4000500"/>
            <a:ext cx="3695700" cy="2247900"/>
          </a:xfrm>
          <a:prstGeom prst="roundRect">
            <a:avLst>
              <a:gd name="adj" fmla="val 8475"/>
            </a:avLst>
          </a:prstGeom>
          <a:solidFill>
            <a:srgbClr val="0A1F44"/>
          </a:solidFill>
          <a:ln/>
        </p:spPr>
      </p:sp>
      <p:sp>
        <p:nvSpPr>
          <p:cNvPr id="62" name="o203"/>
          <p:cNvSpPr txBox="1"/>
          <p:nvPr/>
        </p:nvSpPr>
        <p:spPr>
          <a:xfrm>
            <a:off x="8191500" y="42291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8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종이 기반 처리</a:t>
            </a:r>
            <a:endParaRPr lang="en-US" sz="1300" dirty="0"/>
          </a:p>
        </p:txBody>
      </p:sp>
      <p:sp>
        <p:nvSpPr>
          <p:cNvPr id="63" name="o204"/>
          <p:cNvSpPr txBox="1"/>
          <p:nvPr/>
        </p:nvSpPr>
        <p:spPr>
          <a:xfrm>
            <a:off x="8191500" y="44767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5200" dirty="0"/>
          </a:p>
        </p:txBody>
      </p:sp>
      <p:sp>
        <p:nvSpPr>
          <p:cNvPr id="64" name="o205"/>
          <p:cNvSpPr txBox="1"/>
          <p:nvPr/>
        </p:nvSpPr>
        <p:spPr>
          <a:xfrm>
            <a:off x="8191500" y="5257800"/>
            <a:ext cx="304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94건 출력 · 서명 · 바인더 보관</a:t>
            </a:r>
            <a:endParaRPr lang="en-US" sz="1300" dirty="0"/>
          </a:p>
        </p:txBody>
      </p:sp>
      <p:sp>
        <p:nvSpPr>
          <p:cNvPr id="65" name="o206"/>
          <p:cNvSpPr txBox="1"/>
          <p:nvPr/>
        </p:nvSpPr>
        <p:spPr>
          <a:xfrm>
            <a:off x="8191500" y="57531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기준값 → 지표 ② 페이퍼리스 전환율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207"/>
          <p:cNvSpPr txBox="1"/>
          <p:nvPr/>
        </p:nvSpPr>
        <p:spPr>
          <a:xfrm>
            <a:off x="609600" y="4191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PLAN · 현황 분석 ②</a:t>
            </a:r>
            <a:endParaRPr lang="en-US" sz="1000" dirty="0"/>
          </a:p>
        </p:txBody>
      </p:sp>
      <p:sp>
        <p:nvSpPr>
          <p:cNvPr id="3" name="o208"/>
          <p:cNvSpPr txBox="1"/>
          <p:nvPr/>
        </p:nvSpPr>
        <p:spPr>
          <a:xfrm>
            <a:off x="89535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900" dirty="0"/>
          </a:p>
        </p:txBody>
      </p:sp>
      <p:sp>
        <p:nvSpPr>
          <p:cNvPr id="4" name="o209"/>
          <p:cNvSpPr/>
          <p:nvPr/>
        </p:nvSpPr>
        <p:spPr>
          <a:xfrm>
            <a:off x="9086850" y="609600"/>
            <a:ext cx="342900" cy="19050"/>
          </a:xfrm>
          <a:prstGeom prst="rect">
            <a:avLst/>
          </a:prstGeom>
          <a:solidFill>
            <a:srgbClr val="0A1F44"/>
          </a:solidFill>
          <a:ln/>
        </p:spPr>
      </p:sp>
      <p:sp>
        <p:nvSpPr>
          <p:cNvPr id="5" name="o210"/>
          <p:cNvSpPr txBox="1"/>
          <p:nvPr/>
        </p:nvSpPr>
        <p:spPr>
          <a:xfrm>
            <a:off x="96202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900" dirty="0"/>
          </a:p>
        </p:txBody>
      </p:sp>
      <p:sp>
        <p:nvSpPr>
          <p:cNvPr id="6" name="o211"/>
          <p:cNvSpPr txBox="1"/>
          <p:nvPr/>
        </p:nvSpPr>
        <p:spPr>
          <a:xfrm>
            <a:off x="102870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</a:t>
            </a:r>
            <a:endParaRPr lang="en-US" sz="900" dirty="0"/>
          </a:p>
        </p:txBody>
      </p:sp>
      <p:sp>
        <p:nvSpPr>
          <p:cNvPr id="7" name="o212"/>
          <p:cNvSpPr txBox="1"/>
          <p:nvPr/>
        </p:nvSpPr>
        <p:spPr>
          <a:xfrm>
            <a:off x="109537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</a:t>
            </a:r>
            <a:endParaRPr lang="en-US" sz="900" dirty="0"/>
          </a:p>
        </p:txBody>
      </p:sp>
      <p:sp>
        <p:nvSpPr>
          <p:cNvPr id="8" name="o213"/>
          <p:cNvSpPr txBox="1"/>
          <p:nvPr/>
        </p:nvSpPr>
        <p:spPr>
          <a:xfrm>
            <a:off x="609600" y="66675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 1건에 33분 48초, 그중 78%는 기다림과 이동이었다</a:t>
            </a:r>
            <a:endParaRPr lang="en-US" sz="2800" dirty="0"/>
          </a:p>
        </p:txBody>
      </p:sp>
      <p:sp>
        <p:nvSpPr>
          <p:cNvPr id="9" name="o214"/>
          <p:cNvSpPr txBox="1"/>
          <p:nvPr/>
        </p:nvSpPr>
        <p:spPr>
          <a:xfrm>
            <a:off x="609600" y="1162050"/>
            <a:ext cx="1097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1월 세부 행동 단위별 소요시간 실측 (교육 진행 시간 제외)</a:t>
            </a:r>
            <a:endParaRPr lang="en-US" sz="1500" dirty="0"/>
          </a:p>
        </p:txBody>
      </p:sp>
      <p:sp>
        <p:nvSpPr>
          <p:cNvPr id="10" name="o215"/>
          <p:cNvSpPr txBox="1"/>
          <p:nvPr/>
        </p:nvSpPr>
        <p:spPr>
          <a:xfrm>
            <a:off x="609600" y="6477000"/>
            <a:ext cx="571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부산부민병원 안전보건 통합관리 시스템</a:t>
            </a:r>
            <a:endParaRPr lang="en-US" sz="900" dirty="0"/>
          </a:p>
        </p:txBody>
      </p:sp>
      <p:sp>
        <p:nvSpPr>
          <p:cNvPr id="11" name="o216"/>
          <p:cNvSpPr txBox="1"/>
          <p:nvPr/>
        </p:nvSpPr>
        <p:spPr>
          <a:xfrm>
            <a:off x="10629900" y="647700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900" dirty="0"/>
          </a:p>
        </p:txBody>
      </p:sp>
      <p:sp>
        <p:nvSpPr>
          <p:cNvPr id="12" name="o217"/>
          <p:cNvSpPr/>
          <p:nvPr/>
        </p:nvSpPr>
        <p:spPr>
          <a:xfrm>
            <a:off x="609600" y="1600200"/>
            <a:ext cx="3530600" cy="2095500"/>
          </a:xfrm>
          <a:prstGeom prst="roundRect">
            <a:avLst>
              <a:gd name="adj" fmla="val 10909"/>
            </a:avLst>
          </a:prstGeom>
          <a:solidFill>
            <a:srgbClr val="0A1F44"/>
          </a:solidFill>
          <a:ln/>
        </p:spPr>
      </p:sp>
      <p:sp>
        <p:nvSpPr>
          <p:cNvPr id="13" name="o218"/>
          <p:cNvSpPr txBox="1"/>
          <p:nvPr/>
        </p:nvSpPr>
        <p:spPr>
          <a:xfrm>
            <a:off x="914400" y="1847850"/>
            <a:ext cx="292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8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특별안전보건교육 1건</a:t>
            </a:r>
            <a:endParaRPr lang="en-US" sz="1300" dirty="0"/>
          </a:p>
        </p:txBody>
      </p:sp>
      <p:sp>
        <p:nvSpPr>
          <p:cNvPr id="14" name="o219"/>
          <p:cNvSpPr txBox="1"/>
          <p:nvPr/>
        </p:nvSpPr>
        <p:spPr>
          <a:xfrm>
            <a:off x="914400" y="2152650"/>
            <a:ext cx="314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33분 48초</a:t>
            </a:r>
            <a:endParaRPr lang="en-US" sz="4400" dirty="0"/>
          </a:p>
        </p:txBody>
      </p:sp>
      <p:sp>
        <p:nvSpPr>
          <p:cNvPr id="15" name="o220"/>
          <p:cNvSpPr txBox="1"/>
          <p:nvPr/>
        </p:nvSpPr>
        <p:spPr>
          <a:xfrm>
            <a:off x="914400" y="3143250"/>
            <a:ext cx="292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8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· 서명 · 제출 · 결재 · 보관</a:t>
            </a:r>
            <a:endParaRPr lang="en-US" sz="1200" dirty="0"/>
          </a:p>
        </p:txBody>
      </p:sp>
      <p:sp>
        <p:nvSpPr>
          <p:cNvPr id="16" name="o221"/>
          <p:cNvSpPr/>
          <p:nvPr/>
        </p:nvSpPr>
        <p:spPr>
          <a:xfrm>
            <a:off x="4330700" y="1600200"/>
            <a:ext cx="3530600" cy="2095500"/>
          </a:xfrm>
          <a:prstGeom prst="roundRect">
            <a:avLst>
              <a:gd name="adj" fmla="val 10909"/>
            </a:avLst>
          </a:prstGeom>
          <a:solidFill>
            <a:srgbClr val="F5F5F7"/>
          </a:solidFill>
          <a:ln/>
        </p:spPr>
      </p:sp>
      <p:sp>
        <p:nvSpPr>
          <p:cNvPr id="17" name="o222"/>
          <p:cNvSpPr txBox="1"/>
          <p:nvPr/>
        </p:nvSpPr>
        <p:spPr>
          <a:xfrm>
            <a:off x="4635500" y="1847850"/>
            <a:ext cx="292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 + 이동</a:t>
            </a:r>
            <a:endParaRPr lang="en-US" sz="1300" dirty="0"/>
          </a:p>
        </p:txBody>
      </p:sp>
      <p:sp>
        <p:nvSpPr>
          <p:cNvPr id="18" name="o223"/>
          <p:cNvSpPr txBox="1"/>
          <p:nvPr/>
        </p:nvSpPr>
        <p:spPr>
          <a:xfrm>
            <a:off x="4635500" y="2152650"/>
            <a:ext cx="314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4400" dirty="0"/>
          </a:p>
        </p:txBody>
      </p:sp>
      <p:sp>
        <p:nvSpPr>
          <p:cNvPr id="19" name="o224"/>
          <p:cNvSpPr txBox="1"/>
          <p:nvPr/>
        </p:nvSpPr>
        <p:spPr>
          <a:xfrm>
            <a:off x="4635500" y="3143250"/>
            <a:ext cx="292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결재 대기 19:24 + 직접 제출 7:00</a:t>
            </a:r>
            <a:endParaRPr lang="en-US" sz="1200" dirty="0"/>
          </a:p>
        </p:txBody>
      </p:sp>
      <p:sp>
        <p:nvSpPr>
          <p:cNvPr id="20" name="o225"/>
          <p:cNvSpPr/>
          <p:nvPr/>
        </p:nvSpPr>
        <p:spPr>
          <a:xfrm>
            <a:off x="8051800" y="1600200"/>
            <a:ext cx="3530600" cy="2095500"/>
          </a:xfrm>
          <a:prstGeom prst="roundRect">
            <a:avLst>
              <a:gd name="adj" fmla="val 10909"/>
            </a:avLst>
          </a:prstGeom>
          <a:solidFill>
            <a:srgbClr val="F5F5F7"/>
          </a:solidFill>
          <a:ln/>
        </p:spPr>
      </p:sp>
      <p:sp>
        <p:nvSpPr>
          <p:cNvPr id="21" name="o226"/>
          <p:cNvSpPr txBox="1"/>
          <p:nvPr/>
        </p:nvSpPr>
        <p:spPr>
          <a:xfrm>
            <a:off x="8356600" y="1847850"/>
            <a:ext cx="292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MSDS 교육 1건</a:t>
            </a:r>
            <a:endParaRPr lang="en-US" sz="1300" dirty="0"/>
          </a:p>
        </p:txBody>
      </p:sp>
      <p:sp>
        <p:nvSpPr>
          <p:cNvPr id="22" name="o227"/>
          <p:cNvSpPr txBox="1"/>
          <p:nvPr/>
        </p:nvSpPr>
        <p:spPr>
          <a:xfrm>
            <a:off x="8356600" y="2152650"/>
            <a:ext cx="3149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4분 18초</a:t>
            </a:r>
            <a:endParaRPr lang="en-US" sz="4400" dirty="0"/>
          </a:p>
        </p:txBody>
      </p:sp>
      <p:sp>
        <p:nvSpPr>
          <p:cNvPr id="23" name="o228"/>
          <p:cNvSpPr txBox="1"/>
          <p:nvPr/>
        </p:nvSpPr>
        <p:spPr>
          <a:xfrm>
            <a:off x="8356600" y="3143250"/>
            <a:ext cx="2921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검색이 절반 (2:09)</a:t>
            </a:r>
            <a:endParaRPr lang="en-US" sz="1200" dirty="0"/>
          </a:p>
        </p:txBody>
      </p:sp>
      <p:sp>
        <p:nvSpPr>
          <p:cNvPr id="24" name="o229"/>
          <p:cNvSpPr/>
          <p:nvPr/>
        </p:nvSpPr>
        <p:spPr>
          <a:xfrm>
            <a:off x="609600" y="3886200"/>
            <a:ext cx="10972800" cy="2362200"/>
          </a:xfrm>
          <a:prstGeom prst="roundRect">
            <a:avLst>
              <a:gd name="adj" fmla="val 9677"/>
            </a:avLst>
          </a:prstGeom>
          <a:solidFill>
            <a:srgbClr val="F5F5F7"/>
          </a:solidFill>
          <a:ln/>
        </p:spPr>
      </p:sp>
      <p:sp>
        <p:nvSpPr>
          <p:cNvPr id="25" name="o230"/>
          <p:cNvSpPr txBox="1"/>
          <p:nvPr/>
        </p:nvSpPr>
        <p:spPr>
          <a:xfrm>
            <a:off x="952500" y="4114800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33분 48초는 어디에 쓰였나</a:t>
            </a:r>
            <a:endParaRPr lang="en-US" sz="1600" dirty="0"/>
          </a:p>
        </p:txBody>
      </p:sp>
      <p:sp>
        <p:nvSpPr>
          <p:cNvPr id="26" name="o231"/>
          <p:cNvSpPr txBox="1"/>
          <p:nvPr/>
        </p:nvSpPr>
        <p:spPr>
          <a:xfrm>
            <a:off x="6667500" y="4114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단계만 없애면 78%</a:t>
            </a:r>
            <a:endParaRPr lang="en-US" sz="1300" dirty="0"/>
          </a:p>
        </p:txBody>
      </p:sp>
      <p:sp>
        <p:nvSpPr>
          <p:cNvPr id="27" name="o232"/>
          <p:cNvSpPr/>
          <p:nvPr/>
        </p:nvSpPr>
        <p:spPr>
          <a:xfrm>
            <a:off x="952500" y="4533900"/>
            <a:ext cx="5847223" cy="609600"/>
          </a:xfrm>
          <a:prstGeom prst="roundRect">
            <a:avLst>
              <a:gd name="adj" fmla="val 15625"/>
            </a:avLst>
          </a:prstGeom>
          <a:solidFill>
            <a:srgbClr val="0A1F44"/>
          </a:solidFill>
          <a:ln/>
        </p:spPr>
      </p:sp>
      <p:sp>
        <p:nvSpPr>
          <p:cNvPr id="28" name="o233"/>
          <p:cNvSpPr txBox="1"/>
          <p:nvPr/>
        </p:nvSpPr>
        <p:spPr>
          <a:xfrm>
            <a:off x="1123950" y="4533900"/>
            <a:ext cx="5561473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57%</a:t>
            </a:r>
            <a:endParaRPr lang="en-US" sz="2200" dirty="0"/>
          </a:p>
        </p:txBody>
      </p:sp>
      <p:sp>
        <p:nvSpPr>
          <p:cNvPr id="29" name="o234"/>
          <p:cNvSpPr txBox="1"/>
          <p:nvPr/>
        </p:nvSpPr>
        <p:spPr>
          <a:xfrm>
            <a:off x="952500" y="5276850"/>
            <a:ext cx="584722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아날로그 내부 결재 대기</a:t>
            </a:r>
            <a:endParaRPr lang="en-US" sz="1300" dirty="0"/>
          </a:p>
        </p:txBody>
      </p:sp>
      <p:sp>
        <p:nvSpPr>
          <p:cNvPr id="30" name="o235"/>
          <p:cNvSpPr txBox="1"/>
          <p:nvPr/>
        </p:nvSpPr>
        <p:spPr>
          <a:xfrm>
            <a:off x="952500" y="5505450"/>
            <a:ext cx="5847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19분 24초</a:t>
            </a:r>
            <a:endParaRPr lang="en-US" sz="1200" dirty="0"/>
          </a:p>
        </p:txBody>
      </p:sp>
      <p:sp>
        <p:nvSpPr>
          <p:cNvPr id="31" name="o236"/>
          <p:cNvSpPr/>
          <p:nvPr/>
        </p:nvSpPr>
        <p:spPr>
          <a:xfrm>
            <a:off x="6856873" y="4533900"/>
            <a:ext cx="2073294" cy="609600"/>
          </a:xfrm>
          <a:prstGeom prst="roundRect">
            <a:avLst>
              <a:gd name="adj" fmla="val 15625"/>
            </a:avLst>
          </a:prstGeom>
          <a:solidFill>
            <a:srgbClr val="4F6A96"/>
          </a:solidFill>
          <a:ln/>
        </p:spPr>
      </p:sp>
      <p:sp>
        <p:nvSpPr>
          <p:cNvPr id="32" name="o237"/>
          <p:cNvSpPr txBox="1"/>
          <p:nvPr/>
        </p:nvSpPr>
        <p:spPr>
          <a:xfrm>
            <a:off x="7028323" y="4533900"/>
            <a:ext cx="1787544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21%</a:t>
            </a:r>
            <a:endParaRPr lang="en-US" sz="2200" dirty="0"/>
          </a:p>
        </p:txBody>
      </p:sp>
      <p:sp>
        <p:nvSpPr>
          <p:cNvPr id="33" name="o238"/>
          <p:cNvSpPr txBox="1"/>
          <p:nvPr/>
        </p:nvSpPr>
        <p:spPr>
          <a:xfrm>
            <a:off x="6856873" y="5276850"/>
            <a:ext cx="207329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제출 (이동)</a:t>
            </a:r>
            <a:endParaRPr lang="en-US" sz="1300" dirty="0"/>
          </a:p>
        </p:txBody>
      </p:sp>
      <p:sp>
        <p:nvSpPr>
          <p:cNvPr id="34" name="o239"/>
          <p:cNvSpPr txBox="1"/>
          <p:nvPr/>
        </p:nvSpPr>
        <p:spPr>
          <a:xfrm>
            <a:off x="6856873" y="5505450"/>
            <a:ext cx="207329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7분 00초</a:t>
            </a:r>
            <a:endParaRPr lang="en-US" sz="1200" dirty="0"/>
          </a:p>
        </p:txBody>
      </p:sp>
      <p:sp>
        <p:nvSpPr>
          <p:cNvPr id="35" name="o240"/>
          <p:cNvSpPr/>
          <p:nvPr/>
        </p:nvSpPr>
        <p:spPr>
          <a:xfrm>
            <a:off x="8987317" y="4533900"/>
            <a:ext cx="2252183" cy="609600"/>
          </a:xfrm>
          <a:prstGeom prst="roundRect">
            <a:avLst>
              <a:gd name="adj" fmla="val 15625"/>
            </a:avLst>
          </a:prstGeom>
          <a:solidFill>
            <a:srgbClr val="C9D3E3"/>
          </a:solidFill>
          <a:ln/>
        </p:spPr>
      </p:sp>
      <p:sp>
        <p:nvSpPr>
          <p:cNvPr id="36" name="o241"/>
          <p:cNvSpPr txBox="1"/>
          <p:nvPr/>
        </p:nvSpPr>
        <p:spPr>
          <a:xfrm>
            <a:off x="9158767" y="4533900"/>
            <a:ext cx="1966433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22%</a:t>
            </a:r>
            <a:endParaRPr lang="en-US" sz="2200" dirty="0"/>
          </a:p>
        </p:txBody>
      </p:sp>
      <p:sp>
        <p:nvSpPr>
          <p:cNvPr id="37" name="o242"/>
          <p:cNvSpPr txBox="1"/>
          <p:nvPr/>
        </p:nvSpPr>
        <p:spPr>
          <a:xfrm>
            <a:off x="8987317" y="5276850"/>
            <a:ext cx="22521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· 출력 · 서명 등</a:t>
            </a:r>
            <a:endParaRPr lang="en-US" sz="1300" dirty="0"/>
          </a:p>
        </p:txBody>
      </p:sp>
      <p:sp>
        <p:nvSpPr>
          <p:cNvPr id="38" name="o243"/>
          <p:cNvSpPr txBox="1"/>
          <p:nvPr/>
        </p:nvSpPr>
        <p:spPr>
          <a:xfrm>
            <a:off x="8987317" y="5505450"/>
            <a:ext cx="225218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7분 24초</a:t>
            </a:r>
            <a:endParaRPr lang="en-US" sz="1200" dirty="0"/>
          </a:p>
        </p:txBody>
      </p:sp>
      <p:sp>
        <p:nvSpPr>
          <p:cNvPr id="39" name="o244"/>
          <p:cNvSpPr txBox="1"/>
          <p:nvPr/>
        </p:nvSpPr>
        <p:spPr>
          <a:xfrm>
            <a:off x="952500" y="5886450"/>
            <a:ext cx="1028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기준값 → 지표 ③ 행정 소요시간 단축률 · 기다림과 이동만 없애도 78%가 줄어든다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245"/>
          <p:cNvSpPr txBox="1"/>
          <p:nvPr/>
        </p:nvSpPr>
        <p:spPr>
          <a:xfrm>
            <a:off x="609600" y="419100"/>
            <a:ext cx="6667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PLAN · 지표 설정 · 목표</a:t>
            </a:r>
            <a:endParaRPr lang="en-US" sz="1000" dirty="0"/>
          </a:p>
        </p:txBody>
      </p:sp>
      <p:sp>
        <p:nvSpPr>
          <p:cNvPr id="3" name="o246"/>
          <p:cNvSpPr txBox="1"/>
          <p:nvPr/>
        </p:nvSpPr>
        <p:spPr>
          <a:xfrm>
            <a:off x="89535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900" dirty="0"/>
          </a:p>
        </p:txBody>
      </p:sp>
      <p:sp>
        <p:nvSpPr>
          <p:cNvPr id="4" name="o247"/>
          <p:cNvSpPr/>
          <p:nvPr/>
        </p:nvSpPr>
        <p:spPr>
          <a:xfrm>
            <a:off x="9086850" y="609600"/>
            <a:ext cx="342900" cy="19050"/>
          </a:xfrm>
          <a:prstGeom prst="rect">
            <a:avLst/>
          </a:prstGeom>
          <a:solidFill>
            <a:srgbClr val="0A1F44"/>
          </a:solidFill>
          <a:ln/>
        </p:spPr>
      </p:sp>
      <p:sp>
        <p:nvSpPr>
          <p:cNvPr id="5" name="o248"/>
          <p:cNvSpPr txBox="1"/>
          <p:nvPr/>
        </p:nvSpPr>
        <p:spPr>
          <a:xfrm>
            <a:off x="96202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</a:t>
            </a:r>
            <a:endParaRPr lang="en-US" sz="900" dirty="0"/>
          </a:p>
        </p:txBody>
      </p:sp>
      <p:sp>
        <p:nvSpPr>
          <p:cNvPr id="6" name="o249"/>
          <p:cNvSpPr txBox="1"/>
          <p:nvPr/>
        </p:nvSpPr>
        <p:spPr>
          <a:xfrm>
            <a:off x="1028700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</a:t>
            </a:r>
            <a:endParaRPr lang="en-US" sz="900" dirty="0"/>
          </a:p>
        </p:txBody>
      </p:sp>
      <p:sp>
        <p:nvSpPr>
          <p:cNvPr id="7" name="o250"/>
          <p:cNvSpPr txBox="1"/>
          <p:nvPr/>
        </p:nvSpPr>
        <p:spPr>
          <a:xfrm>
            <a:off x="10953750" y="419100"/>
            <a:ext cx="609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</a:t>
            </a:r>
            <a:endParaRPr lang="en-US" sz="900" dirty="0"/>
          </a:p>
        </p:txBody>
      </p:sp>
      <p:sp>
        <p:nvSpPr>
          <p:cNvPr id="8" name="o251"/>
          <p:cNvSpPr txBox="1"/>
          <p:nvPr/>
        </p:nvSpPr>
        <p:spPr>
          <a:xfrm>
            <a:off x="609600" y="66675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현황을 기준값으로, 4개 지표와 목표를 정했다</a:t>
            </a:r>
            <a:endParaRPr lang="en-US" sz="2800" dirty="0"/>
          </a:p>
        </p:txBody>
      </p:sp>
      <p:sp>
        <p:nvSpPr>
          <p:cNvPr id="9" name="o252"/>
          <p:cNvSpPr txBox="1"/>
          <p:nvPr/>
        </p:nvSpPr>
        <p:spPr>
          <a:xfrm>
            <a:off x="609600" y="1162050"/>
            <a:ext cx="1097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기준값(2025) → 목표 · 같은 방법으로 개선 후를 다시 잰다</a:t>
            </a:r>
            <a:endParaRPr lang="en-US" sz="1500" dirty="0"/>
          </a:p>
        </p:txBody>
      </p:sp>
      <p:sp>
        <p:nvSpPr>
          <p:cNvPr id="10" name="o253"/>
          <p:cNvSpPr txBox="1"/>
          <p:nvPr/>
        </p:nvSpPr>
        <p:spPr>
          <a:xfrm>
            <a:off x="609600" y="6477000"/>
            <a:ext cx="571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부산부민병원 안전보건 통합관리 시스템</a:t>
            </a:r>
            <a:endParaRPr lang="en-US" sz="900" dirty="0"/>
          </a:p>
        </p:txBody>
      </p:sp>
      <p:sp>
        <p:nvSpPr>
          <p:cNvPr id="11" name="o254"/>
          <p:cNvSpPr txBox="1"/>
          <p:nvPr/>
        </p:nvSpPr>
        <p:spPr>
          <a:xfrm>
            <a:off x="10629900" y="647700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900" dirty="0"/>
          </a:p>
        </p:txBody>
      </p:sp>
      <p:sp>
        <p:nvSpPr>
          <p:cNvPr id="12" name="o255"/>
          <p:cNvSpPr/>
          <p:nvPr/>
        </p:nvSpPr>
        <p:spPr>
          <a:xfrm>
            <a:off x="609600" y="1600200"/>
            <a:ext cx="5391150" cy="1181100"/>
          </a:xfrm>
          <a:prstGeom prst="roundRect">
            <a:avLst>
              <a:gd name="adj" fmla="val 16129"/>
            </a:avLst>
          </a:prstGeom>
          <a:solidFill>
            <a:srgbClr val="F5F5F7"/>
          </a:solidFill>
          <a:ln/>
        </p:spPr>
      </p:sp>
      <p:sp>
        <p:nvSpPr>
          <p:cNvPr id="13" name="o256"/>
          <p:cNvSpPr txBox="1"/>
          <p:nvPr/>
        </p:nvSpPr>
        <p:spPr>
          <a:xfrm>
            <a:off x="876300" y="17907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과정지표</a:t>
            </a:r>
            <a:endParaRPr lang="en-US" sz="1100" dirty="0"/>
          </a:p>
        </p:txBody>
      </p:sp>
      <p:sp>
        <p:nvSpPr>
          <p:cNvPr id="14" name="o257"/>
          <p:cNvSpPr txBox="1"/>
          <p:nvPr/>
        </p:nvSpPr>
        <p:spPr>
          <a:xfrm>
            <a:off x="4781550" y="179070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근거 현황 05</a:t>
            </a:r>
            <a:endParaRPr lang="en-US" sz="1000" dirty="0"/>
          </a:p>
        </p:txBody>
      </p:sp>
      <p:sp>
        <p:nvSpPr>
          <p:cNvPr id="15" name="o258"/>
          <p:cNvSpPr txBox="1"/>
          <p:nvPr/>
        </p:nvSpPr>
        <p:spPr>
          <a:xfrm>
            <a:off x="876300" y="20002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법정 의무교육 준수율</a:t>
            </a:r>
            <a:endParaRPr lang="en-US" sz="1900" dirty="0"/>
          </a:p>
        </p:txBody>
      </p:sp>
      <p:sp>
        <p:nvSpPr>
          <p:cNvPr id="16" name="o259"/>
          <p:cNvSpPr txBox="1"/>
          <p:nvPr/>
        </p:nvSpPr>
        <p:spPr>
          <a:xfrm>
            <a:off x="876300" y="2362200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기한 내 이행 완료 ÷ 법정 교육 대상</a:t>
            </a:r>
            <a:endParaRPr lang="en-US" sz="1200" dirty="0"/>
          </a:p>
        </p:txBody>
      </p:sp>
      <p:sp>
        <p:nvSpPr>
          <p:cNvPr id="17" name="o260"/>
          <p:cNvSpPr txBox="1"/>
          <p:nvPr/>
        </p:nvSpPr>
        <p:spPr>
          <a:xfrm>
            <a:off x="3829050" y="2057400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기준값 → 목표</a:t>
            </a:r>
            <a:endParaRPr lang="en-US" sz="1100" dirty="0"/>
          </a:p>
        </p:txBody>
      </p:sp>
      <p:sp>
        <p:nvSpPr>
          <p:cNvPr id="18" name="o261"/>
          <p:cNvSpPr txBox="1"/>
          <p:nvPr/>
        </p:nvSpPr>
        <p:spPr>
          <a:xfrm>
            <a:off x="3257550" y="224790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 → 100%</a:t>
            </a:r>
            <a:endParaRPr lang="en-US" sz="2200" dirty="0"/>
          </a:p>
        </p:txBody>
      </p:sp>
      <p:sp>
        <p:nvSpPr>
          <p:cNvPr id="19" name="o262"/>
          <p:cNvSpPr/>
          <p:nvPr/>
        </p:nvSpPr>
        <p:spPr>
          <a:xfrm>
            <a:off x="6191250" y="1600200"/>
            <a:ext cx="5391150" cy="1181100"/>
          </a:xfrm>
          <a:prstGeom prst="roundRect">
            <a:avLst>
              <a:gd name="adj" fmla="val 16129"/>
            </a:avLst>
          </a:prstGeom>
          <a:solidFill>
            <a:srgbClr val="F5F5F7"/>
          </a:solidFill>
          <a:ln/>
        </p:spPr>
      </p:sp>
      <p:sp>
        <p:nvSpPr>
          <p:cNvPr id="20" name="o263"/>
          <p:cNvSpPr txBox="1"/>
          <p:nvPr/>
        </p:nvSpPr>
        <p:spPr>
          <a:xfrm>
            <a:off x="6457950" y="17907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결과지표</a:t>
            </a:r>
            <a:endParaRPr lang="en-US" sz="1100" dirty="0"/>
          </a:p>
        </p:txBody>
      </p:sp>
      <p:sp>
        <p:nvSpPr>
          <p:cNvPr id="21" name="o264"/>
          <p:cNvSpPr txBox="1"/>
          <p:nvPr/>
        </p:nvSpPr>
        <p:spPr>
          <a:xfrm>
            <a:off x="10363200" y="179070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근거 현황 05</a:t>
            </a:r>
            <a:endParaRPr lang="en-US" sz="1000" dirty="0"/>
          </a:p>
        </p:txBody>
      </p:sp>
      <p:sp>
        <p:nvSpPr>
          <p:cNvPr id="22" name="o265"/>
          <p:cNvSpPr txBox="1"/>
          <p:nvPr/>
        </p:nvSpPr>
        <p:spPr>
          <a:xfrm>
            <a:off x="6457950" y="20002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페이퍼리스 전환율</a:t>
            </a:r>
            <a:endParaRPr lang="en-US" sz="1900" dirty="0"/>
          </a:p>
        </p:txBody>
      </p:sp>
      <p:sp>
        <p:nvSpPr>
          <p:cNvPr id="23" name="o266"/>
          <p:cNvSpPr txBox="1"/>
          <p:nvPr/>
        </p:nvSpPr>
        <p:spPr>
          <a:xfrm>
            <a:off x="6457950" y="2362200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종이 없이 DB 저장 완결 ÷ 대상 업무</a:t>
            </a:r>
            <a:endParaRPr lang="en-US" sz="1200" dirty="0"/>
          </a:p>
        </p:txBody>
      </p:sp>
      <p:sp>
        <p:nvSpPr>
          <p:cNvPr id="24" name="o267"/>
          <p:cNvSpPr txBox="1"/>
          <p:nvPr/>
        </p:nvSpPr>
        <p:spPr>
          <a:xfrm>
            <a:off x="9410700" y="2057400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기준값 → 목표</a:t>
            </a:r>
            <a:endParaRPr lang="en-US" sz="1100" dirty="0"/>
          </a:p>
        </p:txBody>
      </p:sp>
      <p:sp>
        <p:nvSpPr>
          <p:cNvPr id="25" name="o268"/>
          <p:cNvSpPr txBox="1"/>
          <p:nvPr/>
        </p:nvSpPr>
        <p:spPr>
          <a:xfrm>
            <a:off x="8839200" y="224790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0% → 100%</a:t>
            </a:r>
            <a:endParaRPr lang="en-US" sz="2200" dirty="0"/>
          </a:p>
        </p:txBody>
      </p:sp>
      <p:sp>
        <p:nvSpPr>
          <p:cNvPr id="26" name="o269"/>
          <p:cNvSpPr/>
          <p:nvPr/>
        </p:nvSpPr>
        <p:spPr>
          <a:xfrm>
            <a:off x="609600" y="2933700"/>
            <a:ext cx="5391150" cy="1181100"/>
          </a:xfrm>
          <a:prstGeom prst="roundRect">
            <a:avLst>
              <a:gd name="adj" fmla="val 16129"/>
            </a:avLst>
          </a:prstGeom>
          <a:solidFill>
            <a:srgbClr val="F5F5F7"/>
          </a:solidFill>
          <a:ln/>
        </p:spPr>
      </p:sp>
      <p:sp>
        <p:nvSpPr>
          <p:cNvPr id="27" name="o270"/>
          <p:cNvSpPr txBox="1"/>
          <p:nvPr/>
        </p:nvSpPr>
        <p:spPr>
          <a:xfrm>
            <a:off x="876300" y="3124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효율지표</a:t>
            </a:r>
            <a:endParaRPr lang="en-US" sz="1100" dirty="0"/>
          </a:p>
        </p:txBody>
      </p:sp>
      <p:sp>
        <p:nvSpPr>
          <p:cNvPr id="28" name="o271"/>
          <p:cNvSpPr txBox="1"/>
          <p:nvPr/>
        </p:nvSpPr>
        <p:spPr>
          <a:xfrm>
            <a:off x="4781550" y="312420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근거 현황 06</a:t>
            </a:r>
            <a:endParaRPr lang="en-US" sz="1000" dirty="0"/>
          </a:p>
        </p:txBody>
      </p:sp>
      <p:sp>
        <p:nvSpPr>
          <p:cNvPr id="29" name="o272"/>
          <p:cNvSpPr txBox="1"/>
          <p:nvPr/>
        </p:nvSpPr>
        <p:spPr>
          <a:xfrm>
            <a:off x="876300" y="33337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 소요시간 단축률</a:t>
            </a:r>
            <a:endParaRPr lang="en-US" sz="1900" dirty="0"/>
          </a:p>
        </p:txBody>
      </p:sp>
      <p:sp>
        <p:nvSpPr>
          <p:cNvPr id="30" name="o273"/>
          <p:cNvSpPr txBox="1"/>
          <p:nvPr/>
        </p:nvSpPr>
        <p:spPr>
          <a:xfrm>
            <a:off x="876300" y="3695700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(수기 시간 − 플랫폼 시간) ÷ 수기 시간</a:t>
            </a:r>
            <a:endParaRPr lang="en-US" sz="1200" dirty="0"/>
          </a:p>
        </p:txBody>
      </p:sp>
      <p:sp>
        <p:nvSpPr>
          <p:cNvPr id="31" name="o274"/>
          <p:cNvSpPr txBox="1"/>
          <p:nvPr/>
        </p:nvSpPr>
        <p:spPr>
          <a:xfrm>
            <a:off x="3829050" y="3390900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기준값 → 목표</a:t>
            </a:r>
            <a:endParaRPr lang="en-US" sz="1100" dirty="0"/>
          </a:p>
        </p:txBody>
      </p:sp>
      <p:sp>
        <p:nvSpPr>
          <p:cNvPr id="32" name="o275"/>
          <p:cNvSpPr txBox="1"/>
          <p:nvPr/>
        </p:nvSpPr>
        <p:spPr>
          <a:xfrm>
            <a:off x="3257550" y="358140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33:48 → 70%↓</a:t>
            </a:r>
            <a:endParaRPr lang="en-US" sz="2200" dirty="0"/>
          </a:p>
        </p:txBody>
      </p:sp>
      <p:sp>
        <p:nvSpPr>
          <p:cNvPr id="33" name="o276"/>
          <p:cNvSpPr/>
          <p:nvPr/>
        </p:nvSpPr>
        <p:spPr>
          <a:xfrm>
            <a:off x="6191250" y="2933700"/>
            <a:ext cx="5391150" cy="1181100"/>
          </a:xfrm>
          <a:prstGeom prst="roundRect">
            <a:avLst>
              <a:gd name="adj" fmla="val 16129"/>
            </a:avLst>
          </a:prstGeom>
          <a:solidFill>
            <a:srgbClr val="F5F5F7"/>
          </a:solidFill>
          <a:ln/>
        </p:spPr>
      </p:sp>
      <p:sp>
        <p:nvSpPr>
          <p:cNvPr id="34" name="o277"/>
          <p:cNvSpPr txBox="1"/>
          <p:nvPr/>
        </p:nvSpPr>
        <p:spPr>
          <a:xfrm>
            <a:off x="6457950" y="3124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인프라지표</a:t>
            </a:r>
            <a:endParaRPr lang="en-US" sz="1100" dirty="0"/>
          </a:p>
        </p:txBody>
      </p:sp>
      <p:sp>
        <p:nvSpPr>
          <p:cNvPr id="35" name="o278"/>
          <p:cNvSpPr txBox="1"/>
          <p:nvPr/>
        </p:nvSpPr>
        <p:spPr>
          <a:xfrm>
            <a:off x="10363200" y="312420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363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계획 6대 모듈</a:t>
            </a:r>
            <a:endParaRPr lang="en-US" sz="1000" dirty="0"/>
          </a:p>
        </p:txBody>
      </p:sp>
      <p:sp>
        <p:nvSpPr>
          <p:cNvPr id="36" name="o279"/>
          <p:cNvSpPr txBox="1"/>
          <p:nvPr/>
        </p:nvSpPr>
        <p:spPr>
          <a:xfrm>
            <a:off x="6457950" y="33337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구축 완성도</a:t>
            </a:r>
            <a:endParaRPr lang="en-US" sz="1900" dirty="0"/>
          </a:p>
        </p:txBody>
      </p:sp>
      <p:sp>
        <p:nvSpPr>
          <p:cNvPr id="37" name="o280"/>
          <p:cNvSpPr txBox="1"/>
          <p:nvPr/>
        </p:nvSpPr>
        <p:spPr>
          <a:xfrm>
            <a:off x="6457950" y="3695700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정상 작동 기능 ÷ 계획 기능</a:t>
            </a:r>
            <a:endParaRPr lang="en-US" sz="1200" dirty="0"/>
          </a:p>
        </p:txBody>
      </p:sp>
      <p:sp>
        <p:nvSpPr>
          <p:cNvPr id="38" name="o281"/>
          <p:cNvSpPr txBox="1"/>
          <p:nvPr/>
        </p:nvSpPr>
        <p:spPr>
          <a:xfrm>
            <a:off x="9410700" y="3390900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기준값 → 목표</a:t>
            </a:r>
            <a:endParaRPr lang="en-US" sz="1100" dirty="0"/>
          </a:p>
        </p:txBody>
      </p:sp>
      <p:sp>
        <p:nvSpPr>
          <p:cNvPr id="39" name="o282"/>
          <p:cNvSpPr txBox="1"/>
          <p:nvPr/>
        </p:nvSpPr>
        <p:spPr>
          <a:xfrm>
            <a:off x="8839200" y="358140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 → 6 / 6</a:t>
            </a:r>
            <a:endParaRPr lang="en-US" sz="2200" dirty="0"/>
          </a:p>
        </p:txBody>
      </p:sp>
      <p:sp>
        <p:nvSpPr>
          <p:cNvPr id="40" name="o283"/>
          <p:cNvSpPr txBox="1"/>
          <p:nvPr/>
        </p:nvSpPr>
        <p:spPr>
          <a:xfrm>
            <a:off x="609600" y="4381500"/>
            <a:ext cx="476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방법 — 개선 전후를 같은 방법으로</a:t>
            </a:r>
            <a:endParaRPr lang="en-US" sz="1300" dirty="0"/>
          </a:p>
        </p:txBody>
      </p:sp>
      <p:sp>
        <p:nvSpPr>
          <p:cNvPr id="41" name="o284"/>
          <p:cNvSpPr/>
          <p:nvPr/>
        </p:nvSpPr>
        <p:spPr>
          <a:xfrm>
            <a:off x="609600" y="4648200"/>
            <a:ext cx="3530600" cy="1600200"/>
          </a:xfrm>
          <a:prstGeom prst="roundRect">
            <a:avLst>
              <a:gd name="adj" fmla="val 11905"/>
            </a:avLst>
          </a:prstGeom>
          <a:solidFill>
            <a:srgbClr val="F5F5F7"/>
          </a:solidFill>
          <a:ln/>
        </p:spPr>
      </p:sp>
      <p:sp>
        <p:nvSpPr>
          <p:cNvPr id="42" name="o285"/>
          <p:cNvSpPr txBox="1"/>
          <p:nvPr/>
        </p:nvSpPr>
        <p:spPr>
          <a:xfrm>
            <a:off x="876300" y="4857750"/>
            <a:ext cx="299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준수율 · 페이퍼리스</a:t>
            </a:r>
            <a:endParaRPr lang="en-US" sz="1200" dirty="0"/>
          </a:p>
        </p:txBody>
      </p:sp>
      <p:sp>
        <p:nvSpPr>
          <p:cNvPr id="43" name="o286"/>
          <p:cNvSpPr txBox="1"/>
          <p:nvPr/>
        </p:nvSpPr>
        <p:spPr>
          <a:xfrm>
            <a:off x="876300" y="5105400"/>
            <a:ext cx="29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전수조사</a:t>
            </a:r>
            <a:endParaRPr lang="en-US" sz="3000" dirty="0"/>
          </a:p>
        </p:txBody>
      </p:sp>
      <p:sp>
        <p:nvSpPr>
          <p:cNvPr id="44" name="o287"/>
          <p:cNvSpPr txBox="1"/>
          <p:nvPr/>
        </p:nvSpPr>
        <p:spPr>
          <a:xfrm>
            <a:off x="876300" y="567690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입사자 명단 ↔ 교육일지 대조 · 출력 업무 집계 (전 2025.01–12)</a:t>
            </a:r>
            <a:endParaRPr lang="en-US" sz="1200" dirty="0"/>
          </a:p>
        </p:txBody>
      </p:sp>
      <p:sp>
        <p:nvSpPr>
          <p:cNvPr id="45" name="o288"/>
          <p:cNvSpPr/>
          <p:nvPr/>
        </p:nvSpPr>
        <p:spPr>
          <a:xfrm>
            <a:off x="4330700" y="4648200"/>
            <a:ext cx="3530600" cy="1600200"/>
          </a:xfrm>
          <a:prstGeom prst="roundRect">
            <a:avLst>
              <a:gd name="adj" fmla="val 11905"/>
            </a:avLst>
          </a:prstGeom>
          <a:solidFill>
            <a:srgbClr val="F5F5F7"/>
          </a:solidFill>
          <a:ln/>
        </p:spPr>
      </p:sp>
      <p:sp>
        <p:nvSpPr>
          <p:cNvPr id="46" name="o289"/>
          <p:cNvSpPr txBox="1"/>
          <p:nvPr/>
        </p:nvSpPr>
        <p:spPr>
          <a:xfrm>
            <a:off x="4597400" y="4857750"/>
            <a:ext cx="299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 소요시간</a:t>
            </a:r>
            <a:endParaRPr lang="en-US" sz="1200" dirty="0"/>
          </a:p>
        </p:txBody>
      </p:sp>
      <p:sp>
        <p:nvSpPr>
          <p:cNvPr id="47" name="o290"/>
          <p:cNvSpPr txBox="1"/>
          <p:nvPr/>
        </p:nvSpPr>
        <p:spPr>
          <a:xfrm>
            <a:off x="4597400" y="5105400"/>
            <a:ext cx="29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Study</a:t>
            </a:r>
            <a:endParaRPr lang="en-US" sz="3000" dirty="0"/>
          </a:p>
        </p:txBody>
      </p:sp>
      <p:sp>
        <p:nvSpPr>
          <p:cNvPr id="48" name="o291"/>
          <p:cNvSpPr txBox="1"/>
          <p:nvPr/>
        </p:nvSpPr>
        <p:spPr>
          <a:xfrm>
            <a:off x="4597400" y="567690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세부 행동 단위별 직접 관찰 실측 (전 2025.01 · 후 2026.07)</a:t>
            </a:r>
            <a:endParaRPr lang="en-US" sz="1200" dirty="0"/>
          </a:p>
        </p:txBody>
      </p:sp>
      <p:sp>
        <p:nvSpPr>
          <p:cNvPr id="49" name="o292"/>
          <p:cNvSpPr/>
          <p:nvPr/>
        </p:nvSpPr>
        <p:spPr>
          <a:xfrm>
            <a:off x="8051800" y="4648200"/>
            <a:ext cx="3530600" cy="1600200"/>
          </a:xfrm>
          <a:prstGeom prst="roundRect">
            <a:avLst>
              <a:gd name="adj" fmla="val 11905"/>
            </a:avLst>
          </a:prstGeom>
          <a:solidFill>
            <a:srgbClr val="F5F5F7"/>
          </a:solidFill>
          <a:ln/>
        </p:spPr>
      </p:sp>
      <p:sp>
        <p:nvSpPr>
          <p:cNvPr id="50" name="o293"/>
          <p:cNvSpPr txBox="1"/>
          <p:nvPr/>
        </p:nvSpPr>
        <p:spPr>
          <a:xfrm>
            <a:off x="8318500" y="4857750"/>
            <a:ext cx="299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후 측정</a:t>
            </a:r>
            <a:endParaRPr lang="en-US" sz="1200" dirty="0"/>
          </a:p>
        </p:txBody>
      </p:sp>
      <p:sp>
        <p:nvSpPr>
          <p:cNvPr id="51" name="o294"/>
          <p:cNvSpPr txBox="1"/>
          <p:nvPr/>
        </p:nvSpPr>
        <p:spPr>
          <a:xfrm>
            <a:off x="8318500" y="5105400"/>
            <a:ext cx="299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2026.05–07</a:t>
            </a:r>
            <a:endParaRPr lang="en-US" sz="3000" dirty="0"/>
          </a:p>
        </p:txBody>
      </p:sp>
      <p:sp>
        <p:nvSpPr>
          <p:cNvPr id="52" name="o295"/>
          <p:cNvSpPr txBox="1"/>
          <p:nvPr/>
        </p:nvSpPr>
        <p:spPr>
          <a:xfrm>
            <a:off x="8318500" y="567690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363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DB 자동 집계 — 교육 33건 · 업무 52건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min Navy">
  <a:themeElements>
    <a:clrScheme name="Bumin Navy">
      <a:dk1>
        <a:srgbClr val="1D1D1F"/>
      </a:dk1>
      <a:lt1>
        <a:srgbClr val="FFFFFF"/>
      </a:lt1>
      <a:dk2>
        <a:srgbClr val="636366"/>
      </a:dk2>
      <a:lt2>
        <a:srgbClr val="F5F5F7"/>
      </a:lt2>
      <a:accent1>
        <a:srgbClr val="0A1F44"/>
      </a:accent1>
      <a:accent2>
        <a:srgbClr val="0066CC"/>
      </a:accent2>
      <a:accent3>
        <a:srgbClr val="C7C7CC"/>
      </a:accent3>
      <a:accent4>
        <a:srgbClr val="F56300"/>
      </a:accent4>
      <a:accent5>
        <a:srgbClr val="4F6A96"/>
      </a:accent5>
      <a:accent6>
        <a:srgbClr val="8FA6C9"/>
      </a:accent6>
      <a:hlink>
        <a:srgbClr val="0066CC"/>
      </a:hlink>
      <a:folHlink>
        <a:srgbClr val="0A1F44"/>
      </a:folHlink>
    </a:clrScheme>
    <a:fontScheme name="Bumin Navy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통합 안전보건 플랫폼 구축을 통한 업무 효율성 증가</dc:title>
  <dc:subject>PptxGenJS Presentation</dc:subject>
  <dc:creator>총무-안전보건팀 (Safety First)</dc:creator>
  <cp:lastModifiedBy>총무-안전보건팀 (Safety First)</cp:lastModifiedBy>
  <cp:revision>1</cp:revision>
  <dcterms:created xsi:type="dcterms:W3CDTF">2026-10-27T08:05:47Z</dcterms:created>
  <dcterms:modified xsi:type="dcterms:W3CDTF">2026-10-27T08:05:47Z</dcterms:modified>
</cp:coreProperties>
</file>