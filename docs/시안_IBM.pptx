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표지
안녕하십니까. 부민병원 총무-안전보건팀 보건관리자 장은선입니다.
(도입) "지금 이 순간, 우리 병원 신규 입사자 중 법정 안전보건교육을 받지 않은 사람이 몇 명인지 바로 답하실 수 있습니까?"
오늘은 이 질문에 바로 답할 수 있게 된 과정, AI 통합 안전보건 플랫폼 활동을 PDCA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[0:20–0:25] 목차 — 말없이 넘겨도 됨
"무엇이 달라졌는지 PDCA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[0:25–1:05] 활동 배경
법은 "했다"가 아니라 "했다는 증거"를 요구합니다. MSDS와 신규·특별안전보건교육, 인증기준 10.7·11.3 모두 실시간 증빙이 필요합니다.
그런데 저희는 출력하고, 서명받고, 들고 오고, 결재를 기다렸습니다.
이 활동은 병원 중점과제 '업무 프로세스 개선', 그리고 ESG 환경 부문과 정확히 맞닿아 있습니다.
전환: "이 활동은 저희 세 명이 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[1:05–1:15] 팀 구성 — 10초
"팀장 김광현, 보건관리자인 제가 플랫폼을 직접 개발했고, 안전관리자 장종문이 MSDS와 AI 위험성평가를 맡았습니다."
전환: "먼저 1년치 데이터를 전수조사했습니다."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[1:15–2:00] 현황 파악
2025년 신규 입사자 106명을 전수조사한 결과, 18건(17%)이 누락되어 있었습니다. 특정 시기가 아니라 12개월 중 8개월에서 반복됐습니다.
특별안전보건교육 1건의 서류 처리에 33분 48초. 그중 결재 대기 57%, 걸어서 제출 21% — 78%가 아무 가치도 만들지 않는 시간이었습니다.
전환: "문제는 사람이 아니라 방식이었습니다."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[2:00–2:40] 원인과 목표
Fishbone으로 4M 원인을 분류했고, 핵심은 결재 대기 · 방문 제출 · 실시간 모니터링 부재 세 가지였습니다.
현황을 기준값으로 목표를 숫자로 정했습니다: 누락률 0%, 리드타임 70% 이상 단축, 종이 일지 0건, 6대 모듈 100%.
전환: "원인마다 대응 기능을 하나씩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[2:40–3:20] 플랫폼 구성
흐름은 단순합니다: 모바일 작성 → 전자서명 → 비대면 승인 → 자동 보관.
각 카드의 태그는 앞에서 찾은 원인 코드입니다. 원인 하나에 기능 하나.
초록 카드, AI 수시 위험성평가는 사진과 작업 내용만으로 위험도를 산출하고 평가서 초안을 만듭니다.
담당자가 직접 개발했고, 61병동 시범 운영 피드백을 반영해 전 부서로 확대했습니다.
전환: "실제 화면으로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[3:20–4:50] 시연 영상 · 1분 30초
시작: "신규 입사자 한 명이 들어왔을 때를 가정해 보겠습니다."
- MSDS — 부서 선택 → 경고표지·응급조치·원본 PDF
- 교육일지 — 이름 검색 → 자동 입력 → 현장 서명
- 승인 — "이 1분이 예전의 19분 24초입니다."
- 대시보드·AI — 미이수자가 한 화면에
종료 후: "AI는 어디에 쓰였는지 짚고 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[4:50–5:15] AI 적용 — 25초
- "AI는 어디에?" 질문에 대한 답 — 6번 모듈의 실제 사례
- 사진 한 장으로 위험요인 · 위험도 · 개선대책 초안이 나오는 흐름만 짚기
- AI는 초안, 확정은 사람 — 이 문장은 꼭 말하기
- 시범 단계라는 한계를 먼저 밝히기 (AI MSDS 검토 · AI 도우미는 질문이 나오면 답변)
전환: "이 과정이 만든 차이를 숫자로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[5:15–6:05] 개선 전후 비교 · 핵심 장면
왼쪽이 예전, 오른쪽이 지금 — 같은 특별안전보건교육 한 건입니다.
가장 긴 막대, 내부 결재 19분 24초가 1분이 되었습니다.
직접 제출 7분과 취합·파일링은 단계 자체가 사라졌습니다.
합계 33분 48초 → 2분 22초, 93% 단축. 목표 70% 초과, MSDS 교육도 81% 단축.
전환: "시간뿐만 아니라, 네 가지 지표 모두 목표를 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[6:05–6:45] 성과와 ESG
네 개 지표 모두 목표를 달성했습니다.
누락 18건 → 0건 — 효율이 아니라 법적 리스크의 문제입니다.
행정시간 93% 단축, Paperless 100%, 6개 모듈 모두 정상 가동.
ESG로도 이어집니다: E 종이 행정의 데이터화, S 누락 없는 직원 보호, G 언제든 준비된 법적 증빙.
전환: "이 성과를 어떻게 지속하고 넓힐지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[6:45–7:30] 결론과 제언
시범사업에 그치지 않고 표준 업무지침으로 정식 전환했습니다.
대시보드와 현장 피드백 점검을 통해 CQI로 이어 가고 있습니다. 미이수자 부서장 자동 알림과 AI MSDS 검토 · 도우미까지 고도화를 마쳤고, 다음은 연 819건의 건강상담과 다른 안전보건 서류로의 확대입니다.
마무리: "기다리지 않는 행정, 누락 없는 안전.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UM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1" descr="/tmp/claude-0/-home-user-health/066b9d04-89c1-5e53-a1bb-1693165fc6b6/scratchpad/logo/img0.jpg">    </p:cNvPr>
          <p:cNvPicPr>
            <a:picLocks noChangeAspect="1"/>
          </p:cNvPicPr>
          <p:nvPr/>
        </p:nvPicPr>
        <p:blipFill>
          <a:blip r:embed="rId1"/>
          <a:stretch>
            <a:fillRect/>
          </a:stretch>
        </p:blipFill>
        <p:spPr>
          <a:xfrm>
            <a:off x="609600" y="419100"/>
            <a:ext cx="1485900" cy="381000"/>
          </a:xfrm>
          <a:prstGeom prst="rect">
            <a:avLst/>
          </a:prstGeom>
        </p:spPr>
      </p:pic>
      <p:sp>
        <p:nvSpPr>
          <p:cNvPr id="3" name="o2"/>
          <p:cNvSpPr txBox="1"/>
          <p:nvPr/>
        </p:nvSpPr>
        <p:spPr>
          <a:xfrm>
            <a:off x="609600" y="1428750"/>
            <a:ext cx="6096000" cy="190500"/>
          </a:xfrm>
          <a:prstGeom prst="rect">
            <a:avLst/>
          </a:prstGeom>
          <a:noFill/>
          <a:ln/>
        </p:spPr>
        <p:txBody>
          <a:bodyPr wrap="square" lIns="0" tIns="0" rIns="0" bIns="0" rtlCol="0" anchor="t"/>
          <a:lstStyle/>
          <a:p>
            <a:pPr indent="0" marL="0">
              <a:buNone/>
            </a:pPr>
            <a:r>
              <a:rPr lang="en-US" sz="1200" b="1" spc="100" kern="0" dirty="0">
                <a:solidFill>
                  <a:srgbClr val="0F62FE"/>
                </a:solidFill>
                <a:latin typeface="IBM Plex Sans KR" pitchFamily="34" charset="0"/>
                <a:ea typeface="IBM Plex Sans KR" pitchFamily="34" charset="-122"/>
                <a:cs typeface="IBM Plex Sans KR" pitchFamily="34" charset="-120"/>
              </a:rPr>
              <a:t>2026 가을 학술대회  ·  QI 경진대회 구연</a:t>
            </a:r>
            <a:endParaRPr lang="en-US" sz="1200" dirty="0"/>
          </a:p>
        </p:txBody>
      </p:sp>
      <p:sp>
        <p:nvSpPr>
          <p:cNvPr id="4" name="o3"/>
          <p:cNvSpPr txBox="1"/>
          <p:nvPr/>
        </p:nvSpPr>
        <p:spPr>
          <a:xfrm>
            <a:off x="609600" y="1752600"/>
            <a:ext cx="6096000" cy="1905000"/>
          </a:xfrm>
          <a:prstGeom prst="rect">
            <a:avLst/>
          </a:prstGeom>
          <a:noFill/>
          <a:ln/>
        </p:spPr>
        <p:txBody>
          <a:bodyPr wrap="square" lIns="0" tIns="0" rIns="0" bIns="0" rtlCol="0" anchor="t"/>
          <a:lstStyle/>
          <a:p>
            <a:pPr indent="0" marL="0">
              <a:lnSpc>
                <a:spcPct val="112000"/>
              </a:lnSpc>
              <a:buNone/>
            </a:pPr>
            <a:r>
              <a:rPr lang="en-US" sz="3600" b="1" dirty="0">
                <a:solidFill>
                  <a:srgbClr val="161616"/>
                </a:solidFill>
                <a:latin typeface="IBM Plex Sans KR" pitchFamily="34" charset="0"/>
                <a:ea typeface="IBM Plex Sans KR" pitchFamily="34" charset="-122"/>
                <a:cs typeface="IBM Plex Sans KR" pitchFamily="34" charset="-120"/>
              </a:rPr>
              <a:t>AI 통합 안전보건</a:t>
            </a:r>
            <a:endParaRPr lang="en-US" sz="3600" dirty="0"/>
          </a:p>
          <a:p>
            <a:pPr indent="0" marL="0">
              <a:lnSpc>
                <a:spcPct val="112000"/>
              </a:lnSpc>
              <a:buNone/>
            </a:pPr>
            <a:r>
              <a:rPr lang="en-US" sz="3600" b="1" dirty="0">
                <a:solidFill>
                  <a:srgbClr val="161616"/>
                </a:solidFill>
                <a:latin typeface="IBM Plex Sans KR" pitchFamily="34" charset="0"/>
                <a:ea typeface="IBM Plex Sans KR" pitchFamily="34" charset="-122"/>
                <a:cs typeface="IBM Plex Sans KR" pitchFamily="34" charset="-120"/>
              </a:rPr>
              <a:t>플랫폼 구축을 통한</a:t>
            </a:r>
            <a:endParaRPr lang="en-US" sz="3600" dirty="0"/>
          </a:p>
          <a:p>
            <a:pPr indent="0" marL="0">
              <a:lnSpc>
                <a:spcPct val="112000"/>
              </a:lnSpc>
              <a:buNone/>
            </a:pPr>
            <a:r>
              <a:rPr lang="en-US" sz="3600" b="1" dirty="0">
                <a:solidFill>
                  <a:srgbClr val="161616"/>
                </a:solidFill>
                <a:latin typeface="IBM Plex Sans KR" pitchFamily="34" charset="0"/>
                <a:ea typeface="IBM Plex Sans KR" pitchFamily="34" charset="-122"/>
                <a:cs typeface="IBM Plex Sans KR" pitchFamily="34" charset="-120"/>
              </a:rPr>
              <a:t>업무 효율성 증가</a:t>
            </a:r>
            <a:endParaRPr lang="en-US" sz="3600" dirty="0"/>
          </a:p>
        </p:txBody>
      </p:sp>
      <p:sp>
        <p:nvSpPr>
          <p:cNvPr id="5" name="o4"/>
          <p:cNvSpPr txBox="1"/>
          <p:nvPr/>
        </p:nvSpPr>
        <p:spPr>
          <a:xfrm>
            <a:off x="609600" y="3905250"/>
            <a:ext cx="6096000" cy="533400"/>
          </a:xfrm>
          <a:prstGeom prst="rect">
            <a:avLst/>
          </a:prstGeom>
          <a:noFill/>
          <a:ln/>
        </p:spPr>
        <p:txBody>
          <a:bodyPr wrap="square" lIns="0" tIns="0" rIns="0" bIns="0" rtlCol="0" anchor="t"/>
          <a:lstStyle/>
          <a:p>
            <a:pPr indent="0" marL="0">
              <a:lnSpc>
                <a:spcPct val="135000"/>
              </a:lnSpc>
              <a:buNone/>
            </a:pPr>
            <a:r>
              <a:rPr lang="en-US" sz="1500" dirty="0">
                <a:solidFill>
                  <a:srgbClr val="393939"/>
                </a:solidFill>
                <a:latin typeface="IBM Plex Sans KR" pitchFamily="34" charset="0"/>
                <a:ea typeface="IBM Plex Sans KR" pitchFamily="34" charset="-122"/>
                <a:cs typeface="IBM Plex Sans KR" pitchFamily="34" charset="-120"/>
              </a:rPr>
              <a:t>종이 · 수기 · 대면 결재에서</a:t>
            </a:r>
            <a:endParaRPr lang="en-US" sz="1500" dirty="0"/>
          </a:p>
          <a:p>
            <a:pPr indent="0" marL="0">
              <a:lnSpc>
                <a:spcPct val="135000"/>
              </a:lnSpc>
              <a:buNone/>
            </a:pPr>
            <a:r>
              <a:rPr lang="en-US" sz="1500" dirty="0">
                <a:solidFill>
                  <a:srgbClr val="393939"/>
                </a:solidFill>
                <a:latin typeface="IBM Plex Sans KR" pitchFamily="34" charset="0"/>
                <a:ea typeface="IBM Plex Sans KR" pitchFamily="34" charset="-122"/>
                <a:cs typeface="IBM Plex Sans KR" pitchFamily="34" charset="-120"/>
              </a:rPr>
              <a:t>모바일 · 전자서명 · 비대면 승인으로</a:t>
            </a:r>
            <a:endParaRPr lang="en-US" sz="1500" dirty="0"/>
          </a:p>
        </p:txBody>
      </p:sp>
      <p:sp>
        <p:nvSpPr>
          <p:cNvPr id="6" name="o5"/>
          <p:cNvSpPr/>
          <p:nvPr/>
        </p:nvSpPr>
        <p:spPr>
          <a:xfrm>
            <a:off x="609600" y="4762500"/>
            <a:ext cx="762000" cy="0"/>
          </a:xfrm>
          <a:prstGeom prst="line">
            <a:avLst/>
          </a:prstGeom>
          <a:noFill/>
          <a:ln w="9525">
            <a:solidFill>
              <a:srgbClr val="0F62FE"/>
            </a:solidFill>
            <a:prstDash val="solid"/>
          </a:ln>
        </p:spPr>
      </p:sp>
      <p:sp>
        <p:nvSpPr>
          <p:cNvPr id="7" name="o6"/>
          <p:cNvSpPr txBox="1"/>
          <p:nvPr/>
        </p:nvSpPr>
        <p:spPr>
          <a:xfrm>
            <a:off x="609600" y="4953000"/>
            <a:ext cx="6096000" cy="228600"/>
          </a:xfrm>
          <a:prstGeom prst="rect">
            <a:avLst/>
          </a:prstGeom>
          <a:noFill/>
          <a:ln/>
        </p:spPr>
        <p:txBody>
          <a:bodyPr wrap="square" lIns="0" tIns="0" rIns="0" bIns="0" rtlCol="0" anchor="t"/>
          <a:lstStyle/>
          <a:p>
            <a:pPr indent="0" marL="0">
              <a:buNone/>
            </a:pPr>
            <a:r>
              <a:rPr lang="en-US" sz="1600" b="1" dirty="0">
                <a:solidFill>
                  <a:srgbClr val="161616"/>
                </a:solidFill>
                <a:latin typeface="IBM Plex Sans KR" pitchFamily="34" charset="0"/>
                <a:ea typeface="IBM Plex Sans KR" pitchFamily="34" charset="-122"/>
                <a:cs typeface="IBM Plex Sans KR" pitchFamily="34" charset="-120"/>
              </a:rPr>
              <a:t>장은선  ·  김광현  ·  장종문</a:t>
            </a:r>
            <a:endParaRPr lang="en-US" sz="1600" dirty="0"/>
          </a:p>
        </p:txBody>
      </p:sp>
      <p:sp>
        <p:nvSpPr>
          <p:cNvPr id="8" name="o7"/>
          <p:cNvSpPr txBox="1"/>
          <p:nvPr/>
        </p:nvSpPr>
        <p:spPr>
          <a:xfrm>
            <a:off x="609600" y="5238750"/>
            <a:ext cx="6096000" cy="19050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인당의료재단 부민병원 총무-안전보건팀 (Safety First)</a:t>
            </a:r>
            <a:endParaRPr lang="en-US" sz="1200" dirty="0"/>
          </a:p>
        </p:txBody>
      </p:sp>
      <p:sp>
        <p:nvSpPr>
          <p:cNvPr id="9" name="o8"/>
          <p:cNvSpPr/>
          <p:nvPr/>
        </p:nvSpPr>
        <p:spPr>
          <a:xfrm>
            <a:off x="7239000" y="685800"/>
            <a:ext cx="4343400" cy="5486400"/>
          </a:xfrm>
          <a:prstGeom prst="rect">
            <a:avLst/>
          </a:prstGeom>
          <a:solidFill>
            <a:srgbClr val="F4F4F4"/>
          </a:solidFill>
          <a:ln w="12700">
            <a:solidFill>
              <a:srgbClr val="D0E2FF"/>
            </a:solidFill>
            <a:prstDash val="solid"/>
          </a:ln>
        </p:spPr>
      </p:sp>
      <p:sp>
        <p:nvSpPr>
          <p:cNvPr id="10" name="o9"/>
          <p:cNvSpPr txBox="1"/>
          <p:nvPr/>
        </p:nvSpPr>
        <p:spPr>
          <a:xfrm>
            <a:off x="7620000" y="1028700"/>
            <a:ext cx="3619500" cy="190500"/>
          </a:xfrm>
          <a:prstGeom prst="rect">
            <a:avLst/>
          </a:prstGeom>
          <a:noFill/>
          <a:ln/>
        </p:spPr>
        <p:txBody>
          <a:bodyPr wrap="square" lIns="0" tIns="0" rIns="0" bIns="0" rtlCol="0" anchor="t"/>
          <a:lstStyle/>
          <a:p>
            <a:pPr indent="0" marL="0">
              <a:buNone/>
            </a:pPr>
            <a:r>
              <a:rPr lang="en-US" sz="1300" b="1" dirty="0">
                <a:solidFill>
                  <a:srgbClr val="0F62FE"/>
                </a:solidFill>
                <a:latin typeface="IBM Plex Sans KR" pitchFamily="34" charset="0"/>
                <a:ea typeface="IBM Plex Sans KR" pitchFamily="34" charset="-122"/>
                <a:cs typeface="IBM Plex Sans KR" pitchFamily="34" charset="-120"/>
              </a:rPr>
              <a:t>특별안전보건교육 1건당 행정시간</a:t>
            </a:r>
            <a:endParaRPr lang="en-US" sz="1300" dirty="0"/>
          </a:p>
        </p:txBody>
      </p:sp>
      <p:sp>
        <p:nvSpPr>
          <p:cNvPr id="11" name="o10"/>
          <p:cNvSpPr txBox="1"/>
          <p:nvPr/>
        </p:nvSpPr>
        <p:spPr>
          <a:xfrm>
            <a:off x="7620000" y="1314450"/>
            <a:ext cx="3619500" cy="952500"/>
          </a:xfrm>
          <a:prstGeom prst="rect">
            <a:avLst/>
          </a:prstGeom>
          <a:noFill/>
          <a:ln/>
        </p:spPr>
        <p:txBody>
          <a:bodyPr wrap="square" lIns="0" tIns="0" rIns="0" bIns="0" rtlCol="0" anchor="t"/>
          <a:lstStyle/>
          <a:p>
            <a:pPr indent="0" marL="0">
              <a:buNone/>
            </a:pPr>
            <a:r>
              <a:rPr lang="en-US" sz="7200" b="1" dirty="0">
                <a:solidFill>
                  <a:srgbClr val="0F62FE"/>
                </a:solidFill>
                <a:latin typeface="IBM Plex Sans KR" pitchFamily="34" charset="0"/>
                <a:ea typeface="IBM Plex Sans KR" pitchFamily="34" charset="-122"/>
                <a:cs typeface="IBM Plex Sans KR" pitchFamily="34" charset="-120"/>
              </a:rPr>
              <a:t>−93%</a:t>
            </a:r>
            <a:endParaRPr lang="en-US" sz="7200" dirty="0"/>
          </a:p>
        </p:txBody>
      </p:sp>
      <p:sp>
        <p:nvSpPr>
          <p:cNvPr id="12" name="o11"/>
          <p:cNvSpPr txBox="1"/>
          <p:nvPr/>
        </p:nvSpPr>
        <p:spPr>
          <a:xfrm>
            <a:off x="7620000" y="2362200"/>
            <a:ext cx="3619500" cy="285750"/>
          </a:xfrm>
          <a:prstGeom prst="rect">
            <a:avLst/>
          </a:prstGeom>
          <a:noFill/>
          <a:ln/>
        </p:spPr>
        <p:txBody>
          <a:bodyPr wrap="square" lIns="0" tIns="0" rIns="0" bIns="0" rtlCol="0" anchor="t"/>
          <a:lstStyle/>
          <a:p>
            <a:pPr indent="0" marL="0">
              <a:buNone/>
            </a:pPr>
            <a:r>
              <a:rPr lang="en-US" sz="2000" b="1" dirty="0">
                <a:solidFill>
                  <a:srgbClr val="161616"/>
                </a:solidFill>
                <a:latin typeface="IBM Plex Sans KR" pitchFamily="34" charset="0"/>
                <a:ea typeface="IBM Plex Sans KR" pitchFamily="34" charset="-122"/>
                <a:cs typeface="IBM Plex Sans KR" pitchFamily="34" charset="-120"/>
              </a:rPr>
              <a:t>33분 48초  →  2분 22초</a:t>
            </a:r>
            <a:endParaRPr lang="en-US" sz="2000" dirty="0"/>
          </a:p>
        </p:txBody>
      </p:sp>
      <p:sp>
        <p:nvSpPr>
          <p:cNvPr id="13" name="o12"/>
          <p:cNvSpPr txBox="1"/>
          <p:nvPr/>
        </p:nvSpPr>
        <p:spPr>
          <a:xfrm>
            <a:off x="7620000" y="2705100"/>
            <a:ext cx="3619500" cy="17145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2026.05–07 세부 행동 단위 실측 · 목표 70% 초과 달성</a:t>
            </a:r>
            <a:endParaRPr lang="en-US" sz="1100" dirty="0"/>
          </a:p>
        </p:txBody>
      </p:sp>
      <p:sp>
        <p:nvSpPr>
          <p:cNvPr id="14" name="o13"/>
          <p:cNvSpPr/>
          <p:nvPr/>
        </p:nvSpPr>
        <p:spPr>
          <a:xfrm>
            <a:off x="7620000" y="3429000"/>
            <a:ext cx="3581400" cy="0"/>
          </a:xfrm>
          <a:prstGeom prst="line">
            <a:avLst/>
          </a:prstGeom>
          <a:noFill/>
          <a:ln w="9525">
            <a:solidFill>
              <a:srgbClr val="D0E2FF"/>
            </a:solidFill>
            <a:prstDash val="solid"/>
          </a:ln>
        </p:spPr>
      </p:sp>
      <p:sp>
        <p:nvSpPr>
          <p:cNvPr id="15" name="o14"/>
          <p:cNvSpPr txBox="1"/>
          <p:nvPr/>
        </p:nvSpPr>
        <p:spPr>
          <a:xfrm>
            <a:off x="7620000" y="3619500"/>
            <a:ext cx="3581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법정교육 누락</a:t>
            </a:r>
            <a:endParaRPr lang="en-US" sz="1200" dirty="0"/>
          </a:p>
        </p:txBody>
      </p:sp>
      <p:sp>
        <p:nvSpPr>
          <p:cNvPr id="16" name="o15"/>
          <p:cNvSpPr txBox="1"/>
          <p:nvPr/>
        </p:nvSpPr>
        <p:spPr>
          <a:xfrm>
            <a:off x="7620000" y="3848100"/>
            <a:ext cx="3581400" cy="419100"/>
          </a:xfrm>
          <a:prstGeom prst="rect">
            <a:avLst/>
          </a:prstGeom>
          <a:noFill/>
          <a:ln/>
        </p:spPr>
        <p:txBody>
          <a:bodyPr wrap="square" lIns="0" tIns="0" rIns="0" bIns="0" rtlCol="0" anchor="t"/>
          <a:lstStyle/>
          <a:p>
            <a:pPr indent="0" marL="0">
              <a:buNone/>
            </a:pPr>
            <a:r>
              <a:rPr lang="en-US" sz="3000" b="1" dirty="0">
                <a:solidFill>
                  <a:srgbClr val="161616"/>
                </a:solidFill>
                <a:latin typeface="IBM Plex Sans KR" pitchFamily="34" charset="0"/>
                <a:ea typeface="IBM Plex Sans KR" pitchFamily="34" charset="-122"/>
                <a:cs typeface="IBM Plex Sans KR" pitchFamily="34" charset="-120"/>
              </a:rPr>
              <a:t>18건 → 0건</a:t>
            </a:r>
            <a:endParaRPr lang="en-US" sz="3000" dirty="0"/>
          </a:p>
        </p:txBody>
      </p:sp>
      <p:sp>
        <p:nvSpPr>
          <p:cNvPr id="17" name="o16"/>
          <p:cNvSpPr/>
          <p:nvPr/>
        </p:nvSpPr>
        <p:spPr>
          <a:xfrm>
            <a:off x="7620000" y="4572000"/>
            <a:ext cx="3581400" cy="0"/>
          </a:xfrm>
          <a:prstGeom prst="line">
            <a:avLst/>
          </a:prstGeom>
          <a:noFill/>
          <a:ln w="9525">
            <a:solidFill>
              <a:srgbClr val="D0E2FF"/>
            </a:solidFill>
            <a:prstDash val="solid"/>
          </a:ln>
        </p:spPr>
      </p:sp>
      <p:sp>
        <p:nvSpPr>
          <p:cNvPr id="18" name="o17"/>
          <p:cNvSpPr txBox="1"/>
          <p:nvPr/>
        </p:nvSpPr>
        <p:spPr>
          <a:xfrm>
            <a:off x="7620000" y="4762500"/>
            <a:ext cx="35814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종이 출력</a:t>
            </a:r>
            <a:endParaRPr lang="en-US" sz="1200" dirty="0"/>
          </a:p>
        </p:txBody>
      </p:sp>
      <p:sp>
        <p:nvSpPr>
          <p:cNvPr id="19" name="o18"/>
          <p:cNvSpPr txBox="1"/>
          <p:nvPr/>
        </p:nvSpPr>
        <p:spPr>
          <a:xfrm>
            <a:off x="7620000" y="4991100"/>
            <a:ext cx="3581400" cy="419100"/>
          </a:xfrm>
          <a:prstGeom prst="rect">
            <a:avLst/>
          </a:prstGeom>
          <a:noFill/>
          <a:ln/>
        </p:spPr>
        <p:txBody>
          <a:bodyPr wrap="square" lIns="0" tIns="0" rIns="0" bIns="0" rtlCol="0" anchor="t"/>
          <a:lstStyle/>
          <a:p>
            <a:pPr indent="0" marL="0">
              <a:buNone/>
            </a:pPr>
            <a:r>
              <a:rPr lang="en-US" sz="3000" b="1" dirty="0">
                <a:solidFill>
                  <a:srgbClr val="161616"/>
                </a:solidFill>
                <a:latin typeface="IBM Plex Sans KR" pitchFamily="34" charset="0"/>
                <a:ea typeface="IBM Plex Sans KR" pitchFamily="34" charset="-122"/>
                <a:cs typeface="IBM Plex Sans KR" pitchFamily="34" charset="-120"/>
              </a:rPr>
              <a:t>연 94건 → 0건</a:t>
            </a:r>
            <a:endParaRPr lang="en-US" sz="3000" dirty="0"/>
          </a:p>
        </p:txBody>
      </p:sp>
      <p:sp>
        <p:nvSpPr>
          <p:cNvPr id="20" name="o19"/>
          <p:cNvSpPr/>
          <p:nvPr/>
        </p:nvSpPr>
        <p:spPr>
          <a:xfrm>
            <a:off x="0" y="6477000"/>
            <a:ext cx="12192000" cy="381000"/>
          </a:xfrm>
          <a:prstGeom prst="rect">
            <a:avLst/>
          </a:prstGeom>
          <a:solidFill>
            <a:srgbClr val="161616"/>
          </a:solidFill>
          <a:ln/>
        </p:spPr>
      </p:sp>
      <p:sp>
        <p:nvSpPr>
          <p:cNvPr id="21" name="o20"/>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IBM Plex Sans KR" pitchFamily="34" charset="0"/>
                <a:ea typeface="IBM Plex Sans KR" pitchFamily="34" charset="-122"/>
                <a:cs typeface="IBM Plex Sans KR" pitchFamily="34" charset="-120"/>
              </a:rPr>
              <a:t>부산부민병원 안전보건 통합관리 시스템  ·  Safety First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o21"/>
          <p:cNvSpPr/>
          <p:nvPr/>
        </p:nvSpPr>
        <p:spPr>
          <a:xfrm>
            <a:off x="609600" y="228600"/>
            <a:ext cx="2686050" cy="38100"/>
          </a:xfrm>
          <a:prstGeom prst="rect">
            <a:avLst/>
          </a:prstGeom>
          <a:solidFill>
            <a:srgbClr val="E0E0E0"/>
          </a:solidFill>
          <a:ln/>
        </p:spPr>
      </p:sp>
      <p:sp>
        <p:nvSpPr>
          <p:cNvPr id="3" name="o22"/>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Plan</a:t>
            </a:r>
            <a:endParaRPr lang="en-US" sz="800" dirty="0"/>
          </a:p>
        </p:txBody>
      </p:sp>
      <p:sp>
        <p:nvSpPr>
          <p:cNvPr id="4" name="o23"/>
          <p:cNvSpPr/>
          <p:nvPr/>
        </p:nvSpPr>
        <p:spPr>
          <a:xfrm>
            <a:off x="3371850" y="228600"/>
            <a:ext cx="2686050" cy="38100"/>
          </a:xfrm>
          <a:prstGeom prst="rect">
            <a:avLst/>
          </a:prstGeom>
          <a:solidFill>
            <a:srgbClr val="E0E0E0"/>
          </a:solidFill>
          <a:ln/>
        </p:spPr>
      </p:sp>
      <p:sp>
        <p:nvSpPr>
          <p:cNvPr id="5" name="o24"/>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Do</a:t>
            </a:r>
            <a:endParaRPr lang="en-US" sz="800" dirty="0"/>
          </a:p>
        </p:txBody>
      </p:sp>
      <p:sp>
        <p:nvSpPr>
          <p:cNvPr id="6" name="o25"/>
          <p:cNvSpPr/>
          <p:nvPr/>
        </p:nvSpPr>
        <p:spPr>
          <a:xfrm>
            <a:off x="6134100" y="228600"/>
            <a:ext cx="2686050" cy="38100"/>
          </a:xfrm>
          <a:prstGeom prst="rect">
            <a:avLst/>
          </a:prstGeom>
          <a:solidFill>
            <a:srgbClr val="E0E0E0"/>
          </a:solidFill>
          <a:ln/>
        </p:spPr>
      </p:sp>
      <p:sp>
        <p:nvSpPr>
          <p:cNvPr id="7" name="o26"/>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Check</a:t>
            </a:r>
            <a:endParaRPr lang="en-US" sz="800" dirty="0"/>
          </a:p>
        </p:txBody>
      </p:sp>
      <p:sp>
        <p:nvSpPr>
          <p:cNvPr id="8" name="o27"/>
          <p:cNvSpPr/>
          <p:nvPr/>
        </p:nvSpPr>
        <p:spPr>
          <a:xfrm>
            <a:off x="8896350" y="228600"/>
            <a:ext cx="2686050" cy="38100"/>
          </a:xfrm>
          <a:prstGeom prst="rect">
            <a:avLst/>
          </a:prstGeom>
          <a:solidFill>
            <a:srgbClr val="E0E0E0"/>
          </a:solidFill>
          <a:ln/>
        </p:spPr>
      </p:sp>
      <p:sp>
        <p:nvSpPr>
          <p:cNvPr id="9" name="o28"/>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Act</a:t>
            </a:r>
            <a:endParaRPr lang="en-US" sz="800" dirty="0"/>
          </a:p>
        </p:txBody>
      </p:sp>
      <p:sp>
        <p:nvSpPr>
          <p:cNvPr id="10" name="o29"/>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F62FE"/>
                </a:solidFill>
                <a:latin typeface="IBM Plex Sans KR" pitchFamily="34" charset="0"/>
                <a:ea typeface="IBM Plex Sans KR" pitchFamily="34" charset="-122"/>
                <a:cs typeface="IBM Plex Sans KR" pitchFamily="34" charset="-120"/>
              </a:rPr>
              <a:t>CONTENTS</a:t>
            </a:r>
            <a:endParaRPr lang="en-US" sz="1100" dirty="0"/>
          </a:p>
        </p:txBody>
      </p:sp>
      <p:sp>
        <p:nvSpPr>
          <p:cNvPr id="11" name="o30"/>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목차</a:t>
            </a:r>
            <a:endParaRPr lang="en-US" sz="2600" dirty="0"/>
          </a:p>
        </p:txBody>
      </p:sp>
      <p:sp>
        <p:nvSpPr>
          <p:cNvPr id="12" name="o31"/>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25252"/>
                </a:solidFill>
                <a:latin typeface="IBM Plex Sans KR" pitchFamily="34" charset="0"/>
                <a:ea typeface="IBM Plex Sans KR" pitchFamily="34" charset="-122"/>
                <a:cs typeface="IBM Plex Sans KR" pitchFamily="34" charset="-120"/>
              </a:rPr>
              <a:t>PDCA 4단계 순서로 말씀드립니다</a:t>
            </a:r>
            <a:endParaRPr lang="en-US" sz="1300" dirty="0"/>
          </a:p>
        </p:txBody>
      </p:sp>
      <p:sp>
        <p:nvSpPr>
          <p:cNvPr id="13" name="o32"/>
          <p:cNvSpPr/>
          <p:nvPr/>
        </p:nvSpPr>
        <p:spPr>
          <a:xfrm>
            <a:off x="0" y="6477000"/>
            <a:ext cx="12192000" cy="381000"/>
          </a:xfrm>
          <a:prstGeom prst="rect">
            <a:avLst/>
          </a:prstGeom>
          <a:solidFill>
            <a:srgbClr val="161616"/>
          </a:solidFill>
          <a:ln/>
        </p:spPr>
      </p:sp>
      <p:sp>
        <p:nvSpPr>
          <p:cNvPr id="14" name="o33"/>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IBM Plex Sans KR" pitchFamily="34" charset="0"/>
                <a:ea typeface="IBM Plex Sans KR" pitchFamily="34" charset="-122"/>
                <a:cs typeface="IBM Plex Sans KR" pitchFamily="34" charset="-120"/>
              </a:rPr>
              <a:t>부산부민병원 안전보건 통합관리 시스템  ·  Safety First</a:t>
            </a:r>
            <a:endParaRPr lang="en-US" sz="900" dirty="0"/>
          </a:p>
        </p:txBody>
      </p:sp>
      <p:sp>
        <p:nvSpPr>
          <p:cNvPr id="15" name="o34"/>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IBM Plex Sans KR" pitchFamily="34" charset="0"/>
                <a:ea typeface="IBM Plex Sans KR" pitchFamily="34" charset="-122"/>
                <a:cs typeface="IBM Plex Sans KR" pitchFamily="34" charset="-120"/>
              </a:rPr>
              <a:t>02</a:t>
            </a:r>
            <a:endParaRPr lang="en-US" sz="1000" dirty="0"/>
          </a:p>
        </p:txBody>
      </p:sp>
      <p:sp>
        <p:nvSpPr>
          <p:cNvPr id="16" name="o35"/>
          <p:cNvSpPr/>
          <p:nvPr/>
        </p:nvSpPr>
        <p:spPr>
          <a:xfrm>
            <a:off x="609600" y="1600200"/>
            <a:ext cx="2600325" cy="4648200"/>
          </a:xfrm>
          <a:prstGeom prst="rect">
            <a:avLst/>
          </a:prstGeom>
          <a:solidFill>
            <a:srgbClr val="F4F4F4"/>
          </a:solidFill>
          <a:ln/>
        </p:spPr>
      </p:sp>
      <p:sp>
        <p:nvSpPr>
          <p:cNvPr id="17" name="o36"/>
          <p:cNvSpPr/>
          <p:nvPr/>
        </p:nvSpPr>
        <p:spPr>
          <a:xfrm>
            <a:off x="609600" y="1600200"/>
            <a:ext cx="2600325" cy="57150"/>
          </a:xfrm>
          <a:prstGeom prst="rect">
            <a:avLst/>
          </a:prstGeom>
          <a:solidFill>
            <a:srgbClr val="A6C8FF"/>
          </a:solidFill>
          <a:ln/>
        </p:spPr>
      </p:sp>
      <p:sp>
        <p:nvSpPr>
          <p:cNvPr id="18" name="o37"/>
          <p:cNvSpPr txBox="1"/>
          <p:nvPr/>
        </p:nvSpPr>
        <p:spPr>
          <a:xfrm>
            <a:off x="876300" y="1866900"/>
            <a:ext cx="1143000" cy="857250"/>
          </a:xfrm>
          <a:prstGeom prst="rect">
            <a:avLst/>
          </a:prstGeom>
          <a:noFill/>
          <a:ln/>
        </p:spPr>
        <p:txBody>
          <a:bodyPr wrap="square" lIns="0" tIns="0" rIns="0" bIns="0" rtlCol="0" anchor="t"/>
          <a:lstStyle/>
          <a:p>
            <a:pPr indent="0" marL="0">
              <a:buNone/>
            </a:pPr>
            <a:r>
              <a:rPr lang="en-US" sz="6400" b="1" dirty="0">
                <a:solidFill>
                  <a:srgbClr val="0F62FE"/>
                </a:solidFill>
                <a:latin typeface="IBM Plex Sans KR" pitchFamily="34" charset="0"/>
                <a:ea typeface="IBM Plex Sans KR" pitchFamily="34" charset="-122"/>
                <a:cs typeface="IBM Plex Sans KR" pitchFamily="34" charset="-120"/>
              </a:rPr>
              <a:t>P</a:t>
            </a:r>
            <a:endParaRPr lang="en-US" sz="6400" dirty="0"/>
          </a:p>
        </p:txBody>
      </p:sp>
      <p:sp>
        <p:nvSpPr>
          <p:cNvPr id="19" name="o38"/>
          <p:cNvSpPr txBox="1"/>
          <p:nvPr/>
        </p:nvSpPr>
        <p:spPr>
          <a:xfrm>
            <a:off x="895350" y="2743200"/>
            <a:ext cx="2028825" cy="209550"/>
          </a:xfrm>
          <a:prstGeom prst="rect">
            <a:avLst/>
          </a:prstGeom>
          <a:noFill/>
          <a:ln/>
        </p:spPr>
        <p:txBody>
          <a:bodyPr wrap="square" lIns="0" tIns="0" rIns="0" bIns="0" rtlCol="0" anchor="t"/>
          <a:lstStyle/>
          <a:p>
            <a:pPr indent="0" marL="0">
              <a:buNone/>
            </a:pPr>
            <a:r>
              <a:rPr lang="en-US" sz="1500" b="1" dirty="0">
                <a:solidFill>
                  <a:srgbClr val="525252"/>
                </a:solidFill>
                <a:latin typeface="IBM Plex Sans KR" pitchFamily="34" charset="0"/>
                <a:ea typeface="IBM Plex Sans KR" pitchFamily="34" charset="-122"/>
                <a:cs typeface="IBM Plex Sans KR" pitchFamily="34" charset="-120"/>
              </a:rPr>
              <a:t>Plan</a:t>
            </a:r>
            <a:endParaRPr lang="en-US" sz="1500" dirty="0"/>
          </a:p>
        </p:txBody>
      </p:sp>
      <p:sp>
        <p:nvSpPr>
          <p:cNvPr id="20" name="o39"/>
          <p:cNvSpPr/>
          <p:nvPr/>
        </p:nvSpPr>
        <p:spPr>
          <a:xfrm>
            <a:off x="876300" y="3067050"/>
            <a:ext cx="2066925" cy="0"/>
          </a:xfrm>
          <a:prstGeom prst="line">
            <a:avLst/>
          </a:prstGeom>
          <a:noFill/>
          <a:ln w="9525">
            <a:solidFill>
              <a:srgbClr val="E0E0E0"/>
            </a:solidFill>
            <a:prstDash val="solid"/>
          </a:ln>
        </p:spPr>
      </p:sp>
      <p:sp>
        <p:nvSpPr>
          <p:cNvPr id="21" name="o40"/>
          <p:cNvSpPr txBox="1"/>
          <p:nvPr/>
        </p:nvSpPr>
        <p:spPr>
          <a:xfrm>
            <a:off x="876300"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393939"/>
                </a:solidFill>
                <a:latin typeface="IBM Plex Sans KR" pitchFamily="34" charset="0"/>
                <a:ea typeface="IBM Plex Sans KR" pitchFamily="34" charset="-122"/>
                <a:cs typeface="IBM Plex Sans KR" pitchFamily="34" charset="-120"/>
              </a:rPr>
              <a:t>01  WHY · 활동 배경</a:t>
            </a:r>
            <a:endParaRPr lang="en-US" sz="1400" dirty="0"/>
          </a:p>
          <a:p>
            <a:pPr indent="0" marL="0">
              <a:lnSpc>
                <a:spcPct val="175000"/>
              </a:lnSpc>
              <a:buNone/>
            </a:pPr>
            <a:r>
              <a:rPr lang="en-US" sz="1400" dirty="0">
                <a:solidFill>
                  <a:srgbClr val="393939"/>
                </a:solidFill>
                <a:latin typeface="IBM Plex Sans KR" pitchFamily="34" charset="0"/>
                <a:ea typeface="IBM Plex Sans KR" pitchFamily="34" charset="-122"/>
                <a:cs typeface="IBM Plex Sans KR" pitchFamily="34" charset="-120"/>
              </a:rPr>
              <a:t>팀 구성</a:t>
            </a:r>
            <a:endParaRPr lang="en-US" sz="1400" dirty="0"/>
          </a:p>
          <a:p>
            <a:pPr indent="0" marL="0">
              <a:lnSpc>
                <a:spcPct val="175000"/>
              </a:lnSpc>
              <a:buNone/>
            </a:pPr>
            <a:r>
              <a:rPr lang="en-US" sz="1400" dirty="0">
                <a:solidFill>
                  <a:srgbClr val="393939"/>
                </a:solidFill>
                <a:latin typeface="IBM Plex Sans KR" pitchFamily="34" charset="0"/>
                <a:ea typeface="IBM Plex Sans KR" pitchFamily="34" charset="-122"/>
                <a:cs typeface="IBM Plex Sans KR" pitchFamily="34" charset="-120"/>
              </a:rPr>
              <a:t>02  PROBLEM · 현황</a:t>
            </a:r>
            <a:endParaRPr lang="en-US" sz="1400" dirty="0"/>
          </a:p>
          <a:p>
            <a:pPr indent="0" marL="0">
              <a:lnSpc>
                <a:spcPct val="175000"/>
              </a:lnSpc>
              <a:buNone/>
            </a:pPr>
            <a:r>
              <a:rPr lang="en-US" sz="1400" dirty="0">
                <a:solidFill>
                  <a:srgbClr val="393939"/>
                </a:solidFill>
                <a:latin typeface="IBM Plex Sans KR" pitchFamily="34" charset="0"/>
                <a:ea typeface="IBM Plex Sans KR" pitchFamily="34" charset="-122"/>
                <a:cs typeface="IBM Plex Sans KR" pitchFamily="34" charset="-120"/>
              </a:rPr>
              <a:t>03  원인 · 목표</a:t>
            </a:r>
            <a:endParaRPr lang="en-US" sz="1400" dirty="0"/>
          </a:p>
        </p:txBody>
      </p:sp>
      <p:sp>
        <p:nvSpPr>
          <p:cNvPr id="22" name="o41"/>
          <p:cNvSpPr txBox="1"/>
          <p:nvPr/>
        </p:nvSpPr>
        <p:spPr>
          <a:xfrm>
            <a:off x="876300" y="5829300"/>
            <a:ext cx="2066925" cy="152400"/>
          </a:xfrm>
          <a:prstGeom prst="rect">
            <a:avLst/>
          </a:prstGeom>
          <a:noFill/>
          <a:ln/>
        </p:spPr>
        <p:txBody>
          <a:bodyPr wrap="square" lIns="0" tIns="0" rIns="0" bIns="0" rtlCol="0" anchor="t"/>
          <a:lstStyle/>
          <a:p>
            <a:pPr indent="0" marL="0">
              <a:buNone/>
            </a:pPr>
            <a:r>
              <a:rPr lang="en-US" sz="1000" dirty="0">
                <a:solidFill>
                  <a:srgbClr val="525252"/>
                </a:solidFill>
                <a:latin typeface="IBM Plex Sans KR" pitchFamily="34" charset="0"/>
                <a:ea typeface="IBM Plex Sans KR" pitchFamily="34" charset="-122"/>
                <a:cs typeface="IBM Plex Sans KR" pitchFamily="34" charset="-120"/>
              </a:rPr>
              <a:t>Slide 03 – 06</a:t>
            </a:r>
            <a:endParaRPr lang="en-US" sz="1000" dirty="0"/>
          </a:p>
        </p:txBody>
      </p:sp>
      <p:sp>
        <p:nvSpPr>
          <p:cNvPr id="23" name="o42"/>
          <p:cNvSpPr/>
          <p:nvPr/>
        </p:nvSpPr>
        <p:spPr>
          <a:xfrm>
            <a:off x="3400425" y="1600200"/>
            <a:ext cx="2600325" cy="4648200"/>
          </a:xfrm>
          <a:prstGeom prst="rect">
            <a:avLst/>
          </a:prstGeom>
          <a:solidFill>
            <a:srgbClr val="F4F4F4"/>
          </a:solidFill>
          <a:ln/>
        </p:spPr>
      </p:sp>
      <p:sp>
        <p:nvSpPr>
          <p:cNvPr id="24" name="o43"/>
          <p:cNvSpPr/>
          <p:nvPr/>
        </p:nvSpPr>
        <p:spPr>
          <a:xfrm>
            <a:off x="3400425" y="1600200"/>
            <a:ext cx="2600325" cy="57150"/>
          </a:xfrm>
          <a:prstGeom prst="rect">
            <a:avLst/>
          </a:prstGeom>
          <a:solidFill>
            <a:srgbClr val="78A9FF"/>
          </a:solidFill>
          <a:ln/>
        </p:spPr>
      </p:sp>
      <p:sp>
        <p:nvSpPr>
          <p:cNvPr id="25" name="o44"/>
          <p:cNvSpPr txBox="1"/>
          <p:nvPr/>
        </p:nvSpPr>
        <p:spPr>
          <a:xfrm>
            <a:off x="3667125" y="1866900"/>
            <a:ext cx="1143000" cy="857250"/>
          </a:xfrm>
          <a:prstGeom prst="rect">
            <a:avLst/>
          </a:prstGeom>
          <a:noFill/>
          <a:ln/>
        </p:spPr>
        <p:txBody>
          <a:bodyPr wrap="square" lIns="0" tIns="0" rIns="0" bIns="0" rtlCol="0" anchor="t"/>
          <a:lstStyle/>
          <a:p>
            <a:pPr indent="0" marL="0">
              <a:buNone/>
            </a:pPr>
            <a:r>
              <a:rPr lang="en-US" sz="6400" b="1" dirty="0">
                <a:solidFill>
                  <a:srgbClr val="0F62FE"/>
                </a:solidFill>
                <a:latin typeface="IBM Plex Sans KR" pitchFamily="34" charset="0"/>
                <a:ea typeface="IBM Plex Sans KR" pitchFamily="34" charset="-122"/>
                <a:cs typeface="IBM Plex Sans KR" pitchFamily="34" charset="-120"/>
              </a:rPr>
              <a:t>D</a:t>
            </a:r>
            <a:endParaRPr lang="en-US" sz="6400" dirty="0"/>
          </a:p>
        </p:txBody>
      </p:sp>
      <p:sp>
        <p:nvSpPr>
          <p:cNvPr id="26" name="o45"/>
          <p:cNvSpPr txBox="1"/>
          <p:nvPr/>
        </p:nvSpPr>
        <p:spPr>
          <a:xfrm>
            <a:off x="3686175" y="2743200"/>
            <a:ext cx="2028825" cy="209550"/>
          </a:xfrm>
          <a:prstGeom prst="rect">
            <a:avLst/>
          </a:prstGeom>
          <a:noFill/>
          <a:ln/>
        </p:spPr>
        <p:txBody>
          <a:bodyPr wrap="square" lIns="0" tIns="0" rIns="0" bIns="0" rtlCol="0" anchor="t"/>
          <a:lstStyle/>
          <a:p>
            <a:pPr indent="0" marL="0">
              <a:buNone/>
            </a:pPr>
            <a:r>
              <a:rPr lang="en-US" sz="1500" b="1" dirty="0">
                <a:solidFill>
                  <a:srgbClr val="525252"/>
                </a:solidFill>
                <a:latin typeface="IBM Plex Sans KR" pitchFamily="34" charset="0"/>
                <a:ea typeface="IBM Plex Sans KR" pitchFamily="34" charset="-122"/>
                <a:cs typeface="IBM Plex Sans KR" pitchFamily="34" charset="-120"/>
              </a:rPr>
              <a:t>Do</a:t>
            </a:r>
            <a:endParaRPr lang="en-US" sz="1500" dirty="0"/>
          </a:p>
        </p:txBody>
      </p:sp>
      <p:sp>
        <p:nvSpPr>
          <p:cNvPr id="27" name="o46"/>
          <p:cNvSpPr/>
          <p:nvPr/>
        </p:nvSpPr>
        <p:spPr>
          <a:xfrm>
            <a:off x="3667125" y="3067050"/>
            <a:ext cx="2066925" cy="0"/>
          </a:xfrm>
          <a:prstGeom prst="line">
            <a:avLst/>
          </a:prstGeom>
          <a:noFill/>
          <a:ln w="9525">
            <a:solidFill>
              <a:srgbClr val="E0E0E0"/>
            </a:solidFill>
            <a:prstDash val="solid"/>
          </a:ln>
        </p:spPr>
      </p:sp>
      <p:sp>
        <p:nvSpPr>
          <p:cNvPr id="28" name="o47"/>
          <p:cNvSpPr txBox="1"/>
          <p:nvPr/>
        </p:nvSpPr>
        <p:spPr>
          <a:xfrm>
            <a:off x="3667125"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393939"/>
                </a:solidFill>
                <a:latin typeface="IBM Plex Sans KR" pitchFamily="34" charset="0"/>
                <a:ea typeface="IBM Plex Sans KR" pitchFamily="34" charset="-122"/>
                <a:cs typeface="IBM Plex Sans KR" pitchFamily="34" charset="-120"/>
              </a:rPr>
              <a:t>04  SOLUTION · 6대 모듈</a:t>
            </a:r>
            <a:endParaRPr lang="en-US" sz="1400" dirty="0"/>
          </a:p>
          <a:p>
            <a:pPr indent="0" marL="0">
              <a:lnSpc>
                <a:spcPct val="175000"/>
              </a:lnSpc>
              <a:buNone/>
            </a:pPr>
            <a:r>
              <a:rPr lang="en-US" sz="1400" dirty="0">
                <a:solidFill>
                  <a:srgbClr val="393939"/>
                </a:solidFill>
                <a:latin typeface="IBM Plex Sans KR" pitchFamily="34" charset="0"/>
                <a:ea typeface="IBM Plex Sans KR" pitchFamily="34" charset="-122"/>
                <a:cs typeface="IBM Plex Sans KR" pitchFamily="34" charset="-120"/>
              </a:rPr>
              <a:t>05  DEMO · 시연</a:t>
            </a:r>
            <a:endParaRPr lang="en-US" sz="1400" dirty="0"/>
          </a:p>
          <a:p>
            <a:pPr indent="0" marL="0">
              <a:lnSpc>
                <a:spcPct val="175000"/>
              </a:lnSpc>
              <a:buNone/>
            </a:pPr>
            <a:r>
              <a:rPr lang="en-US" sz="1400" dirty="0">
                <a:solidFill>
                  <a:srgbClr val="393939"/>
                </a:solidFill>
                <a:latin typeface="IBM Plex Sans KR" pitchFamily="34" charset="0"/>
                <a:ea typeface="IBM Plex Sans KR" pitchFamily="34" charset="-122"/>
                <a:cs typeface="IBM Plex Sans KR" pitchFamily="34" charset="-120"/>
              </a:rPr>
              <a:t>AI 적용</a:t>
            </a:r>
            <a:endParaRPr lang="en-US" sz="1400" dirty="0"/>
          </a:p>
        </p:txBody>
      </p:sp>
      <p:sp>
        <p:nvSpPr>
          <p:cNvPr id="29" name="o48"/>
          <p:cNvSpPr txBox="1"/>
          <p:nvPr/>
        </p:nvSpPr>
        <p:spPr>
          <a:xfrm>
            <a:off x="3667125" y="5829300"/>
            <a:ext cx="2066925" cy="152400"/>
          </a:xfrm>
          <a:prstGeom prst="rect">
            <a:avLst/>
          </a:prstGeom>
          <a:noFill/>
          <a:ln/>
        </p:spPr>
        <p:txBody>
          <a:bodyPr wrap="square" lIns="0" tIns="0" rIns="0" bIns="0" rtlCol="0" anchor="t"/>
          <a:lstStyle/>
          <a:p>
            <a:pPr indent="0" marL="0">
              <a:buNone/>
            </a:pPr>
            <a:r>
              <a:rPr lang="en-US" sz="1000" dirty="0">
                <a:solidFill>
                  <a:srgbClr val="525252"/>
                </a:solidFill>
                <a:latin typeface="IBM Plex Sans KR" pitchFamily="34" charset="0"/>
                <a:ea typeface="IBM Plex Sans KR" pitchFamily="34" charset="-122"/>
                <a:cs typeface="IBM Plex Sans KR" pitchFamily="34" charset="-120"/>
              </a:rPr>
              <a:t>Slide 07 – 09</a:t>
            </a:r>
            <a:endParaRPr lang="en-US" sz="1000" dirty="0"/>
          </a:p>
        </p:txBody>
      </p:sp>
      <p:sp>
        <p:nvSpPr>
          <p:cNvPr id="30" name="o49"/>
          <p:cNvSpPr/>
          <p:nvPr/>
        </p:nvSpPr>
        <p:spPr>
          <a:xfrm>
            <a:off x="6191250" y="1600200"/>
            <a:ext cx="2600325" cy="4648200"/>
          </a:xfrm>
          <a:prstGeom prst="rect">
            <a:avLst/>
          </a:prstGeom>
          <a:solidFill>
            <a:srgbClr val="F4F4F4"/>
          </a:solidFill>
          <a:ln/>
        </p:spPr>
      </p:sp>
      <p:sp>
        <p:nvSpPr>
          <p:cNvPr id="31" name="o50"/>
          <p:cNvSpPr/>
          <p:nvPr/>
        </p:nvSpPr>
        <p:spPr>
          <a:xfrm>
            <a:off x="6191250" y="1600200"/>
            <a:ext cx="2600325" cy="57150"/>
          </a:xfrm>
          <a:prstGeom prst="rect">
            <a:avLst/>
          </a:prstGeom>
          <a:solidFill>
            <a:srgbClr val="4589FF"/>
          </a:solidFill>
          <a:ln/>
        </p:spPr>
      </p:sp>
      <p:sp>
        <p:nvSpPr>
          <p:cNvPr id="32" name="o51"/>
          <p:cNvSpPr txBox="1"/>
          <p:nvPr/>
        </p:nvSpPr>
        <p:spPr>
          <a:xfrm>
            <a:off x="6457950" y="1866900"/>
            <a:ext cx="1143000" cy="857250"/>
          </a:xfrm>
          <a:prstGeom prst="rect">
            <a:avLst/>
          </a:prstGeom>
          <a:noFill/>
          <a:ln/>
        </p:spPr>
        <p:txBody>
          <a:bodyPr wrap="square" lIns="0" tIns="0" rIns="0" bIns="0" rtlCol="0" anchor="t"/>
          <a:lstStyle/>
          <a:p>
            <a:pPr indent="0" marL="0">
              <a:buNone/>
            </a:pPr>
            <a:r>
              <a:rPr lang="en-US" sz="6400" b="1" dirty="0">
                <a:solidFill>
                  <a:srgbClr val="0F62FE"/>
                </a:solidFill>
                <a:latin typeface="IBM Plex Sans KR" pitchFamily="34" charset="0"/>
                <a:ea typeface="IBM Plex Sans KR" pitchFamily="34" charset="-122"/>
                <a:cs typeface="IBM Plex Sans KR" pitchFamily="34" charset="-120"/>
              </a:rPr>
              <a:t>C</a:t>
            </a:r>
            <a:endParaRPr lang="en-US" sz="6400" dirty="0"/>
          </a:p>
        </p:txBody>
      </p:sp>
      <p:sp>
        <p:nvSpPr>
          <p:cNvPr id="33" name="o52"/>
          <p:cNvSpPr txBox="1"/>
          <p:nvPr/>
        </p:nvSpPr>
        <p:spPr>
          <a:xfrm>
            <a:off x="6477000" y="2743200"/>
            <a:ext cx="2028825" cy="209550"/>
          </a:xfrm>
          <a:prstGeom prst="rect">
            <a:avLst/>
          </a:prstGeom>
          <a:noFill/>
          <a:ln/>
        </p:spPr>
        <p:txBody>
          <a:bodyPr wrap="square" lIns="0" tIns="0" rIns="0" bIns="0" rtlCol="0" anchor="t"/>
          <a:lstStyle/>
          <a:p>
            <a:pPr indent="0" marL="0">
              <a:buNone/>
            </a:pPr>
            <a:r>
              <a:rPr lang="en-US" sz="1500" b="1" dirty="0">
                <a:solidFill>
                  <a:srgbClr val="525252"/>
                </a:solidFill>
                <a:latin typeface="IBM Plex Sans KR" pitchFamily="34" charset="0"/>
                <a:ea typeface="IBM Plex Sans KR" pitchFamily="34" charset="-122"/>
                <a:cs typeface="IBM Plex Sans KR" pitchFamily="34" charset="-120"/>
              </a:rPr>
              <a:t>Check</a:t>
            </a:r>
            <a:endParaRPr lang="en-US" sz="1500" dirty="0"/>
          </a:p>
        </p:txBody>
      </p:sp>
      <p:sp>
        <p:nvSpPr>
          <p:cNvPr id="34" name="o53"/>
          <p:cNvSpPr/>
          <p:nvPr/>
        </p:nvSpPr>
        <p:spPr>
          <a:xfrm>
            <a:off x="6457950" y="3067050"/>
            <a:ext cx="2066925" cy="0"/>
          </a:xfrm>
          <a:prstGeom prst="line">
            <a:avLst/>
          </a:prstGeom>
          <a:noFill/>
          <a:ln w="9525">
            <a:solidFill>
              <a:srgbClr val="E0E0E0"/>
            </a:solidFill>
            <a:prstDash val="solid"/>
          </a:ln>
        </p:spPr>
      </p:sp>
      <p:sp>
        <p:nvSpPr>
          <p:cNvPr id="35" name="o54"/>
          <p:cNvSpPr txBox="1"/>
          <p:nvPr/>
        </p:nvSpPr>
        <p:spPr>
          <a:xfrm>
            <a:off x="6457950"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393939"/>
                </a:solidFill>
                <a:latin typeface="IBM Plex Sans KR" pitchFamily="34" charset="0"/>
                <a:ea typeface="IBM Plex Sans KR" pitchFamily="34" charset="-122"/>
                <a:cs typeface="IBM Plex Sans KR" pitchFamily="34" charset="-120"/>
              </a:rPr>
              <a:t>06  RESULT · 전후 비교</a:t>
            </a:r>
            <a:endParaRPr lang="en-US" sz="1400" dirty="0"/>
          </a:p>
          <a:p>
            <a:pPr indent="0" marL="0">
              <a:lnSpc>
                <a:spcPct val="175000"/>
              </a:lnSpc>
              <a:buNone/>
            </a:pPr>
            <a:r>
              <a:rPr lang="en-US" sz="1400" dirty="0">
                <a:solidFill>
                  <a:srgbClr val="393939"/>
                </a:solidFill>
                <a:latin typeface="IBM Plex Sans KR" pitchFamily="34" charset="0"/>
                <a:ea typeface="IBM Plex Sans KR" pitchFamily="34" charset="-122"/>
                <a:cs typeface="IBM Plex Sans KR" pitchFamily="34" charset="-120"/>
              </a:rPr>
              <a:t>07  IMPACT · 성과 · ESG</a:t>
            </a:r>
            <a:endParaRPr lang="en-US" sz="1400" dirty="0"/>
          </a:p>
        </p:txBody>
      </p:sp>
      <p:sp>
        <p:nvSpPr>
          <p:cNvPr id="36" name="o55"/>
          <p:cNvSpPr txBox="1"/>
          <p:nvPr/>
        </p:nvSpPr>
        <p:spPr>
          <a:xfrm>
            <a:off x="6457950" y="5829300"/>
            <a:ext cx="2066925" cy="152400"/>
          </a:xfrm>
          <a:prstGeom prst="rect">
            <a:avLst/>
          </a:prstGeom>
          <a:noFill/>
          <a:ln/>
        </p:spPr>
        <p:txBody>
          <a:bodyPr wrap="square" lIns="0" tIns="0" rIns="0" bIns="0" rtlCol="0" anchor="t"/>
          <a:lstStyle/>
          <a:p>
            <a:pPr indent="0" marL="0">
              <a:buNone/>
            </a:pPr>
            <a:r>
              <a:rPr lang="en-US" sz="1000" dirty="0">
                <a:solidFill>
                  <a:srgbClr val="525252"/>
                </a:solidFill>
                <a:latin typeface="IBM Plex Sans KR" pitchFamily="34" charset="0"/>
                <a:ea typeface="IBM Plex Sans KR" pitchFamily="34" charset="-122"/>
                <a:cs typeface="IBM Plex Sans KR" pitchFamily="34" charset="-120"/>
              </a:rPr>
              <a:t>Slide 10 – 11</a:t>
            </a:r>
            <a:endParaRPr lang="en-US" sz="1000" dirty="0"/>
          </a:p>
        </p:txBody>
      </p:sp>
      <p:sp>
        <p:nvSpPr>
          <p:cNvPr id="37" name="o56"/>
          <p:cNvSpPr/>
          <p:nvPr/>
        </p:nvSpPr>
        <p:spPr>
          <a:xfrm>
            <a:off x="8982075" y="1600200"/>
            <a:ext cx="2600325" cy="4648200"/>
          </a:xfrm>
          <a:prstGeom prst="rect">
            <a:avLst/>
          </a:prstGeom>
          <a:solidFill>
            <a:srgbClr val="F4F4F4"/>
          </a:solidFill>
          <a:ln/>
        </p:spPr>
      </p:sp>
      <p:sp>
        <p:nvSpPr>
          <p:cNvPr id="38" name="o57"/>
          <p:cNvSpPr/>
          <p:nvPr/>
        </p:nvSpPr>
        <p:spPr>
          <a:xfrm>
            <a:off x="8982075" y="1600200"/>
            <a:ext cx="2600325" cy="57150"/>
          </a:xfrm>
          <a:prstGeom prst="rect">
            <a:avLst/>
          </a:prstGeom>
          <a:solidFill>
            <a:srgbClr val="0F62FE"/>
          </a:solidFill>
          <a:ln/>
        </p:spPr>
      </p:sp>
      <p:sp>
        <p:nvSpPr>
          <p:cNvPr id="39" name="o58"/>
          <p:cNvSpPr txBox="1"/>
          <p:nvPr/>
        </p:nvSpPr>
        <p:spPr>
          <a:xfrm>
            <a:off x="9248775" y="1866900"/>
            <a:ext cx="1143000" cy="857250"/>
          </a:xfrm>
          <a:prstGeom prst="rect">
            <a:avLst/>
          </a:prstGeom>
          <a:noFill/>
          <a:ln/>
        </p:spPr>
        <p:txBody>
          <a:bodyPr wrap="square" lIns="0" tIns="0" rIns="0" bIns="0" rtlCol="0" anchor="t"/>
          <a:lstStyle/>
          <a:p>
            <a:pPr indent="0" marL="0">
              <a:buNone/>
            </a:pPr>
            <a:r>
              <a:rPr lang="en-US" sz="6400" b="1" dirty="0">
                <a:solidFill>
                  <a:srgbClr val="0F62FE"/>
                </a:solidFill>
                <a:latin typeface="IBM Plex Sans KR" pitchFamily="34" charset="0"/>
                <a:ea typeface="IBM Plex Sans KR" pitchFamily="34" charset="-122"/>
                <a:cs typeface="IBM Plex Sans KR" pitchFamily="34" charset="-120"/>
              </a:rPr>
              <a:t>A</a:t>
            </a:r>
            <a:endParaRPr lang="en-US" sz="6400" dirty="0"/>
          </a:p>
        </p:txBody>
      </p:sp>
      <p:sp>
        <p:nvSpPr>
          <p:cNvPr id="40" name="o59"/>
          <p:cNvSpPr txBox="1"/>
          <p:nvPr/>
        </p:nvSpPr>
        <p:spPr>
          <a:xfrm>
            <a:off x="9267825" y="2743200"/>
            <a:ext cx="2028825" cy="209550"/>
          </a:xfrm>
          <a:prstGeom prst="rect">
            <a:avLst/>
          </a:prstGeom>
          <a:noFill/>
          <a:ln/>
        </p:spPr>
        <p:txBody>
          <a:bodyPr wrap="square" lIns="0" tIns="0" rIns="0" bIns="0" rtlCol="0" anchor="t"/>
          <a:lstStyle/>
          <a:p>
            <a:pPr indent="0" marL="0">
              <a:buNone/>
            </a:pPr>
            <a:r>
              <a:rPr lang="en-US" sz="1500" b="1" dirty="0">
                <a:solidFill>
                  <a:srgbClr val="525252"/>
                </a:solidFill>
                <a:latin typeface="IBM Plex Sans KR" pitchFamily="34" charset="0"/>
                <a:ea typeface="IBM Plex Sans KR" pitchFamily="34" charset="-122"/>
                <a:cs typeface="IBM Plex Sans KR" pitchFamily="34" charset="-120"/>
              </a:rPr>
              <a:t>Act</a:t>
            </a:r>
            <a:endParaRPr lang="en-US" sz="1500" dirty="0"/>
          </a:p>
        </p:txBody>
      </p:sp>
      <p:sp>
        <p:nvSpPr>
          <p:cNvPr id="41" name="o60"/>
          <p:cNvSpPr/>
          <p:nvPr/>
        </p:nvSpPr>
        <p:spPr>
          <a:xfrm>
            <a:off x="9248775" y="3067050"/>
            <a:ext cx="2066925" cy="0"/>
          </a:xfrm>
          <a:prstGeom prst="line">
            <a:avLst/>
          </a:prstGeom>
          <a:noFill/>
          <a:ln w="9525">
            <a:solidFill>
              <a:srgbClr val="E0E0E0"/>
            </a:solidFill>
            <a:prstDash val="solid"/>
          </a:ln>
        </p:spPr>
      </p:sp>
      <p:sp>
        <p:nvSpPr>
          <p:cNvPr id="42" name="o61"/>
          <p:cNvSpPr txBox="1"/>
          <p:nvPr/>
        </p:nvSpPr>
        <p:spPr>
          <a:xfrm>
            <a:off x="9248775" y="3238500"/>
            <a:ext cx="2143125" cy="2095500"/>
          </a:xfrm>
          <a:prstGeom prst="rect">
            <a:avLst/>
          </a:prstGeom>
          <a:noFill/>
          <a:ln/>
        </p:spPr>
        <p:txBody>
          <a:bodyPr wrap="square" lIns="0" tIns="0" rIns="0" bIns="0" rtlCol="0" anchor="t"/>
          <a:lstStyle/>
          <a:p>
            <a:pPr indent="0" marL="0">
              <a:lnSpc>
                <a:spcPct val="175000"/>
              </a:lnSpc>
              <a:buNone/>
            </a:pPr>
            <a:r>
              <a:rPr lang="en-US" sz="1400" dirty="0">
                <a:solidFill>
                  <a:srgbClr val="393939"/>
                </a:solidFill>
                <a:latin typeface="IBM Plex Sans KR" pitchFamily="34" charset="0"/>
                <a:ea typeface="IBM Plex Sans KR" pitchFamily="34" charset="-122"/>
                <a:cs typeface="IBM Plex Sans KR" pitchFamily="34" charset="-120"/>
              </a:rPr>
              <a:t>08  NEXT · 표준화</a:t>
            </a:r>
            <a:endParaRPr lang="en-US" sz="1400" dirty="0"/>
          </a:p>
        </p:txBody>
      </p:sp>
      <p:sp>
        <p:nvSpPr>
          <p:cNvPr id="43" name="o62"/>
          <p:cNvSpPr txBox="1"/>
          <p:nvPr/>
        </p:nvSpPr>
        <p:spPr>
          <a:xfrm>
            <a:off x="9248775" y="5829300"/>
            <a:ext cx="2066925" cy="152400"/>
          </a:xfrm>
          <a:prstGeom prst="rect">
            <a:avLst/>
          </a:prstGeom>
          <a:noFill/>
          <a:ln/>
        </p:spPr>
        <p:txBody>
          <a:bodyPr wrap="square" lIns="0" tIns="0" rIns="0" bIns="0" rtlCol="0" anchor="t"/>
          <a:lstStyle/>
          <a:p>
            <a:pPr indent="0" marL="0">
              <a:buNone/>
            </a:pPr>
            <a:r>
              <a:rPr lang="en-US" sz="1000" dirty="0">
                <a:solidFill>
                  <a:srgbClr val="525252"/>
                </a:solidFill>
                <a:latin typeface="IBM Plex Sans KR" pitchFamily="34" charset="0"/>
                <a:ea typeface="IBM Plex Sans KR" pitchFamily="34" charset="-122"/>
                <a:cs typeface="IBM Plex Sans KR" pitchFamily="34" charset="-120"/>
              </a:rPr>
              <a:t>Slide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o63"/>
          <p:cNvSpPr/>
          <p:nvPr/>
        </p:nvSpPr>
        <p:spPr>
          <a:xfrm>
            <a:off x="609600" y="228600"/>
            <a:ext cx="2686050" cy="38100"/>
          </a:xfrm>
          <a:prstGeom prst="rect">
            <a:avLst/>
          </a:prstGeom>
          <a:solidFill>
            <a:srgbClr val="0F62FE"/>
          </a:solidFill>
          <a:ln/>
        </p:spPr>
      </p:sp>
      <p:sp>
        <p:nvSpPr>
          <p:cNvPr id="3" name="o64"/>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b="1" dirty="0">
                <a:solidFill>
                  <a:srgbClr val="0F62FE"/>
                </a:solidFill>
                <a:latin typeface="IBM Plex Sans KR" pitchFamily="34" charset="0"/>
                <a:ea typeface="IBM Plex Sans KR" pitchFamily="34" charset="-122"/>
                <a:cs typeface="IBM Plex Sans KR" pitchFamily="34" charset="-120"/>
              </a:rPr>
              <a:t>Plan</a:t>
            </a:r>
            <a:endParaRPr lang="en-US" sz="800" dirty="0"/>
          </a:p>
        </p:txBody>
      </p:sp>
      <p:sp>
        <p:nvSpPr>
          <p:cNvPr id="4" name="o65"/>
          <p:cNvSpPr/>
          <p:nvPr/>
        </p:nvSpPr>
        <p:spPr>
          <a:xfrm>
            <a:off x="3371850" y="228600"/>
            <a:ext cx="2686050" cy="38100"/>
          </a:xfrm>
          <a:prstGeom prst="rect">
            <a:avLst/>
          </a:prstGeom>
          <a:solidFill>
            <a:srgbClr val="E0E0E0"/>
          </a:solidFill>
          <a:ln/>
        </p:spPr>
      </p:sp>
      <p:sp>
        <p:nvSpPr>
          <p:cNvPr id="5" name="o66"/>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Do</a:t>
            </a:r>
            <a:endParaRPr lang="en-US" sz="800" dirty="0"/>
          </a:p>
        </p:txBody>
      </p:sp>
      <p:sp>
        <p:nvSpPr>
          <p:cNvPr id="6" name="o67"/>
          <p:cNvSpPr/>
          <p:nvPr/>
        </p:nvSpPr>
        <p:spPr>
          <a:xfrm>
            <a:off x="6134100" y="228600"/>
            <a:ext cx="2686050" cy="38100"/>
          </a:xfrm>
          <a:prstGeom prst="rect">
            <a:avLst/>
          </a:prstGeom>
          <a:solidFill>
            <a:srgbClr val="E0E0E0"/>
          </a:solidFill>
          <a:ln/>
        </p:spPr>
      </p:sp>
      <p:sp>
        <p:nvSpPr>
          <p:cNvPr id="7" name="o68"/>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Check</a:t>
            </a:r>
            <a:endParaRPr lang="en-US" sz="800" dirty="0"/>
          </a:p>
        </p:txBody>
      </p:sp>
      <p:sp>
        <p:nvSpPr>
          <p:cNvPr id="8" name="o69"/>
          <p:cNvSpPr/>
          <p:nvPr/>
        </p:nvSpPr>
        <p:spPr>
          <a:xfrm>
            <a:off x="8896350" y="228600"/>
            <a:ext cx="2686050" cy="38100"/>
          </a:xfrm>
          <a:prstGeom prst="rect">
            <a:avLst/>
          </a:prstGeom>
          <a:solidFill>
            <a:srgbClr val="E0E0E0"/>
          </a:solidFill>
          <a:ln/>
        </p:spPr>
      </p:sp>
      <p:sp>
        <p:nvSpPr>
          <p:cNvPr id="9" name="o70"/>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Act</a:t>
            </a:r>
            <a:endParaRPr lang="en-US" sz="800" dirty="0"/>
          </a:p>
        </p:txBody>
      </p:sp>
      <p:sp>
        <p:nvSpPr>
          <p:cNvPr id="10" name="o71"/>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F62FE"/>
                </a:solidFill>
                <a:latin typeface="IBM Plex Sans KR" pitchFamily="34" charset="0"/>
                <a:ea typeface="IBM Plex Sans KR" pitchFamily="34" charset="-122"/>
                <a:cs typeface="IBM Plex Sans KR" pitchFamily="34" charset="-120"/>
              </a:rPr>
              <a:t>01   WHY  ·  활동 배경</a:t>
            </a:r>
            <a:endParaRPr lang="en-US" sz="1100" dirty="0"/>
          </a:p>
        </p:txBody>
      </p:sp>
      <p:sp>
        <p:nvSpPr>
          <p:cNvPr id="11" name="o72"/>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법은 실시간 증빙을 요구하는데, 우리는 종이로 일했습니다</a:t>
            </a:r>
            <a:endParaRPr lang="en-US" sz="2600" dirty="0"/>
          </a:p>
        </p:txBody>
      </p:sp>
      <p:sp>
        <p:nvSpPr>
          <p:cNvPr id="12" name="o73"/>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25252"/>
                </a:solidFill>
                <a:latin typeface="IBM Plex Sans KR" pitchFamily="34" charset="0"/>
                <a:ea typeface="IBM Plex Sans KR" pitchFamily="34" charset="-122"/>
                <a:cs typeface="IBM Plex Sans KR" pitchFamily="34" charset="-120"/>
              </a:rPr>
              <a:t>주제 선정: 실현가능성 × 파급력 평가(22.5점) 동점 → 병원 중점과제 정합성 검토 후 최종 선정</a:t>
            </a:r>
            <a:endParaRPr lang="en-US" sz="1300" dirty="0"/>
          </a:p>
        </p:txBody>
      </p:sp>
      <p:sp>
        <p:nvSpPr>
          <p:cNvPr id="13" name="o74"/>
          <p:cNvSpPr/>
          <p:nvPr/>
        </p:nvSpPr>
        <p:spPr>
          <a:xfrm>
            <a:off x="0" y="6477000"/>
            <a:ext cx="12192000" cy="381000"/>
          </a:xfrm>
          <a:prstGeom prst="rect">
            <a:avLst/>
          </a:prstGeom>
          <a:solidFill>
            <a:srgbClr val="161616"/>
          </a:solidFill>
          <a:ln/>
        </p:spPr>
      </p:sp>
      <p:sp>
        <p:nvSpPr>
          <p:cNvPr id="14" name="o75"/>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IBM Plex Sans KR" pitchFamily="34" charset="0"/>
                <a:ea typeface="IBM Plex Sans KR" pitchFamily="34" charset="-122"/>
                <a:cs typeface="IBM Plex Sans KR" pitchFamily="34" charset="-120"/>
              </a:rPr>
              <a:t>부산부민병원 안전보건 통합관리 시스템  ·  Safety First</a:t>
            </a:r>
            <a:endParaRPr lang="en-US" sz="900" dirty="0"/>
          </a:p>
        </p:txBody>
      </p:sp>
      <p:sp>
        <p:nvSpPr>
          <p:cNvPr id="15" name="o76"/>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IBM Plex Sans KR" pitchFamily="34" charset="0"/>
                <a:ea typeface="IBM Plex Sans KR" pitchFamily="34" charset="-122"/>
                <a:cs typeface="IBM Plex Sans KR" pitchFamily="34" charset="-120"/>
              </a:rPr>
              <a:t>03</a:t>
            </a:r>
            <a:endParaRPr lang="en-US" sz="1000" dirty="0"/>
          </a:p>
        </p:txBody>
      </p:sp>
      <p:sp>
        <p:nvSpPr>
          <p:cNvPr id="16" name="o77"/>
          <p:cNvSpPr/>
          <p:nvPr/>
        </p:nvSpPr>
        <p:spPr>
          <a:xfrm>
            <a:off x="609600" y="1600200"/>
            <a:ext cx="3530600" cy="3352800"/>
          </a:xfrm>
          <a:prstGeom prst="rect">
            <a:avLst/>
          </a:prstGeom>
          <a:solidFill>
            <a:srgbClr val="FFFFFF"/>
          </a:solidFill>
          <a:ln w="12700">
            <a:solidFill>
              <a:srgbClr val="E0E0E0"/>
            </a:solidFill>
            <a:prstDash val="solid"/>
          </a:ln>
        </p:spPr>
      </p:sp>
      <p:sp>
        <p:nvSpPr>
          <p:cNvPr id="17" name="o78"/>
          <p:cNvSpPr/>
          <p:nvPr/>
        </p:nvSpPr>
        <p:spPr>
          <a:xfrm>
            <a:off x="876300" y="1828800"/>
            <a:ext cx="342900" cy="342900"/>
          </a:xfrm>
          <a:prstGeom prst="ellipse">
            <a:avLst/>
          </a:prstGeom>
          <a:solidFill>
            <a:srgbClr val="0F62FE"/>
          </a:solidFill>
          <a:ln/>
        </p:spPr>
      </p:sp>
      <p:sp>
        <p:nvSpPr>
          <p:cNvPr id="18" name="o79"/>
          <p:cNvSpPr txBox="1"/>
          <p:nvPr/>
        </p:nvSpPr>
        <p:spPr>
          <a:xfrm>
            <a:off x="876300" y="1828800"/>
            <a:ext cx="342900" cy="342900"/>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1</a:t>
            </a:r>
            <a:endParaRPr lang="en-US" sz="1500" dirty="0"/>
          </a:p>
        </p:txBody>
      </p:sp>
      <p:sp>
        <p:nvSpPr>
          <p:cNvPr id="19" name="o80"/>
          <p:cNvSpPr txBox="1"/>
          <p:nvPr/>
        </p:nvSpPr>
        <p:spPr>
          <a:xfrm>
            <a:off x="1333500" y="1828800"/>
            <a:ext cx="2578100" cy="342900"/>
          </a:xfrm>
          <a:prstGeom prst="rect">
            <a:avLst/>
          </a:prstGeom>
          <a:noFill/>
          <a:ln/>
        </p:spPr>
        <p:txBody>
          <a:bodyPr wrap="square" lIns="0" tIns="0" rIns="0" bIns="0" rtlCol="0" anchor="ctr"/>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법 · 제도</a:t>
            </a:r>
            <a:endParaRPr lang="en-US" sz="1400" dirty="0"/>
          </a:p>
        </p:txBody>
      </p:sp>
      <p:sp>
        <p:nvSpPr>
          <p:cNvPr id="20" name="o81"/>
          <p:cNvSpPr txBox="1"/>
          <p:nvPr/>
        </p:nvSpPr>
        <p:spPr>
          <a:xfrm>
            <a:off x="876300" y="2362200"/>
            <a:ext cx="2997200" cy="304800"/>
          </a:xfrm>
          <a:prstGeom prst="rect">
            <a:avLst/>
          </a:prstGeom>
          <a:noFill/>
          <a:ln/>
        </p:spPr>
        <p:txBody>
          <a:bodyPr wrap="square" lIns="0" tIns="0" rIns="0" bIns="0" rtlCol="0" anchor="t"/>
          <a:lstStyle/>
          <a:p>
            <a:pPr indent="0" marL="0">
              <a:buNone/>
            </a:pPr>
            <a:r>
              <a:rPr lang="en-US" sz="2100" b="1" dirty="0">
                <a:solidFill>
                  <a:srgbClr val="161616"/>
                </a:solidFill>
                <a:latin typeface="IBM Plex Sans KR" pitchFamily="34" charset="0"/>
                <a:ea typeface="IBM Plex Sans KR" pitchFamily="34" charset="-122"/>
                <a:cs typeface="IBM Plex Sans KR" pitchFamily="34" charset="-120"/>
              </a:rPr>
              <a:t>법적 의무의 강화</a:t>
            </a:r>
            <a:endParaRPr lang="en-US" sz="2100" dirty="0"/>
          </a:p>
        </p:txBody>
      </p:sp>
      <p:sp>
        <p:nvSpPr>
          <p:cNvPr id="21" name="o82"/>
          <p:cNvSpPr txBox="1"/>
          <p:nvPr/>
        </p:nvSpPr>
        <p:spPr>
          <a:xfrm>
            <a:off x="876300" y="2819400"/>
            <a:ext cx="2997200" cy="1238250"/>
          </a:xfrm>
          <a:prstGeom prst="rect">
            <a:avLst/>
          </a:prstGeom>
          <a:noFill/>
          <a:ln/>
        </p:spPr>
        <p:txBody>
          <a:bodyPr wrap="square" lIns="0" tIns="0" rIns="0" bIns="0" rtlCol="0" anchor="t"/>
          <a:lstStyle/>
          <a:p>
            <a:pPr indent="0" marL="0">
              <a:lnSpc>
                <a:spcPct val="150000"/>
              </a:lnSpc>
              <a:buNone/>
            </a:pPr>
            <a:r>
              <a:rPr lang="en-US" sz="1400" dirty="0">
                <a:solidFill>
                  <a:srgbClr val="393939"/>
                </a:solidFill>
                <a:latin typeface="IBM Plex Sans KR" pitchFamily="34" charset="0"/>
                <a:ea typeface="IBM Plex Sans KR" pitchFamily="34" charset="-122"/>
                <a:cs typeface="IBM Plex Sans KR" pitchFamily="34" charset="-120"/>
              </a:rPr>
              <a:t>중대재해처벌법 · 산업안전보건법은 MSDS 관리와 신규 · 특별안전보건교육의 실시간 증빙을 요구합니다.</a:t>
            </a:r>
            <a:endParaRPr lang="en-US" sz="1400" dirty="0"/>
          </a:p>
        </p:txBody>
      </p:sp>
      <p:sp>
        <p:nvSpPr>
          <p:cNvPr id="22" name="o83"/>
          <p:cNvSpPr/>
          <p:nvPr/>
        </p:nvSpPr>
        <p:spPr>
          <a:xfrm>
            <a:off x="876300" y="4305300"/>
            <a:ext cx="2997200" cy="0"/>
          </a:xfrm>
          <a:prstGeom prst="line">
            <a:avLst/>
          </a:prstGeom>
          <a:noFill/>
          <a:ln w="9525">
            <a:solidFill>
              <a:srgbClr val="E0E0E0"/>
            </a:solidFill>
            <a:prstDash val="solid"/>
          </a:ln>
        </p:spPr>
      </p:sp>
      <p:sp>
        <p:nvSpPr>
          <p:cNvPr id="23" name="o84"/>
          <p:cNvSpPr/>
          <p:nvPr/>
        </p:nvSpPr>
        <p:spPr>
          <a:xfrm>
            <a:off x="876300" y="4476750"/>
            <a:ext cx="1619250" cy="209550"/>
          </a:xfrm>
          <a:prstGeom prst="rect">
            <a:avLst/>
          </a:prstGeom>
          <a:solidFill>
            <a:srgbClr val="EDF5FF"/>
          </a:solidFill>
          <a:ln/>
        </p:spPr>
      </p:sp>
      <p:sp>
        <p:nvSpPr>
          <p:cNvPr id="24" name="o85"/>
          <p:cNvSpPr txBox="1"/>
          <p:nvPr/>
        </p:nvSpPr>
        <p:spPr>
          <a:xfrm>
            <a:off x="876300" y="4476750"/>
            <a:ext cx="1619250" cy="209550"/>
          </a:xfrm>
          <a:prstGeom prst="rect">
            <a:avLst/>
          </a:prstGeom>
          <a:noFill/>
          <a:ln/>
        </p:spPr>
        <p:txBody>
          <a:bodyPr wrap="square" lIns="0" tIns="0" rIns="0" bIns="0" rtlCol="0" anchor="ctr"/>
          <a:lstStyle/>
          <a:p>
            <a:pPr algn="ctr" indent="0" marL="0">
              <a:buNone/>
            </a:pPr>
            <a:r>
              <a:rPr lang="en-US" sz="900" b="1" dirty="0">
                <a:solidFill>
                  <a:srgbClr val="0F62FE"/>
                </a:solidFill>
                <a:latin typeface="IBM Plex Sans KR" pitchFamily="34" charset="0"/>
                <a:ea typeface="IBM Plex Sans KR" pitchFamily="34" charset="-122"/>
                <a:cs typeface="IBM Plex Sans KR" pitchFamily="34" charset="-120"/>
              </a:rPr>
              <a:t>인증기준 10.7 · 11.3</a:t>
            </a:r>
            <a:endParaRPr lang="en-US" sz="900" dirty="0"/>
          </a:p>
        </p:txBody>
      </p:sp>
      <p:sp>
        <p:nvSpPr>
          <p:cNvPr id="25" name="o86"/>
          <p:cNvSpPr/>
          <p:nvPr/>
        </p:nvSpPr>
        <p:spPr>
          <a:xfrm>
            <a:off x="4330700" y="1600200"/>
            <a:ext cx="3530600" cy="3352800"/>
          </a:xfrm>
          <a:prstGeom prst="rect">
            <a:avLst/>
          </a:prstGeom>
          <a:solidFill>
            <a:srgbClr val="FFFFFF"/>
          </a:solidFill>
          <a:ln w="12700">
            <a:solidFill>
              <a:srgbClr val="E0E0E0"/>
            </a:solidFill>
            <a:prstDash val="solid"/>
          </a:ln>
        </p:spPr>
      </p:sp>
      <p:sp>
        <p:nvSpPr>
          <p:cNvPr id="26" name="o87"/>
          <p:cNvSpPr/>
          <p:nvPr/>
        </p:nvSpPr>
        <p:spPr>
          <a:xfrm>
            <a:off x="4597400" y="1828800"/>
            <a:ext cx="342900" cy="342900"/>
          </a:xfrm>
          <a:prstGeom prst="ellipse">
            <a:avLst/>
          </a:prstGeom>
          <a:solidFill>
            <a:srgbClr val="0F62FE"/>
          </a:solidFill>
          <a:ln/>
        </p:spPr>
      </p:sp>
      <p:sp>
        <p:nvSpPr>
          <p:cNvPr id="27" name="o88"/>
          <p:cNvSpPr txBox="1"/>
          <p:nvPr/>
        </p:nvSpPr>
        <p:spPr>
          <a:xfrm>
            <a:off x="4597400" y="1828800"/>
            <a:ext cx="342900" cy="342900"/>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2</a:t>
            </a:r>
            <a:endParaRPr lang="en-US" sz="1500" dirty="0"/>
          </a:p>
        </p:txBody>
      </p:sp>
      <p:sp>
        <p:nvSpPr>
          <p:cNvPr id="28" name="o89"/>
          <p:cNvSpPr txBox="1"/>
          <p:nvPr/>
        </p:nvSpPr>
        <p:spPr>
          <a:xfrm>
            <a:off x="5054600" y="1828800"/>
            <a:ext cx="2578100" cy="342900"/>
          </a:xfrm>
          <a:prstGeom prst="rect">
            <a:avLst/>
          </a:prstGeom>
          <a:noFill/>
          <a:ln/>
        </p:spPr>
        <p:txBody>
          <a:bodyPr wrap="square" lIns="0" tIns="0" rIns="0" bIns="0" rtlCol="0" anchor="ctr"/>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현장</a:t>
            </a:r>
            <a:endParaRPr lang="en-US" sz="1400" dirty="0"/>
          </a:p>
        </p:txBody>
      </p:sp>
      <p:sp>
        <p:nvSpPr>
          <p:cNvPr id="29" name="o90"/>
          <p:cNvSpPr txBox="1"/>
          <p:nvPr/>
        </p:nvSpPr>
        <p:spPr>
          <a:xfrm>
            <a:off x="4597400" y="2362200"/>
            <a:ext cx="2997200" cy="304800"/>
          </a:xfrm>
          <a:prstGeom prst="rect">
            <a:avLst/>
          </a:prstGeom>
          <a:noFill/>
          <a:ln/>
        </p:spPr>
        <p:txBody>
          <a:bodyPr wrap="square" lIns="0" tIns="0" rIns="0" bIns="0" rtlCol="0" anchor="t"/>
          <a:lstStyle/>
          <a:p>
            <a:pPr indent="0" marL="0">
              <a:buNone/>
            </a:pPr>
            <a:r>
              <a:rPr lang="en-US" sz="2100" b="1" dirty="0">
                <a:solidFill>
                  <a:srgbClr val="161616"/>
                </a:solidFill>
                <a:latin typeface="IBM Plex Sans KR" pitchFamily="34" charset="0"/>
                <a:ea typeface="IBM Plex Sans KR" pitchFamily="34" charset="-122"/>
                <a:cs typeface="IBM Plex Sans KR" pitchFamily="34" charset="-120"/>
              </a:rPr>
              <a:t>수기 행정의 한계</a:t>
            </a:r>
            <a:endParaRPr lang="en-US" sz="2100" dirty="0"/>
          </a:p>
        </p:txBody>
      </p:sp>
      <p:sp>
        <p:nvSpPr>
          <p:cNvPr id="30" name="o91"/>
          <p:cNvSpPr txBox="1"/>
          <p:nvPr/>
        </p:nvSpPr>
        <p:spPr>
          <a:xfrm>
            <a:off x="4597400" y="2819400"/>
            <a:ext cx="2997200" cy="1238250"/>
          </a:xfrm>
          <a:prstGeom prst="rect">
            <a:avLst/>
          </a:prstGeom>
          <a:noFill/>
          <a:ln/>
        </p:spPr>
        <p:txBody>
          <a:bodyPr wrap="square" lIns="0" tIns="0" rIns="0" bIns="0" rtlCol="0" anchor="t"/>
          <a:lstStyle/>
          <a:p>
            <a:pPr indent="0" marL="0">
              <a:lnSpc>
                <a:spcPct val="150000"/>
              </a:lnSpc>
              <a:buNone/>
            </a:pPr>
            <a:r>
              <a:rPr lang="en-US" sz="1400" dirty="0">
                <a:solidFill>
                  <a:srgbClr val="393939"/>
                </a:solidFill>
                <a:latin typeface="IBM Plex Sans KR" pitchFamily="34" charset="0"/>
                <a:ea typeface="IBM Plex Sans KR" pitchFamily="34" charset="-122"/>
                <a:cs typeface="IBM Plex Sans KR" pitchFamily="34" charset="-120"/>
              </a:rPr>
              <a:t>출력 → 대면 서명 → 방문 제출 → 아날로그 결재. 교육 이수 누락을 즉시 확인할 수 없는 구조였습니다.</a:t>
            </a:r>
            <a:endParaRPr lang="en-US" sz="1400" dirty="0"/>
          </a:p>
        </p:txBody>
      </p:sp>
      <p:sp>
        <p:nvSpPr>
          <p:cNvPr id="31" name="o92"/>
          <p:cNvSpPr/>
          <p:nvPr/>
        </p:nvSpPr>
        <p:spPr>
          <a:xfrm>
            <a:off x="4597400" y="4305300"/>
            <a:ext cx="2997200" cy="0"/>
          </a:xfrm>
          <a:prstGeom prst="line">
            <a:avLst/>
          </a:prstGeom>
          <a:noFill/>
          <a:ln w="9525">
            <a:solidFill>
              <a:srgbClr val="E0E0E0"/>
            </a:solidFill>
            <a:prstDash val="solid"/>
          </a:ln>
        </p:spPr>
      </p:sp>
      <p:sp>
        <p:nvSpPr>
          <p:cNvPr id="32" name="o93"/>
          <p:cNvSpPr/>
          <p:nvPr/>
        </p:nvSpPr>
        <p:spPr>
          <a:xfrm>
            <a:off x="4597400" y="4476750"/>
            <a:ext cx="1619250" cy="209550"/>
          </a:xfrm>
          <a:prstGeom prst="rect">
            <a:avLst/>
          </a:prstGeom>
          <a:solidFill>
            <a:srgbClr val="EDF5FF"/>
          </a:solidFill>
          <a:ln/>
        </p:spPr>
      </p:sp>
      <p:sp>
        <p:nvSpPr>
          <p:cNvPr id="33" name="o94"/>
          <p:cNvSpPr txBox="1"/>
          <p:nvPr/>
        </p:nvSpPr>
        <p:spPr>
          <a:xfrm>
            <a:off x="4597400" y="4476750"/>
            <a:ext cx="1619250" cy="209550"/>
          </a:xfrm>
          <a:prstGeom prst="rect">
            <a:avLst/>
          </a:prstGeom>
          <a:noFill/>
          <a:ln/>
        </p:spPr>
        <p:txBody>
          <a:bodyPr wrap="square" lIns="0" tIns="0" rIns="0" bIns="0" rtlCol="0" anchor="ctr"/>
          <a:lstStyle/>
          <a:p>
            <a:pPr algn="ctr" indent="0" marL="0">
              <a:buNone/>
            </a:pPr>
            <a:r>
              <a:rPr lang="en-US" sz="900" b="1" dirty="0">
                <a:solidFill>
                  <a:srgbClr val="0F62FE"/>
                </a:solidFill>
                <a:latin typeface="IBM Plex Sans KR" pitchFamily="34" charset="0"/>
                <a:ea typeface="IBM Plex Sans KR" pitchFamily="34" charset="-122"/>
                <a:cs typeface="IBM Plex Sans KR" pitchFamily="34" charset="-120"/>
              </a:rPr>
              <a:t>종이 4단계 흐름</a:t>
            </a:r>
            <a:endParaRPr lang="en-US" sz="900" dirty="0"/>
          </a:p>
        </p:txBody>
      </p:sp>
      <p:sp>
        <p:nvSpPr>
          <p:cNvPr id="34" name="o95"/>
          <p:cNvSpPr/>
          <p:nvPr/>
        </p:nvSpPr>
        <p:spPr>
          <a:xfrm>
            <a:off x="8051800" y="1600200"/>
            <a:ext cx="3530600" cy="3352800"/>
          </a:xfrm>
          <a:prstGeom prst="rect">
            <a:avLst/>
          </a:prstGeom>
          <a:solidFill>
            <a:srgbClr val="FFFFFF"/>
          </a:solidFill>
          <a:ln w="12700">
            <a:solidFill>
              <a:srgbClr val="E0E0E0"/>
            </a:solidFill>
            <a:prstDash val="solid"/>
          </a:ln>
        </p:spPr>
      </p:sp>
      <p:sp>
        <p:nvSpPr>
          <p:cNvPr id="35" name="o96"/>
          <p:cNvSpPr/>
          <p:nvPr/>
        </p:nvSpPr>
        <p:spPr>
          <a:xfrm>
            <a:off x="8318500" y="1828800"/>
            <a:ext cx="342900" cy="342900"/>
          </a:xfrm>
          <a:prstGeom prst="ellipse">
            <a:avLst/>
          </a:prstGeom>
          <a:solidFill>
            <a:srgbClr val="0F62FE"/>
          </a:solidFill>
          <a:ln/>
        </p:spPr>
      </p:sp>
      <p:sp>
        <p:nvSpPr>
          <p:cNvPr id="36" name="o97"/>
          <p:cNvSpPr txBox="1"/>
          <p:nvPr/>
        </p:nvSpPr>
        <p:spPr>
          <a:xfrm>
            <a:off x="8318500" y="1828800"/>
            <a:ext cx="342900" cy="342900"/>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3</a:t>
            </a:r>
            <a:endParaRPr lang="en-US" sz="1500" dirty="0"/>
          </a:p>
        </p:txBody>
      </p:sp>
      <p:sp>
        <p:nvSpPr>
          <p:cNvPr id="37" name="o98"/>
          <p:cNvSpPr txBox="1"/>
          <p:nvPr/>
        </p:nvSpPr>
        <p:spPr>
          <a:xfrm>
            <a:off x="8775700" y="1828800"/>
            <a:ext cx="2578100" cy="342900"/>
          </a:xfrm>
          <a:prstGeom prst="rect">
            <a:avLst/>
          </a:prstGeom>
          <a:noFill/>
          <a:ln/>
        </p:spPr>
        <p:txBody>
          <a:bodyPr wrap="square" lIns="0" tIns="0" rIns="0" bIns="0" rtlCol="0" anchor="ctr"/>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경영</a:t>
            </a:r>
            <a:endParaRPr lang="en-US" sz="1400" dirty="0"/>
          </a:p>
        </p:txBody>
      </p:sp>
      <p:sp>
        <p:nvSpPr>
          <p:cNvPr id="38" name="o99"/>
          <p:cNvSpPr txBox="1"/>
          <p:nvPr/>
        </p:nvSpPr>
        <p:spPr>
          <a:xfrm>
            <a:off x="8318500" y="2362200"/>
            <a:ext cx="2997200" cy="304800"/>
          </a:xfrm>
          <a:prstGeom prst="rect">
            <a:avLst/>
          </a:prstGeom>
          <a:noFill/>
          <a:ln/>
        </p:spPr>
        <p:txBody>
          <a:bodyPr wrap="square" lIns="0" tIns="0" rIns="0" bIns="0" rtlCol="0" anchor="t"/>
          <a:lstStyle/>
          <a:p>
            <a:pPr indent="0" marL="0">
              <a:buNone/>
            </a:pPr>
            <a:r>
              <a:rPr lang="en-US" sz="2100" b="1" dirty="0">
                <a:solidFill>
                  <a:srgbClr val="161616"/>
                </a:solidFill>
                <a:latin typeface="IBM Plex Sans KR" pitchFamily="34" charset="0"/>
                <a:ea typeface="IBM Plex Sans KR" pitchFamily="34" charset="-122"/>
                <a:cs typeface="IBM Plex Sans KR" pitchFamily="34" charset="-120"/>
              </a:rPr>
              <a:t>병원 전략과의 정렬</a:t>
            </a:r>
            <a:endParaRPr lang="en-US" sz="2100" dirty="0"/>
          </a:p>
        </p:txBody>
      </p:sp>
      <p:sp>
        <p:nvSpPr>
          <p:cNvPr id="39" name="o100"/>
          <p:cNvSpPr txBox="1"/>
          <p:nvPr/>
        </p:nvSpPr>
        <p:spPr>
          <a:xfrm>
            <a:off x="8318500" y="2819400"/>
            <a:ext cx="2997200" cy="1238250"/>
          </a:xfrm>
          <a:prstGeom prst="rect">
            <a:avLst/>
          </a:prstGeom>
          <a:noFill/>
          <a:ln/>
        </p:spPr>
        <p:txBody>
          <a:bodyPr wrap="square" lIns="0" tIns="0" rIns="0" bIns="0" rtlCol="0" anchor="t"/>
          <a:lstStyle/>
          <a:p>
            <a:pPr indent="0" marL="0">
              <a:lnSpc>
                <a:spcPct val="150000"/>
              </a:lnSpc>
              <a:buNone/>
            </a:pPr>
            <a:r>
              <a:rPr lang="en-US" sz="1400" dirty="0">
                <a:solidFill>
                  <a:srgbClr val="393939"/>
                </a:solidFill>
                <a:latin typeface="IBM Plex Sans KR" pitchFamily="34" charset="0"/>
                <a:ea typeface="IBM Plex Sans KR" pitchFamily="34" charset="-122"/>
                <a:cs typeface="IBM Plex Sans KR" pitchFamily="34" charset="-120"/>
              </a:rPr>
              <a:t>병원 중점과제 「업무 프로세스 개선」, 그리고 ESG 환경(E) — 종이 행정의 데이터 자산화.</a:t>
            </a:r>
            <a:endParaRPr lang="en-US" sz="1400" dirty="0"/>
          </a:p>
        </p:txBody>
      </p:sp>
      <p:sp>
        <p:nvSpPr>
          <p:cNvPr id="40" name="o101"/>
          <p:cNvSpPr/>
          <p:nvPr/>
        </p:nvSpPr>
        <p:spPr>
          <a:xfrm>
            <a:off x="8318500" y="4305300"/>
            <a:ext cx="2997200" cy="0"/>
          </a:xfrm>
          <a:prstGeom prst="line">
            <a:avLst/>
          </a:prstGeom>
          <a:noFill/>
          <a:ln w="9525">
            <a:solidFill>
              <a:srgbClr val="E0E0E0"/>
            </a:solidFill>
            <a:prstDash val="solid"/>
          </a:ln>
        </p:spPr>
      </p:sp>
      <p:sp>
        <p:nvSpPr>
          <p:cNvPr id="41" name="o102"/>
          <p:cNvSpPr/>
          <p:nvPr/>
        </p:nvSpPr>
        <p:spPr>
          <a:xfrm>
            <a:off x="8318500" y="4476750"/>
            <a:ext cx="1619250" cy="209550"/>
          </a:xfrm>
          <a:prstGeom prst="rect">
            <a:avLst/>
          </a:prstGeom>
          <a:solidFill>
            <a:srgbClr val="EDF5FF"/>
          </a:solidFill>
          <a:ln/>
        </p:spPr>
      </p:sp>
      <p:sp>
        <p:nvSpPr>
          <p:cNvPr id="42" name="o103"/>
          <p:cNvSpPr txBox="1"/>
          <p:nvPr/>
        </p:nvSpPr>
        <p:spPr>
          <a:xfrm>
            <a:off x="8318500" y="4476750"/>
            <a:ext cx="1619250" cy="209550"/>
          </a:xfrm>
          <a:prstGeom prst="rect">
            <a:avLst/>
          </a:prstGeom>
          <a:noFill/>
          <a:ln/>
        </p:spPr>
        <p:txBody>
          <a:bodyPr wrap="square" lIns="0" tIns="0" rIns="0" bIns="0" rtlCol="0" anchor="ctr"/>
          <a:lstStyle/>
          <a:p>
            <a:pPr algn="ctr" indent="0" marL="0">
              <a:buNone/>
            </a:pPr>
            <a:r>
              <a:rPr lang="en-US" sz="900" b="1" dirty="0">
                <a:solidFill>
                  <a:srgbClr val="0F62FE"/>
                </a:solidFill>
                <a:latin typeface="IBM Plex Sans KR" pitchFamily="34" charset="0"/>
                <a:ea typeface="IBM Plex Sans KR" pitchFamily="34" charset="-122"/>
                <a:cs typeface="IBM Plex Sans KR" pitchFamily="34" charset="-120"/>
              </a:rPr>
              <a:t>ESG · 프로세스 개선</a:t>
            </a:r>
            <a:endParaRPr lang="en-US" sz="900" dirty="0"/>
          </a:p>
        </p:txBody>
      </p:sp>
      <p:sp>
        <p:nvSpPr>
          <p:cNvPr id="43" name="o104"/>
          <p:cNvSpPr/>
          <p:nvPr/>
        </p:nvSpPr>
        <p:spPr>
          <a:xfrm>
            <a:off x="609600" y="5143500"/>
            <a:ext cx="10972800" cy="1066800"/>
          </a:xfrm>
          <a:prstGeom prst="rect">
            <a:avLst/>
          </a:prstGeom>
          <a:solidFill>
            <a:srgbClr val="161616"/>
          </a:solidFill>
          <a:ln/>
        </p:spPr>
      </p:sp>
      <p:sp>
        <p:nvSpPr>
          <p:cNvPr id="44" name="o105"/>
          <p:cNvSpPr txBox="1"/>
          <p:nvPr/>
        </p:nvSpPr>
        <p:spPr>
          <a:xfrm>
            <a:off x="990600" y="5143500"/>
            <a:ext cx="10210800" cy="1066800"/>
          </a:xfrm>
          <a:prstGeom prst="rect">
            <a:avLst/>
          </a:prstGeom>
          <a:noFill/>
          <a:ln/>
        </p:spPr>
        <p:txBody>
          <a:bodyPr wrap="square" lIns="0" tIns="0" rIns="0" bIns="0" rtlCol="0" anchor="ctr"/>
          <a:lstStyle/>
          <a:p>
            <a:pPr indent="0" marL="0">
              <a:buNone/>
            </a:pPr>
            <a:r>
              <a:rPr lang="en-US" sz="2200" b="1" dirty="0">
                <a:solidFill>
                  <a:srgbClr val="FFFFFF"/>
                </a:solidFill>
                <a:latin typeface="IBM Plex Sans KR" pitchFamily="34" charset="0"/>
                <a:ea typeface="IBM Plex Sans KR" pitchFamily="34" charset="-122"/>
                <a:cs typeface="IBM Plex Sans KR" pitchFamily="34" charset="-120"/>
              </a:rPr>
              <a:t>모바일 기반 통합 디지털 안전보건 체계가 필요했습니다</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o106"/>
          <p:cNvSpPr/>
          <p:nvPr/>
        </p:nvSpPr>
        <p:spPr>
          <a:xfrm>
            <a:off x="609600" y="228600"/>
            <a:ext cx="2686050" cy="38100"/>
          </a:xfrm>
          <a:prstGeom prst="rect">
            <a:avLst/>
          </a:prstGeom>
          <a:solidFill>
            <a:srgbClr val="0F62FE"/>
          </a:solidFill>
          <a:ln/>
        </p:spPr>
      </p:sp>
      <p:sp>
        <p:nvSpPr>
          <p:cNvPr id="3" name="o107"/>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b="1" dirty="0">
                <a:solidFill>
                  <a:srgbClr val="0F62FE"/>
                </a:solidFill>
                <a:latin typeface="IBM Plex Sans KR" pitchFamily="34" charset="0"/>
                <a:ea typeface="IBM Plex Sans KR" pitchFamily="34" charset="-122"/>
                <a:cs typeface="IBM Plex Sans KR" pitchFamily="34" charset="-120"/>
              </a:rPr>
              <a:t>Plan</a:t>
            </a:r>
            <a:endParaRPr lang="en-US" sz="800" dirty="0"/>
          </a:p>
        </p:txBody>
      </p:sp>
      <p:sp>
        <p:nvSpPr>
          <p:cNvPr id="4" name="o108"/>
          <p:cNvSpPr/>
          <p:nvPr/>
        </p:nvSpPr>
        <p:spPr>
          <a:xfrm>
            <a:off x="3371850" y="228600"/>
            <a:ext cx="2686050" cy="38100"/>
          </a:xfrm>
          <a:prstGeom prst="rect">
            <a:avLst/>
          </a:prstGeom>
          <a:solidFill>
            <a:srgbClr val="E0E0E0"/>
          </a:solidFill>
          <a:ln/>
        </p:spPr>
      </p:sp>
      <p:sp>
        <p:nvSpPr>
          <p:cNvPr id="5" name="o109"/>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Do</a:t>
            </a:r>
            <a:endParaRPr lang="en-US" sz="800" dirty="0"/>
          </a:p>
        </p:txBody>
      </p:sp>
      <p:sp>
        <p:nvSpPr>
          <p:cNvPr id="6" name="o110"/>
          <p:cNvSpPr/>
          <p:nvPr/>
        </p:nvSpPr>
        <p:spPr>
          <a:xfrm>
            <a:off x="6134100" y="228600"/>
            <a:ext cx="2686050" cy="38100"/>
          </a:xfrm>
          <a:prstGeom prst="rect">
            <a:avLst/>
          </a:prstGeom>
          <a:solidFill>
            <a:srgbClr val="E0E0E0"/>
          </a:solidFill>
          <a:ln/>
        </p:spPr>
      </p:sp>
      <p:sp>
        <p:nvSpPr>
          <p:cNvPr id="7" name="o111"/>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Check</a:t>
            </a:r>
            <a:endParaRPr lang="en-US" sz="800" dirty="0"/>
          </a:p>
        </p:txBody>
      </p:sp>
      <p:sp>
        <p:nvSpPr>
          <p:cNvPr id="8" name="o112"/>
          <p:cNvSpPr/>
          <p:nvPr/>
        </p:nvSpPr>
        <p:spPr>
          <a:xfrm>
            <a:off x="8896350" y="228600"/>
            <a:ext cx="2686050" cy="38100"/>
          </a:xfrm>
          <a:prstGeom prst="rect">
            <a:avLst/>
          </a:prstGeom>
          <a:solidFill>
            <a:srgbClr val="E0E0E0"/>
          </a:solidFill>
          <a:ln/>
        </p:spPr>
      </p:sp>
      <p:sp>
        <p:nvSpPr>
          <p:cNvPr id="9" name="o113"/>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Act</a:t>
            </a:r>
            <a:endParaRPr lang="en-US" sz="800" dirty="0"/>
          </a:p>
        </p:txBody>
      </p:sp>
      <p:sp>
        <p:nvSpPr>
          <p:cNvPr id="10" name="o114"/>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F62FE"/>
                </a:solidFill>
                <a:latin typeface="IBM Plex Sans KR" pitchFamily="34" charset="0"/>
                <a:ea typeface="IBM Plex Sans KR" pitchFamily="34" charset="-122"/>
                <a:cs typeface="IBM Plex Sans KR" pitchFamily="34" charset="-120"/>
              </a:rPr>
              <a:t>PLAN  ·  팀 구성</a:t>
            </a:r>
            <a:endParaRPr lang="en-US" sz="1100" dirty="0"/>
          </a:p>
        </p:txBody>
      </p:sp>
      <p:sp>
        <p:nvSpPr>
          <p:cNvPr id="11" name="o115"/>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3명이 외부 개발 없이 기획부터 표준화까지 직접 수행했습니다</a:t>
            </a:r>
            <a:endParaRPr lang="en-US" sz="2600" dirty="0"/>
          </a:p>
        </p:txBody>
      </p:sp>
      <p:sp>
        <p:nvSpPr>
          <p:cNvPr id="12" name="o116"/>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25252"/>
                </a:solidFill>
                <a:latin typeface="IBM Plex Sans KR" pitchFamily="34" charset="0"/>
                <a:ea typeface="IBM Plex Sans KR" pitchFamily="34" charset="-122"/>
                <a:cs typeface="IBM Plex Sans KR" pitchFamily="34" charset="-120"/>
              </a:rPr>
              <a:t>팀 구성 · 2026년 1–10월 활동 일정</a:t>
            </a:r>
            <a:endParaRPr lang="en-US" sz="1300" dirty="0"/>
          </a:p>
        </p:txBody>
      </p:sp>
      <p:sp>
        <p:nvSpPr>
          <p:cNvPr id="13" name="o117"/>
          <p:cNvSpPr/>
          <p:nvPr/>
        </p:nvSpPr>
        <p:spPr>
          <a:xfrm>
            <a:off x="0" y="6477000"/>
            <a:ext cx="12192000" cy="381000"/>
          </a:xfrm>
          <a:prstGeom prst="rect">
            <a:avLst/>
          </a:prstGeom>
          <a:solidFill>
            <a:srgbClr val="161616"/>
          </a:solidFill>
          <a:ln/>
        </p:spPr>
      </p:sp>
      <p:sp>
        <p:nvSpPr>
          <p:cNvPr id="14" name="o118"/>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IBM Plex Sans KR" pitchFamily="34" charset="0"/>
                <a:ea typeface="IBM Plex Sans KR" pitchFamily="34" charset="-122"/>
                <a:cs typeface="IBM Plex Sans KR" pitchFamily="34" charset="-120"/>
              </a:rPr>
              <a:t>부산부민병원 안전보건 통합관리 시스템  ·  Safety First</a:t>
            </a:r>
            <a:endParaRPr lang="en-US" sz="900" dirty="0"/>
          </a:p>
        </p:txBody>
      </p:sp>
      <p:sp>
        <p:nvSpPr>
          <p:cNvPr id="15" name="o119"/>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IBM Plex Sans KR" pitchFamily="34" charset="0"/>
                <a:ea typeface="IBM Plex Sans KR" pitchFamily="34" charset="-122"/>
                <a:cs typeface="IBM Plex Sans KR" pitchFamily="34" charset="-120"/>
              </a:rPr>
              <a:t>04</a:t>
            </a:r>
            <a:endParaRPr lang="en-US" sz="1000" dirty="0"/>
          </a:p>
        </p:txBody>
      </p:sp>
      <p:sp>
        <p:nvSpPr>
          <p:cNvPr id="16" name="o120"/>
          <p:cNvSpPr/>
          <p:nvPr/>
        </p:nvSpPr>
        <p:spPr>
          <a:xfrm>
            <a:off x="609600" y="1600200"/>
            <a:ext cx="3530600" cy="990600"/>
          </a:xfrm>
          <a:prstGeom prst="rect">
            <a:avLst/>
          </a:prstGeom>
          <a:solidFill>
            <a:srgbClr val="FFFFFF"/>
          </a:solidFill>
          <a:ln w="12700">
            <a:solidFill>
              <a:srgbClr val="E0E0E0"/>
            </a:solidFill>
            <a:prstDash val="solid"/>
          </a:ln>
        </p:spPr>
      </p:sp>
      <p:sp>
        <p:nvSpPr>
          <p:cNvPr id="17" name="o121"/>
          <p:cNvSpPr/>
          <p:nvPr/>
        </p:nvSpPr>
        <p:spPr>
          <a:xfrm>
            <a:off x="838200" y="1828800"/>
            <a:ext cx="533400" cy="533400"/>
          </a:xfrm>
          <a:prstGeom prst="ellipse">
            <a:avLst/>
          </a:prstGeom>
          <a:solidFill>
            <a:srgbClr val="0F62FE"/>
          </a:solidFill>
          <a:ln/>
        </p:spPr>
      </p:sp>
      <p:sp>
        <p:nvSpPr>
          <p:cNvPr id="18" name="o122"/>
          <p:cNvSpPr txBox="1"/>
          <p:nvPr/>
        </p:nvSpPr>
        <p:spPr>
          <a:xfrm>
            <a:off x="838200" y="1828800"/>
            <a:ext cx="533400" cy="533400"/>
          </a:xfrm>
          <a:prstGeom prst="rect">
            <a:avLst/>
          </a:prstGeom>
          <a:noFill/>
          <a:ln/>
        </p:spPr>
        <p:txBody>
          <a:bodyPr wrap="square" lIns="0" tIns="0" rIns="0" bIns="0" rtlCol="0" anchor="ctr"/>
          <a:lstStyle/>
          <a:p>
            <a:pPr algn="ctr" indent="0" marL="0">
              <a:buNone/>
            </a:pPr>
            <a:r>
              <a:rPr lang="en-US" sz="1800" b="1" dirty="0">
                <a:solidFill>
                  <a:srgbClr val="FFFFFF"/>
                </a:solidFill>
                <a:latin typeface="IBM Plex Sans KR" pitchFamily="34" charset="0"/>
                <a:ea typeface="IBM Plex Sans KR" pitchFamily="34" charset="-122"/>
                <a:cs typeface="IBM Plex Sans KR" pitchFamily="34" charset="-120"/>
              </a:rPr>
              <a:t>김</a:t>
            </a:r>
            <a:endParaRPr lang="en-US" sz="1800" dirty="0"/>
          </a:p>
        </p:txBody>
      </p:sp>
      <p:sp>
        <p:nvSpPr>
          <p:cNvPr id="19" name="o123"/>
          <p:cNvSpPr txBox="1"/>
          <p:nvPr/>
        </p:nvSpPr>
        <p:spPr>
          <a:xfrm>
            <a:off x="1562100" y="1809750"/>
            <a:ext cx="2387600" cy="247650"/>
          </a:xfrm>
          <a:prstGeom prst="rect">
            <a:avLst/>
          </a:prstGeom>
          <a:noFill/>
          <a:ln/>
        </p:spPr>
        <p:txBody>
          <a:bodyPr wrap="square" lIns="0" tIns="0" rIns="0" bIns="0" rtlCol="0" anchor="t"/>
          <a:lstStyle/>
          <a:p>
            <a:pPr indent="0" marL="0">
              <a:buNone/>
            </a:pPr>
            <a:r>
              <a:rPr lang="en-US" sz="1800" b="1" dirty="0">
                <a:solidFill>
                  <a:srgbClr val="161616"/>
                </a:solidFill>
                <a:latin typeface="IBM Plex Sans KR" pitchFamily="34" charset="0"/>
                <a:ea typeface="IBM Plex Sans KR" pitchFamily="34" charset="-122"/>
                <a:cs typeface="IBM Plex Sans KR" pitchFamily="34" charset="-120"/>
              </a:rPr>
              <a:t>김광현</a:t>
            </a:r>
            <a:endParaRPr lang="en-US" sz="1800" dirty="0"/>
          </a:p>
        </p:txBody>
      </p:sp>
      <p:sp>
        <p:nvSpPr>
          <p:cNvPr id="20" name="o124"/>
          <p:cNvSpPr txBox="1"/>
          <p:nvPr/>
        </p:nvSpPr>
        <p:spPr>
          <a:xfrm>
            <a:off x="1562100" y="2076450"/>
            <a:ext cx="2387600" cy="171450"/>
          </a:xfrm>
          <a:prstGeom prst="rect">
            <a:avLst/>
          </a:prstGeom>
          <a:noFill/>
          <a:ln/>
        </p:spPr>
        <p:txBody>
          <a:bodyPr wrap="square" lIns="0" tIns="0" rIns="0" bIns="0" rtlCol="0" anchor="t"/>
          <a:lstStyle/>
          <a:p>
            <a:pPr indent="0" marL="0">
              <a:buNone/>
            </a:pPr>
            <a:r>
              <a:rPr lang="en-US" sz="1100" b="1" dirty="0">
                <a:solidFill>
                  <a:srgbClr val="0F62FE"/>
                </a:solidFill>
                <a:latin typeface="IBM Plex Sans KR" pitchFamily="34" charset="0"/>
                <a:ea typeface="IBM Plex Sans KR" pitchFamily="34" charset="-122"/>
                <a:cs typeface="IBM Plex Sans KR" pitchFamily="34" charset="-120"/>
              </a:rPr>
              <a:t>팀장</a:t>
            </a:r>
            <a:endParaRPr lang="en-US" sz="1100" dirty="0"/>
          </a:p>
        </p:txBody>
      </p:sp>
      <p:sp>
        <p:nvSpPr>
          <p:cNvPr id="21" name="o125"/>
          <p:cNvSpPr txBox="1"/>
          <p:nvPr/>
        </p:nvSpPr>
        <p:spPr>
          <a:xfrm>
            <a:off x="1562100" y="2266950"/>
            <a:ext cx="2387600" cy="17145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활동 총괄</a:t>
            </a:r>
            <a:endParaRPr lang="en-US" sz="1100" dirty="0"/>
          </a:p>
        </p:txBody>
      </p:sp>
      <p:sp>
        <p:nvSpPr>
          <p:cNvPr id="22" name="o126"/>
          <p:cNvSpPr/>
          <p:nvPr/>
        </p:nvSpPr>
        <p:spPr>
          <a:xfrm>
            <a:off x="4330700" y="1600200"/>
            <a:ext cx="3530600" cy="990600"/>
          </a:xfrm>
          <a:prstGeom prst="rect">
            <a:avLst/>
          </a:prstGeom>
          <a:solidFill>
            <a:srgbClr val="FFFFFF"/>
          </a:solidFill>
          <a:ln w="12700">
            <a:solidFill>
              <a:srgbClr val="E0E0E0"/>
            </a:solidFill>
            <a:prstDash val="solid"/>
          </a:ln>
        </p:spPr>
      </p:sp>
      <p:sp>
        <p:nvSpPr>
          <p:cNvPr id="23" name="o127"/>
          <p:cNvSpPr/>
          <p:nvPr/>
        </p:nvSpPr>
        <p:spPr>
          <a:xfrm>
            <a:off x="4559300" y="1828800"/>
            <a:ext cx="533400" cy="533400"/>
          </a:xfrm>
          <a:prstGeom prst="ellipse">
            <a:avLst/>
          </a:prstGeom>
          <a:solidFill>
            <a:srgbClr val="0F62FE"/>
          </a:solidFill>
          <a:ln/>
        </p:spPr>
      </p:sp>
      <p:sp>
        <p:nvSpPr>
          <p:cNvPr id="24" name="o128"/>
          <p:cNvSpPr txBox="1"/>
          <p:nvPr/>
        </p:nvSpPr>
        <p:spPr>
          <a:xfrm>
            <a:off x="4559300" y="1828800"/>
            <a:ext cx="533400" cy="533400"/>
          </a:xfrm>
          <a:prstGeom prst="rect">
            <a:avLst/>
          </a:prstGeom>
          <a:noFill/>
          <a:ln/>
        </p:spPr>
        <p:txBody>
          <a:bodyPr wrap="square" lIns="0" tIns="0" rIns="0" bIns="0" rtlCol="0" anchor="ctr"/>
          <a:lstStyle/>
          <a:p>
            <a:pPr algn="ctr" indent="0" marL="0">
              <a:buNone/>
            </a:pPr>
            <a:r>
              <a:rPr lang="en-US" sz="1800" b="1" dirty="0">
                <a:solidFill>
                  <a:srgbClr val="FFFFFF"/>
                </a:solidFill>
                <a:latin typeface="IBM Plex Sans KR" pitchFamily="34" charset="0"/>
                <a:ea typeface="IBM Plex Sans KR" pitchFamily="34" charset="-122"/>
                <a:cs typeface="IBM Plex Sans KR" pitchFamily="34" charset="-120"/>
              </a:rPr>
              <a:t>장</a:t>
            </a:r>
            <a:endParaRPr lang="en-US" sz="1800" dirty="0"/>
          </a:p>
        </p:txBody>
      </p:sp>
      <p:sp>
        <p:nvSpPr>
          <p:cNvPr id="25" name="o129"/>
          <p:cNvSpPr txBox="1"/>
          <p:nvPr/>
        </p:nvSpPr>
        <p:spPr>
          <a:xfrm>
            <a:off x="5283200" y="1809750"/>
            <a:ext cx="2387600" cy="247650"/>
          </a:xfrm>
          <a:prstGeom prst="rect">
            <a:avLst/>
          </a:prstGeom>
          <a:noFill/>
          <a:ln/>
        </p:spPr>
        <p:txBody>
          <a:bodyPr wrap="square" lIns="0" tIns="0" rIns="0" bIns="0" rtlCol="0" anchor="t"/>
          <a:lstStyle/>
          <a:p>
            <a:pPr indent="0" marL="0">
              <a:buNone/>
            </a:pPr>
            <a:r>
              <a:rPr lang="en-US" sz="1800" b="1" dirty="0">
                <a:solidFill>
                  <a:srgbClr val="161616"/>
                </a:solidFill>
                <a:latin typeface="IBM Plex Sans KR" pitchFamily="34" charset="0"/>
                <a:ea typeface="IBM Plex Sans KR" pitchFamily="34" charset="-122"/>
                <a:cs typeface="IBM Plex Sans KR" pitchFamily="34" charset="-120"/>
              </a:rPr>
              <a:t>장은선</a:t>
            </a:r>
            <a:endParaRPr lang="en-US" sz="1800" dirty="0"/>
          </a:p>
        </p:txBody>
      </p:sp>
      <p:sp>
        <p:nvSpPr>
          <p:cNvPr id="26" name="o130"/>
          <p:cNvSpPr txBox="1"/>
          <p:nvPr/>
        </p:nvSpPr>
        <p:spPr>
          <a:xfrm>
            <a:off x="5283200" y="2076450"/>
            <a:ext cx="2387600" cy="171450"/>
          </a:xfrm>
          <a:prstGeom prst="rect">
            <a:avLst/>
          </a:prstGeom>
          <a:noFill/>
          <a:ln/>
        </p:spPr>
        <p:txBody>
          <a:bodyPr wrap="square" lIns="0" tIns="0" rIns="0" bIns="0" rtlCol="0" anchor="t"/>
          <a:lstStyle/>
          <a:p>
            <a:pPr indent="0" marL="0">
              <a:buNone/>
            </a:pPr>
            <a:r>
              <a:rPr lang="en-US" sz="1100" b="1" dirty="0">
                <a:solidFill>
                  <a:srgbClr val="0F62FE"/>
                </a:solidFill>
                <a:latin typeface="IBM Plex Sans KR" pitchFamily="34" charset="0"/>
                <a:ea typeface="IBM Plex Sans KR" pitchFamily="34" charset="-122"/>
                <a:cs typeface="IBM Plex Sans KR" pitchFamily="34" charset="-120"/>
              </a:rPr>
              <a:t>팀원 · 보건관리자</a:t>
            </a:r>
            <a:endParaRPr lang="en-US" sz="1100" dirty="0"/>
          </a:p>
        </p:txBody>
      </p:sp>
      <p:sp>
        <p:nvSpPr>
          <p:cNvPr id="27" name="o131"/>
          <p:cNvSpPr txBox="1"/>
          <p:nvPr/>
        </p:nvSpPr>
        <p:spPr>
          <a:xfrm>
            <a:off x="5283200" y="2266950"/>
            <a:ext cx="2387600" cy="17145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플랫폼 기획 · 직접 개발</a:t>
            </a:r>
            <a:endParaRPr lang="en-US" sz="1100" dirty="0"/>
          </a:p>
        </p:txBody>
      </p:sp>
      <p:sp>
        <p:nvSpPr>
          <p:cNvPr id="28" name="o132"/>
          <p:cNvSpPr/>
          <p:nvPr/>
        </p:nvSpPr>
        <p:spPr>
          <a:xfrm>
            <a:off x="8051800" y="1600200"/>
            <a:ext cx="3530600" cy="990600"/>
          </a:xfrm>
          <a:prstGeom prst="rect">
            <a:avLst/>
          </a:prstGeom>
          <a:solidFill>
            <a:srgbClr val="FFFFFF"/>
          </a:solidFill>
          <a:ln w="12700">
            <a:solidFill>
              <a:srgbClr val="E0E0E0"/>
            </a:solidFill>
            <a:prstDash val="solid"/>
          </a:ln>
        </p:spPr>
      </p:sp>
      <p:sp>
        <p:nvSpPr>
          <p:cNvPr id="29" name="o133"/>
          <p:cNvSpPr/>
          <p:nvPr/>
        </p:nvSpPr>
        <p:spPr>
          <a:xfrm>
            <a:off x="8280400" y="1828800"/>
            <a:ext cx="533400" cy="533400"/>
          </a:xfrm>
          <a:prstGeom prst="ellipse">
            <a:avLst/>
          </a:prstGeom>
          <a:solidFill>
            <a:srgbClr val="0F62FE"/>
          </a:solidFill>
          <a:ln/>
        </p:spPr>
      </p:sp>
      <p:sp>
        <p:nvSpPr>
          <p:cNvPr id="30" name="o134"/>
          <p:cNvSpPr txBox="1"/>
          <p:nvPr/>
        </p:nvSpPr>
        <p:spPr>
          <a:xfrm>
            <a:off x="8280400" y="1828800"/>
            <a:ext cx="533400" cy="533400"/>
          </a:xfrm>
          <a:prstGeom prst="rect">
            <a:avLst/>
          </a:prstGeom>
          <a:noFill/>
          <a:ln/>
        </p:spPr>
        <p:txBody>
          <a:bodyPr wrap="square" lIns="0" tIns="0" rIns="0" bIns="0" rtlCol="0" anchor="ctr"/>
          <a:lstStyle/>
          <a:p>
            <a:pPr algn="ctr" indent="0" marL="0">
              <a:buNone/>
            </a:pPr>
            <a:r>
              <a:rPr lang="en-US" sz="1800" b="1" dirty="0">
                <a:solidFill>
                  <a:srgbClr val="FFFFFF"/>
                </a:solidFill>
                <a:latin typeface="IBM Plex Sans KR" pitchFamily="34" charset="0"/>
                <a:ea typeface="IBM Plex Sans KR" pitchFamily="34" charset="-122"/>
                <a:cs typeface="IBM Plex Sans KR" pitchFamily="34" charset="-120"/>
              </a:rPr>
              <a:t>장</a:t>
            </a:r>
            <a:endParaRPr lang="en-US" sz="1800" dirty="0"/>
          </a:p>
        </p:txBody>
      </p:sp>
      <p:sp>
        <p:nvSpPr>
          <p:cNvPr id="31" name="o135"/>
          <p:cNvSpPr txBox="1"/>
          <p:nvPr/>
        </p:nvSpPr>
        <p:spPr>
          <a:xfrm>
            <a:off x="9004300" y="1809750"/>
            <a:ext cx="2387600" cy="247650"/>
          </a:xfrm>
          <a:prstGeom prst="rect">
            <a:avLst/>
          </a:prstGeom>
          <a:noFill/>
          <a:ln/>
        </p:spPr>
        <p:txBody>
          <a:bodyPr wrap="square" lIns="0" tIns="0" rIns="0" bIns="0" rtlCol="0" anchor="t"/>
          <a:lstStyle/>
          <a:p>
            <a:pPr indent="0" marL="0">
              <a:buNone/>
            </a:pPr>
            <a:r>
              <a:rPr lang="en-US" sz="1800" b="1" dirty="0">
                <a:solidFill>
                  <a:srgbClr val="161616"/>
                </a:solidFill>
                <a:latin typeface="IBM Plex Sans KR" pitchFamily="34" charset="0"/>
                <a:ea typeface="IBM Plex Sans KR" pitchFamily="34" charset="-122"/>
                <a:cs typeface="IBM Plex Sans KR" pitchFamily="34" charset="-120"/>
              </a:rPr>
              <a:t>장종문</a:t>
            </a:r>
            <a:endParaRPr lang="en-US" sz="1800" dirty="0"/>
          </a:p>
        </p:txBody>
      </p:sp>
      <p:sp>
        <p:nvSpPr>
          <p:cNvPr id="32" name="o136"/>
          <p:cNvSpPr txBox="1"/>
          <p:nvPr/>
        </p:nvSpPr>
        <p:spPr>
          <a:xfrm>
            <a:off x="9004300" y="2076450"/>
            <a:ext cx="2387600" cy="171450"/>
          </a:xfrm>
          <a:prstGeom prst="rect">
            <a:avLst/>
          </a:prstGeom>
          <a:noFill/>
          <a:ln/>
        </p:spPr>
        <p:txBody>
          <a:bodyPr wrap="square" lIns="0" tIns="0" rIns="0" bIns="0" rtlCol="0" anchor="t"/>
          <a:lstStyle/>
          <a:p>
            <a:pPr indent="0" marL="0">
              <a:buNone/>
            </a:pPr>
            <a:r>
              <a:rPr lang="en-US" sz="1100" b="1" dirty="0">
                <a:solidFill>
                  <a:srgbClr val="0F62FE"/>
                </a:solidFill>
                <a:latin typeface="IBM Plex Sans KR" pitchFamily="34" charset="0"/>
                <a:ea typeface="IBM Plex Sans KR" pitchFamily="34" charset="-122"/>
                <a:cs typeface="IBM Plex Sans KR" pitchFamily="34" charset="-120"/>
              </a:rPr>
              <a:t>팀원 · 안전관리자</a:t>
            </a:r>
            <a:endParaRPr lang="en-US" sz="1100" dirty="0"/>
          </a:p>
        </p:txBody>
      </p:sp>
      <p:sp>
        <p:nvSpPr>
          <p:cNvPr id="33" name="o137"/>
          <p:cNvSpPr txBox="1"/>
          <p:nvPr/>
        </p:nvSpPr>
        <p:spPr>
          <a:xfrm>
            <a:off x="9004300" y="2266950"/>
            <a:ext cx="2387600" cy="17145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MSDS · AI 위험성평가</a:t>
            </a:r>
            <a:endParaRPr lang="en-US" sz="1100" dirty="0"/>
          </a:p>
        </p:txBody>
      </p:sp>
      <p:sp>
        <p:nvSpPr>
          <p:cNvPr id="34" name="o138"/>
          <p:cNvSpPr/>
          <p:nvPr/>
        </p:nvSpPr>
        <p:spPr>
          <a:xfrm>
            <a:off x="609600" y="2781300"/>
            <a:ext cx="10972800" cy="3467100"/>
          </a:xfrm>
          <a:prstGeom prst="rect">
            <a:avLst/>
          </a:prstGeom>
          <a:solidFill>
            <a:srgbClr val="F4F4F4"/>
          </a:solidFill>
          <a:ln/>
        </p:spPr>
      </p:sp>
      <p:sp>
        <p:nvSpPr>
          <p:cNvPr id="35" name="o139"/>
          <p:cNvSpPr txBox="1"/>
          <p:nvPr/>
        </p:nvSpPr>
        <p:spPr>
          <a:xfrm>
            <a:off x="3810000" y="2971800"/>
            <a:ext cx="746760" cy="152400"/>
          </a:xfrm>
          <a:prstGeom prst="rect">
            <a:avLst/>
          </a:prstGeom>
          <a:noFill/>
          <a:ln/>
        </p:spPr>
        <p:txBody>
          <a:bodyPr wrap="square" lIns="0" tIns="0" rIns="0" bIns="0" rtlCol="0" anchor="t"/>
          <a:lstStyle/>
          <a:p>
            <a:pPr algn="ctr" indent="0" marL="0">
              <a:buNone/>
            </a:pPr>
            <a:r>
              <a:rPr lang="en-US" sz="1000" b="1" dirty="0">
                <a:solidFill>
                  <a:srgbClr val="525252"/>
                </a:solidFill>
                <a:latin typeface="IBM Plex Sans KR" pitchFamily="34" charset="0"/>
                <a:ea typeface="IBM Plex Sans KR" pitchFamily="34" charset="-122"/>
                <a:cs typeface="IBM Plex Sans KR" pitchFamily="34" charset="-120"/>
              </a:rPr>
              <a:t>1월</a:t>
            </a:r>
            <a:endParaRPr lang="en-US" sz="1000" dirty="0"/>
          </a:p>
        </p:txBody>
      </p:sp>
      <p:sp>
        <p:nvSpPr>
          <p:cNvPr id="36" name="o140"/>
          <p:cNvSpPr/>
          <p:nvPr/>
        </p:nvSpPr>
        <p:spPr>
          <a:xfrm>
            <a:off x="3810000" y="3200400"/>
            <a:ext cx="0" cy="2857500"/>
          </a:xfrm>
          <a:prstGeom prst="line">
            <a:avLst/>
          </a:prstGeom>
          <a:noFill/>
          <a:ln w="6350">
            <a:solidFill>
              <a:srgbClr val="E0E0E0"/>
            </a:solidFill>
            <a:prstDash val="solid"/>
          </a:ln>
        </p:spPr>
      </p:sp>
      <p:sp>
        <p:nvSpPr>
          <p:cNvPr id="37" name="o141"/>
          <p:cNvSpPr txBox="1"/>
          <p:nvPr/>
        </p:nvSpPr>
        <p:spPr>
          <a:xfrm>
            <a:off x="4556760" y="2971800"/>
            <a:ext cx="746760" cy="152400"/>
          </a:xfrm>
          <a:prstGeom prst="rect">
            <a:avLst/>
          </a:prstGeom>
          <a:noFill/>
          <a:ln/>
        </p:spPr>
        <p:txBody>
          <a:bodyPr wrap="square" lIns="0" tIns="0" rIns="0" bIns="0" rtlCol="0" anchor="t"/>
          <a:lstStyle/>
          <a:p>
            <a:pPr algn="ctr" indent="0" marL="0">
              <a:buNone/>
            </a:pPr>
            <a:r>
              <a:rPr lang="en-US" sz="1000" b="1" dirty="0">
                <a:solidFill>
                  <a:srgbClr val="525252"/>
                </a:solidFill>
                <a:latin typeface="IBM Plex Sans KR" pitchFamily="34" charset="0"/>
                <a:ea typeface="IBM Plex Sans KR" pitchFamily="34" charset="-122"/>
                <a:cs typeface="IBM Plex Sans KR" pitchFamily="34" charset="-120"/>
              </a:rPr>
              <a:t>2월</a:t>
            </a:r>
            <a:endParaRPr lang="en-US" sz="1000" dirty="0"/>
          </a:p>
        </p:txBody>
      </p:sp>
      <p:sp>
        <p:nvSpPr>
          <p:cNvPr id="38" name="o142"/>
          <p:cNvSpPr/>
          <p:nvPr/>
        </p:nvSpPr>
        <p:spPr>
          <a:xfrm>
            <a:off x="4556760" y="3200400"/>
            <a:ext cx="0" cy="2857500"/>
          </a:xfrm>
          <a:prstGeom prst="line">
            <a:avLst/>
          </a:prstGeom>
          <a:noFill/>
          <a:ln w="6350">
            <a:solidFill>
              <a:srgbClr val="E0E0E0"/>
            </a:solidFill>
            <a:prstDash val="solid"/>
          </a:ln>
        </p:spPr>
      </p:sp>
      <p:sp>
        <p:nvSpPr>
          <p:cNvPr id="39" name="o143"/>
          <p:cNvSpPr txBox="1"/>
          <p:nvPr/>
        </p:nvSpPr>
        <p:spPr>
          <a:xfrm>
            <a:off x="5303520" y="2971800"/>
            <a:ext cx="746760" cy="152400"/>
          </a:xfrm>
          <a:prstGeom prst="rect">
            <a:avLst/>
          </a:prstGeom>
          <a:noFill/>
          <a:ln/>
        </p:spPr>
        <p:txBody>
          <a:bodyPr wrap="square" lIns="0" tIns="0" rIns="0" bIns="0" rtlCol="0" anchor="t"/>
          <a:lstStyle/>
          <a:p>
            <a:pPr algn="ctr" indent="0" marL="0">
              <a:buNone/>
            </a:pPr>
            <a:r>
              <a:rPr lang="en-US" sz="1000" b="1" dirty="0">
                <a:solidFill>
                  <a:srgbClr val="525252"/>
                </a:solidFill>
                <a:latin typeface="IBM Plex Sans KR" pitchFamily="34" charset="0"/>
                <a:ea typeface="IBM Plex Sans KR" pitchFamily="34" charset="-122"/>
                <a:cs typeface="IBM Plex Sans KR" pitchFamily="34" charset="-120"/>
              </a:rPr>
              <a:t>3월</a:t>
            </a:r>
            <a:endParaRPr lang="en-US" sz="1000" dirty="0"/>
          </a:p>
        </p:txBody>
      </p:sp>
      <p:sp>
        <p:nvSpPr>
          <p:cNvPr id="40" name="o144"/>
          <p:cNvSpPr/>
          <p:nvPr/>
        </p:nvSpPr>
        <p:spPr>
          <a:xfrm>
            <a:off x="5303520" y="3200400"/>
            <a:ext cx="0" cy="2857500"/>
          </a:xfrm>
          <a:prstGeom prst="line">
            <a:avLst/>
          </a:prstGeom>
          <a:noFill/>
          <a:ln w="6350">
            <a:solidFill>
              <a:srgbClr val="E0E0E0"/>
            </a:solidFill>
            <a:prstDash val="solid"/>
          </a:ln>
        </p:spPr>
      </p:sp>
      <p:sp>
        <p:nvSpPr>
          <p:cNvPr id="41" name="o145"/>
          <p:cNvSpPr txBox="1"/>
          <p:nvPr/>
        </p:nvSpPr>
        <p:spPr>
          <a:xfrm>
            <a:off x="6050280" y="2971800"/>
            <a:ext cx="746760" cy="152400"/>
          </a:xfrm>
          <a:prstGeom prst="rect">
            <a:avLst/>
          </a:prstGeom>
          <a:noFill/>
          <a:ln/>
        </p:spPr>
        <p:txBody>
          <a:bodyPr wrap="square" lIns="0" tIns="0" rIns="0" bIns="0" rtlCol="0" anchor="t"/>
          <a:lstStyle/>
          <a:p>
            <a:pPr algn="ctr" indent="0" marL="0">
              <a:buNone/>
            </a:pPr>
            <a:r>
              <a:rPr lang="en-US" sz="1000" b="1" dirty="0">
                <a:solidFill>
                  <a:srgbClr val="525252"/>
                </a:solidFill>
                <a:latin typeface="IBM Plex Sans KR" pitchFamily="34" charset="0"/>
                <a:ea typeface="IBM Plex Sans KR" pitchFamily="34" charset="-122"/>
                <a:cs typeface="IBM Plex Sans KR" pitchFamily="34" charset="-120"/>
              </a:rPr>
              <a:t>4월</a:t>
            </a:r>
            <a:endParaRPr lang="en-US" sz="1000" dirty="0"/>
          </a:p>
        </p:txBody>
      </p:sp>
      <p:sp>
        <p:nvSpPr>
          <p:cNvPr id="42" name="o146"/>
          <p:cNvSpPr/>
          <p:nvPr/>
        </p:nvSpPr>
        <p:spPr>
          <a:xfrm>
            <a:off x="6050280" y="3200400"/>
            <a:ext cx="0" cy="2857500"/>
          </a:xfrm>
          <a:prstGeom prst="line">
            <a:avLst/>
          </a:prstGeom>
          <a:noFill/>
          <a:ln w="6350">
            <a:solidFill>
              <a:srgbClr val="E0E0E0"/>
            </a:solidFill>
            <a:prstDash val="solid"/>
          </a:ln>
        </p:spPr>
      </p:sp>
      <p:sp>
        <p:nvSpPr>
          <p:cNvPr id="43" name="o147"/>
          <p:cNvSpPr txBox="1"/>
          <p:nvPr/>
        </p:nvSpPr>
        <p:spPr>
          <a:xfrm>
            <a:off x="6797040" y="2971800"/>
            <a:ext cx="746760" cy="152400"/>
          </a:xfrm>
          <a:prstGeom prst="rect">
            <a:avLst/>
          </a:prstGeom>
          <a:noFill/>
          <a:ln/>
        </p:spPr>
        <p:txBody>
          <a:bodyPr wrap="square" lIns="0" tIns="0" rIns="0" bIns="0" rtlCol="0" anchor="t"/>
          <a:lstStyle/>
          <a:p>
            <a:pPr algn="ctr" indent="0" marL="0">
              <a:buNone/>
            </a:pPr>
            <a:r>
              <a:rPr lang="en-US" sz="1000" b="1" dirty="0">
                <a:solidFill>
                  <a:srgbClr val="525252"/>
                </a:solidFill>
                <a:latin typeface="IBM Plex Sans KR" pitchFamily="34" charset="0"/>
                <a:ea typeface="IBM Plex Sans KR" pitchFamily="34" charset="-122"/>
                <a:cs typeface="IBM Plex Sans KR" pitchFamily="34" charset="-120"/>
              </a:rPr>
              <a:t>5월</a:t>
            </a:r>
            <a:endParaRPr lang="en-US" sz="1000" dirty="0"/>
          </a:p>
        </p:txBody>
      </p:sp>
      <p:sp>
        <p:nvSpPr>
          <p:cNvPr id="44" name="o148"/>
          <p:cNvSpPr/>
          <p:nvPr/>
        </p:nvSpPr>
        <p:spPr>
          <a:xfrm>
            <a:off x="6797040" y="3200400"/>
            <a:ext cx="0" cy="2857500"/>
          </a:xfrm>
          <a:prstGeom prst="line">
            <a:avLst/>
          </a:prstGeom>
          <a:noFill/>
          <a:ln w="6350">
            <a:solidFill>
              <a:srgbClr val="E0E0E0"/>
            </a:solidFill>
            <a:prstDash val="solid"/>
          </a:ln>
        </p:spPr>
      </p:sp>
      <p:sp>
        <p:nvSpPr>
          <p:cNvPr id="45" name="o149"/>
          <p:cNvSpPr txBox="1"/>
          <p:nvPr/>
        </p:nvSpPr>
        <p:spPr>
          <a:xfrm>
            <a:off x="7543800" y="2971800"/>
            <a:ext cx="746760" cy="152400"/>
          </a:xfrm>
          <a:prstGeom prst="rect">
            <a:avLst/>
          </a:prstGeom>
          <a:noFill/>
          <a:ln/>
        </p:spPr>
        <p:txBody>
          <a:bodyPr wrap="square" lIns="0" tIns="0" rIns="0" bIns="0" rtlCol="0" anchor="t"/>
          <a:lstStyle/>
          <a:p>
            <a:pPr algn="ctr" indent="0" marL="0">
              <a:buNone/>
            </a:pPr>
            <a:r>
              <a:rPr lang="en-US" sz="1000" b="1" dirty="0">
                <a:solidFill>
                  <a:srgbClr val="525252"/>
                </a:solidFill>
                <a:latin typeface="IBM Plex Sans KR" pitchFamily="34" charset="0"/>
                <a:ea typeface="IBM Plex Sans KR" pitchFamily="34" charset="-122"/>
                <a:cs typeface="IBM Plex Sans KR" pitchFamily="34" charset="-120"/>
              </a:rPr>
              <a:t>6월</a:t>
            </a:r>
            <a:endParaRPr lang="en-US" sz="1000" dirty="0"/>
          </a:p>
        </p:txBody>
      </p:sp>
      <p:sp>
        <p:nvSpPr>
          <p:cNvPr id="46" name="o150"/>
          <p:cNvSpPr/>
          <p:nvPr/>
        </p:nvSpPr>
        <p:spPr>
          <a:xfrm>
            <a:off x="7543800" y="3200400"/>
            <a:ext cx="0" cy="2857500"/>
          </a:xfrm>
          <a:prstGeom prst="line">
            <a:avLst/>
          </a:prstGeom>
          <a:noFill/>
          <a:ln w="6350">
            <a:solidFill>
              <a:srgbClr val="E0E0E0"/>
            </a:solidFill>
            <a:prstDash val="solid"/>
          </a:ln>
        </p:spPr>
      </p:sp>
      <p:sp>
        <p:nvSpPr>
          <p:cNvPr id="47" name="o151"/>
          <p:cNvSpPr txBox="1"/>
          <p:nvPr/>
        </p:nvSpPr>
        <p:spPr>
          <a:xfrm>
            <a:off x="8290560" y="2971800"/>
            <a:ext cx="746760" cy="152400"/>
          </a:xfrm>
          <a:prstGeom prst="rect">
            <a:avLst/>
          </a:prstGeom>
          <a:noFill/>
          <a:ln/>
        </p:spPr>
        <p:txBody>
          <a:bodyPr wrap="square" lIns="0" tIns="0" rIns="0" bIns="0" rtlCol="0" anchor="t"/>
          <a:lstStyle/>
          <a:p>
            <a:pPr algn="ctr" indent="0" marL="0">
              <a:buNone/>
            </a:pPr>
            <a:r>
              <a:rPr lang="en-US" sz="1000" b="1" dirty="0">
                <a:solidFill>
                  <a:srgbClr val="525252"/>
                </a:solidFill>
                <a:latin typeface="IBM Plex Sans KR" pitchFamily="34" charset="0"/>
                <a:ea typeface="IBM Plex Sans KR" pitchFamily="34" charset="-122"/>
                <a:cs typeface="IBM Plex Sans KR" pitchFamily="34" charset="-120"/>
              </a:rPr>
              <a:t>7월</a:t>
            </a:r>
            <a:endParaRPr lang="en-US" sz="1000" dirty="0"/>
          </a:p>
        </p:txBody>
      </p:sp>
      <p:sp>
        <p:nvSpPr>
          <p:cNvPr id="48" name="o152"/>
          <p:cNvSpPr/>
          <p:nvPr/>
        </p:nvSpPr>
        <p:spPr>
          <a:xfrm>
            <a:off x="8290560" y="3200400"/>
            <a:ext cx="0" cy="2857500"/>
          </a:xfrm>
          <a:prstGeom prst="line">
            <a:avLst/>
          </a:prstGeom>
          <a:noFill/>
          <a:ln w="6350">
            <a:solidFill>
              <a:srgbClr val="E0E0E0"/>
            </a:solidFill>
            <a:prstDash val="solid"/>
          </a:ln>
        </p:spPr>
      </p:sp>
      <p:sp>
        <p:nvSpPr>
          <p:cNvPr id="49" name="o153"/>
          <p:cNvSpPr txBox="1"/>
          <p:nvPr/>
        </p:nvSpPr>
        <p:spPr>
          <a:xfrm>
            <a:off x="9037320" y="2971800"/>
            <a:ext cx="746760" cy="152400"/>
          </a:xfrm>
          <a:prstGeom prst="rect">
            <a:avLst/>
          </a:prstGeom>
          <a:noFill/>
          <a:ln/>
        </p:spPr>
        <p:txBody>
          <a:bodyPr wrap="square" lIns="0" tIns="0" rIns="0" bIns="0" rtlCol="0" anchor="t"/>
          <a:lstStyle/>
          <a:p>
            <a:pPr algn="ctr" indent="0" marL="0">
              <a:buNone/>
            </a:pPr>
            <a:r>
              <a:rPr lang="en-US" sz="1000" b="1" dirty="0">
                <a:solidFill>
                  <a:srgbClr val="525252"/>
                </a:solidFill>
                <a:latin typeface="IBM Plex Sans KR" pitchFamily="34" charset="0"/>
                <a:ea typeface="IBM Plex Sans KR" pitchFamily="34" charset="-122"/>
                <a:cs typeface="IBM Plex Sans KR" pitchFamily="34" charset="-120"/>
              </a:rPr>
              <a:t>8월</a:t>
            </a:r>
            <a:endParaRPr lang="en-US" sz="1000" dirty="0"/>
          </a:p>
        </p:txBody>
      </p:sp>
      <p:sp>
        <p:nvSpPr>
          <p:cNvPr id="50" name="o154"/>
          <p:cNvSpPr/>
          <p:nvPr/>
        </p:nvSpPr>
        <p:spPr>
          <a:xfrm>
            <a:off x="9037320" y="3200400"/>
            <a:ext cx="0" cy="2857500"/>
          </a:xfrm>
          <a:prstGeom prst="line">
            <a:avLst/>
          </a:prstGeom>
          <a:noFill/>
          <a:ln w="6350">
            <a:solidFill>
              <a:srgbClr val="E0E0E0"/>
            </a:solidFill>
            <a:prstDash val="solid"/>
          </a:ln>
        </p:spPr>
      </p:sp>
      <p:sp>
        <p:nvSpPr>
          <p:cNvPr id="51" name="o155"/>
          <p:cNvSpPr txBox="1"/>
          <p:nvPr/>
        </p:nvSpPr>
        <p:spPr>
          <a:xfrm>
            <a:off x="9784080" y="2971800"/>
            <a:ext cx="746760" cy="152400"/>
          </a:xfrm>
          <a:prstGeom prst="rect">
            <a:avLst/>
          </a:prstGeom>
          <a:noFill/>
          <a:ln/>
        </p:spPr>
        <p:txBody>
          <a:bodyPr wrap="square" lIns="0" tIns="0" rIns="0" bIns="0" rtlCol="0" anchor="t"/>
          <a:lstStyle/>
          <a:p>
            <a:pPr algn="ctr" indent="0" marL="0">
              <a:buNone/>
            </a:pPr>
            <a:r>
              <a:rPr lang="en-US" sz="1000" b="1" dirty="0">
                <a:solidFill>
                  <a:srgbClr val="525252"/>
                </a:solidFill>
                <a:latin typeface="IBM Plex Sans KR" pitchFamily="34" charset="0"/>
                <a:ea typeface="IBM Plex Sans KR" pitchFamily="34" charset="-122"/>
                <a:cs typeface="IBM Plex Sans KR" pitchFamily="34" charset="-120"/>
              </a:rPr>
              <a:t>9월</a:t>
            </a:r>
            <a:endParaRPr lang="en-US" sz="1000" dirty="0"/>
          </a:p>
        </p:txBody>
      </p:sp>
      <p:sp>
        <p:nvSpPr>
          <p:cNvPr id="52" name="o156"/>
          <p:cNvSpPr/>
          <p:nvPr/>
        </p:nvSpPr>
        <p:spPr>
          <a:xfrm>
            <a:off x="9784080" y="3200400"/>
            <a:ext cx="0" cy="2857500"/>
          </a:xfrm>
          <a:prstGeom prst="line">
            <a:avLst/>
          </a:prstGeom>
          <a:noFill/>
          <a:ln w="6350">
            <a:solidFill>
              <a:srgbClr val="E0E0E0"/>
            </a:solidFill>
            <a:prstDash val="solid"/>
          </a:ln>
        </p:spPr>
      </p:sp>
      <p:sp>
        <p:nvSpPr>
          <p:cNvPr id="53" name="o157"/>
          <p:cNvSpPr txBox="1"/>
          <p:nvPr/>
        </p:nvSpPr>
        <p:spPr>
          <a:xfrm>
            <a:off x="10530840" y="2971800"/>
            <a:ext cx="746760" cy="152400"/>
          </a:xfrm>
          <a:prstGeom prst="rect">
            <a:avLst/>
          </a:prstGeom>
          <a:noFill/>
          <a:ln/>
        </p:spPr>
        <p:txBody>
          <a:bodyPr wrap="square" lIns="0" tIns="0" rIns="0" bIns="0" rtlCol="0" anchor="t"/>
          <a:lstStyle/>
          <a:p>
            <a:pPr algn="ctr" indent="0" marL="0">
              <a:buNone/>
            </a:pPr>
            <a:r>
              <a:rPr lang="en-US" sz="1000" b="1" dirty="0">
                <a:solidFill>
                  <a:srgbClr val="525252"/>
                </a:solidFill>
                <a:latin typeface="IBM Plex Sans KR" pitchFamily="34" charset="0"/>
                <a:ea typeface="IBM Plex Sans KR" pitchFamily="34" charset="-122"/>
                <a:cs typeface="IBM Plex Sans KR" pitchFamily="34" charset="-120"/>
              </a:rPr>
              <a:t>10월</a:t>
            </a:r>
            <a:endParaRPr lang="en-US" sz="1000" dirty="0"/>
          </a:p>
        </p:txBody>
      </p:sp>
      <p:sp>
        <p:nvSpPr>
          <p:cNvPr id="54" name="o158"/>
          <p:cNvSpPr/>
          <p:nvPr/>
        </p:nvSpPr>
        <p:spPr>
          <a:xfrm>
            <a:off x="10530840" y="3200400"/>
            <a:ext cx="0" cy="2857500"/>
          </a:xfrm>
          <a:prstGeom prst="line">
            <a:avLst/>
          </a:prstGeom>
          <a:noFill/>
          <a:ln w="6350">
            <a:solidFill>
              <a:srgbClr val="E0E0E0"/>
            </a:solidFill>
            <a:prstDash val="solid"/>
          </a:ln>
        </p:spPr>
      </p:sp>
      <p:sp>
        <p:nvSpPr>
          <p:cNvPr id="55" name="o159"/>
          <p:cNvSpPr/>
          <p:nvPr/>
        </p:nvSpPr>
        <p:spPr>
          <a:xfrm>
            <a:off x="11277600" y="3200400"/>
            <a:ext cx="0" cy="2857500"/>
          </a:xfrm>
          <a:prstGeom prst="line">
            <a:avLst/>
          </a:prstGeom>
          <a:noFill/>
          <a:ln w="6350">
            <a:solidFill>
              <a:srgbClr val="E0E0E0"/>
            </a:solidFill>
            <a:prstDash val="solid"/>
          </a:ln>
        </p:spPr>
      </p:sp>
      <p:sp>
        <p:nvSpPr>
          <p:cNvPr id="56" name="o160"/>
          <p:cNvSpPr txBox="1"/>
          <p:nvPr/>
        </p:nvSpPr>
        <p:spPr>
          <a:xfrm>
            <a:off x="914400" y="3352800"/>
            <a:ext cx="571500" cy="247650"/>
          </a:xfrm>
          <a:prstGeom prst="rect">
            <a:avLst/>
          </a:prstGeom>
          <a:noFill/>
          <a:ln/>
        </p:spPr>
        <p:txBody>
          <a:bodyPr wrap="square" lIns="0" tIns="0" rIns="0" bIns="0" rtlCol="0" anchor="ctr"/>
          <a:lstStyle/>
          <a:p>
            <a:pPr indent="0" marL="0">
              <a:buNone/>
            </a:pPr>
            <a:r>
              <a:rPr lang="en-US" sz="1000" b="1" dirty="0">
                <a:solidFill>
                  <a:srgbClr val="0F62FE"/>
                </a:solidFill>
                <a:latin typeface="IBM Plex Sans KR" pitchFamily="34" charset="0"/>
                <a:ea typeface="IBM Plex Sans KR" pitchFamily="34" charset="-122"/>
                <a:cs typeface="IBM Plex Sans KR" pitchFamily="34" charset="-120"/>
              </a:rPr>
              <a:t>Plan</a:t>
            </a:r>
            <a:endParaRPr lang="en-US" sz="1000" dirty="0"/>
          </a:p>
        </p:txBody>
      </p:sp>
      <p:sp>
        <p:nvSpPr>
          <p:cNvPr id="57" name="o161"/>
          <p:cNvSpPr txBox="1"/>
          <p:nvPr/>
        </p:nvSpPr>
        <p:spPr>
          <a:xfrm>
            <a:off x="1485900" y="3352800"/>
            <a:ext cx="2324100" cy="247650"/>
          </a:xfrm>
          <a:prstGeom prst="rect">
            <a:avLst/>
          </a:prstGeom>
          <a:noFill/>
          <a:ln/>
        </p:spPr>
        <p:txBody>
          <a:bodyPr wrap="square" lIns="0" tIns="0" rIns="0" bIns="0" rtlCol="0" anchor="ctr"/>
          <a:lstStyle/>
          <a:p>
            <a:pPr indent="0" marL="0">
              <a:buNone/>
            </a:pPr>
            <a:r>
              <a:rPr lang="en-US" sz="1200" dirty="0">
                <a:solidFill>
                  <a:srgbClr val="161616"/>
                </a:solidFill>
                <a:latin typeface="IBM Plex Sans KR" pitchFamily="34" charset="0"/>
                <a:ea typeface="IBM Plex Sans KR" pitchFamily="34" charset="-122"/>
                <a:cs typeface="IBM Plex Sans KR" pitchFamily="34" charset="-120"/>
              </a:rPr>
              <a:t>현황 · 원인 분석 · 목표</a:t>
            </a:r>
            <a:endParaRPr lang="en-US" sz="1200" dirty="0"/>
          </a:p>
        </p:txBody>
      </p:sp>
      <p:sp>
        <p:nvSpPr>
          <p:cNvPr id="58" name="o162"/>
          <p:cNvSpPr/>
          <p:nvPr/>
        </p:nvSpPr>
        <p:spPr>
          <a:xfrm>
            <a:off x="3857625" y="3390900"/>
            <a:ext cx="2145030" cy="171450"/>
          </a:xfrm>
          <a:prstGeom prst="rect">
            <a:avLst/>
          </a:prstGeom>
          <a:solidFill>
            <a:srgbClr val="78A9FF"/>
          </a:solidFill>
          <a:ln/>
        </p:spPr>
      </p:sp>
      <p:sp>
        <p:nvSpPr>
          <p:cNvPr id="59" name="o163"/>
          <p:cNvSpPr txBox="1"/>
          <p:nvPr/>
        </p:nvSpPr>
        <p:spPr>
          <a:xfrm>
            <a:off x="914400" y="3790950"/>
            <a:ext cx="571500" cy="247650"/>
          </a:xfrm>
          <a:prstGeom prst="rect">
            <a:avLst/>
          </a:prstGeom>
          <a:noFill/>
          <a:ln/>
        </p:spPr>
        <p:txBody>
          <a:bodyPr wrap="square" lIns="0" tIns="0" rIns="0" bIns="0" rtlCol="0" anchor="ctr"/>
          <a:lstStyle/>
          <a:p>
            <a:pPr indent="0" marL="0">
              <a:buNone/>
            </a:pPr>
            <a:r>
              <a:rPr lang="en-US" sz="1000" b="1" dirty="0">
                <a:solidFill>
                  <a:srgbClr val="0F62FE"/>
                </a:solidFill>
                <a:latin typeface="IBM Plex Sans KR" pitchFamily="34" charset="0"/>
                <a:ea typeface="IBM Plex Sans KR" pitchFamily="34" charset="-122"/>
                <a:cs typeface="IBM Plex Sans KR" pitchFamily="34" charset="-120"/>
              </a:rPr>
              <a:t>Do</a:t>
            </a:r>
            <a:endParaRPr lang="en-US" sz="1000" dirty="0"/>
          </a:p>
        </p:txBody>
      </p:sp>
      <p:sp>
        <p:nvSpPr>
          <p:cNvPr id="60" name="o164"/>
          <p:cNvSpPr txBox="1"/>
          <p:nvPr/>
        </p:nvSpPr>
        <p:spPr>
          <a:xfrm>
            <a:off x="1485900" y="3790950"/>
            <a:ext cx="2324100" cy="247650"/>
          </a:xfrm>
          <a:prstGeom prst="rect">
            <a:avLst/>
          </a:prstGeom>
          <a:noFill/>
          <a:ln/>
        </p:spPr>
        <p:txBody>
          <a:bodyPr wrap="square" lIns="0" tIns="0" rIns="0" bIns="0" rtlCol="0" anchor="ctr"/>
          <a:lstStyle/>
          <a:p>
            <a:pPr indent="0" marL="0">
              <a:buNone/>
            </a:pPr>
            <a:r>
              <a:rPr lang="en-US" sz="1200" dirty="0">
                <a:solidFill>
                  <a:srgbClr val="161616"/>
                </a:solidFill>
                <a:latin typeface="IBM Plex Sans KR" pitchFamily="34" charset="0"/>
                <a:ea typeface="IBM Plex Sans KR" pitchFamily="34" charset="-122"/>
                <a:cs typeface="IBM Plex Sans KR" pitchFamily="34" charset="-120"/>
              </a:rPr>
              <a:t>개발 · 4월 프로토타입</a:t>
            </a:r>
            <a:endParaRPr lang="en-US" sz="1200" dirty="0"/>
          </a:p>
        </p:txBody>
      </p:sp>
      <p:sp>
        <p:nvSpPr>
          <p:cNvPr id="61" name="o165"/>
          <p:cNvSpPr/>
          <p:nvPr/>
        </p:nvSpPr>
        <p:spPr>
          <a:xfrm>
            <a:off x="5351145" y="3829050"/>
            <a:ext cx="1398270" cy="171450"/>
          </a:xfrm>
          <a:prstGeom prst="rect">
            <a:avLst/>
          </a:prstGeom>
          <a:solidFill>
            <a:srgbClr val="A6C8FF"/>
          </a:solidFill>
          <a:ln/>
        </p:spPr>
      </p:sp>
      <p:sp>
        <p:nvSpPr>
          <p:cNvPr id="62" name="o166"/>
          <p:cNvSpPr txBox="1"/>
          <p:nvPr/>
        </p:nvSpPr>
        <p:spPr>
          <a:xfrm>
            <a:off x="914400" y="4229100"/>
            <a:ext cx="571500" cy="247650"/>
          </a:xfrm>
          <a:prstGeom prst="rect">
            <a:avLst/>
          </a:prstGeom>
          <a:noFill/>
          <a:ln/>
        </p:spPr>
        <p:txBody>
          <a:bodyPr wrap="square" lIns="0" tIns="0" rIns="0" bIns="0" rtlCol="0" anchor="ctr"/>
          <a:lstStyle/>
          <a:p>
            <a:pPr indent="0" marL="0">
              <a:buNone/>
            </a:pPr>
            <a:r>
              <a:rPr lang="en-US" sz="1000" b="1" dirty="0">
                <a:solidFill>
                  <a:srgbClr val="0F62FE"/>
                </a:solidFill>
                <a:latin typeface="IBM Plex Sans KR" pitchFamily="34" charset="0"/>
                <a:ea typeface="IBM Plex Sans KR" pitchFamily="34" charset="-122"/>
                <a:cs typeface="IBM Plex Sans KR" pitchFamily="34" charset="-120"/>
              </a:rPr>
              <a:t>Do</a:t>
            </a:r>
            <a:endParaRPr lang="en-US" sz="1000" dirty="0"/>
          </a:p>
        </p:txBody>
      </p:sp>
      <p:sp>
        <p:nvSpPr>
          <p:cNvPr id="63" name="o167"/>
          <p:cNvSpPr txBox="1"/>
          <p:nvPr/>
        </p:nvSpPr>
        <p:spPr>
          <a:xfrm>
            <a:off x="1485900" y="4229100"/>
            <a:ext cx="2324100" cy="247650"/>
          </a:xfrm>
          <a:prstGeom prst="rect">
            <a:avLst/>
          </a:prstGeom>
          <a:noFill/>
          <a:ln/>
        </p:spPr>
        <p:txBody>
          <a:bodyPr wrap="square" lIns="0" tIns="0" rIns="0" bIns="0" rtlCol="0" anchor="ctr"/>
          <a:lstStyle/>
          <a:p>
            <a:pPr indent="0" marL="0">
              <a:buNone/>
            </a:pPr>
            <a:r>
              <a:rPr lang="en-US" sz="1200" dirty="0">
                <a:solidFill>
                  <a:srgbClr val="161616"/>
                </a:solidFill>
                <a:latin typeface="IBM Plex Sans KR" pitchFamily="34" charset="0"/>
                <a:ea typeface="IBM Plex Sans KR" pitchFamily="34" charset="-122"/>
                <a:cs typeface="IBM Plex Sans KR" pitchFamily="34" charset="-120"/>
              </a:rPr>
              <a:t>61병동 → 전 부서 적용</a:t>
            </a:r>
            <a:endParaRPr lang="en-US" sz="1200" dirty="0"/>
          </a:p>
        </p:txBody>
      </p:sp>
      <p:sp>
        <p:nvSpPr>
          <p:cNvPr id="64" name="o168"/>
          <p:cNvSpPr/>
          <p:nvPr/>
        </p:nvSpPr>
        <p:spPr>
          <a:xfrm>
            <a:off x="6844665" y="4267200"/>
            <a:ext cx="2145030" cy="171450"/>
          </a:xfrm>
          <a:prstGeom prst="rect">
            <a:avLst/>
          </a:prstGeom>
          <a:solidFill>
            <a:srgbClr val="78A9FF"/>
          </a:solidFill>
          <a:ln/>
        </p:spPr>
      </p:sp>
      <p:sp>
        <p:nvSpPr>
          <p:cNvPr id="65" name="o169"/>
          <p:cNvSpPr txBox="1"/>
          <p:nvPr/>
        </p:nvSpPr>
        <p:spPr>
          <a:xfrm>
            <a:off x="914400" y="4667250"/>
            <a:ext cx="571500" cy="247650"/>
          </a:xfrm>
          <a:prstGeom prst="rect">
            <a:avLst/>
          </a:prstGeom>
          <a:noFill/>
          <a:ln/>
        </p:spPr>
        <p:txBody>
          <a:bodyPr wrap="square" lIns="0" tIns="0" rIns="0" bIns="0" rtlCol="0" anchor="ctr"/>
          <a:lstStyle/>
          <a:p>
            <a:pPr indent="0" marL="0">
              <a:buNone/>
            </a:pPr>
            <a:r>
              <a:rPr lang="en-US" sz="1000" b="1" dirty="0">
                <a:solidFill>
                  <a:srgbClr val="0F62FE"/>
                </a:solidFill>
                <a:latin typeface="IBM Plex Sans KR" pitchFamily="34" charset="0"/>
                <a:ea typeface="IBM Plex Sans KR" pitchFamily="34" charset="-122"/>
                <a:cs typeface="IBM Plex Sans KR" pitchFamily="34" charset="-120"/>
              </a:rPr>
              <a:t>Check</a:t>
            </a:r>
            <a:endParaRPr lang="en-US" sz="1000" dirty="0"/>
          </a:p>
        </p:txBody>
      </p:sp>
      <p:sp>
        <p:nvSpPr>
          <p:cNvPr id="66" name="o170"/>
          <p:cNvSpPr txBox="1"/>
          <p:nvPr/>
        </p:nvSpPr>
        <p:spPr>
          <a:xfrm>
            <a:off x="1485900" y="4667250"/>
            <a:ext cx="2324100" cy="247650"/>
          </a:xfrm>
          <a:prstGeom prst="rect">
            <a:avLst/>
          </a:prstGeom>
          <a:noFill/>
          <a:ln/>
        </p:spPr>
        <p:txBody>
          <a:bodyPr wrap="square" lIns="0" tIns="0" rIns="0" bIns="0" rtlCol="0" anchor="ctr"/>
          <a:lstStyle/>
          <a:p>
            <a:pPr indent="0" marL="0">
              <a:buNone/>
            </a:pPr>
            <a:r>
              <a:rPr lang="en-US" sz="1200" dirty="0">
                <a:solidFill>
                  <a:srgbClr val="161616"/>
                </a:solidFill>
                <a:latin typeface="IBM Plex Sans KR" pitchFamily="34" charset="0"/>
                <a:ea typeface="IBM Plex Sans KR" pitchFamily="34" charset="-122"/>
                <a:cs typeface="IBM Plex Sans KR" pitchFamily="34" charset="-120"/>
              </a:rPr>
              <a:t>결과 확인</a:t>
            </a:r>
            <a:endParaRPr lang="en-US" sz="1200" dirty="0"/>
          </a:p>
        </p:txBody>
      </p:sp>
      <p:sp>
        <p:nvSpPr>
          <p:cNvPr id="67" name="o171"/>
          <p:cNvSpPr/>
          <p:nvPr/>
        </p:nvSpPr>
        <p:spPr>
          <a:xfrm>
            <a:off x="8338185" y="4705350"/>
            <a:ext cx="651510" cy="171450"/>
          </a:xfrm>
          <a:prstGeom prst="rect">
            <a:avLst/>
          </a:prstGeom>
          <a:solidFill>
            <a:srgbClr val="4589FF"/>
          </a:solidFill>
          <a:ln/>
        </p:spPr>
      </p:sp>
      <p:sp>
        <p:nvSpPr>
          <p:cNvPr id="68" name="o172"/>
          <p:cNvSpPr txBox="1"/>
          <p:nvPr/>
        </p:nvSpPr>
        <p:spPr>
          <a:xfrm>
            <a:off x="914400" y="5105400"/>
            <a:ext cx="571500" cy="247650"/>
          </a:xfrm>
          <a:prstGeom prst="rect">
            <a:avLst/>
          </a:prstGeom>
          <a:noFill/>
          <a:ln/>
        </p:spPr>
        <p:txBody>
          <a:bodyPr wrap="square" lIns="0" tIns="0" rIns="0" bIns="0" rtlCol="0" anchor="ctr"/>
          <a:lstStyle/>
          <a:p>
            <a:pPr indent="0" marL="0">
              <a:buNone/>
            </a:pPr>
            <a:r>
              <a:rPr lang="en-US" sz="1000" b="1" dirty="0">
                <a:solidFill>
                  <a:srgbClr val="0F62FE"/>
                </a:solidFill>
                <a:latin typeface="IBM Plex Sans KR" pitchFamily="34" charset="0"/>
                <a:ea typeface="IBM Plex Sans KR" pitchFamily="34" charset="-122"/>
                <a:cs typeface="IBM Plex Sans KR" pitchFamily="34" charset="-120"/>
              </a:rPr>
              <a:t>Act</a:t>
            </a:r>
            <a:endParaRPr lang="en-US" sz="1000" dirty="0"/>
          </a:p>
        </p:txBody>
      </p:sp>
      <p:sp>
        <p:nvSpPr>
          <p:cNvPr id="69" name="o173"/>
          <p:cNvSpPr txBox="1"/>
          <p:nvPr/>
        </p:nvSpPr>
        <p:spPr>
          <a:xfrm>
            <a:off x="1485900" y="5105400"/>
            <a:ext cx="2324100" cy="247650"/>
          </a:xfrm>
          <a:prstGeom prst="rect">
            <a:avLst/>
          </a:prstGeom>
          <a:noFill/>
          <a:ln/>
        </p:spPr>
        <p:txBody>
          <a:bodyPr wrap="square" lIns="0" tIns="0" rIns="0" bIns="0" rtlCol="0" anchor="ctr"/>
          <a:lstStyle/>
          <a:p>
            <a:pPr indent="0" marL="0">
              <a:buNone/>
            </a:pPr>
            <a:r>
              <a:rPr lang="en-US" sz="1200" dirty="0">
                <a:solidFill>
                  <a:srgbClr val="161616"/>
                </a:solidFill>
                <a:latin typeface="IBM Plex Sans KR" pitchFamily="34" charset="0"/>
                <a:ea typeface="IBM Plex Sans KR" pitchFamily="34" charset="-122"/>
                <a:cs typeface="IBM Plex Sans KR" pitchFamily="34" charset="-120"/>
              </a:rPr>
              <a:t>표준화 · AI 고도화</a:t>
            </a:r>
            <a:endParaRPr lang="en-US" sz="1200" dirty="0"/>
          </a:p>
        </p:txBody>
      </p:sp>
      <p:sp>
        <p:nvSpPr>
          <p:cNvPr id="70" name="o174"/>
          <p:cNvSpPr/>
          <p:nvPr/>
        </p:nvSpPr>
        <p:spPr>
          <a:xfrm>
            <a:off x="9084945" y="5143500"/>
            <a:ext cx="2145030" cy="171450"/>
          </a:xfrm>
          <a:prstGeom prst="rect">
            <a:avLst/>
          </a:prstGeom>
          <a:solidFill>
            <a:srgbClr val="0F62FE"/>
          </a:solidFill>
          <a:ln/>
        </p:spPr>
      </p:sp>
      <p:sp>
        <p:nvSpPr>
          <p:cNvPr id="71" name="o175"/>
          <p:cNvSpPr txBox="1"/>
          <p:nvPr/>
        </p:nvSpPr>
        <p:spPr>
          <a:xfrm>
            <a:off x="914400" y="5543550"/>
            <a:ext cx="571500" cy="247650"/>
          </a:xfrm>
          <a:prstGeom prst="rect">
            <a:avLst/>
          </a:prstGeom>
          <a:noFill/>
          <a:ln/>
        </p:spPr>
        <p:txBody>
          <a:bodyPr wrap="square" lIns="0" tIns="0" rIns="0" bIns="0" rtlCol="0" anchor="ctr"/>
          <a:lstStyle/>
          <a:p>
            <a:pPr indent="0" marL="0">
              <a:buNone/>
            </a:pPr>
            <a:endParaRPr lang="en-US" sz="1000" dirty="0"/>
          </a:p>
        </p:txBody>
      </p:sp>
      <p:sp>
        <p:nvSpPr>
          <p:cNvPr id="72" name="o176"/>
          <p:cNvSpPr txBox="1"/>
          <p:nvPr/>
        </p:nvSpPr>
        <p:spPr>
          <a:xfrm>
            <a:off x="1485900" y="5543550"/>
            <a:ext cx="2324100" cy="247650"/>
          </a:xfrm>
          <a:prstGeom prst="rect">
            <a:avLst/>
          </a:prstGeom>
          <a:noFill/>
          <a:ln/>
        </p:spPr>
        <p:txBody>
          <a:bodyPr wrap="square" lIns="0" tIns="0" rIns="0" bIns="0" rtlCol="0" anchor="ctr"/>
          <a:lstStyle/>
          <a:p>
            <a:pPr indent="0" marL="0">
              <a:buNone/>
            </a:pPr>
            <a:r>
              <a:rPr lang="en-US" sz="1200" dirty="0">
                <a:solidFill>
                  <a:srgbClr val="161616"/>
                </a:solidFill>
                <a:latin typeface="IBM Plex Sans KR" pitchFamily="34" charset="0"/>
                <a:ea typeface="IBM Plex Sans KR" pitchFamily="34" charset="-122"/>
                <a:cs typeface="IBM Plex Sans KR" pitchFamily="34" charset="-120"/>
              </a:rPr>
              <a:t>QI 경진대회</a:t>
            </a:r>
            <a:endParaRPr lang="en-US" sz="1200" dirty="0"/>
          </a:p>
        </p:txBody>
      </p:sp>
      <p:sp>
        <p:nvSpPr>
          <p:cNvPr id="73" name="o177"/>
          <p:cNvSpPr/>
          <p:nvPr/>
        </p:nvSpPr>
        <p:spPr>
          <a:xfrm>
            <a:off x="9831705" y="5581650"/>
            <a:ext cx="651510" cy="171450"/>
          </a:xfrm>
          <a:prstGeom prst="rect">
            <a:avLst/>
          </a:prstGeom>
          <a:solidFill>
            <a:srgbClr val="161616"/>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o178"/>
          <p:cNvSpPr/>
          <p:nvPr/>
        </p:nvSpPr>
        <p:spPr>
          <a:xfrm>
            <a:off x="609600" y="228600"/>
            <a:ext cx="2686050" cy="38100"/>
          </a:xfrm>
          <a:prstGeom prst="rect">
            <a:avLst/>
          </a:prstGeom>
          <a:solidFill>
            <a:srgbClr val="0F62FE"/>
          </a:solidFill>
          <a:ln/>
        </p:spPr>
      </p:sp>
      <p:sp>
        <p:nvSpPr>
          <p:cNvPr id="3" name="o179"/>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b="1" dirty="0">
                <a:solidFill>
                  <a:srgbClr val="0F62FE"/>
                </a:solidFill>
                <a:latin typeface="IBM Plex Sans KR" pitchFamily="34" charset="0"/>
                <a:ea typeface="IBM Plex Sans KR" pitchFamily="34" charset="-122"/>
                <a:cs typeface="IBM Plex Sans KR" pitchFamily="34" charset="-120"/>
              </a:rPr>
              <a:t>Plan</a:t>
            </a:r>
            <a:endParaRPr lang="en-US" sz="800" dirty="0"/>
          </a:p>
        </p:txBody>
      </p:sp>
      <p:sp>
        <p:nvSpPr>
          <p:cNvPr id="4" name="o180"/>
          <p:cNvSpPr/>
          <p:nvPr/>
        </p:nvSpPr>
        <p:spPr>
          <a:xfrm>
            <a:off x="3371850" y="228600"/>
            <a:ext cx="2686050" cy="38100"/>
          </a:xfrm>
          <a:prstGeom prst="rect">
            <a:avLst/>
          </a:prstGeom>
          <a:solidFill>
            <a:srgbClr val="E0E0E0"/>
          </a:solidFill>
          <a:ln/>
        </p:spPr>
      </p:sp>
      <p:sp>
        <p:nvSpPr>
          <p:cNvPr id="5" name="o181"/>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Do</a:t>
            </a:r>
            <a:endParaRPr lang="en-US" sz="800" dirty="0"/>
          </a:p>
        </p:txBody>
      </p:sp>
      <p:sp>
        <p:nvSpPr>
          <p:cNvPr id="6" name="o182"/>
          <p:cNvSpPr/>
          <p:nvPr/>
        </p:nvSpPr>
        <p:spPr>
          <a:xfrm>
            <a:off x="6134100" y="228600"/>
            <a:ext cx="2686050" cy="38100"/>
          </a:xfrm>
          <a:prstGeom prst="rect">
            <a:avLst/>
          </a:prstGeom>
          <a:solidFill>
            <a:srgbClr val="E0E0E0"/>
          </a:solidFill>
          <a:ln/>
        </p:spPr>
      </p:sp>
      <p:sp>
        <p:nvSpPr>
          <p:cNvPr id="7" name="o183"/>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Check</a:t>
            </a:r>
            <a:endParaRPr lang="en-US" sz="800" dirty="0"/>
          </a:p>
        </p:txBody>
      </p:sp>
      <p:sp>
        <p:nvSpPr>
          <p:cNvPr id="8" name="o184"/>
          <p:cNvSpPr/>
          <p:nvPr/>
        </p:nvSpPr>
        <p:spPr>
          <a:xfrm>
            <a:off x="8896350" y="228600"/>
            <a:ext cx="2686050" cy="38100"/>
          </a:xfrm>
          <a:prstGeom prst="rect">
            <a:avLst/>
          </a:prstGeom>
          <a:solidFill>
            <a:srgbClr val="E0E0E0"/>
          </a:solidFill>
          <a:ln/>
        </p:spPr>
      </p:sp>
      <p:sp>
        <p:nvSpPr>
          <p:cNvPr id="9" name="o185"/>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Act</a:t>
            </a:r>
            <a:endParaRPr lang="en-US" sz="800" dirty="0"/>
          </a:p>
        </p:txBody>
      </p:sp>
      <p:sp>
        <p:nvSpPr>
          <p:cNvPr id="10" name="o186"/>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F62FE"/>
                </a:solidFill>
                <a:latin typeface="IBM Plex Sans KR" pitchFamily="34" charset="0"/>
                <a:ea typeface="IBM Plex Sans KR" pitchFamily="34" charset="-122"/>
                <a:cs typeface="IBM Plex Sans KR" pitchFamily="34" charset="-120"/>
              </a:rPr>
              <a:t>02   PROBLEM  ·  현황 파악</a:t>
            </a:r>
            <a:endParaRPr lang="en-US" sz="1100" dirty="0"/>
          </a:p>
        </p:txBody>
      </p:sp>
      <p:sp>
        <p:nvSpPr>
          <p:cNvPr id="11" name="o187"/>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교육 1건에 33분 48초, 그중 78%는 기다림과 이동이었습니다</a:t>
            </a:r>
            <a:endParaRPr lang="en-US" sz="2600" dirty="0"/>
          </a:p>
        </p:txBody>
      </p:sp>
      <p:sp>
        <p:nvSpPr>
          <p:cNvPr id="12" name="o188"/>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25252"/>
                </a:solidFill>
                <a:latin typeface="IBM Plex Sans KR" pitchFamily="34" charset="0"/>
                <a:ea typeface="IBM Plex Sans KR" pitchFamily="34" charset="-122"/>
                <a:cs typeface="IBM Plex Sans KR" pitchFamily="34" charset="-120"/>
              </a:rPr>
              <a:t>2025년 1–12월 신규 입사자 106명 교육일지 전수조사  ·  세부 행동 단위별 소요시간 실측</a:t>
            </a:r>
            <a:endParaRPr lang="en-US" sz="1300" dirty="0"/>
          </a:p>
        </p:txBody>
      </p:sp>
      <p:sp>
        <p:nvSpPr>
          <p:cNvPr id="13" name="o189"/>
          <p:cNvSpPr/>
          <p:nvPr/>
        </p:nvSpPr>
        <p:spPr>
          <a:xfrm>
            <a:off x="0" y="6477000"/>
            <a:ext cx="12192000" cy="381000"/>
          </a:xfrm>
          <a:prstGeom prst="rect">
            <a:avLst/>
          </a:prstGeom>
          <a:solidFill>
            <a:srgbClr val="161616"/>
          </a:solidFill>
          <a:ln/>
        </p:spPr>
      </p:sp>
      <p:sp>
        <p:nvSpPr>
          <p:cNvPr id="14" name="o190"/>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IBM Plex Sans KR" pitchFamily="34" charset="0"/>
                <a:ea typeface="IBM Plex Sans KR" pitchFamily="34" charset="-122"/>
                <a:cs typeface="IBM Plex Sans KR" pitchFamily="34" charset="-120"/>
              </a:rPr>
              <a:t>부산부민병원 안전보건 통합관리 시스템  ·  Safety First</a:t>
            </a:r>
            <a:endParaRPr lang="en-US" sz="900" dirty="0"/>
          </a:p>
        </p:txBody>
      </p:sp>
      <p:sp>
        <p:nvSpPr>
          <p:cNvPr id="15" name="o191"/>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IBM Plex Sans KR" pitchFamily="34" charset="0"/>
                <a:ea typeface="IBM Plex Sans KR" pitchFamily="34" charset="-122"/>
                <a:cs typeface="IBM Plex Sans KR" pitchFamily="34" charset="-120"/>
              </a:rPr>
              <a:t>05</a:t>
            </a:r>
            <a:endParaRPr lang="en-US" sz="1000" dirty="0"/>
          </a:p>
        </p:txBody>
      </p:sp>
      <p:sp>
        <p:nvSpPr>
          <p:cNvPr id="16" name="o192"/>
          <p:cNvSpPr/>
          <p:nvPr/>
        </p:nvSpPr>
        <p:spPr>
          <a:xfrm>
            <a:off x="609600" y="1600200"/>
            <a:ext cx="3530600" cy="1981200"/>
          </a:xfrm>
          <a:prstGeom prst="rect">
            <a:avLst/>
          </a:prstGeom>
          <a:solidFill>
            <a:srgbClr val="FFFFFF"/>
          </a:solidFill>
          <a:ln w="12700">
            <a:solidFill>
              <a:srgbClr val="E0E0E0"/>
            </a:solidFill>
            <a:prstDash val="solid"/>
          </a:ln>
        </p:spPr>
      </p:sp>
      <p:sp>
        <p:nvSpPr>
          <p:cNvPr id="17" name="o193"/>
          <p:cNvSpPr txBox="1"/>
          <p:nvPr/>
        </p:nvSpPr>
        <p:spPr>
          <a:xfrm>
            <a:off x="876300" y="1828800"/>
            <a:ext cx="2997200" cy="190500"/>
          </a:xfrm>
          <a:prstGeom prst="rect">
            <a:avLst/>
          </a:prstGeom>
          <a:noFill/>
          <a:ln/>
        </p:spPr>
        <p:txBody>
          <a:bodyPr wrap="square" lIns="0" tIns="0" rIns="0" bIns="0" rtlCol="0" anchor="t"/>
          <a:lstStyle/>
          <a:p>
            <a:pPr indent="0" marL="0">
              <a:buNone/>
            </a:pPr>
            <a:r>
              <a:rPr lang="en-US" sz="1300" dirty="0">
                <a:solidFill>
                  <a:srgbClr val="525252"/>
                </a:solidFill>
                <a:latin typeface="IBM Plex Sans KR" pitchFamily="34" charset="0"/>
                <a:ea typeface="IBM Plex Sans KR" pitchFamily="34" charset="-122"/>
                <a:cs typeface="IBM Plex Sans KR" pitchFamily="34" charset="-120"/>
              </a:rPr>
              <a:t>법정교육 누락</a:t>
            </a:r>
            <a:endParaRPr lang="en-US" sz="1300" dirty="0"/>
          </a:p>
        </p:txBody>
      </p:sp>
      <p:sp>
        <p:nvSpPr>
          <p:cNvPr id="18" name="o194"/>
          <p:cNvSpPr txBox="1"/>
          <p:nvPr/>
        </p:nvSpPr>
        <p:spPr>
          <a:xfrm>
            <a:off x="876300" y="2152650"/>
            <a:ext cx="3149600" cy="666750"/>
          </a:xfrm>
          <a:prstGeom prst="rect">
            <a:avLst/>
          </a:prstGeom>
          <a:noFill/>
          <a:ln/>
        </p:spPr>
        <p:txBody>
          <a:bodyPr wrap="square" lIns="0" tIns="0" rIns="0" bIns="0" rtlCol="0" anchor="t"/>
          <a:lstStyle/>
          <a:p>
            <a:pPr indent="0" marL="0">
              <a:buNone/>
            </a:pPr>
            <a:r>
              <a:rPr lang="en-US" sz="4000" b="1" dirty="0">
                <a:solidFill>
                  <a:srgbClr val="DA1E28"/>
                </a:solidFill>
                <a:latin typeface="IBM Plex Sans KR" pitchFamily="34" charset="0"/>
                <a:ea typeface="IBM Plex Sans KR" pitchFamily="34" charset="-122"/>
                <a:cs typeface="IBM Plex Sans KR" pitchFamily="34" charset="-120"/>
              </a:rPr>
              <a:t>18건</a:t>
            </a:r>
            <a:endParaRPr lang="en-US" sz="4000" dirty="0"/>
          </a:p>
        </p:txBody>
      </p:sp>
      <p:sp>
        <p:nvSpPr>
          <p:cNvPr id="19" name="o195"/>
          <p:cNvSpPr txBox="1"/>
          <p:nvPr/>
        </p:nvSpPr>
        <p:spPr>
          <a:xfrm>
            <a:off x="876300" y="3028950"/>
            <a:ext cx="2997200" cy="34290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106명 중 17% · 12개월 중 8개월 발생</a:t>
            </a:r>
            <a:endParaRPr lang="en-US" sz="1200" dirty="0"/>
          </a:p>
        </p:txBody>
      </p:sp>
      <p:sp>
        <p:nvSpPr>
          <p:cNvPr id="20" name="o196"/>
          <p:cNvSpPr/>
          <p:nvPr/>
        </p:nvSpPr>
        <p:spPr>
          <a:xfrm>
            <a:off x="4330700" y="1600200"/>
            <a:ext cx="3530600" cy="1981200"/>
          </a:xfrm>
          <a:prstGeom prst="rect">
            <a:avLst/>
          </a:prstGeom>
          <a:solidFill>
            <a:srgbClr val="0F62FE"/>
          </a:solidFill>
          <a:ln/>
        </p:spPr>
      </p:sp>
      <p:sp>
        <p:nvSpPr>
          <p:cNvPr id="21" name="o197"/>
          <p:cNvSpPr txBox="1"/>
          <p:nvPr/>
        </p:nvSpPr>
        <p:spPr>
          <a:xfrm>
            <a:off x="4597400" y="1828800"/>
            <a:ext cx="2997200" cy="190500"/>
          </a:xfrm>
          <a:prstGeom prst="rect">
            <a:avLst/>
          </a:prstGeom>
          <a:noFill/>
          <a:ln/>
        </p:spPr>
        <p:txBody>
          <a:bodyPr wrap="square" lIns="0" tIns="0" rIns="0" bIns="0" rtlCol="0" anchor="t"/>
          <a:lstStyle/>
          <a:p>
            <a:pPr indent="0" marL="0">
              <a:buNone/>
            </a:pPr>
            <a:r>
              <a:rPr lang="en-US" sz="1300" b="1" dirty="0">
                <a:solidFill>
                  <a:srgbClr val="FFFFFF"/>
                </a:solidFill>
                <a:latin typeface="IBM Plex Sans KR" pitchFamily="34" charset="0"/>
                <a:ea typeface="IBM Plex Sans KR" pitchFamily="34" charset="-122"/>
                <a:cs typeface="IBM Plex Sans KR" pitchFamily="34" charset="-120"/>
              </a:rPr>
              <a:t>특별안전보건교육 행정시간</a:t>
            </a:r>
            <a:endParaRPr lang="en-US" sz="1300" dirty="0"/>
          </a:p>
        </p:txBody>
      </p:sp>
      <p:sp>
        <p:nvSpPr>
          <p:cNvPr id="22" name="o198"/>
          <p:cNvSpPr txBox="1"/>
          <p:nvPr/>
        </p:nvSpPr>
        <p:spPr>
          <a:xfrm>
            <a:off x="4597400" y="2152650"/>
            <a:ext cx="3149600" cy="666750"/>
          </a:xfrm>
          <a:prstGeom prst="rect">
            <a:avLst/>
          </a:prstGeom>
          <a:noFill/>
          <a:ln/>
        </p:spPr>
        <p:txBody>
          <a:bodyPr wrap="square" lIns="0" tIns="0" rIns="0" bIns="0" rtlCol="0" anchor="t"/>
          <a:lstStyle/>
          <a:p>
            <a:pPr indent="0" marL="0">
              <a:buNone/>
            </a:pPr>
            <a:r>
              <a:rPr lang="en-US" sz="4000" b="1" dirty="0">
                <a:solidFill>
                  <a:srgbClr val="FFFFFF"/>
                </a:solidFill>
                <a:latin typeface="IBM Plex Sans KR" pitchFamily="34" charset="0"/>
                <a:ea typeface="IBM Plex Sans KR" pitchFamily="34" charset="-122"/>
                <a:cs typeface="IBM Plex Sans KR" pitchFamily="34" charset="-120"/>
              </a:rPr>
              <a:t>33분 48초</a:t>
            </a:r>
            <a:endParaRPr lang="en-US" sz="4000" dirty="0"/>
          </a:p>
        </p:txBody>
      </p:sp>
      <p:sp>
        <p:nvSpPr>
          <p:cNvPr id="23" name="o199"/>
          <p:cNvSpPr txBox="1"/>
          <p:nvPr/>
        </p:nvSpPr>
        <p:spPr>
          <a:xfrm>
            <a:off x="4597400" y="3028950"/>
            <a:ext cx="2997200" cy="342900"/>
          </a:xfrm>
          <a:prstGeom prst="rect">
            <a:avLst/>
          </a:prstGeom>
          <a:noFill/>
          <a:ln/>
        </p:spPr>
        <p:txBody>
          <a:bodyPr wrap="square" lIns="0" tIns="0" rIns="0" bIns="0" rtlCol="0" anchor="t"/>
          <a:lstStyle/>
          <a:p>
            <a:pPr indent="0" marL="0">
              <a:buNone/>
            </a:pPr>
            <a:r>
              <a:rPr lang="en-US" sz="1200" b="1" dirty="0">
                <a:solidFill>
                  <a:srgbClr val="FFFFFF"/>
                </a:solidFill>
                <a:latin typeface="IBM Plex Sans KR" pitchFamily="34" charset="0"/>
                <a:ea typeface="IBM Plex Sans KR" pitchFamily="34" charset="-122"/>
                <a:cs typeface="IBM Plex Sans KR" pitchFamily="34" charset="-120"/>
              </a:rPr>
              <a:t>교육 1건당 · 교육 진행시간 제외</a:t>
            </a:r>
            <a:endParaRPr lang="en-US" sz="1200" dirty="0"/>
          </a:p>
        </p:txBody>
      </p:sp>
      <p:sp>
        <p:nvSpPr>
          <p:cNvPr id="24" name="o200"/>
          <p:cNvSpPr/>
          <p:nvPr/>
        </p:nvSpPr>
        <p:spPr>
          <a:xfrm>
            <a:off x="8051800" y="1600200"/>
            <a:ext cx="3530600" cy="1981200"/>
          </a:xfrm>
          <a:prstGeom prst="rect">
            <a:avLst/>
          </a:prstGeom>
          <a:solidFill>
            <a:srgbClr val="FFFFFF"/>
          </a:solidFill>
          <a:ln w="12700">
            <a:solidFill>
              <a:srgbClr val="E0E0E0"/>
            </a:solidFill>
            <a:prstDash val="solid"/>
          </a:ln>
        </p:spPr>
      </p:sp>
      <p:sp>
        <p:nvSpPr>
          <p:cNvPr id="25" name="o201"/>
          <p:cNvSpPr txBox="1"/>
          <p:nvPr/>
        </p:nvSpPr>
        <p:spPr>
          <a:xfrm>
            <a:off x="8318500" y="1828800"/>
            <a:ext cx="2997200" cy="190500"/>
          </a:xfrm>
          <a:prstGeom prst="rect">
            <a:avLst/>
          </a:prstGeom>
          <a:noFill/>
          <a:ln/>
        </p:spPr>
        <p:txBody>
          <a:bodyPr wrap="square" lIns="0" tIns="0" rIns="0" bIns="0" rtlCol="0" anchor="t"/>
          <a:lstStyle/>
          <a:p>
            <a:pPr indent="0" marL="0">
              <a:buNone/>
            </a:pPr>
            <a:r>
              <a:rPr lang="en-US" sz="1300" dirty="0">
                <a:solidFill>
                  <a:srgbClr val="525252"/>
                </a:solidFill>
                <a:latin typeface="IBM Plex Sans KR" pitchFamily="34" charset="0"/>
                <a:ea typeface="IBM Plex Sans KR" pitchFamily="34" charset="-122"/>
                <a:cs typeface="IBM Plex Sans KR" pitchFamily="34" charset="-120"/>
              </a:rPr>
              <a:t>종이 기반 처리</a:t>
            </a:r>
            <a:endParaRPr lang="en-US" sz="1300" dirty="0"/>
          </a:p>
        </p:txBody>
      </p:sp>
      <p:sp>
        <p:nvSpPr>
          <p:cNvPr id="26" name="o202"/>
          <p:cNvSpPr txBox="1"/>
          <p:nvPr/>
        </p:nvSpPr>
        <p:spPr>
          <a:xfrm>
            <a:off x="8318500" y="2152650"/>
            <a:ext cx="3149600" cy="666750"/>
          </a:xfrm>
          <a:prstGeom prst="rect">
            <a:avLst/>
          </a:prstGeom>
          <a:noFill/>
          <a:ln/>
        </p:spPr>
        <p:txBody>
          <a:bodyPr wrap="square" lIns="0" tIns="0" rIns="0" bIns="0" rtlCol="0" anchor="t"/>
          <a:lstStyle/>
          <a:p>
            <a:pPr indent="0" marL="0">
              <a:buNone/>
            </a:pPr>
            <a:r>
              <a:rPr lang="en-US" sz="4000" b="1" dirty="0">
                <a:solidFill>
                  <a:srgbClr val="0F62FE"/>
                </a:solidFill>
                <a:latin typeface="IBM Plex Sans KR" pitchFamily="34" charset="0"/>
                <a:ea typeface="IBM Plex Sans KR" pitchFamily="34" charset="-122"/>
                <a:cs typeface="IBM Plex Sans KR" pitchFamily="34" charset="-120"/>
              </a:rPr>
              <a:t>100%</a:t>
            </a:r>
            <a:endParaRPr lang="en-US" sz="4000" dirty="0"/>
          </a:p>
        </p:txBody>
      </p:sp>
      <p:sp>
        <p:nvSpPr>
          <p:cNvPr id="27" name="o203"/>
          <p:cNvSpPr txBox="1"/>
          <p:nvPr/>
        </p:nvSpPr>
        <p:spPr>
          <a:xfrm>
            <a:off x="8318500" y="3028950"/>
            <a:ext cx="2997200" cy="34290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교육일지 · MSDS 출력 후 바인더 보관 (연 94건)</a:t>
            </a:r>
            <a:endParaRPr lang="en-US" sz="1200" dirty="0"/>
          </a:p>
        </p:txBody>
      </p:sp>
      <p:sp>
        <p:nvSpPr>
          <p:cNvPr id="28" name="o204"/>
          <p:cNvSpPr/>
          <p:nvPr/>
        </p:nvSpPr>
        <p:spPr>
          <a:xfrm>
            <a:off x="609600" y="3771900"/>
            <a:ext cx="10972800" cy="2476500"/>
          </a:xfrm>
          <a:prstGeom prst="rect">
            <a:avLst/>
          </a:prstGeom>
          <a:solidFill>
            <a:srgbClr val="F4F4F4"/>
          </a:solidFill>
          <a:ln/>
        </p:spPr>
      </p:sp>
      <p:sp>
        <p:nvSpPr>
          <p:cNvPr id="29" name="o205"/>
          <p:cNvSpPr txBox="1"/>
          <p:nvPr/>
        </p:nvSpPr>
        <p:spPr>
          <a:xfrm>
            <a:off x="952500" y="4000500"/>
            <a:ext cx="5715000" cy="228600"/>
          </a:xfrm>
          <a:prstGeom prst="rect">
            <a:avLst/>
          </a:prstGeom>
          <a:noFill/>
          <a:ln/>
        </p:spPr>
        <p:txBody>
          <a:bodyPr wrap="square" lIns="0" tIns="0" rIns="0" bIns="0" rtlCol="0" anchor="t"/>
          <a:lstStyle/>
          <a:p>
            <a:pPr indent="0" marL="0">
              <a:buNone/>
            </a:pPr>
            <a:r>
              <a:rPr lang="en-US" sz="1600" b="1" dirty="0">
                <a:solidFill>
                  <a:srgbClr val="161616"/>
                </a:solidFill>
                <a:latin typeface="IBM Plex Sans KR" pitchFamily="34" charset="0"/>
                <a:ea typeface="IBM Plex Sans KR" pitchFamily="34" charset="-122"/>
                <a:cs typeface="IBM Plex Sans KR" pitchFamily="34" charset="-120"/>
              </a:rPr>
              <a:t>33분 48초는 어디에 쓰였나</a:t>
            </a:r>
            <a:endParaRPr lang="en-US" sz="1600" dirty="0"/>
          </a:p>
        </p:txBody>
      </p:sp>
      <p:sp>
        <p:nvSpPr>
          <p:cNvPr id="30" name="o206"/>
          <p:cNvSpPr txBox="1"/>
          <p:nvPr/>
        </p:nvSpPr>
        <p:spPr>
          <a:xfrm>
            <a:off x="6667500" y="4000500"/>
            <a:ext cx="4572000" cy="228600"/>
          </a:xfrm>
          <a:prstGeom prst="rect">
            <a:avLst/>
          </a:prstGeom>
          <a:noFill/>
          <a:ln/>
        </p:spPr>
        <p:txBody>
          <a:bodyPr wrap="square" lIns="0" tIns="0" rIns="0" bIns="0" rtlCol="0" anchor="t"/>
          <a:lstStyle/>
          <a:p>
            <a:pPr algn="r" indent="0" marL="0">
              <a:buNone/>
            </a:pPr>
            <a:r>
              <a:rPr lang="en-US" sz="1400" b="1" dirty="0">
                <a:solidFill>
                  <a:srgbClr val="0F62FE"/>
                </a:solidFill>
                <a:latin typeface="IBM Plex Sans KR" pitchFamily="34" charset="0"/>
                <a:ea typeface="IBM Plex Sans KR" pitchFamily="34" charset="-122"/>
                <a:cs typeface="IBM Plex Sans KR" pitchFamily="34" charset="-120"/>
              </a:rPr>
              <a:t>결재 대기 + 직접 제출 = 78%</a:t>
            </a:r>
            <a:endParaRPr lang="en-US" sz="1400" dirty="0"/>
          </a:p>
        </p:txBody>
      </p:sp>
      <p:sp>
        <p:nvSpPr>
          <p:cNvPr id="31" name="o207"/>
          <p:cNvSpPr/>
          <p:nvPr/>
        </p:nvSpPr>
        <p:spPr>
          <a:xfrm>
            <a:off x="952500" y="4419600"/>
            <a:ext cx="5847223" cy="685800"/>
          </a:xfrm>
          <a:prstGeom prst="rect">
            <a:avLst/>
          </a:prstGeom>
          <a:solidFill>
            <a:srgbClr val="161616"/>
          </a:solidFill>
          <a:ln/>
        </p:spPr>
      </p:sp>
      <p:sp>
        <p:nvSpPr>
          <p:cNvPr id="32" name="o208"/>
          <p:cNvSpPr txBox="1"/>
          <p:nvPr/>
        </p:nvSpPr>
        <p:spPr>
          <a:xfrm>
            <a:off x="1143000" y="4419600"/>
            <a:ext cx="5561473" cy="685800"/>
          </a:xfrm>
          <a:prstGeom prst="rect">
            <a:avLst/>
          </a:prstGeom>
          <a:noFill/>
          <a:ln/>
        </p:spPr>
        <p:txBody>
          <a:bodyPr wrap="square" lIns="0" tIns="0" rIns="0" bIns="0" rtlCol="0" anchor="ctr"/>
          <a:lstStyle/>
          <a:p>
            <a:pPr indent="0" marL="0">
              <a:buNone/>
            </a:pPr>
            <a:r>
              <a:rPr lang="en-US" sz="2400" b="1" dirty="0">
                <a:solidFill>
                  <a:srgbClr val="FFFFFF"/>
                </a:solidFill>
                <a:latin typeface="IBM Plex Sans KR" pitchFamily="34" charset="0"/>
                <a:ea typeface="IBM Plex Sans KR" pitchFamily="34" charset="-122"/>
                <a:cs typeface="IBM Plex Sans KR" pitchFamily="34" charset="-120"/>
              </a:rPr>
              <a:t>57%</a:t>
            </a:r>
            <a:endParaRPr lang="en-US" sz="2400" dirty="0"/>
          </a:p>
        </p:txBody>
      </p:sp>
      <p:sp>
        <p:nvSpPr>
          <p:cNvPr id="33" name="o209"/>
          <p:cNvSpPr txBox="1"/>
          <p:nvPr/>
        </p:nvSpPr>
        <p:spPr>
          <a:xfrm>
            <a:off x="952500" y="5257800"/>
            <a:ext cx="5847223" cy="190500"/>
          </a:xfrm>
          <a:prstGeom prst="rect">
            <a:avLst/>
          </a:prstGeom>
          <a:noFill/>
          <a:ln/>
        </p:spPr>
        <p:txBody>
          <a:bodyPr wrap="square" lIns="0" tIns="0" rIns="0" bIns="0" rtlCol="0" anchor="t"/>
          <a:lstStyle/>
          <a:p>
            <a:pPr indent="0" marL="0">
              <a:buNone/>
            </a:pPr>
            <a:r>
              <a:rPr lang="en-US" sz="1300" b="1" dirty="0">
                <a:solidFill>
                  <a:srgbClr val="161616"/>
                </a:solidFill>
                <a:latin typeface="IBM Plex Sans KR" pitchFamily="34" charset="0"/>
                <a:ea typeface="IBM Plex Sans KR" pitchFamily="34" charset="-122"/>
                <a:cs typeface="IBM Plex Sans KR" pitchFamily="34" charset="-120"/>
              </a:rPr>
              <a:t>아날로그 내부 결재 대기</a:t>
            </a:r>
            <a:endParaRPr lang="en-US" sz="1300" dirty="0"/>
          </a:p>
        </p:txBody>
      </p:sp>
      <p:sp>
        <p:nvSpPr>
          <p:cNvPr id="34" name="o210"/>
          <p:cNvSpPr txBox="1"/>
          <p:nvPr/>
        </p:nvSpPr>
        <p:spPr>
          <a:xfrm>
            <a:off x="952500" y="5486400"/>
            <a:ext cx="5847223"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19분 24초</a:t>
            </a:r>
            <a:endParaRPr lang="en-US" sz="1200" dirty="0"/>
          </a:p>
        </p:txBody>
      </p:sp>
      <p:sp>
        <p:nvSpPr>
          <p:cNvPr id="35" name="o211"/>
          <p:cNvSpPr/>
          <p:nvPr/>
        </p:nvSpPr>
        <p:spPr>
          <a:xfrm>
            <a:off x="6856873" y="4419600"/>
            <a:ext cx="2073294" cy="685800"/>
          </a:xfrm>
          <a:prstGeom prst="rect">
            <a:avLst/>
          </a:prstGeom>
          <a:solidFill>
            <a:srgbClr val="0043CE"/>
          </a:solidFill>
          <a:ln/>
        </p:spPr>
      </p:sp>
      <p:sp>
        <p:nvSpPr>
          <p:cNvPr id="36" name="o212"/>
          <p:cNvSpPr txBox="1"/>
          <p:nvPr/>
        </p:nvSpPr>
        <p:spPr>
          <a:xfrm>
            <a:off x="7047373" y="4419600"/>
            <a:ext cx="1787544" cy="685800"/>
          </a:xfrm>
          <a:prstGeom prst="rect">
            <a:avLst/>
          </a:prstGeom>
          <a:noFill/>
          <a:ln/>
        </p:spPr>
        <p:txBody>
          <a:bodyPr wrap="square" lIns="0" tIns="0" rIns="0" bIns="0" rtlCol="0" anchor="ctr"/>
          <a:lstStyle/>
          <a:p>
            <a:pPr indent="0" marL="0">
              <a:buNone/>
            </a:pPr>
            <a:r>
              <a:rPr lang="en-US" sz="2400" b="1" dirty="0">
                <a:solidFill>
                  <a:srgbClr val="FFFFFF"/>
                </a:solidFill>
                <a:latin typeface="IBM Plex Sans KR" pitchFamily="34" charset="0"/>
                <a:ea typeface="IBM Plex Sans KR" pitchFamily="34" charset="-122"/>
                <a:cs typeface="IBM Plex Sans KR" pitchFamily="34" charset="-120"/>
              </a:rPr>
              <a:t>21%</a:t>
            </a:r>
            <a:endParaRPr lang="en-US" sz="2400" dirty="0"/>
          </a:p>
        </p:txBody>
      </p:sp>
      <p:sp>
        <p:nvSpPr>
          <p:cNvPr id="37" name="o213"/>
          <p:cNvSpPr txBox="1"/>
          <p:nvPr/>
        </p:nvSpPr>
        <p:spPr>
          <a:xfrm>
            <a:off x="6856873" y="5257800"/>
            <a:ext cx="2073294" cy="190500"/>
          </a:xfrm>
          <a:prstGeom prst="rect">
            <a:avLst/>
          </a:prstGeom>
          <a:noFill/>
          <a:ln/>
        </p:spPr>
        <p:txBody>
          <a:bodyPr wrap="square" lIns="0" tIns="0" rIns="0" bIns="0" rtlCol="0" anchor="t"/>
          <a:lstStyle/>
          <a:p>
            <a:pPr indent="0" marL="0">
              <a:buNone/>
            </a:pPr>
            <a:r>
              <a:rPr lang="en-US" sz="1300" b="1" dirty="0">
                <a:solidFill>
                  <a:srgbClr val="161616"/>
                </a:solidFill>
                <a:latin typeface="IBM Plex Sans KR" pitchFamily="34" charset="0"/>
                <a:ea typeface="IBM Plex Sans KR" pitchFamily="34" charset="-122"/>
                <a:cs typeface="IBM Plex Sans KR" pitchFamily="34" charset="-120"/>
              </a:rPr>
              <a:t>직접 제출 (이동)</a:t>
            </a:r>
            <a:endParaRPr lang="en-US" sz="1300" dirty="0"/>
          </a:p>
        </p:txBody>
      </p:sp>
      <p:sp>
        <p:nvSpPr>
          <p:cNvPr id="38" name="o214"/>
          <p:cNvSpPr txBox="1"/>
          <p:nvPr/>
        </p:nvSpPr>
        <p:spPr>
          <a:xfrm>
            <a:off x="6856873" y="5486400"/>
            <a:ext cx="2073294"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7분 00초</a:t>
            </a:r>
            <a:endParaRPr lang="en-US" sz="1200" dirty="0"/>
          </a:p>
        </p:txBody>
      </p:sp>
      <p:sp>
        <p:nvSpPr>
          <p:cNvPr id="39" name="o215"/>
          <p:cNvSpPr/>
          <p:nvPr/>
        </p:nvSpPr>
        <p:spPr>
          <a:xfrm>
            <a:off x="8987317" y="4419600"/>
            <a:ext cx="2252183" cy="685800"/>
          </a:xfrm>
          <a:prstGeom prst="rect">
            <a:avLst/>
          </a:prstGeom>
          <a:solidFill>
            <a:srgbClr val="D0E2FF"/>
          </a:solidFill>
          <a:ln/>
        </p:spPr>
      </p:sp>
      <p:sp>
        <p:nvSpPr>
          <p:cNvPr id="40" name="o216"/>
          <p:cNvSpPr txBox="1"/>
          <p:nvPr/>
        </p:nvSpPr>
        <p:spPr>
          <a:xfrm>
            <a:off x="9177817" y="4419600"/>
            <a:ext cx="1966433" cy="685800"/>
          </a:xfrm>
          <a:prstGeom prst="rect">
            <a:avLst/>
          </a:prstGeom>
          <a:noFill/>
          <a:ln/>
        </p:spPr>
        <p:txBody>
          <a:bodyPr wrap="square" lIns="0" tIns="0" rIns="0" bIns="0" rtlCol="0" anchor="ctr"/>
          <a:lstStyle/>
          <a:p>
            <a:pPr indent="0" marL="0">
              <a:buNone/>
            </a:pPr>
            <a:r>
              <a:rPr lang="en-US" sz="2400" b="1" dirty="0">
                <a:solidFill>
                  <a:srgbClr val="0F62FE"/>
                </a:solidFill>
                <a:latin typeface="IBM Plex Sans KR" pitchFamily="34" charset="0"/>
                <a:ea typeface="IBM Plex Sans KR" pitchFamily="34" charset="-122"/>
                <a:cs typeface="IBM Plex Sans KR" pitchFamily="34" charset="-120"/>
              </a:rPr>
              <a:t>22%</a:t>
            </a:r>
            <a:endParaRPr lang="en-US" sz="2400" dirty="0"/>
          </a:p>
        </p:txBody>
      </p:sp>
      <p:sp>
        <p:nvSpPr>
          <p:cNvPr id="41" name="o217"/>
          <p:cNvSpPr txBox="1"/>
          <p:nvPr/>
        </p:nvSpPr>
        <p:spPr>
          <a:xfrm>
            <a:off x="8987317" y="5257800"/>
            <a:ext cx="2252183" cy="190500"/>
          </a:xfrm>
          <a:prstGeom prst="rect">
            <a:avLst/>
          </a:prstGeom>
          <a:noFill/>
          <a:ln/>
        </p:spPr>
        <p:txBody>
          <a:bodyPr wrap="square" lIns="0" tIns="0" rIns="0" bIns="0" rtlCol="0" anchor="t"/>
          <a:lstStyle/>
          <a:p>
            <a:pPr indent="0" marL="0">
              <a:buNone/>
            </a:pPr>
            <a:r>
              <a:rPr lang="en-US" sz="1300" b="1" dirty="0">
                <a:solidFill>
                  <a:srgbClr val="161616"/>
                </a:solidFill>
                <a:latin typeface="IBM Plex Sans KR" pitchFamily="34" charset="0"/>
                <a:ea typeface="IBM Plex Sans KR" pitchFamily="34" charset="-122"/>
                <a:cs typeface="IBM Plex Sans KR" pitchFamily="34" charset="-120"/>
              </a:rPr>
              <a:t>작성 · 출력 · 서명 · 취합 등</a:t>
            </a:r>
            <a:endParaRPr lang="en-US" sz="1300" dirty="0"/>
          </a:p>
        </p:txBody>
      </p:sp>
      <p:sp>
        <p:nvSpPr>
          <p:cNvPr id="42" name="o218"/>
          <p:cNvSpPr txBox="1"/>
          <p:nvPr/>
        </p:nvSpPr>
        <p:spPr>
          <a:xfrm>
            <a:off x="8987317" y="5486400"/>
            <a:ext cx="2252183"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7분 24초</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o219"/>
          <p:cNvSpPr/>
          <p:nvPr/>
        </p:nvSpPr>
        <p:spPr>
          <a:xfrm>
            <a:off x="609600" y="228600"/>
            <a:ext cx="2686050" cy="38100"/>
          </a:xfrm>
          <a:prstGeom prst="rect">
            <a:avLst/>
          </a:prstGeom>
          <a:solidFill>
            <a:srgbClr val="0F62FE"/>
          </a:solidFill>
          <a:ln/>
        </p:spPr>
      </p:sp>
      <p:sp>
        <p:nvSpPr>
          <p:cNvPr id="3" name="o220"/>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b="1" dirty="0">
                <a:solidFill>
                  <a:srgbClr val="0F62FE"/>
                </a:solidFill>
                <a:latin typeface="IBM Plex Sans KR" pitchFamily="34" charset="0"/>
                <a:ea typeface="IBM Plex Sans KR" pitchFamily="34" charset="-122"/>
                <a:cs typeface="IBM Plex Sans KR" pitchFamily="34" charset="-120"/>
              </a:rPr>
              <a:t>Plan</a:t>
            </a:r>
            <a:endParaRPr lang="en-US" sz="800" dirty="0"/>
          </a:p>
        </p:txBody>
      </p:sp>
      <p:sp>
        <p:nvSpPr>
          <p:cNvPr id="4" name="o221"/>
          <p:cNvSpPr/>
          <p:nvPr/>
        </p:nvSpPr>
        <p:spPr>
          <a:xfrm>
            <a:off x="3371850" y="228600"/>
            <a:ext cx="2686050" cy="38100"/>
          </a:xfrm>
          <a:prstGeom prst="rect">
            <a:avLst/>
          </a:prstGeom>
          <a:solidFill>
            <a:srgbClr val="E0E0E0"/>
          </a:solidFill>
          <a:ln/>
        </p:spPr>
      </p:sp>
      <p:sp>
        <p:nvSpPr>
          <p:cNvPr id="5" name="o222"/>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Do</a:t>
            </a:r>
            <a:endParaRPr lang="en-US" sz="800" dirty="0"/>
          </a:p>
        </p:txBody>
      </p:sp>
      <p:sp>
        <p:nvSpPr>
          <p:cNvPr id="6" name="o223"/>
          <p:cNvSpPr/>
          <p:nvPr/>
        </p:nvSpPr>
        <p:spPr>
          <a:xfrm>
            <a:off x="6134100" y="228600"/>
            <a:ext cx="2686050" cy="38100"/>
          </a:xfrm>
          <a:prstGeom prst="rect">
            <a:avLst/>
          </a:prstGeom>
          <a:solidFill>
            <a:srgbClr val="E0E0E0"/>
          </a:solidFill>
          <a:ln/>
        </p:spPr>
      </p:sp>
      <p:sp>
        <p:nvSpPr>
          <p:cNvPr id="7" name="o224"/>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Check</a:t>
            </a:r>
            <a:endParaRPr lang="en-US" sz="800" dirty="0"/>
          </a:p>
        </p:txBody>
      </p:sp>
      <p:sp>
        <p:nvSpPr>
          <p:cNvPr id="8" name="o225"/>
          <p:cNvSpPr/>
          <p:nvPr/>
        </p:nvSpPr>
        <p:spPr>
          <a:xfrm>
            <a:off x="8896350" y="228600"/>
            <a:ext cx="2686050" cy="38100"/>
          </a:xfrm>
          <a:prstGeom prst="rect">
            <a:avLst/>
          </a:prstGeom>
          <a:solidFill>
            <a:srgbClr val="E0E0E0"/>
          </a:solidFill>
          <a:ln/>
        </p:spPr>
      </p:sp>
      <p:sp>
        <p:nvSpPr>
          <p:cNvPr id="9" name="o226"/>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Act</a:t>
            </a:r>
            <a:endParaRPr lang="en-US" sz="800" dirty="0"/>
          </a:p>
        </p:txBody>
      </p:sp>
      <p:sp>
        <p:nvSpPr>
          <p:cNvPr id="10" name="o227"/>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F62FE"/>
                </a:solidFill>
                <a:latin typeface="IBM Plex Sans KR" pitchFamily="34" charset="0"/>
                <a:ea typeface="IBM Plex Sans KR" pitchFamily="34" charset="-122"/>
                <a:cs typeface="IBM Plex Sans KR" pitchFamily="34" charset="-120"/>
              </a:rPr>
              <a:t>03   ROOT CAUSE &amp; GOAL  ·  원인과 목표</a:t>
            </a:r>
            <a:endParaRPr lang="en-US" sz="1100" dirty="0"/>
          </a:p>
        </p:txBody>
      </p:sp>
      <p:sp>
        <p:nvSpPr>
          <p:cNvPr id="11" name="o228"/>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원인은 사람이 아니라 프로세스에 있었습니다</a:t>
            </a:r>
            <a:endParaRPr lang="en-US" sz="2600" dirty="0"/>
          </a:p>
        </p:txBody>
      </p:sp>
      <p:sp>
        <p:nvSpPr>
          <p:cNvPr id="12" name="o229"/>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25252"/>
                </a:solidFill>
                <a:latin typeface="IBM Plex Sans KR" pitchFamily="34" charset="0"/>
                <a:ea typeface="IBM Plex Sans KR" pitchFamily="34" charset="-122"/>
                <a:cs typeface="IBM Plex Sans KR" pitchFamily="34" charset="-120"/>
              </a:rPr>
              <a:t>업무 흐름도 · Fishbone 분석으로 기여요인(CF) 도출 → 4개 핵심지표 목표 설정</a:t>
            </a:r>
            <a:endParaRPr lang="en-US" sz="1300" dirty="0"/>
          </a:p>
        </p:txBody>
      </p:sp>
      <p:sp>
        <p:nvSpPr>
          <p:cNvPr id="13" name="o230"/>
          <p:cNvSpPr/>
          <p:nvPr/>
        </p:nvSpPr>
        <p:spPr>
          <a:xfrm>
            <a:off x="0" y="6477000"/>
            <a:ext cx="12192000" cy="381000"/>
          </a:xfrm>
          <a:prstGeom prst="rect">
            <a:avLst/>
          </a:prstGeom>
          <a:solidFill>
            <a:srgbClr val="161616"/>
          </a:solidFill>
          <a:ln/>
        </p:spPr>
      </p:sp>
      <p:sp>
        <p:nvSpPr>
          <p:cNvPr id="14" name="o231"/>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IBM Plex Sans KR" pitchFamily="34" charset="0"/>
                <a:ea typeface="IBM Plex Sans KR" pitchFamily="34" charset="-122"/>
                <a:cs typeface="IBM Plex Sans KR" pitchFamily="34" charset="-120"/>
              </a:rPr>
              <a:t>부산부민병원 안전보건 통합관리 시스템  ·  Safety First</a:t>
            </a:r>
            <a:endParaRPr lang="en-US" sz="900" dirty="0"/>
          </a:p>
        </p:txBody>
      </p:sp>
      <p:sp>
        <p:nvSpPr>
          <p:cNvPr id="15" name="o232"/>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IBM Plex Sans KR" pitchFamily="34" charset="0"/>
                <a:ea typeface="IBM Plex Sans KR" pitchFamily="34" charset="-122"/>
                <a:cs typeface="IBM Plex Sans KR" pitchFamily="34" charset="-120"/>
              </a:rPr>
              <a:t>06</a:t>
            </a:r>
            <a:endParaRPr lang="en-US" sz="1000" dirty="0"/>
          </a:p>
        </p:txBody>
      </p:sp>
      <p:sp>
        <p:nvSpPr>
          <p:cNvPr id="16" name="o233"/>
          <p:cNvSpPr/>
          <p:nvPr/>
        </p:nvSpPr>
        <p:spPr>
          <a:xfrm>
            <a:off x="609600" y="1600200"/>
            <a:ext cx="6324600" cy="4648200"/>
          </a:xfrm>
          <a:prstGeom prst="rect">
            <a:avLst/>
          </a:prstGeom>
          <a:solidFill>
            <a:srgbClr val="FFFFFF"/>
          </a:solidFill>
          <a:ln w="12700">
            <a:solidFill>
              <a:srgbClr val="E0E0E0"/>
            </a:solidFill>
            <a:prstDash val="solid"/>
          </a:ln>
        </p:spPr>
      </p:sp>
      <p:sp>
        <p:nvSpPr>
          <p:cNvPr id="17" name="o234"/>
          <p:cNvSpPr txBox="1"/>
          <p:nvPr/>
        </p:nvSpPr>
        <p:spPr>
          <a:xfrm>
            <a:off x="876300" y="1790700"/>
            <a:ext cx="5715000" cy="209550"/>
          </a:xfrm>
          <a:prstGeom prst="rect">
            <a:avLst/>
          </a:prstGeom>
          <a:noFill/>
          <a:ln/>
        </p:spPr>
        <p:txBody>
          <a:bodyPr wrap="square" lIns="0" tIns="0" rIns="0" bIns="0" rtlCol="0" anchor="t"/>
          <a:lstStyle/>
          <a:p>
            <a:pPr indent="0" marL="0">
              <a:buNone/>
            </a:pPr>
            <a:r>
              <a:rPr lang="en-US" sz="1500" b="1" dirty="0">
                <a:solidFill>
                  <a:srgbClr val="161616"/>
                </a:solidFill>
                <a:latin typeface="IBM Plex Sans KR" pitchFamily="34" charset="0"/>
                <a:ea typeface="IBM Plex Sans KR" pitchFamily="34" charset="-122"/>
                <a:cs typeface="IBM Plex Sans KR" pitchFamily="34" charset="-120"/>
              </a:rPr>
              <a:t>Fishbone 원인 분류 (4M)</a:t>
            </a:r>
            <a:endParaRPr lang="en-US" sz="1500" dirty="0"/>
          </a:p>
        </p:txBody>
      </p:sp>
      <p:sp>
        <p:nvSpPr>
          <p:cNvPr id="18" name="o235"/>
          <p:cNvSpPr txBox="1"/>
          <p:nvPr/>
        </p:nvSpPr>
        <p:spPr>
          <a:xfrm>
            <a:off x="4381500" y="1809750"/>
            <a:ext cx="2286000" cy="190500"/>
          </a:xfrm>
          <a:prstGeom prst="rect">
            <a:avLst/>
          </a:prstGeom>
          <a:noFill/>
          <a:ln/>
        </p:spPr>
        <p:txBody>
          <a:bodyPr wrap="square" lIns="0" tIns="0" rIns="0" bIns="0" rtlCol="0" anchor="t"/>
          <a:lstStyle/>
          <a:p>
            <a:pPr algn="r" indent="0" marL="0">
              <a:buNone/>
            </a:pPr>
            <a:r>
              <a:rPr lang="en-US" sz="1100" b="1" dirty="0">
                <a:solidFill>
                  <a:srgbClr val="0F62FE"/>
                </a:solidFill>
                <a:latin typeface="IBM Plex Sans KR" pitchFamily="34" charset="0"/>
                <a:ea typeface="IBM Plex Sans KR" pitchFamily="34" charset="-122"/>
                <a:cs typeface="IBM Plex Sans KR" pitchFamily="34" charset="-120"/>
              </a:rPr>
              <a:t>굵은 글씨 = 핵심 원인</a:t>
            </a:r>
            <a:endParaRPr lang="en-US" sz="1100" dirty="0"/>
          </a:p>
        </p:txBody>
      </p:sp>
      <p:sp>
        <p:nvSpPr>
          <p:cNvPr id="19" name="o236"/>
          <p:cNvSpPr txBox="1"/>
          <p:nvPr/>
        </p:nvSpPr>
        <p:spPr>
          <a:xfrm>
            <a:off x="876300" y="2190750"/>
            <a:ext cx="1428750" cy="228600"/>
          </a:xfrm>
          <a:prstGeom prst="rect">
            <a:avLst/>
          </a:prstGeom>
          <a:noFill/>
          <a:ln/>
        </p:spPr>
        <p:txBody>
          <a:bodyPr wrap="square" lIns="0" tIns="0" rIns="0" bIns="0" rtlCol="0" anchor="t"/>
          <a:lstStyle/>
          <a:p>
            <a:pPr indent="0" marL="0">
              <a:buNone/>
            </a:pPr>
            <a:r>
              <a:rPr lang="en-US" sz="1500" b="1" dirty="0">
                <a:solidFill>
                  <a:srgbClr val="0F62FE"/>
                </a:solidFill>
                <a:latin typeface="IBM Plex Sans KR" pitchFamily="34" charset="0"/>
                <a:ea typeface="IBM Plex Sans KR" pitchFamily="34" charset="-122"/>
                <a:cs typeface="IBM Plex Sans KR" pitchFamily="34" charset="-120"/>
              </a:rPr>
              <a:t>방법</a:t>
            </a:r>
            <a:endParaRPr lang="en-US" sz="1500" dirty="0"/>
          </a:p>
        </p:txBody>
      </p:sp>
      <p:sp>
        <p:nvSpPr>
          <p:cNvPr id="20" name="o237"/>
          <p:cNvSpPr txBox="1"/>
          <p:nvPr/>
        </p:nvSpPr>
        <p:spPr>
          <a:xfrm>
            <a:off x="876300" y="2438400"/>
            <a:ext cx="1428750" cy="171450"/>
          </a:xfrm>
          <a:prstGeom prst="rect">
            <a:avLst/>
          </a:prstGeom>
          <a:noFill/>
          <a:ln/>
        </p:spPr>
        <p:txBody>
          <a:bodyPr wrap="square" lIns="0" tIns="0" rIns="0" bIns="0" rtlCol="0" anchor="t"/>
          <a:lstStyle/>
          <a:p>
            <a:pPr indent="0" marL="0">
              <a:buNone/>
            </a:pPr>
            <a:r>
              <a:rPr lang="en-US" sz="1000" dirty="0">
                <a:solidFill>
                  <a:srgbClr val="525252"/>
                </a:solidFill>
                <a:latin typeface="IBM Plex Sans KR" pitchFamily="34" charset="0"/>
                <a:ea typeface="IBM Plex Sans KR" pitchFamily="34" charset="-122"/>
                <a:cs typeface="IBM Plex Sans KR" pitchFamily="34" charset="-120"/>
              </a:rPr>
              <a:t>Method</a:t>
            </a:r>
            <a:endParaRPr lang="en-US" sz="1000" dirty="0"/>
          </a:p>
        </p:txBody>
      </p:sp>
      <p:sp>
        <p:nvSpPr>
          <p:cNvPr id="21" name="o238"/>
          <p:cNvSpPr txBox="1"/>
          <p:nvPr/>
        </p:nvSpPr>
        <p:spPr>
          <a:xfrm>
            <a:off x="2400300" y="2190750"/>
            <a:ext cx="4267200" cy="723900"/>
          </a:xfrm>
          <a:prstGeom prst="rect">
            <a:avLst/>
          </a:prstGeom>
          <a:noFill/>
          <a:ln/>
        </p:spPr>
        <p:txBody>
          <a:bodyPr wrap="square" lIns="0" tIns="0" rIns="0" bIns="0" rtlCol="0" anchor="t"/>
          <a:lstStyle/>
          <a:p>
            <a:pPr indent="0" marL="0">
              <a:lnSpc>
                <a:spcPct val="140000"/>
              </a:lnSpc>
              <a:buNone/>
            </a:pPr>
            <a:r>
              <a:rPr lang="en-US" sz="1300" b="1" dirty="0">
                <a:solidFill>
                  <a:srgbClr val="161616"/>
                </a:solidFill>
                <a:latin typeface="IBM Plex Sans KR" pitchFamily="34" charset="0"/>
                <a:ea typeface="IBM Plex Sans KR" pitchFamily="34" charset="-122"/>
                <a:cs typeface="IBM Plex Sans KR" pitchFamily="34" charset="-120"/>
              </a:rPr>
              <a:t>종이 결재 대기 19.4분</a:t>
            </a:r>
            <a:pPr indent="0" marL="0">
              <a:lnSpc>
                <a:spcPct val="140000"/>
              </a:lnSpc>
              <a:buNone/>
            </a:pPr>
            <a:r>
              <a:rPr lang="en-US" sz="1300" dirty="0">
                <a:solidFill>
                  <a:srgbClr val="393939"/>
                </a:solidFill>
                <a:latin typeface="IBM Plex Sans KR" pitchFamily="34" charset="0"/>
                <a:ea typeface="IBM Plex Sans KR" pitchFamily="34" charset="-122"/>
                <a:cs typeface="IBM Plex Sans KR" pitchFamily="34" charset="-120"/>
              </a:rPr>
              <a:t> · 제출 채널 이원화 · 명단 수작업 대조</a:t>
            </a:r>
            <a:endParaRPr lang="en-US" sz="1300" dirty="0"/>
          </a:p>
        </p:txBody>
      </p:sp>
      <p:sp>
        <p:nvSpPr>
          <p:cNvPr id="22" name="o239"/>
          <p:cNvSpPr/>
          <p:nvPr/>
        </p:nvSpPr>
        <p:spPr>
          <a:xfrm>
            <a:off x="876300" y="3067050"/>
            <a:ext cx="5791200" cy="0"/>
          </a:xfrm>
          <a:prstGeom prst="line">
            <a:avLst/>
          </a:prstGeom>
          <a:noFill/>
          <a:ln w="9525">
            <a:solidFill>
              <a:srgbClr val="E0E0E0"/>
            </a:solidFill>
            <a:prstDash val="solid"/>
          </a:ln>
        </p:spPr>
      </p:sp>
      <p:sp>
        <p:nvSpPr>
          <p:cNvPr id="23" name="o240"/>
          <p:cNvSpPr txBox="1"/>
          <p:nvPr/>
        </p:nvSpPr>
        <p:spPr>
          <a:xfrm>
            <a:off x="876300" y="3181350"/>
            <a:ext cx="1428750" cy="228600"/>
          </a:xfrm>
          <a:prstGeom prst="rect">
            <a:avLst/>
          </a:prstGeom>
          <a:noFill/>
          <a:ln/>
        </p:spPr>
        <p:txBody>
          <a:bodyPr wrap="square" lIns="0" tIns="0" rIns="0" bIns="0" rtlCol="0" anchor="t"/>
          <a:lstStyle/>
          <a:p>
            <a:pPr indent="0" marL="0">
              <a:buNone/>
            </a:pPr>
            <a:r>
              <a:rPr lang="en-US" sz="1500" b="1" dirty="0">
                <a:solidFill>
                  <a:srgbClr val="0F62FE"/>
                </a:solidFill>
                <a:latin typeface="IBM Plex Sans KR" pitchFamily="34" charset="0"/>
                <a:ea typeface="IBM Plex Sans KR" pitchFamily="34" charset="-122"/>
                <a:cs typeface="IBM Plex Sans KR" pitchFamily="34" charset="-120"/>
              </a:rPr>
              <a:t>환경</a:t>
            </a:r>
            <a:endParaRPr lang="en-US" sz="1500" dirty="0"/>
          </a:p>
        </p:txBody>
      </p:sp>
      <p:sp>
        <p:nvSpPr>
          <p:cNvPr id="24" name="o241"/>
          <p:cNvSpPr txBox="1"/>
          <p:nvPr/>
        </p:nvSpPr>
        <p:spPr>
          <a:xfrm>
            <a:off x="876300" y="3429000"/>
            <a:ext cx="1428750" cy="171450"/>
          </a:xfrm>
          <a:prstGeom prst="rect">
            <a:avLst/>
          </a:prstGeom>
          <a:noFill/>
          <a:ln/>
        </p:spPr>
        <p:txBody>
          <a:bodyPr wrap="square" lIns="0" tIns="0" rIns="0" bIns="0" rtlCol="0" anchor="t"/>
          <a:lstStyle/>
          <a:p>
            <a:pPr indent="0" marL="0">
              <a:buNone/>
            </a:pPr>
            <a:r>
              <a:rPr lang="en-US" sz="1000" dirty="0">
                <a:solidFill>
                  <a:srgbClr val="525252"/>
                </a:solidFill>
                <a:latin typeface="IBM Plex Sans KR" pitchFamily="34" charset="0"/>
                <a:ea typeface="IBM Plex Sans KR" pitchFamily="34" charset="-122"/>
                <a:cs typeface="IBM Plex Sans KR" pitchFamily="34" charset="-120"/>
              </a:rPr>
              <a:t>Environment</a:t>
            </a:r>
            <a:endParaRPr lang="en-US" sz="1000" dirty="0"/>
          </a:p>
        </p:txBody>
      </p:sp>
      <p:sp>
        <p:nvSpPr>
          <p:cNvPr id="25" name="o242"/>
          <p:cNvSpPr txBox="1"/>
          <p:nvPr/>
        </p:nvSpPr>
        <p:spPr>
          <a:xfrm>
            <a:off x="2400300" y="3181350"/>
            <a:ext cx="4267200" cy="723900"/>
          </a:xfrm>
          <a:prstGeom prst="rect">
            <a:avLst/>
          </a:prstGeom>
          <a:noFill/>
          <a:ln/>
        </p:spPr>
        <p:txBody>
          <a:bodyPr wrap="square" lIns="0" tIns="0" rIns="0" bIns="0" rtlCol="0" anchor="t"/>
          <a:lstStyle/>
          <a:p>
            <a:pPr indent="0" marL="0">
              <a:lnSpc>
                <a:spcPct val="140000"/>
              </a:lnSpc>
              <a:buNone/>
            </a:pPr>
            <a:r>
              <a:rPr lang="en-US" sz="1300" b="1" dirty="0">
                <a:solidFill>
                  <a:srgbClr val="161616"/>
                </a:solidFill>
                <a:latin typeface="IBM Plex Sans KR" pitchFamily="34" charset="0"/>
                <a:ea typeface="IBM Plex Sans KR" pitchFamily="34" charset="-122"/>
                <a:cs typeface="IBM Plex Sans KR" pitchFamily="34" charset="-120"/>
              </a:rPr>
              <a:t>부서 ↔ 보건관리실 이동 평균 7분</a:t>
            </a:r>
            <a:endParaRPr lang="en-US" sz="1300" dirty="0"/>
          </a:p>
        </p:txBody>
      </p:sp>
      <p:sp>
        <p:nvSpPr>
          <p:cNvPr id="26" name="o243"/>
          <p:cNvSpPr/>
          <p:nvPr/>
        </p:nvSpPr>
        <p:spPr>
          <a:xfrm>
            <a:off x="876300" y="4057650"/>
            <a:ext cx="5791200" cy="0"/>
          </a:xfrm>
          <a:prstGeom prst="line">
            <a:avLst/>
          </a:prstGeom>
          <a:noFill/>
          <a:ln w="9525">
            <a:solidFill>
              <a:srgbClr val="E0E0E0"/>
            </a:solidFill>
            <a:prstDash val="solid"/>
          </a:ln>
        </p:spPr>
      </p:sp>
      <p:sp>
        <p:nvSpPr>
          <p:cNvPr id="27" name="o244"/>
          <p:cNvSpPr txBox="1"/>
          <p:nvPr/>
        </p:nvSpPr>
        <p:spPr>
          <a:xfrm>
            <a:off x="876300" y="4171950"/>
            <a:ext cx="1428750" cy="228600"/>
          </a:xfrm>
          <a:prstGeom prst="rect">
            <a:avLst/>
          </a:prstGeom>
          <a:noFill/>
          <a:ln/>
        </p:spPr>
        <p:txBody>
          <a:bodyPr wrap="square" lIns="0" tIns="0" rIns="0" bIns="0" rtlCol="0" anchor="t"/>
          <a:lstStyle/>
          <a:p>
            <a:pPr indent="0" marL="0">
              <a:buNone/>
            </a:pPr>
            <a:r>
              <a:rPr lang="en-US" sz="1500" b="1" dirty="0">
                <a:solidFill>
                  <a:srgbClr val="0F62FE"/>
                </a:solidFill>
                <a:latin typeface="IBM Plex Sans KR" pitchFamily="34" charset="0"/>
                <a:ea typeface="IBM Plex Sans KR" pitchFamily="34" charset="-122"/>
                <a:cs typeface="IBM Plex Sans KR" pitchFamily="34" charset="-120"/>
              </a:rPr>
              <a:t>장비 · 시스템</a:t>
            </a:r>
            <a:endParaRPr lang="en-US" sz="1500" dirty="0"/>
          </a:p>
        </p:txBody>
      </p:sp>
      <p:sp>
        <p:nvSpPr>
          <p:cNvPr id="28" name="o245"/>
          <p:cNvSpPr txBox="1"/>
          <p:nvPr/>
        </p:nvSpPr>
        <p:spPr>
          <a:xfrm>
            <a:off x="876300" y="4419600"/>
            <a:ext cx="1428750" cy="171450"/>
          </a:xfrm>
          <a:prstGeom prst="rect">
            <a:avLst/>
          </a:prstGeom>
          <a:noFill/>
          <a:ln/>
        </p:spPr>
        <p:txBody>
          <a:bodyPr wrap="square" lIns="0" tIns="0" rIns="0" bIns="0" rtlCol="0" anchor="t"/>
          <a:lstStyle/>
          <a:p>
            <a:pPr indent="0" marL="0">
              <a:buNone/>
            </a:pPr>
            <a:r>
              <a:rPr lang="en-US" sz="1000" dirty="0">
                <a:solidFill>
                  <a:srgbClr val="525252"/>
                </a:solidFill>
                <a:latin typeface="IBM Plex Sans KR" pitchFamily="34" charset="0"/>
                <a:ea typeface="IBM Plex Sans KR" pitchFamily="34" charset="-122"/>
                <a:cs typeface="IBM Plex Sans KR" pitchFamily="34" charset="-120"/>
              </a:rPr>
              <a:t>Machine</a:t>
            </a:r>
            <a:endParaRPr lang="en-US" sz="1000" dirty="0"/>
          </a:p>
        </p:txBody>
      </p:sp>
      <p:sp>
        <p:nvSpPr>
          <p:cNvPr id="29" name="o246"/>
          <p:cNvSpPr txBox="1"/>
          <p:nvPr/>
        </p:nvSpPr>
        <p:spPr>
          <a:xfrm>
            <a:off x="2400300" y="4171950"/>
            <a:ext cx="4267200" cy="723900"/>
          </a:xfrm>
          <a:prstGeom prst="rect">
            <a:avLst/>
          </a:prstGeom>
          <a:noFill/>
          <a:ln/>
        </p:spPr>
        <p:txBody>
          <a:bodyPr wrap="square" lIns="0" tIns="0" rIns="0" bIns="0" rtlCol="0" anchor="t"/>
          <a:lstStyle/>
          <a:p>
            <a:pPr indent="0" marL="0">
              <a:lnSpc>
                <a:spcPct val="140000"/>
              </a:lnSpc>
              <a:buNone/>
            </a:pPr>
            <a:r>
              <a:rPr lang="en-US" sz="1300" b="1" dirty="0">
                <a:solidFill>
                  <a:srgbClr val="161616"/>
                </a:solidFill>
                <a:latin typeface="IBM Plex Sans KR" pitchFamily="34" charset="0"/>
                <a:ea typeface="IBM Plex Sans KR" pitchFamily="34" charset="-122"/>
                <a:cs typeface="IBM Plex Sans KR" pitchFamily="34" charset="-120"/>
              </a:rPr>
              <a:t>실시간 이수 모니터링 불가</a:t>
            </a:r>
            <a:pPr indent="0" marL="0">
              <a:lnSpc>
                <a:spcPct val="140000"/>
              </a:lnSpc>
              <a:buNone/>
            </a:pPr>
            <a:r>
              <a:rPr lang="en-US" sz="1300" dirty="0">
                <a:solidFill>
                  <a:srgbClr val="393939"/>
                </a:solidFill>
                <a:latin typeface="IBM Plex Sans KR" pitchFamily="34" charset="0"/>
                <a:ea typeface="IBM Plex Sans KR" pitchFamily="34" charset="-122"/>
                <a:cs typeface="IBM Plex Sans KR" pitchFamily="34" charset="-120"/>
              </a:rPr>
              <a:t> · 인트라넷 검색 어려움 · 반복 수기 작성</a:t>
            </a:r>
            <a:endParaRPr lang="en-US" sz="1300" dirty="0"/>
          </a:p>
        </p:txBody>
      </p:sp>
      <p:sp>
        <p:nvSpPr>
          <p:cNvPr id="30" name="o247"/>
          <p:cNvSpPr/>
          <p:nvPr/>
        </p:nvSpPr>
        <p:spPr>
          <a:xfrm>
            <a:off x="876300" y="5048250"/>
            <a:ext cx="5791200" cy="0"/>
          </a:xfrm>
          <a:prstGeom prst="line">
            <a:avLst/>
          </a:prstGeom>
          <a:noFill/>
          <a:ln w="9525">
            <a:solidFill>
              <a:srgbClr val="E0E0E0"/>
            </a:solidFill>
            <a:prstDash val="solid"/>
          </a:ln>
        </p:spPr>
      </p:sp>
      <p:sp>
        <p:nvSpPr>
          <p:cNvPr id="31" name="o248"/>
          <p:cNvSpPr txBox="1"/>
          <p:nvPr/>
        </p:nvSpPr>
        <p:spPr>
          <a:xfrm>
            <a:off x="876300" y="5162550"/>
            <a:ext cx="1428750" cy="228600"/>
          </a:xfrm>
          <a:prstGeom prst="rect">
            <a:avLst/>
          </a:prstGeom>
          <a:noFill/>
          <a:ln/>
        </p:spPr>
        <p:txBody>
          <a:bodyPr wrap="square" lIns="0" tIns="0" rIns="0" bIns="0" rtlCol="0" anchor="t"/>
          <a:lstStyle/>
          <a:p>
            <a:pPr indent="0" marL="0">
              <a:buNone/>
            </a:pPr>
            <a:r>
              <a:rPr lang="en-US" sz="1500" b="1" dirty="0">
                <a:solidFill>
                  <a:srgbClr val="0F62FE"/>
                </a:solidFill>
                <a:latin typeface="IBM Plex Sans KR" pitchFamily="34" charset="0"/>
                <a:ea typeface="IBM Plex Sans KR" pitchFamily="34" charset="-122"/>
                <a:cs typeface="IBM Plex Sans KR" pitchFamily="34" charset="-120"/>
              </a:rPr>
              <a:t>재료 · 매체</a:t>
            </a:r>
            <a:endParaRPr lang="en-US" sz="1500" dirty="0"/>
          </a:p>
        </p:txBody>
      </p:sp>
      <p:sp>
        <p:nvSpPr>
          <p:cNvPr id="32" name="o249"/>
          <p:cNvSpPr txBox="1"/>
          <p:nvPr/>
        </p:nvSpPr>
        <p:spPr>
          <a:xfrm>
            <a:off x="876300" y="5410200"/>
            <a:ext cx="1428750" cy="171450"/>
          </a:xfrm>
          <a:prstGeom prst="rect">
            <a:avLst/>
          </a:prstGeom>
          <a:noFill/>
          <a:ln/>
        </p:spPr>
        <p:txBody>
          <a:bodyPr wrap="square" lIns="0" tIns="0" rIns="0" bIns="0" rtlCol="0" anchor="t"/>
          <a:lstStyle/>
          <a:p>
            <a:pPr indent="0" marL="0">
              <a:buNone/>
            </a:pPr>
            <a:r>
              <a:rPr lang="en-US" sz="1000" dirty="0">
                <a:solidFill>
                  <a:srgbClr val="525252"/>
                </a:solidFill>
                <a:latin typeface="IBM Plex Sans KR" pitchFamily="34" charset="0"/>
                <a:ea typeface="IBM Plex Sans KR" pitchFamily="34" charset="-122"/>
                <a:cs typeface="IBM Plex Sans KR" pitchFamily="34" charset="-120"/>
              </a:rPr>
              <a:t>Material</a:t>
            </a:r>
            <a:endParaRPr lang="en-US" sz="1000" dirty="0"/>
          </a:p>
        </p:txBody>
      </p:sp>
      <p:sp>
        <p:nvSpPr>
          <p:cNvPr id="33" name="o250"/>
          <p:cNvSpPr txBox="1"/>
          <p:nvPr/>
        </p:nvSpPr>
        <p:spPr>
          <a:xfrm>
            <a:off x="2400300" y="5162550"/>
            <a:ext cx="4267200" cy="723900"/>
          </a:xfrm>
          <a:prstGeom prst="rect">
            <a:avLst/>
          </a:prstGeom>
          <a:noFill/>
          <a:ln/>
        </p:spPr>
        <p:txBody>
          <a:bodyPr wrap="square" lIns="0" tIns="0" rIns="0" bIns="0" rtlCol="0" anchor="t"/>
          <a:lstStyle/>
          <a:p>
            <a:pPr indent="0" marL="0">
              <a:lnSpc>
                <a:spcPct val="140000"/>
              </a:lnSpc>
              <a:buNone/>
            </a:pPr>
            <a:r>
              <a:rPr lang="en-US" sz="1300" dirty="0">
                <a:solidFill>
                  <a:srgbClr val="393939"/>
                </a:solidFill>
                <a:latin typeface="IBM Plex Sans KR" pitchFamily="34" charset="0"/>
                <a:ea typeface="IBM Plex Sans KR" pitchFamily="34" charset="-122"/>
                <a:cs typeface="IBM Plex Sans KR" pitchFamily="34" charset="-120"/>
              </a:rPr>
              <a:t>종이 분실 위험 · 바인더 검색 한계 · MSDS 최신본 비치 확인 미흡</a:t>
            </a:r>
            <a:endParaRPr lang="en-US" sz="1300" dirty="0"/>
          </a:p>
        </p:txBody>
      </p:sp>
      <p:sp>
        <p:nvSpPr>
          <p:cNvPr id="34" name="o251"/>
          <p:cNvSpPr txBox="1"/>
          <p:nvPr/>
        </p:nvSpPr>
        <p:spPr>
          <a:xfrm>
            <a:off x="7124700" y="1638300"/>
            <a:ext cx="4457700" cy="171450"/>
          </a:xfrm>
          <a:prstGeom prst="rect">
            <a:avLst/>
          </a:prstGeom>
          <a:noFill/>
          <a:ln/>
        </p:spPr>
        <p:txBody>
          <a:bodyPr wrap="square" lIns="0" tIns="0" rIns="0" bIns="0" rtlCol="0" anchor="t"/>
          <a:lstStyle/>
          <a:p>
            <a:pPr indent="0" marL="0">
              <a:buNone/>
            </a:pPr>
            <a:r>
              <a:rPr lang="en-US" sz="1200" b="1" dirty="0">
                <a:solidFill>
                  <a:srgbClr val="525252"/>
                </a:solidFill>
                <a:latin typeface="IBM Plex Sans KR" pitchFamily="34" charset="0"/>
                <a:ea typeface="IBM Plex Sans KR" pitchFamily="34" charset="-122"/>
                <a:cs typeface="IBM Plex Sans KR" pitchFamily="34" charset="-120"/>
              </a:rPr>
              <a:t>기준값 → 목표</a:t>
            </a:r>
            <a:endParaRPr lang="en-US" sz="1200" dirty="0"/>
          </a:p>
        </p:txBody>
      </p:sp>
      <p:sp>
        <p:nvSpPr>
          <p:cNvPr id="35" name="o252"/>
          <p:cNvSpPr/>
          <p:nvPr/>
        </p:nvSpPr>
        <p:spPr>
          <a:xfrm>
            <a:off x="7124700" y="1866900"/>
            <a:ext cx="2152650" cy="2114550"/>
          </a:xfrm>
          <a:prstGeom prst="rect">
            <a:avLst/>
          </a:prstGeom>
          <a:solidFill>
            <a:srgbClr val="F4F4F4"/>
          </a:solidFill>
          <a:ln w="12700">
            <a:solidFill>
              <a:srgbClr val="D0E2FF"/>
            </a:solidFill>
            <a:prstDash val="solid"/>
          </a:ln>
        </p:spPr>
      </p:sp>
      <p:sp>
        <p:nvSpPr>
          <p:cNvPr id="36" name="o253"/>
          <p:cNvSpPr txBox="1"/>
          <p:nvPr/>
        </p:nvSpPr>
        <p:spPr>
          <a:xfrm>
            <a:off x="7315200" y="2038350"/>
            <a:ext cx="1771650" cy="152400"/>
          </a:xfrm>
          <a:prstGeom prst="rect">
            <a:avLst/>
          </a:prstGeom>
          <a:noFill/>
          <a:ln/>
        </p:spPr>
        <p:txBody>
          <a:bodyPr wrap="square" lIns="0" tIns="0" rIns="0" bIns="0" rtlCol="0" anchor="t"/>
          <a:lstStyle/>
          <a:p>
            <a:pPr indent="0" marL="0">
              <a:buNone/>
            </a:pPr>
            <a:r>
              <a:rPr lang="en-US" sz="1000" b="1" spc="100" kern="0" dirty="0">
                <a:solidFill>
                  <a:srgbClr val="0F62FE"/>
                </a:solidFill>
                <a:latin typeface="IBM Plex Sans KR" pitchFamily="34" charset="0"/>
                <a:ea typeface="IBM Plex Sans KR" pitchFamily="34" charset="-122"/>
                <a:cs typeface="IBM Plex Sans KR" pitchFamily="34" charset="-120"/>
              </a:rPr>
              <a:t>GOAL 01</a:t>
            </a:r>
            <a:endParaRPr lang="en-US" sz="1000" dirty="0"/>
          </a:p>
        </p:txBody>
      </p:sp>
      <p:sp>
        <p:nvSpPr>
          <p:cNvPr id="37" name="o254"/>
          <p:cNvSpPr txBox="1"/>
          <p:nvPr/>
        </p:nvSpPr>
        <p:spPr>
          <a:xfrm>
            <a:off x="7315200" y="2247900"/>
            <a:ext cx="1771650" cy="209550"/>
          </a:xfrm>
          <a:prstGeom prst="rect">
            <a:avLst/>
          </a:prstGeom>
          <a:noFill/>
          <a:ln/>
        </p:spPr>
        <p:txBody>
          <a:bodyPr wrap="square" lIns="0" tIns="0" rIns="0" bIns="0" rtlCol="0" anchor="t"/>
          <a:lstStyle/>
          <a:p>
            <a:pPr indent="0" marL="0">
              <a:buNone/>
            </a:pPr>
            <a:r>
              <a:rPr lang="en-US" sz="1400" b="1" dirty="0">
                <a:solidFill>
                  <a:srgbClr val="161616"/>
                </a:solidFill>
                <a:latin typeface="IBM Plex Sans KR" pitchFamily="34" charset="0"/>
                <a:ea typeface="IBM Plex Sans KR" pitchFamily="34" charset="-122"/>
                <a:cs typeface="IBM Plex Sans KR" pitchFamily="34" charset="-120"/>
              </a:rPr>
              <a:t>법정교육 누락률</a:t>
            </a:r>
            <a:endParaRPr lang="en-US" sz="1400" dirty="0"/>
          </a:p>
        </p:txBody>
      </p:sp>
      <p:sp>
        <p:nvSpPr>
          <p:cNvPr id="38" name="o255"/>
          <p:cNvSpPr txBox="1"/>
          <p:nvPr/>
        </p:nvSpPr>
        <p:spPr>
          <a:xfrm>
            <a:off x="7315200" y="2628900"/>
            <a:ext cx="1866900" cy="571500"/>
          </a:xfrm>
          <a:prstGeom prst="rect">
            <a:avLst/>
          </a:prstGeom>
          <a:noFill/>
          <a:ln/>
        </p:spPr>
        <p:txBody>
          <a:bodyPr wrap="square" lIns="0" tIns="0" rIns="0" bIns="0" rtlCol="0" anchor="t"/>
          <a:lstStyle/>
          <a:p>
            <a:pPr indent="0" marL="0">
              <a:buNone/>
            </a:pPr>
            <a:r>
              <a:rPr lang="en-US" sz="2600" b="1" dirty="0">
                <a:solidFill>
                  <a:srgbClr val="0F62FE"/>
                </a:solidFill>
                <a:latin typeface="IBM Plex Sans KR" pitchFamily="34" charset="0"/>
                <a:ea typeface="IBM Plex Sans KR" pitchFamily="34" charset="-122"/>
                <a:cs typeface="IBM Plex Sans KR" pitchFamily="34" charset="-120"/>
              </a:rPr>
              <a:t>17% → 0%</a:t>
            </a:r>
            <a:endParaRPr lang="en-US" sz="2600" dirty="0"/>
          </a:p>
        </p:txBody>
      </p:sp>
      <p:sp>
        <p:nvSpPr>
          <p:cNvPr id="39" name="o256"/>
          <p:cNvSpPr/>
          <p:nvPr/>
        </p:nvSpPr>
        <p:spPr>
          <a:xfrm>
            <a:off x="9429750" y="1866900"/>
            <a:ext cx="2152650" cy="2114550"/>
          </a:xfrm>
          <a:prstGeom prst="rect">
            <a:avLst/>
          </a:prstGeom>
          <a:solidFill>
            <a:srgbClr val="F4F4F4"/>
          </a:solidFill>
          <a:ln w="12700">
            <a:solidFill>
              <a:srgbClr val="D0E2FF"/>
            </a:solidFill>
            <a:prstDash val="solid"/>
          </a:ln>
        </p:spPr>
      </p:sp>
      <p:sp>
        <p:nvSpPr>
          <p:cNvPr id="40" name="o257"/>
          <p:cNvSpPr txBox="1"/>
          <p:nvPr/>
        </p:nvSpPr>
        <p:spPr>
          <a:xfrm>
            <a:off x="9620250" y="2038350"/>
            <a:ext cx="1771650" cy="152400"/>
          </a:xfrm>
          <a:prstGeom prst="rect">
            <a:avLst/>
          </a:prstGeom>
          <a:noFill/>
          <a:ln/>
        </p:spPr>
        <p:txBody>
          <a:bodyPr wrap="square" lIns="0" tIns="0" rIns="0" bIns="0" rtlCol="0" anchor="t"/>
          <a:lstStyle/>
          <a:p>
            <a:pPr indent="0" marL="0">
              <a:buNone/>
            </a:pPr>
            <a:r>
              <a:rPr lang="en-US" sz="1000" b="1" spc="100" kern="0" dirty="0">
                <a:solidFill>
                  <a:srgbClr val="0F62FE"/>
                </a:solidFill>
                <a:latin typeface="IBM Plex Sans KR" pitchFamily="34" charset="0"/>
                <a:ea typeface="IBM Plex Sans KR" pitchFamily="34" charset="-122"/>
                <a:cs typeface="IBM Plex Sans KR" pitchFamily="34" charset="-120"/>
              </a:rPr>
              <a:t>GOAL 02</a:t>
            </a:r>
            <a:endParaRPr lang="en-US" sz="1000" dirty="0"/>
          </a:p>
        </p:txBody>
      </p:sp>
      <p:sp>
        <p:nvSpPr>
          <p:cNvPr id="41" name="o258"/>
          <p:cNvSpPr txBox="1"/>
          <p:nvPr/>
        </p:nvSpPr>
        <p:spPr>
          <a:xfrm>
            <a:off x="9620250" y="2247900"/>
            <a:ext cx="1771650" cy="209550"/>
          </a:xfrm>
          <a:prstGeom prst="rect">
            <a:avLst/>
          </a:prstGeom>
          <a:noFill/>
          <a:ln/>
        </p:spPr>
        <p:txBody>
          <a:bodyPr wrap="square" lIns="0" tIns="0" rIns="0" bIns="0" rtlCol="0" anchor="t"/>
          <a:lstStyle/>
          <a:p>
            <a:pPr indent="0" marL="0">
              <a:buNone/>
            </a:pPr>
            <a:r>
              <a:rPr lang="en-US" sz="1400" b="1" dirty="0">
                <a:solidFill>
                  <a:srgbClr val="161616"/>
                </a:solidFill>
                <a:latin typeface="IBM Plex Sans KR" pitchFamily="34" charset="0"/>
                <a:ea typeface="IBM Plex Sans KR" pitchFamily="34" charset="-122"/>
                <a:cs typeface="IBM Plex Sans KR" pitchFamily="34" charset="-120"/>
              </a:rPr>
              <a:t>행정 리드타임</a:t>
            </a:r>
            <a:endParaRPr lang="en-US" sz="1400" dirty="0"/>
          </a:p>
        </p:txBody>
      </p:sp>
      <p:sp>
        <p:nvSpPr>
          <p:cNvPr id="42" name="o259"/>
          <p:cNvSpPr txBox="1"/>
          <p:nvPr/>
        </p:nvSpPr>
        <p:spPr>
          <a:xfrm>
            <a:off x="9620250" y="2628900"/>
            <a:ext cx="1866900" cy="571500"/>
          </a:xfrm>
          <a:prstGeom prst="rect">
            <a:avLst/>
          </a:prstGeom>
          <a:noFill/>
          <a:ln/>
        </p:spPr>
        <p:txBody>
          <a:bodyPr wrap="square" lIns="0" tIns="0" rIns="0" bIns="0" rtlCol="0" anchor="t"/>
          <a:lstStyle/>
          <a:p>
            <a:pPr indent="0" marL="0">
              <a:buNone/>
            </a:pPr>
            <a:r>
              <a:rPr lang="en-US" sz="3800" b="1" dirty="0">
                <a:solidFill>
                  <a:srgbClr val="0F62FE"/>
                </a:solidFill>
                <a:latin typeface="IBM Plex Sans KR" pitchFamily="34" charset="0"/>
                <a:ea typeface="IBM Plex Sans KR" pitchFamily="34" charset="-122"/>
                <a:cs typeface="IBM Plex Sans KR" pitchFamily="34" charset="-120"/>
              </a:rPr>
              <a:t>70%↓</a:t>
            </a:r>
            <a:endParaRPr lang="en-US" sz="3800" dirty="0"/>
          </a:p>
        </p:txBody>
      </p:sp>
      <p:sp>
        <p:nvSpPr>
          <p:cNvPr id="43" name="o260"/>
          <p:cNvSpPr txBox="1"/>
          <p:nvPr/>
        </p:nvSpPr>
        <p:spPr>
          <a:xfrm>
            <a:off x="9620250" y="3390900"/>
            <a:ext cx="1771650" cy="381000"/>
          </a:xfrm>
          <a:prstGeom prst="rect">
            <a:avLst/>
          </a:prstGeom>
          <a:noFill/>
          <a:ln/>
        </p:spPr>
        <p:txBody>
          <a:bodyPr wrap="square" lIns="0" tIns="0" rIns="0" bIns="0" rtlCol="0" anchor="t"/>
          <a:lstStyle/>
          <a:p>
            <a:pPr indent="0" marL="0">
              <a:lnSpc>
                <a:spcPct val="130000"/>
              </a:lnSpc>
              <a:buNone/>
            </a:pPr>
            <a:r>
              <a:rPr lang="en-US" sz="1100" dirty="0">
                <a:solidFill>
                  <a:srgbClr val="525252"/>
                </a:solidFill>
                <a:latin typeface="IBM Plex Sans KR" pitchFamily="34" charset="0"/>
                <a:ea typeface="IBM Plex Sans KR" pitchFamily="34" charset="-122"/>
                <a:cs typeface="IBM Plex Sans KR" pitchFamily="34" charset="-120"/>
              </a:rPr>
              <a:t>33분 48초 → 10분 이내</a:t>
            </a:r>
            <a:endParaRPr lang="en-US" sz="1100" dirty="0"/>
          </a:p>
        </p:txBody>
      </p:sp>
      <p:sp>
        <p:nvSpPr>
          <p:cNvPr id="44" name="o261"/>
          <p:cNvSpPr/>
          <p:nvPr/>
        </p:nvSpPr>
        <p:spPr>
          <a:xfrm>
            <a:off x="7124700" y="4133850"/>
            <a:ext cx="2152650" cy="2114550"/>
          </a:xfrm>
          <a:prstGeom prst="rect">
            <a:avLst/>
          </a:prstGeom>
          <a:solidFill>
            <a:srgbClr val="F4F4F4"/>
          </a:solidFill>
          <a:ln w="12700">
            <a:solidFill>
              <a:srgbClr val="D0E2FF"/>
            </a:solidFill>
            <a:prstDash val="solid"/>
          </a:ln>
        </p:spPr>
      </p:sp>
      <p:sp>
        <p:nvSpPr>
          <p:cNvPr id="45" name="o262"/>
          <p:cNvSpPr txBox="1"/>
          <p:nvPr/>
        </p:nvSpPr>
        <p:spPr>
          <a:xfrm>
            <a:off x="7315200" y="4305300"/>
            <a:ext cx="1771650" cy="152400"/>
          </a:xfrm>
          <a:prstGeom prst="rect">
            <a:avLst/>
          </a:prstGeom>
          <a:noFill/>
          <a:ln/>
        </p:spPr>
        <p:txBody>
          <a:bodyPr wrap="square" lIns="0" tIns="0" rIns="0" bIns="0" rtlCol="0" anchor="t"/>
          <a:lstStyle/>
          <a:p>
            <a:pPr indent="0" marL="0">
              <a:buNone/>
            </a:pPr>
            <a:r>
              <a:rPr lang="en-US" sz="1000" b="1" spc="100" kern="0" dirty="0">
                <a:solidFill>
                  <a:srgbClr val="0F62FE"/>
                </a:solidFill>
                <a:latin typeface="IBM Plex Sans KR" pitchFamily="34" charset="0"/>
                <a:ea typeface="IBM Plex Sans KR" pitchFamily="34" charset="-122"/>
                <a:cs typeface="IBM Plex Sans KR" pitchFamily="34" charset="-120"/>
              </a:rPr>
              <a:t>GOAL 03</a:t>
            </a:r>
            <a:endParaRPr lang="en-US" sz="1000" dirty="0"/>
          </a:p>
        </p:txBody>
      </p:sp>
      <p:sp>
        <p:nvSpPr>
          <p:cNvPr id="46" name="o263"/>
          <p:cNvSpPr txBox="1"/>
          <p:nvPr/>
        </p:nvSpPr>
        <p:spPr>
          <a:xfrm>
            <a:off x="7315200" y="4514850"/>
            <a:ext cx="1771650" cy="209550"/>
          </a:xfrm>
          <a:prstGeom prst="rect">
            <a:avLst/>
          </a:prstGeom>
          <a:noFill/>
          <a:ln/>
        </p:spPr>
        <p:txBody>
          <a:bodyPr wrap="square" lIns="0" tIns="0" rIns="0" bIns="0" rtlCol="0" anchor="t"/>
          <a:lstStyle/>
          <a:p>
            <a:pPr indent="0" marL="0">
              <a:buNone/>
            </a:pPr>
            <a:r>
              <a:rPr lang="en-US" sz="1400" b="1" dirty="0">
                <a:solidFill>
                  <a:srgbClr val="161616"/>
                </a:solidFill>
                <a:latin typeface="IBM Plex Sans KR" pitchFamily="34" charset="0"/>
                <a:ea typeface="IBM Plex Sans KR" pitchFamily="34" charset="-122"/>
                <a:cs typeface="IBM Plex Sans KR" pitchFamily="34" charset="-120"/>
              </a:rPr>
              <a:t>종이 교육일지</a:t>
            </a:r>
            <a:endParaRPr lang="en-US" sz="1400" dirty="0"/>
          </a:p>
        </p:txBody>
      </p:sp>
      <p:sp>
        <p:nvSpPr>
          <p:cNvPr id="47" name="o264"/>
          <p:cNvSpPr txBox="1"/>
          <p:nvPr/>
        </p:nvSpPr>
        <p:spPr>
          <a:xfrm>
            <a:off x="7315200" y="4895850"/>
            <a:ext cx="1866900" cy="571500"/>
          </a:xfrm>
          <a:prstGeom prst="rect">
            <a:avLst/>
          </a:prstGeom>
          <a:noFill/>
          <a:ln/>
        </p:spPr>
        <p:txBody>
          <a:bodyPr wrap="square" lIns="0" tIns="0" rIns="0" bIns="0" rtlCol="0" anchor="t"/>
          <a:lstStyle/>
          <a:p>
            <a:pPr indent="0" marL="0">
              <a:buNone/>
            </a:pPr>
            <a:r>
              <a:rPr lang="en-US" sz="3800" b="1" dirty="0">
                <a:solidFill>
                  <a:srgbClr val="0F62FE"/>
                </a:solidFill>
                <a:latin typeface="IBM Plex Sans KR" pitchFamily="34" charset="0"/>
                <a:ea typeface="IBM Plex Sans KR" pitchFamily="34" charset="-122"/>
                <a:cs typeface="IBM Plex Sans KR" pitchFamily="34" charset="-120"/>
              </a:rPr>
              <a:t>0건</a:t>
            </a:r>
            <a:endParaRPr lang="en-US" sz="3800" dirty="0"/>
          </a:p>
        </p:txBody>
      </p:sp>
      <p:sp>
        <p:nvSpPr>
          <p:cNvPr id="48" name="o265"/>
          <p:cNvSpPr txBox="1"/>
          <p:nvPr/>
        </p:nvSpPr>
        <p:spPr>
          <a:xfrm>
            <a:off x="7315200" y="5657850"/>
            <a:ext cx="1771650" cy="381000"/>
          </a:xfrm>
          <a:prstGeom prst="rect">
            <a:avLst/>
          </a:prstGeom>
          <a:noFill/>
          <a:ln/>
        </p:spPr>
        <p:txBody>
          <a:bodyPr wrap="square" lIns="0" tIns="0" rIns="0" bIns="0" rtlCol="0" anchor="t"/>
          <a:lstStyle/>
          <a:p>
            <a:pPr indent="0" marL="0">
              <a:lnSpc>
                <a:spcPct val="130000"/>
              </a:lnSpc>
              <a:buNone/>
            </a:pPr>
            <a:r>
              <a:rPr lang="en-US" sz="1100" dirty="0">
                <a:solidFill>
                  <a:srgbClr val="525252"/>
                </a:solidFill>
                <a:latin typeface="IBM Plex Sans KR" pitchFamily="34" charset="0"/>
                <a:ea typeface="IBM Plex Sans KR" pitchFamily="34" charset="-122"/>
                <a:cs typeface="IBM Plex Sans KR" pitchFamily="34" charset="-120"/>
              </a:rPr>
              <a:t>연 94건 → 0건</a:t>
            </a:r>
            <a:endParaRPr lang="en-US" sz="1100" dirty="0"/>
          </a:p>
        </p:txBody>
      </p:sp>
      <p:sp>
        <p:nvSpPr>
          <p:cNvPr id="49" name="o266"/>
          <p:cNvSpPr/>
          <p:nvPr/>
        </p:nvSpPr>
        <p:spPr>
          <a:xfrm>
            <a:off x="9429750" y="4133850"/>
            <a:ext cx="2152650" cy="2114550"/>
          </a:xfrm>
          <a:prstGeom prst="rect">
            <a:avLst/>
          </a:prstGeom>
          <a:solidFill>
            <a:srgbClr val="F4F4F4"/>
          </a:solidFill>
          <a:ln w="12700">
            <a:solidFill>
              <a:srgbClr val="D0E2FF"/>
            </a:solidFill>
            <a:prstDash val="solid"/>
          </a:ln>
        </p:spPr>
      </p:sp>
      <p:sp>
        <p:nvSpPr>
          <p:cNvPr id="50" name="o267"/>
          <p:cNvSpPr txBox="1"/>
          <p:nvPr/>
        </p:nvSpPr>
        <p:spPr>
          <a:xfrm>
            <a:off x="9620250" y="4305300"/>
            <a:ext cx="1771650" cy="152400"/>
          </a:xfrm>
          <a:prstGeom prst="rect">
            <a:avLst/>
          </a:prstGeom>
          <a:noFill/>
          <a:ln/>
        </p:spPr>
        <p:txBody>
          <a:bodyPr wrap="square" lIns="0" tIns="0" rIns="0" bIns="0" rtlCol="0" anchor="t"/>
          <a:lstStyle/>
          <a:p>
            <a:pPr indent="0" marL="0">
              <a:buNone/>
            </a:pPr>
            <a:r>
              <a:rPr lang="en-US" sz="1000" b="1" spc="100" kern="0" dirty="0">
                <a:solidFill>
                  <a:srgbClr val="0F62FE"/>
                </a:solidFill>
                <a:latin typeface="IBM Plex Sans KR" pitchFamily="34" charset="0"/>
                <a:ea typeface="IBM Plex Sans KR" pitchFamily="34" charset="-122"/>
                <a:cs typeface="IBM Plex Sans KR" pitchFamily="34" charset="-120"/>
              </a:rPr>
              <a:t>GOAL 04</a:t>
            </a:r>
            <a:endParaRPr lang="en-US" sz="1000" dirty="0"/>
          </a:p>
        </p:txBody>
      </p:sp>
      <p:sp>
        <p:nvSpPr>
          <p:cNvPr id="51" name="o268"/>
          <p:cNvSpPr txBox="1"/>
          <p:nvPr/>
        </p:nvSpPr>
        <p:spPr>
          <a:xfrm>
            <a:off x="9620250" y="4514850"/>
            <a:ext cx="1771650" cy="209550"/>
          </a:xfrm>
          <a:prstGeom prst="rect">
            <a:avLst/>
          </a:prstGeom>
          <a:noFill/>
          <a:ln/>
        </p:spPr>
        <p:txBody>
          <a:bodyPr wrap="square" lIns="0" tIns="0" rIns="0" bIns="0" rtlCol="0" anchor="t"/>
          <a:lstStyle/>
          <a:p>
            <a:pPr indent="0" marL="0">
              <a:buNone/>
            </a:pPr>
            <a:r>
              <a:rPr lang="en-US" sz="1400" b="1" dirty="0">
                <a:solidFill>
                  <a:srgbClr val="161616"/>
                </a:solidFill>
                <a:latin typeface="IBM Plex Sans KR" pitchFamily="34" charset="0"/>
                <a:ea typeface="IBM Plex Sans KR" pitchFamily="34" charset="-122"/>
                <a:cs typeface="IBM Plex Sans KR" pitchFamily="34" charset="-120"/>
              </a:rPr>
              <a:t>6대 모듈 구축</a:t>
            </a:r>
            <a:endParaRPr lang="en-US" sz="1400" dirty="0"/>
          </a:p>
        </p:txBody>
      </p:sp>
      <p:sp>
        <p:nvSpPr>
          <p:cNvPr id="52" name="o269"/>
          <p:cNvSpPr txBox="1"/>
          <p:nvPr/>
        </p:nvSpPr>
        <p:spPr>
          <a:xfrm>
            <a:off x="9620250" y="4895850"/>
            <a:ext cx="1866900" cy="571500"/>
          </a:xfrm>
          <a:prstGeom prst="rect">
            <a:avLst/>
          </a:prstGeom>
          <a:noFill/>
          <a:ln/>
        </p:spPr>
        <p:txBody>
          <a:bodyPr wrap="square" lIns="0" tIns="0" rIns="0" bIns="0" rtlCol="0" anchor="t"/>
          <a:lstStyle/>
          <a:p>
            <a:pPr indent="0" marL="0">
              <a:buNone/>
            </a:pPr>
            <a:r>
              <a:rPr lang="en-US" sz="3800" b="1" dirty="0">
                <a:solidFill>
                  <a:srgbClr val="0F62FE"/>
                </a:solidFill>
                <a:latin typeface="IBM Plex Sans KR" pitchFamily="34" charset="0"/>
                <a:ea typeface="IBM Plex Sans KR" pitchFamily="34" charset="-122"/>
                <a:cs typeface="IBM Plex Sans KR" pitchFamily="34" charset="-120"/>
              </a:rPr>
              <a:t>100%</a:t>
            </a:r>
            <a:endParaRPr lang="en-US" sz="3800" dirty="0"/>
          </a:p>
        </p:txBody>
      </p:sp>
      <p:sp>
        <p:nvSpPr>
          <p:cNvPr id="53" name="o270"/>
          <p:cNvSpPr txBox="1"/>
          <p:nvPr/>
        </p:nvSpPr>
        <p:spPr>
          <a:xfrm>
            <a:off x="9620250" y="5657850"/>
            <a:ext cx="1771650" cy="381000"/>
          </a:xfrm>
          <a:prstGeom prst="rect">
            <a:avLst/>
          </a:prstGeom>
          <a:noFill/>
          <a:ln/>
        </p:spPr>
        <p:txBody>
          <a:bodyPr wrap="square" lIns="0" tIns="0" rIns="0" bIns="0" rtlCol="0" anchor="t"/>
          <a:lstStyle/>
          <a:p>
            <a:pPr indent="0" marL="0">
              <a:lnSpc>
                <a:spcPct val="130000"/>
              </a:lnSpc>
              <a:buNone/>
            </a:pPr>
            <a:r>
              <a:rPr lang="en-US" sz="1100" dirty="0">
                <a:solidFill>
                  <a:srgbClr val="525252"/>
                </a:solidFill>
                <a:latin typeface="IBM Plex Sans KR" pitchFamily="34" charset="0"/>
                <a:ea typeface="IBM Plex Sans KR" pitchFamily="34" charset="-122"/>
                <a:cs typeface="IBM Plex Sans KR" pitchFamily="34" charset="-120"/>
              </a:rPr>
              <a:t>0 → 6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271"/>
          <p:cNvSpPr/>
          <p:nvPr/>
        </p:nvSpPr>
        <p:spPr>
          <a:xfrm>
            <a:off x="609600" y="228600"/>
            <a:ext cx="2686050" cy="38100"/>
          </a:xfrm>
          <a:prstGeom prst="rect">
            <a:avLst/>
          </a:prstGeom>
          <a:solidFill>
            <a:srgbClr val="0F62FE"/>
          </a:solidFill>
          <a:ln/>
        </p:spPr>
      </p:sp>
      <p:sp>
        <p:nvSpPr>
          <p:cNvPr id="3" name="o272"/>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Plan</a:t>
            </a:r>
            <a:endParaRPr lang="en-US" sz="800" dirty="0"/>
          </a:p>
        </p:txBody>
      </p:sp>
      <p:sp>
        <p:nvSpPr>
          <p:cNvPr id="4" name="o273"/>
          <p:cNvSpPr/>
          <p:nvPr/>
        </p:nvSpPr>
        <p:spPr>
          <a:xfrm>
            <a:off x="3371850" y="228600"/>
            <a:ext cx="2686050" cy="38100"/>
          </a:xfrm>
          <a:prstGeom prst="rect">
            <a:avLst/>
          </a:prstGeom>
          <a:solidFill>
            <a:srgbClr val="0F62FE"/>
          </a:solidFill>
          <a:ln/>
        </p:spPr>
      </p:sp>
      <p:sp>
        <p:nvSpPr>
          <p:cNvPr id="5" name="o274"/>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b="1" dirty="0">
                <a:solidFill>
                  <a:srgbClr val="0F62FE"/>
                </a:solidFill>
                <a:latin typeface="IBM Plex Sans KR" pitchFamily="34" charset="0"/>
                <a:ea typeface="IBM Plex Sans KR" pitchFamily="34" charset="-122"/>
                <a:cs typeface="IBM Plex Sans KR" pitchFamily="34" charset="-120"/>
              </a:rPr>
              <a:t>Do</a:t>
            </a:r>
            <a:endParaRPr lang="en-US" sz="800" dirty="0"/>
          </a:p>
        </p:txBody>
      </p:sp>
      <p:sp>
        <p:nvSpPr>
          <p:cNvPr id="6" name="o275"/>
          <p:cNvSpPr/>
          <p:nvPr/>
        </p:nvSpPr>
        <p:spPr>
          <a:xfrm>
            <a:off x="6134100" y="228600"/>
            <a:ext cx="2686050" cy="38100"/>
          </a:xfrm>
          <a:prstGeom prst="rect">
            <a:avLst/>
          </a:prstGeom>
          <a:solidFill>
            <a:srgbClr val="E0E0E0"/>
          </a:solidFill>
          <a:ln/>
        </p:spPr>
      </p:sp>
      <p:sp>
        <p:nvSpPr>
          <p:cNvPr id="7" name="o276"/>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Check</a:t>
            </a:r>
            <a:endParaRPr lang="en-US" sz="800" dirty="0"/>
          </a:p>
        </p:txBody>
      </p:sp>
      <p:sp>
        <p:nvSpPr>
          <p:cNvPr id="8" name="o277"/>
          <p:cNvSpPr/>
          <p:nvPr/>
        </p:nvSpPr>
        <p:spPr>
          <a:xfrm>
            <a:off x="8896350" y="228600"/>
            <a:ext cx="2686050" cy="38100"/>
          </a:xfrm>
          <a:prstGeom prst="rect">
            <a:avLst/>
          </a:prstGeom>
          <a:solidFill>
            <a:srgbClr val="E0E0E0"/>
          </a:solidFill>
          <a:ln/>
        </p:spPr>
      </p:sp>
      <p:sp>
        <p:nvSpPr>
          <p:cNvPr id="9" name="o278"/>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Act</a:t>
            </a:r>
            <a:endParaRPr lang="en-US" sz="800" dirty="0"/>
          </a:p>
        </p:txBody>
      </p:sp>
      <p:sp>
        <p:nvSpPr>
          <p:cNvPr id="10" name="o279"/>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F62FE"/>
                </a:solidFill>
                <a:latin typeface="IBM Plex Sans KR" pitchFamily="34" charset="0"/>
                <a:ea typeface="IBM Plex Sans KR" pitchFamily="34" charset="-122"/>
                <a:cs typeface="IBM Plex Sans KR" pitchFamily="34" charset="-120"/>
              </a:rPr>
              <a:t>04   SOLUTION  ·  플랫폼 구성</a:t>
            </a:r>
            <a:endParaRPr lang="en-US" sz="1100" dirty="0"/>
          </a:p>
        </p:txBody>
      </p:sp>
      <p:sp>
        <p:nvSpPr>
          <p:cNvPr id="11" name="o280"/>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원인마다 하나씩, 6개 모듈로 설계했습니다</a:t>
            </a:r>
            <a:endParaRPr lang="en-US" sz="2600" dirty="0"/>
          </a:p>
        </p:txBody>
      </p:sp>
      <p:sp>
        <p:nvSpPr>
          <p:cNvPr id="12" name="o281"/>
          <p:cNvSpPr/>
          <p:nvPr/>
        </p:nvSpPr>
        <p:spPr>
          <a:xfrm>
            <a:off x="0" y="6477000"/>
            <a:ext cx="12192000" cy="381000"/>
          </a:xfrm>
          <a:prstGeom prst="rect">
            <a:avLst/>
          </a:prstGeom>
          <a:solidFill>
            <a:srgbClr val="161616"/>
          </a:solidFill>
          <a:ln/>
        </p:spPr>
      </p:sp>
      <p:sp>
        <p:nvSpPr>
          <p:cNvPr id="13" name="o282"/>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IBM Plex Sans KR" pitchFamily="34" charset="0"/>
                <a:ea typeface="IBM Plex Sans KR" pitchFamily="34" charset="-122"/>
                <a:cs typeface="IBM Plex Sans KR" pitchFamily="34" charset="-120"/>
              </a:rPr>
              <a:t>부산부민병원 안전보건 통합관리 시스템  ·  Safety First</a:t>
            </a:r>
            <a:endParaRPr lang="en-US" sz="900" dirty="0"/>
          </a:p>
        </p:txBody>
      </p:sp>
      <p:sp>
        <p:nvSpPr>
          <p:cNvPr id="14" name="o283"/>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IBM Plex Sans KR" pitchFamily="34" charset="0"/>
                <a:ea typeface="IBM Plex Sans KR" pitchFamily="34" charset="-122"/>
                <a:cs typeface="IBM Plex Sans KR" pitchFamily="34" charset="-120"/>
              </a:rPr>
              <a:t>07</a:t>
            </a:r>
            <a:endParaRPr lang="en-US" sz="1000" dirty="0"/>
          </a:p>
        </p:txBody>
      </p:sp>
      <p:sp>
        <p:nvSpPr>
          <p:cNvPr id="15" name="o284"/>
          <p:cNvSpPr/>
          <p:nvPr/>
        </p:nvSpPr>
        <p:spPr>
          <a:xfrm>
            <a:off x="609600" y="1333500"/>
            <a:ext cx="2571750" cy="381000"/>
          </a:xfrm>
          <a:prstGeom prst="rect">
            <a:avLst/>
          </a:prstGeom>
          <a:solidFill>
            <a:srgbClr val="EDF5FF"/>
          </a:solidFill>
          <a:ln w="12700">
            <a:solidFill>
              <a:srgbClr val="D0E2FF"/>
            </a:solidFill>
            <a:prstDash val="solid"/>
          </a:ln>
        </p:spPr>
      </p:sp>
      <p:sp>
        <p:nvSpPr>
          <p:cNvPr id="16" name="o285"/>
          <p:cNvSpPr txBox="1"/>
          <p:nvPr/>
        </p:nvSpPr>
        <p:spPr>
          <a:xfrm>
            <a:off x="609600" y="1333500"/>
            <a:ext cx="2571750" cy="381000"/>
          </a:xfrm>
          <a:prstGeom prst="rect">
            <a:avLst/>
          </a:prstGeom>
          <a:noFill/>
          <a:ln/>
        </p:spPr>
        <p:txBody>
          <a:bodyPr wrap="square" lIns="0" tIns="0" rIns="0" bIns="0" rtlCol="0" anchor="ctr"/>
          <a:lstStyle/>
          <a:p>
            <a:pPr algn="ctr" indent="0" marL="0">
              <a:buNone/>
            </a:pPr>
            <a:r>
              <a:rPr lang="en-US" sz="1400" b="1" dirty="0">
                <a:solidFill>
                  <a:srgbClr val="0F62FE"/>
                </a:solidFill>
                <a:latin typeface="IBM Plex Sans KR" pitchFamily="34" charset="0"/>
                <a:ea typeface="IBM Plex Sans KR" pitchFamily="34" charset="-122"/>
                <a:cs typeface="IBM Plex Sans KR" pitchFamily="34" charset="-120"/>
              </a:rPr>
              <a:t>모바일 작성</a:t>
            </a:r>
            <a:endParaRPr lang="en-US" sz="1400" dirty="0"/>
          </a:p>
        </p:txBody>
      </p:sp>
      <p:sp>
        <p:nvSpPr>
          <p:cNvPr id="17" name="o286"/>
          <p:cNvSpPr txBox="1"/>
          <p:nvPr/>
        </p:nvSpPr>
        <p:spPr>
          <a:xfrm>
            <a:off x="3181350" y="1333500"/>
            <a:ext cx="228600" cy="381000"/>
          </a:xfrm>
          <a:prstGeom prst="rect">
            <a:avLst/>
          </a:prstGeom>
          <a:noFill/>
          <a:ln/>
        </p:spPr>
        <p:txBody>
          <a:bodyPr wrap="square" lIns="0" tIns="0" rIns="0" bIns="0" rtlCol="0" anchor="ctr"/>
          <a:lstStyle/>
          <a:p>
            <a:pPr algn="ctr" indent="0" marL="0">
              <a:buNone/>
            </a:pPr>
            <a:r>
              <a:rPr lang="en-US" sz="2000" b="1" dirty="0">
                <a:solidFill>
                  <a:srgbClr val="0F62FE"/>
                </a:solidFill>
                <a:latin typeface="IBM Plex Sans KR" pitchFamily="34" charset="0"/>
                <a:ea typeface="IBM Plex Sans KR" pitchFamily="34" charset="-122"/>
                <a:cs typeface="IBM Plex Sans KR" pitchFamily="34" charset="-120"/>
              </a:rPr>
              <a:t>›</a:t>
            </a:r>
            <a:endParaRPr lang="en-US" sz="2000" dirty="0"/>
          </a:p>
        </p:txBody>
      </p:sp>
      <p:sp>
        <p:nvSpPr>
          <p:cNvPr id="18" name="o287"/>
          <p:cNvSpPr/>
          <p:nvPr/>
        </p:nvSpPr>
        <p:spPr>
          <a:xfrm>
            <a:off x="3409950" y="1333500"/>
            <a:ext cx="2571750" cy="381000"/>
          </a:xfrm>
          <a:prstGeom prst="rect">
            <a:avLst/>
          </a:prstGeom>
          <a:solidFill>
            <a:srgbClr val="EDF5FF"/>
          </a:solidFill>
          <a:ln w="12700">
            <a:solidFill>
              <a:srgbClr val="D0E2FF"/>
            </a:solidFill>
            <a:prstDash val="solid"/>
          </a:ln>
        </p:spPr>
      </p:sp>
      <p:sp>
        <p:nvSpPr>
          <p:cNvPr id="19" name="o288"/>
          <p:cNvSpPr txBox="1"/>
          <p:nvPr/>
        </p:nvSpPr>
        <p:spPr>
          <a:xfrm>
            <a:off x="3409950" y="1333500"/>
            <a:ext cx="2571750" cy="381000"/>
          </a:xfrm>
          <a:prstGeom prst="rect">
            <a:avLst/>
          </a:prstGeom>
          <a:noFill/>
          <a:ln/>
        </p:spPr>
        <p:txBody>
          <a:bodyPr wrap="square" lIns="0" tIns="0" rIns="0" bIns="0" rtlCol="0" anchor="ctr"/>
          <a:lstStyle/>
          <a:p>
            <a:pPr algn="ctr" indent="0" marL="0">
              <a:buNone/>
            </a:pPr>
            <a:r>
              <a:rPr lang="en-US" sz="1400" b="1" dirty="0">
                <a:solidFill>
                  <a:srgbClr val="0F62FE"/>
                </a:solidFill>
                <a:latin typeface="IBM Plex Sans KR" pitchFamily="34" charset="0"/>
                <a:ea typeface="IBM Plex Sans KR" pitchFamily="34" charset="-122"/>
                <a:cs typeface="IBM Plex Sans KR" pitchFamily="34" charset="-120"/>
              </a:rPr>
              <a:t>전자서명</a:t>
            </a:r>
            <a:endParaRPr lang="en-US" sz="1400" dirty="0"/>
          </a:p>
        </p:txBody>
      </p:sp>
      <p:sp>
        <p:nvSpPr>
          <p:cNvPr id="20" name="o289"/>
          <p:cNvSpPr txBox="1"/>
          <p:nvPr/>
        </p:nvSpPr>
        <p:spPr>
          <a:xfrm>
            <a:off x="5981700" y="1333500"/>
            <a:ext cx="228600" cy="381000"/>
          </a:xfrm>
          <a:prstGeom prst="rect">
            <a:avLst/>
          </a:prstGeom>
          <a:noFill/>
          <a:ln/>
        </p:spPr>
        <p:txBody>
          <a:bodyPr wrap="square" lIns="0" tIns="0" rIns="0" bIns="0" rtlCol="0" anchor="ctr"/>
          <a:lstStyle/>
          <a:p>
            <a:pPr algn="ctr" indent="0" marL="0">
              <a:buNone/>
            </a:pPr>
            <a:r>
              <a:rPr lang="en-US" sz="2000" b="1" dirty="0">
                <a:solidFill>
                  <a:srgbClr val="0F62FE"/>
                </a:solidFill>
                <a:latin typeface="IBM Plex Sans KR" pitchFamily="34" charset="0"/>
                <a:ea typeface="IBM Plex Sans KR" pitchFamily="34" charset="-122"/>
                <a:cs typeface="IBM Plex Sans KR" pitchFamily="34" charset="-120"/>
              </a:rPr>
              <a:t>›</a:t>
            </a:r>
            <a:endParaRPr lang="en-US" sz="2000" dirty="0"/>
          </a:p>
        </p:txBody>
      </p:sp>
      <p:sp>
        <p:nvSpPr>
          <p:cNvPr id="21" name="o290"/>
          <p:cNvSpPr/>
          <p:nvPr/>
        </p:nvSpPr>
        <p:spPr>
          <a:xfrm>
            <a:off x="6210300" y="1333500"/>
            <a:ext cx="2571750" cy="381000"/>
          </a:xfrm>
          <a:prstGeom prst="rect">
            <a:avLst/>
          </a:prstGeom>
          <a:solidFill>
            <a:srgbClr val="EDF5FF"/>
          </a:solidFill>
          <a:ln w="12700">
            <a:solidFill>
              <a:srgbClr val="D0E2FF"/>
            </a:solidFill>
            <a:prstDash val="solid"/>
          </a:ln>
        </p:spPr>
      </p:sp>
      <p:sp>
        <p:nvSpPr>
          <p:cNvPr id="22" name="o291"/>
          <p:cNvSpPr txBox="1"/>
          <p:nvPr/>
        </p:nvSpPr>
        <p:spPr>
          <a:xfrm>
            <a:off x="6210300" y="1333500"/>
            <a:ext cx="2571750" cy="381000"/>
          </a:xfrm>
          <a:prstGeom prst="rect">
            <a:avLst/>
          </a:prstGeom>
          <a:noFill/>
          <a:ln/>
        </p:spPr>
        <p:txBody>
          <a:bodyPr wrap="square" lIns="0" tIns="0" rIns="0" bIns="0" rtlCol="0" anchor="ctr"/>
          <a:lstStyle/>
          <a:p>
            <a:pPr algn="ctr" indent="0" marL="0">
              <a:buNone/>
            </a:pPr>
            <a:r>
              <a:rPr lang="en-US" sz="1400" b="1" dirty="0">
                <a:solidFill>
                  <a:srgbClr val="0F62FE"/>
                </a:solidFill>
                <a:latin typeface="IBM Plex Sans KR" pitchFamily="34" charset="0"/>
                <a:ea typeface="IBM Plex Sans KR" pitchFamily="34" charset="-122"/>
                <a:cs typeface="IBM Plex Sans KR" pitchFamily="34" charset="-120"/>
              </a:rPr>
              <a:t>비대면 승인</a:t>
            </a:r>
            <a:endParaRPr lang="en-US" sz="1400" dirty="0"/>
          </a:p>
        </p:txBody>
      </p:sp>
      <p:sp>
        <p:nvSpPr>
          <p:cNvPr id="23" name="o292"/>
          <p:cNvSpPr txBox="1"/>
          <p:nvPr/>
        </p:nvSpPr>
        <p:spPr>
          <a:xfrm>
            <a:off x="8782050" y="1333500"/>
            <a:ext cx="228600" cy="381000"/>
          </a:xfrm>
          <a:prstGeom prst="rect">
            <a:avLst/>
          </a:prstGeom>
          <a:noFill/>
          <a:ln/>
        </p:spPr>
        <p:txBody>
          <a:bodyPr wrap="square" lIns="0" tIns="0" rIns="0" bIns="0" rtlCol="0" anchor="ctr"/>
          <a:lstStyle/>
          <a:p>
            <a:pPr algn="ctr" indent="0" marL="0">
              <a:buNone/>
            </a:pPr>
            <a:r>
              <a:rPr lang="en-US" sz="2000" b="1" dirty="0">
                <a:solidFill>
                  <a:srgbClr val="0F62FE"/>
                </a:solidFill>
                <a:latin typeface="IBM Plex Sans KR" pitchFamily="34" charset="0"/>
                <a:ea typeface="IBM Plex Sans KR" pitchFamily="34" charset="-122"/>
                <a:cs typeface="IBM Plex Sans KR" pitchFamily="34" charset="-120"/>
              </a:rPr>
              <a:t>›</a:t>
            </a:r>
            <a:endParaRPr lang="en-US" sz="2000" dirty="0"/>
          </a:p>
        </p:txBody>
      </p:sp>
      <p:sp>
        <p:nvSpPr>
          <p:cNvPr id="24" name="o293"/>
          <p:cNvSpPr/>
          <p:nvPr/>
        </p:nvSpPr>
        <p:spPr>
          <a:xfrm>
            <a:off x="9010650" y="1333500"/>
            <a:ext cx="2571750" cy="381000"/>
          </a:xfrm>
          <a:prstGeom prst="rect">
            <a:avLst/>
          </a:prstGeom>
          <a:solidFill>
            <a:srgbClr val="EDF5FF"/>
          </a:solidFill>
          <a:ln w="12700">
            <a:solidFill>
              <a:srgbClr val="D0E2FF"/>
            </a:solidFill>
            <a:prstDash val="solid"/>
          </a:ln>
        </p:spPr>
      </p:sp>
      <p:sp>
        <p:nvSpPr>
          <p:cNvPr id="25" name="o294"/>
          <p:cNvSpPr txBox="1"/>
          <p:nvPr/>
        </p:nvSpPr>
        <p:spPr>
          <a:xfrm>
            <a:off x="9010650" y="1333500"/>
            <a:ext cx="2571750" cy="381000"/>
          </a:xfrm>
          <a:prstGeom prst="rect">
            <a:avLst/>
          </a:prstGeom>
          <a:noFill/>
          <a:ln/>
        </p:spPr>
        <p:txBody>
          <a:bodyPr wrap="square" lIns="0" tIns="0" rIns="0" bIns="0" rtlCol="0" anchor="ctr"/>
          <a:lstStyle/>
          <a:p>
            <a:pPr algn="ctr" indent="0" marL="0">
              <a:buNone/>
            </a:pPr>
            <a:r>
              <a:rPr lang="en-US" sz="1400" b="1" dirty="0">
                <a:solidFill>
                  <a:srgbClr val="0F62FE"/>
                </a:solidFill>
                <a:latin typeface="IBM Plex Sans KR" pitchFamily="34" charset="0"/>
                <a:ea typeface="IBM Plex Sans KR" pitchFamily="34" charset="-122"/>
                <a:cs typeface="IBM Plex Sans KR" pitchFamily="34" charset="-120"/>
              </a:rPr>
              <a:t>자동 보관 · 대시보드</a:t>
            </a:r>
            <a:endParaRPr lang="en-US" sz="1400" dirty="0"/>
          </a:p>
        </p:txBody>
      </p:sp>
      <p:sp>
        <p:nvSpPr>
          <p:cNvPr id="26" name="o295"/>
          <p:cNvSpPr/>
          <p:nvPr/>
        </p:nvSpPr>
        <p:spPr>
          <a:xfrm>
            <a:off x="609600" y="1828800"/>
            <a:ext cx="3530600" cy="1905000"/>
          </a:xfrm>
          <a:prstGeom prst="rect">
            <a:avLst/>
          </a:prstGeom>
          <a:solidFill>
            <a:srgbClr val="FFFFFF"/>
          </a:solidFill>
          <a:ln w="12700">
            <a:solidFill>
              <a:srgbClr val="E0E0E0"/>
            </a:solidFill>
            <a:prstDash val="solid"/>
          </a:ln>
        </p:spPr>
      </p:sp>
      <p:sp>
        <p:nvSpPr>
          <p:cNvPr id="27" name="o296"/>
          <p:cNvSpPr txBox="1"/>
          <p:nvPr/>
        </p:nvSpPr>
        <p:spPr>
          <a:xfrm>
            <a:off x="838200" y="2019300"/>
            <a:ext cx="571500" cy="228600"/>
          </a:xfrm>
          <a:prstGeom prst="rect">
            <a:avLst/>
          </a:prstGeom>
          <a:noFill/>
          <a:ln/>
        </p:spPr>
        <p:txBody>
          <a:bodyPr wrap="square" lIns="0" tIns="0" rIns="0" bIns="0" rtlCol="0" anchor="t"/>
          <a:lstStyle/>
          <a:p>
            <a:pPr indent="0" marL="0">
              <a:buNone/>
            </a:pPr>
            <a:r>
              <a:rPr lang="en-US" sz="1800" b="1" dirty="0">
                <a:solidFill>
                  <a:srgbClr val="0F62FE"/>
                </a:solidFill>
                <a:latin typeface="IBM Plex Sans KR" pitchFamily="34" charset="0"/>
                <a:ea typeface="IBM Plex Sans KR" pitchFamily="34" charset="-122"/>
                <a:cs typeface="IBM Plex Sans KR" pitchFamily="34" charset="-120"/>
              </a:rPr>
              <a:t>01</a:t>
            </a:r>
            <a:endParaRPr lang="en-US" sz="1800" dirty="0"/>
          </a:p>
        </p:txBody>
      </p:sp>
      <p:sp>
        <p:nvSpPr>
          <p:cNvPr id="28" name="o297"/>
          <p:cNvSpPr/>
          <p:nvPr/>
        </p:nvSpPr>
        <p:spPr>
          <a:xfrm>
            <a:off x="3149600" y="2019300"/>
            <a:ext cx="762000" cy="209550"/>
          </a:xfrm>
          <a:prstGeom prst="rect">
            <a:avLst/>
          </a:prstGeom>
          <a:solidFill>
            <a:srgbClr val="EDF5FF"/>
          </a:solidFill>
          <a:ln/>
        </p:spPr>
      </p:sp>
      <p:sp>
        <p:nvSpPr>
          <p:cNvPr id="29" name="o298"/>
          <p:cNvSpPr txBox="1"/>
          <p:nvPr/>
        </p:nvSpPr>
        <p:spPr>
          <a:xfrm>
            <a:off x="3149600" y="2019300"/>
            <a:ext cx="762000" cy="209550"/>
          </a:xfrm>
          <a:prstGeom prst="rect">
            <a:avLst/>
          </a:prstGeom>
          <a:noFill/>
          <a:ln/>
        </p:spPr>
        <p:txBody>
          <a:bodyPr wrap="square" lIns="0" tIns="0" rIns="0" bIns="0" rtlCol="0" anchor="ctr"/>
          <a:lstStyle/>
          <a:p>
            <a:pPr algn="ctr" indent="0" marL="0">
              <a:buNone/>
            </a:pPr>
            <a:r>
              <a:rPr lang="en-US" sz="900" b="1" dirty="0">
                <a:solidFill>
                  <a:srgbClr val="0F62FE"/>
                </a:solidFill>
                <a:latin typeface="IBM Plex Sans KR" pitchFamily="34" charset="0"/>
                <a:ea typeface="IBM Plex Sans KR" pitchFamily="34" charset="-122"/>
                <a:cs typeface="IBM Plex Sans KR" pitchFamily="34" charset="-120"/>
              </a:rPr>
              <a:t>CF1</a:t>
            </a:r>
            <a:endParaRPr lang="en-US" sz="900" dirty="0"/>
          </a:p>
        </p:txBody>
      </p:sp>
      <p:sp>
        <p:nvSpPr>
          <p:cNvPr id="30" name="o299"/>
          <p:cNvSpPr txBox="1"/>
          <p:nvPr/>
        </p:nvSpPr>
        <p:spPr>
          <a:xfrm>
            <a:off x="838200" y="2400300"/>
            <a:ext cx="3073400" cy="266700"/>
          </a:xfrm>
          <a:prstGeom prst="rect">
            <a:avLst/>
          </a:prstGeom>
          <a:noFill/>
          <a:ln/>
        </p:spPr>
        <p:txBody>
          <a:bodyPr wrap="square" lIns="0" tIns="0" rIns="0" bIns="0" rtlCol="0" anchor="t"/>
          <a:lstStyle/>
          <a:p>
            <a:pPr indent="0" marL="0">
              <a:buNone/>
            </a:pPr>
            <a:r>
              <a:rPr lang="en-US" sz="1700" b="1" dirty="0">
                <a:solidFill>
                  <a:srgbClr val="161616"/>
                </a:solidFill>
                <a:latin typeface="IBM Plex Sans KR" pitchFamily="34" charset="0"/>
                <a:ea typeface="IBM Plex Sans KR" pitchFamily="34" charset="-122"/>
                <a:cs typeface="IBM Plex Sans KR" pitchFamily="34" charset="-120"/>
              </a:rPr>
              <a:t>MSDS 디지털 라이브러리</a:t>
            </a:r>
            <a:endParaRPr lang="en-US" sz="1700" dirty="0"/>
          </a:p>
        </p:txBody>
      </p:sp>
      <p:sp>
        <p:nvSpPr>
          <p:cNvPr id="31" name="o300"/>
          <p:cNvSpPr txBox="1"/>
          <p:nvPr/>
        </p:nvSpPr>
        <p:spPr>
          <a:xfrm>
            <a:off x="838200" y="27813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93939"/>
                </a:solidFill>
                <a:latin typeface="IBM Plex Sans KR" pitchFamily="34" charset="0"/>
                <a:ea typeface="IBM Plex Sans KR" pitchFamily="34" charset="-122"/>
                <a:cs typeface="IBM Plex Sans KR" pitchFamily="34" charset="-120"/>
              </a:rPr>
              <a:t>부서별 유해화학물질 조회</a:t>
            </a:r>
            <a:endParaRPr lang="en-US" sz="1300" dirty="0"/>
          </a:p>
          <a:p>
            <a:pPr indent="0" marL="0">
              <a:lnSpc>
                <a:spcPct val="145000"/>
              </a:lnSpc>
              <a:buNone/>
            </a:pPr>
            <a:r>
              <a:rPr lang="en-US" sz="1300" dirty="0">
                <a:solidFill>
                  <a:srgbClr val="393939"/>
                </a:solidFill>
                <a:latin typeface="IBM Plex Sans KR" pitchFamily="34" charset="0"/>
                <a:ea typeface="IBM Plex Sans KR" pitchFamily="34" charset="-122"/>
                <a:cs typeface="IBM Plex Sans KR" pitchFamily="34" charset="-120"/>
              </a:rPr>
              <a:t>경고표지 · 응급조치 · 원본 PDF 원클릭</a:t>
            </a:r>
            <a:endParaRPr lang="en-US" sz="1300" dirty="0"/>
          </a:p>
        </p:txBody>
      </p:sp>
      <p:sp>
        <p:nvSpPr>
          <p:cNvPr id="32" name="o301"/>
          <p:cNvSpPr/>
          <p:nvPr/>
        </p:nvSpPr>
        <p:spPr>
          <a:xfrm>
            <a:off x="4330700" y="1828800"/>
            <a:ext cx="3530600" cy="1905000"/>
          </a:xfrm>
          <a:prstGeom prst="rect">
            <a:avLst/>
          </a:prstGeom>
          <a:solidFill>
            <a:srgbClr val="FFFFFF"/>
          </a:solidFill>
          <a:ln w="12700">
            <a:solidFill>
              <a:srgbClr val="E0E0E0"/>
            </a:solidFill>
            <a:prstDash val="solid"/>
          </a:ln>
        </p:spPr>
      </p:sp>
      <p:sp>
        <p:nvSpPr>
          <p:cNvPr id="33" name="o302"/>
          <p:cNvSpPr txBox="1"/>
          <p:nvPr/>
        </p:nvSpPr>
        <p:spPr>
          <a:xfrm>
            <a:off x="4559300" y="2019300"/>
            <a:ext cx="571500" cy="228600"/>
          </a:xfrm>
          <a:prstGeom prst="rect">
            <a:avLst/>
          </a:prstGeom>
          <a:noFill/>
          <a:ln/>
        </p:spPr>
        <p:txBody>
          <a:bodyPr wrap="square" lIns="0" tIns="0" rIns="0" bIns="0" rtlCol="0" anchor="t"/>
          <a:lstStyle/>
          <a:p>
            <a:pPr indent="0" marL="0">
              <a:buNone/>
            </a:pPr>
            <a:r>
              <a:rPr lang="en-US" sz="1800" b="1" dirty="0">
                <a:solidFill>
                  <a:srgbClr val="0F62FE"/>
                </a:solidFill>
                <a:latin typeface="IBM Plex Sans KR" pitchFamily="34" charset="0"/>
                <a:ea typeface="IBM Plex Sans KR" pitchFamily="34" charset="-122"/>
                <a:cs typeface="IBM Plex Sans KR" pitchFamily="34" charset="-120"/>
              </a:rPr>
              <a:t>02</a:t>
            </a:r>
            <a:endParaRPr lang="en-US" sz="1800" dirty="0"/>
          </a:p>
        </p:txBody>
      </p:sp>
      <p:sp>
        <p:nvSpPr>
          <p:cNvPr id="34" name="o303"/>
          <p:cNvSpPr/>
          <p:nvPr/>
        </p:nvSpPr>
        <p:spPr>
          <a:xfrm>
            <a:off x="6870700" y="2019300"/>
            <a:ext cx="762000" cy="209550"/>
          </a:xfrm>
          <a:prstGeom prst="rect">
            <a:avLst/>
          </a:prstGeom>
          <a:solidFill>
            <a:srgbClr val="EDF5FF"/>
          </a:solidFill>
          <a:ln/>
        </p:spPr>
      </p:sp>
      <p:sp>
        <p:nvSpPr>
          <p:cNvPr id="35" name="o304"/>
          <p:cNvSpPr txBox="1"/>
          <p:nvPr/>
        </p:nvSpPr>
        <p:spPr>
          <a:xfrm>
            <a:off x="6870700" y="2019300"/>
            <a:ext cx="762000" cy="209550"/>
          </a:xfrm>
          <a:prstGeom prst="rect">
            <a:avLst/>
          </a:prstGeom>
          <a:noFill/>
          <a:ln/>
        </p:spPr>
        <p:txBody>
          <a:bodyPr wrap="square" lIns="0" tIns="0" rIns="0" bIns="0" rtlCol="0" anchor="ctr"/>
          <a:lstStyle/>
          <a:p>
            <a:pPr algn="ctr" indent="0" marL="0">
              <a:buNone/>
            </a:pPr>
            <a:r>
              <a:rPr lang="en-US" sz="900" b="1" dirty="0">
                <a:solidFill>
                  <a:srgbClr val="0F62FE"/>
                </a:solidFill>
                <a:latin typeface="IBM Plex Sans KR" pitchFamily="34" charset="0"/>
                <a:ea typeface="IBM Plex Sans KR" pitchFamily="34" charset="-122"/>
                <a:cs typeface="IBM Plex Sans KR" pitchFamily="34" charset="-120"/>
              </a:rPr>
              <a:t>CF2 · 3</a:t>
            </a:r>
            <a:endParaRPr lang="en-US" sz="900" dirty="0"/>
          </a:p>
        </p:txBody>
      </p:sp>
      <p:sp>
        <p:nvSpPr>
          <p:cNvPr id="36" name="o305"/>
          <p:cNvSpPr txBox="1"/>
          <p:nvPr/>
        </p:nvSpPr>
        <p:spPr>
          <a:xfrm>
            <a:off x="4559300" y="2400300"/>
            <a:ext cx="3073400" cy="266700"/>
          </a:xfrm>
          <a:prstGeom prst="rect">
            <a:avLst/>
          </a:prstGeom>
          <a:noFill/>
          <a:ln/>
        </p:spPr>
        <p:txBody>
          <a:bodyPr wrap="square" lIns="0" tIns="0" rIns="0" bIns="0" rtlCol="0" anchor="t"/>
          <a:lstStyle/>
          <a:p>
            <a:pPr indent="0" marL="0">
              <a:buNone/>
            </a:pPr>
            <a:r>
              <a:rPr lang="en-US" sz="1700" b="1" dirty="0">
                <a:solidFill>
                  <a:srgbClr val="161616"/>
                </a:solidFill>
                <a:latin typeface="IBM Plex Sans KR" pitchFamily="34" charset="0"/>
                <a:ea typeface="IBM Plex Sans KR" pitchFamily="34" charset="-122"/>
                <a:cs typeface="IBM Plex Sans KR" pitchFamily="34" charset="-120"/>
              </a:rPr>
              <a:t>모바일 교육일지 · 전자서명</a:t>
            </a:r>
            <a:endParaRPr lang="en-US" sz="1700" dirty="0"/>
          </a:p>
        </p:txBody>
      </p:sp>
      <p:sp>
        <p:nvSpPr>
          <p:cNvPr id="37" name="o306"/>
          <p:cNvSpPr txBox="1"/>
          <p:nvPr/>
        </p:nvSpPr>
        <p:spPr>
          <a:xfrm>
            <a:off x="4559300" y="27813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93939"/>
                </a:solidFill>
                <a:latin typeface="IBM Plex Sans KR" pitchFamily="34" charset="0"/>
                <a:ea typeface="IBM Plex Sans KR" pitchFamily="34" charset="-122"/>
                <a:cs typeface="IBM Plex Sans KR" pitchFamily="34" charset="-120"/>
              </a:rPr>
              <a:t>인사 DB 연동, 이름 검색만으로</a:t>
            </a:r>
            <a:endParaRPr lang="en-US" sz="1300" dirty="0"/>
          </a:p>
          <a:p>
            <a:pPr indent="0" marL="0">
              <a:lnSpc>
                <a:spcPct val="145000"/>
              </a:lnSpc>
              <a:buNone/>
            </a:pPr>
            <a:r>
              <a:rPr lang="en-US" sz="1300" dirty="0">
                <a:solidFill>
                  <a:srgbClr val="393939"/>
                </a:solidFill>
                <a:latin typeface="IBM Plex Sans KR" pitchFamily="34" charset="0"/>
                <a:ea typeface="IBM Plex Sans KR" pitchFamily="34" charset="-122"/>
                <a:cs typeface="IBM Plex Sans KR" pitchFamily="34" charset="-120"/>
              </a:rPr>
              <a:t>일지 자동 작성 · 서명 즉시 DB 저장</a:t>
            </a:r>
            <a:endParaRPr lang="en-US" sz="1300" dirty="0"/>
          </a:p>
        </p:txBody>
      </p:sp>
      <p:sp>
        <p:nvSpPr>
          <p:cNvPr id="38" name="o307"/>
          <p:cNvSpPr/>
          <p:nvPr/>
        </p:nvSpPr>
        <p:spPr>
          <a:xfrm>
            <a:off x="8051800" y="1828800"/>
            <a:ext cx="3530600" cy="1905000"/>
          </a:xfrm>
          <a:prstGeom prst="rect">
            <a:avLst/>
          </a:prstGeom>
          <a:solidFill>
            <a:srgbClr val="FFFFFF"/>
          </a:solidFill>
          <a:ln w="12700">
            <a:solidFill>
              <a:srgbClr val="E0E0E0"/>
            </a:solidFill>
            <a:prstDash val="solid"/>
          </a:ln>
        </p:spPr>
      </p:sp>
      <p:sp>
        <p:nvSpPr>
          <p:cNvPr id="39" name="o308"/>
          <p:cNvSpPr txBox="1"/>
          <p:nvPr/>
        </p:nvSpPr>
        <p:spPr>
          <a:xfrm>
            <a:off x="8280400" y="2019300"/>
            <a:ext cx="571500" cy="228600"/>
          </a:xfrm>
          <a:prstGeom prst="rect">
            <a:avLst/>
          </a:prstGeom>
          <a:noFill/>
          <a:ln/>
        </p:spPr>
        <p:txBody>
          <a:bodyPr wrap="square" lIns="0" tIns="0" rIns="0" bIns="0" rtlCol="0" anchor="t"/>
          <a:lstStyle/>
          <a:p>
            <a:pPr indent="0" marL="0">
              <a:buNone/>
            </a:pPr>
            <a:r>
              <a:rPr lang="en-US" sz="1800" b="1" dirty="0">
                <a:solidFill>
                  <a:srgbClr val="0F62FE"/>
                </a:solidFill>
                <a:latin typeface="IBM Plex Sans KR" pitchFamily="34" charset="0"/>
                <a:ea typeface="IBM Plex Sans KR" pitchFamily="34" charset="-122"/>
                <a:cs typeface="IBM Plex Sans KR" pitchFamily="34" charset="-120"/>
              </a:rPr>
              <a:t>03</a:t>
            </a:r>
            <a:endParaRPr lang="en-US" sz="1800" dirty="0"/>
          </a:p>
        </p:txBody>
      </p:sp>
      <p:sp>
        <p:nvSpPr>
          <p:cNvPr id="40" name="o309"/>
          <p:cNvSpPr/>
          <p:nvPr/>
        </p:nvSpPr>
        <p:spPr>
          <a:xfrm>
            <a:off x="10591800" y="2019300"/>
            <a:ext cx="762000" cy="209550"/>
          </a:xfrm>
          <a:prstGeom prst="rect">
            <a:avLst/>
          </a:prstGeom>
          <a:solidFill>
            <a:srgbClr val="EDF5FF"/>
          </a:solidFill>
          <a:ln/>
        </p:spPr>
      </p:sp>
      <p:sp>
        <p:nvSpPr>
          <p:cNvPr id="41" name="o310"/>
          <p:cNvSpPr txBox="1"/>
          <p:nvPr/>
        </p:nvSpPr>
        <p:spPr>
          <a:xfrm>
            <a:off x="10591800" y="2019300"/>
            <a:ext cx="762000" cy="209550"/>
          </a:xfrm>
          <a:prstGeom prst="rect">
            <a:avLst/>
          </a:prstGeom>
          <a:noFill/>
          <a:ln/>
        </p:spPr>
        <p:txBody>
          <a:bodyPr wrap="square" lIns="0" tIns="0" rIns="0" bIns="0" rtlCol="0" anchor="ctr"/>
          <a:lstStyle/>
          <a:p>
            <a:pPr algn="ctr" indent="0" marL="0">
              <a:buNone/>
            </a:pPr>
            <a:r>
              <a:rPr lang="en-US" sz="900" b="1" dirty="0">
                <a:solidFill>
                  <a:srgbClr val="0F62FE"/>
                </a:solidFill>
                <a:latin typeface="IBM Plex Sans KR" pitchFamily="34" charset="0"/>
                <a:ea typeface="IBM Plex Sans KR" pitchFamily="34" charset="-122"/>
                <a:cs typeface="IBM Plex Sans KR" pitchFamily="34" charset="-120"/>
              </a:rPr>
              <a:t>CF4 · 5</a:t>
            </a:r>
            <a:endParaRPr lang="en-US" sz="900" dirty="0"/>
          </a:p>
        </p:txBody>
      </p:sp>
      <p:sp>
        <p:nvSpPr>
          <p:cNvPr id="42" name="o311"/>
          <p:cNvSpPr txBox="1"/>
          <p:nvPr/>
        </p:nvSpPr>
        <p:spPr>
          <a:xfrm>
            <a:off x="8280400" y="2400300"/>
            <a:ext cx="3073400" cy="266700"/>
          </a:xfrm>
          <a:prstGeom prst="rect">
            <a:avLst/>
          </a:prstGeom>
          <a:noFill/>
          <a:ln/>
        </p:spPr>
        <p:txBody>
          <a:bodyPr wrap="square" lIns="0" tIns="0" rIns="0" bIns="0" rtlCol="0" anchor="t"/>
          <a:lstStyle/>
          <a:p>
            <a:pPr indent="0" marL="0">
              <a:buNone/>
            </a:pPr>
            <a:r>
              <a:rPr lang="en-US" sz="1700" b="1" dirty="0">
                <a:solidFill>
                  <a:srgbClr val="161616"/>
                </a:solidFill>
                <a:latin typeface="IBM Plex Sans KR" pitchFamily="34" charset="0"/>
                <a:ea typeface="IBM Plex Sans KR" pitchFamily="34" charset="-122"/>
                <a:cs typeface="IBM Plex Sans KR" pitchFamily="34" charset="-120"/>
              </a:rPr>
              <a:t>비대면 전자결재</a:t>
            </a:r>
            <a:endParaRPr lang="en-US" sz="1700" dirty="0"/>
          </a:p>
        </p:txBody>
      </p:sp>
      <p:sp>
        <p:nvSpPr>
          <p:cNvPr id="43" name="o312"/>
          <p:cNvSpPr txBox="1"/>
          <p:nvPr/>
        </p:nvSpPr>
        <p:spPr>
          <a:xfrm>
            <a:off x="8280400" y="27813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93939"/>
                </a:solidFill>
                <a:latin typeface="IBM Plex Sans KR" pitchFamily="34" charset="0"/>
                <a:ea typeface="IBM Plex Sans KR" pitchFamily="34" charset="-122"/>
                <a:cs typeface="IBM Plex Sans KR" pitchFamily="34" charset="-120"/>
              </a:rPr>
              <a:t>서명 완료 즉시 관리자 알림</a:t>
            </a:r>
            <a:endParaRPr lang="en-US" sz="1300" dirty="0"/>
          </a:p>
          <a:p>
            <a:pPr indent="0" marL="0">
              <a:lnSpc>
                <a:spcPct val="145000"/>
              </a:lnSpc>
              <a:buNone/>
            </a:pPr>
            <a:r>
              <a:rPr lang="en-US" sz="1300" dirty="0">
                <a:solidFill>
                  <a:srgbClr val="393939"/>
                </a:solidFill>
                <a:latin typeface="IBM Plex Sans KR" pitchFamily="34" charset="0"/>
                <a:ea typeface="IBM Plex Sans KR" pitchFamily="34" charset="-122"/>
                <a:cs typeface="IBM Plex Sans KR" pitchFamily="34" charset="-120"/>
              </a:rPr>
              <a:t>장소 제약 없는 원격 승인</a:t>
            </a:r>
            <a:endParaRPr lang="en-US" sz="1300" dirty="0"/>
          </a:p>
        </p:txBody>
      </p:sp>
      <p:sp>
        <p:nvSpPr>
          <p:cNvPr id="44" name="o313"/>
          <p:cNvSpPr/>
          <p:nvPr/>
        </p:nvSpPr>
        <p:spPr>
          <a:xfrm>
            <a:off x="609600" y="3886200"/>
            <a:ext cx="3530600" cy="1905000"/>
          </a:xfrm>
          <a:prstGeom prst="rect">
            <a:avLst/>
          </a:prstGeom>
          <a:solidFill>
            <a:srgbClr val="FFFFFF"/>
          </a:solidFill>
          <a:ln w="12700">
            <a:solidFill>
              <a:srgbClr val="E0E0E0"/>
            </a:solidFill>
            <a:prstDash val="solid"/>
          </a:ln>
        </p:spPr>
      </p:sp>
      <p:sp>
        <p:nvSpPr>
          <p:cNvPr id="45" name="o314"/>
          <p:cNvSpPr txBox="1"/>
          <p:nvPr/>
        </p:nvSpPr>
        <p:spPr>
          <a:xfrm>
            <a:off x="838200" y="4076700"/>
            <a:ext cx="571500" cy="228600"/>
          </a:xfrm>
          <a:prstGeom prst="rect">
            <a:avLst/>
          </a:prstGeom>
          <a:noFill/>
          <a:ln/>
        </p:spPr>
        <p:txBody>
          <a:bodyPr wrap="square" lIns="0" tIns="0" rIns="0" bIns="0" rtlCol="0" anchor="t"/>
          <a:lstStyle/>
          <a:p>
            <a:pPr indent="0" marL="0">
              <a:buNone/>
            </a:pPr>
            <a:r>
              <a:rPr lang="en-US" sz="1800" b="1" dirty="0">
                <a:solidFill>
                  <a:srgbClr val="0F62FE"/>
                </a:solidFill>
                <a:latin typeface="IBM Plex Sans KR" pitchFamily="34" charset="0"/>
                <a:ea typeface="IBM Plex Sans KR" pitchFamily="34" charset="-122"/>
                <a:cs typeface="IBM Plex Sans KR" pitchFamily="34" charset="-120"/>
              </a:rPr>
              <a:t>04</a:t>
            </a:r>
            <a:endParaRPr lang="en-US" sz="1800" dirty="0"/>
          </a:p>
        </p:txBody>
      </p:sp>
      <p:sp>
        <p:nvSpPr>
          <p:cNvPr id="46" name="o315"/>
          <p:cNvSpPr/>
          <p:nvPr/>
        </p:nvSpPr>
        <p:spPr>
          <a:xfrm>
            <a:off x="3149600" y="4076700"/>
            <a:ext cx="762000" cy="209550"/>
          </a:xfrm>
          <a:prstGeom prst="rect">
            <a:avLst/>
          </a:prstGeom>
          <a:solidFill>
            <a:srgbClr val="EDF5FF"/>
          </a:solidFill>
          <a:ln/>
        </p:spPr>
      </p:sp>
      <p:sp>
        <p:nvSpPr>
          <p:cNvPr id="47" name="o316"/>
          <p:cNvSpPr txBox="1"/>
          <p:nvPr/>
        </p:nvSpPr>
        <p:spPr>
          <a:xfrm>
            <a:off x="3149600" y="4076700"/>
            <a:ext cx="762000" cy="209550"/>
          </a:xfrm>
          <a:prstGeom prst="rect">
            <a:avLst/>
          </a:prstGeom>
          <a:noFill/>
          <a:ln/>
        </p:spPr>
        <p:txBody>
          <a:bodyPr wrap="square" lIns="0" tIns="0" rIns="0" bIns="0" rtlCol="0" anchor="ctr"/>
          <a:lstStyle/>
          <a:p>
            <a:pPr algn="ctr" indent="0" marL="0">
              <a:buNone/>
            </a:pPr>
            <a:r>
              <a:rPr lang="en-US" sz="900" b="1" dirty="0">
                <a:solidFill>
                  <a:srgbClr val="0F62FE"/>
                </a:solidFill>
                <a:latin typeface="IBM Plex Sans KR" pitchFamily="34" charset="0"/>
                <a:ea typeface="IBM Plex Sans KR" pitchFamily="34" charset="-122"/>
                <a:cs typeface="IBM Plex Sans KR" pitchFamily="34" charset="-120"/>
              </a:rPr>
              <a:t>CF7</a:t>
            </a:r>
            <a:endParaRPr lang="en-US" sz="900" dirty="0"/>
          </a:p>
        </p:txBody>
      </p:sp>
      <p:sp>
        <p:nvSpPr>
          <p:cNvPr id="48" name="o317"/>
          <p:cNvSpPr txBox="1"/>
          <p:nvPr/>
        </p:nvSpPr>
        <p:spPr>
          <a:xfrm>
            <a:off x="838200" y="4457700"/>
            <a:ext cx="3073400" cy="266700"/>
          </a:xfrm>
          <a:prstGeom prst="rect">
            <a:avLst/>
          </a:prstGeom>
          <a:noFill/>
          <a:ln/>
        </p:spPr>
        <p:txBody>
          <a:bodyPr wrap="square" lIns="0" tIns="0" rIns="0" bIns="0" rtlCol="0" anchor="t"/>
          <a:lstStyle/>
          <a:p>
            <a:pPr indent="0" marL="0">
              <a:buNone/>
            </a:pPr>
            <a:r>
              <a:rPr lang="en-US" sz="1700" b="1" dirty="0">
                <a:solidFill>
                  <a:srgbClr val="161616"/>
                </a:solidFill>
                <a:latin typeface="IBM Plex Sans KR" pitchFamily="34" charset="0"/>
                <a:ea typeface="IBM Plex Sans KR" pitchFamily="34" charset="-122"/>
                <a:cs typeface="IBM Plex Sans KR" pitchFamily="34" charset="-120"/>
              </a:rPr>
              <a:t>보호구 · 법정서류 전산화</a:t>
            </a:r>
            <a:endParaRPr lang="en-US" sz="1700" dirty="0"/>
          </a:p>
        </p:txBody>
      </p:sp>
      <p:sp>
        <p:nvSpPr>
          <p:cNvPr id="49" name="o318"/>
          <p:cNvSpPr txBox="1"/>
          <p:nvPr/>
        </p:nvSpPr>
        <p:spPr>
          <a:xfrm>
            <a:off x="838200" y="48387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93939"/>
                </a:solidFill>
                <a:latin typeface="IBM Plex Sans KR" pitchFamily="34" charset="0"/>
                <a:ea typeface="IBM Plex Sans KR" pitchFamily="34" charset="-122"/>
                <a:cs typeface="IBM Plex Sans KR" pitchFamily="34" charset="-120"/>
              </a:rPr>
              <a:t>보호구 수령증, 유해화학물질</a:t>
            </a:r>
            <a:endParaRPr lang="en-US" sz="1300" dirty="0"/>
          </a:p>
          <a:p>
            <a:pPr indent="0" marL="0">
              <a:lnSpc>
                <a:spcPct val="145000"/>
              </a:lnSpc>
              <a:buNone/>
            </a:pPr>
            <a:r>
              <a:rPr lang="en-US" sz="1300" dirty="0">
                <a:solidFill>
                  <a:srgbClr val="393939"/>
                </a:solidFill>
                <a:latin typeface="IBM Plex Sans KR" pitchFamily="34" charset="0"/>
                <a:ea typeface="IBM Plex Sans KR" pitchFamily="34" charset="-122"/>
                <a:cs typeface="IBM Plex Sans KR" pitchFamily="34" charset="-120"/>
              </a:rPr>
              <a:t>신규 · 중단 보고서 단일 창구</a:t>
            </a:r>
            <a:endParaRPr lang="en-US" sz="1300" dirty="0"/>
          </a:p>
        </p:txBody>
      </p:sp>
      <p:sp>
        <p:nvSpPr>
          <p:cNvPr id="50" name="o319"/>
          <p:cNvSpPr/>
          <p:nvPr/>
        </p:nvSpPr>
        <p:spPr>
          <a:xfrm>
            <a:off x="4330700" y="3886200"/>
            <a:ext cx="3530600" cy="1905000"/>
          </a:xfrm>
          <a:prstGeom prst="rect">
            <a:avLst/>
          </a:prstGeom>
          <a:solidFill>
            <a:srgbClr val="FFFFFF"/>
          </a:solidFill>
          <a:ln w="12700">
            <a:solidFill>
              <a:srgbClr val="E0E0E0"/>
            </a:solidFill>
            <a:prstDash val="solid"/>
          </a:ln>
        </p:spPr>
      </p:sp>
      <p:sp>
        <p:nvSpPr>
          <p:cNvPr id="51" name="o320"/>
          <p:cNvSpPr txBox="1"/>
          <p:nvPr/>
        </p:nvSpPr>
        <p:spPr>
          <a:xfrm>
            <a:off x="4559300" y="4076700"/>
            <a:ext cx="571500" cy="228600"/>
          </a:xfrm>
          <a:prstGeom prst="rect">
            <a:avLst/>
          </a:prstGeom>
          <a:noFill/>
          <a:ln/>
        </p:spPr>
        <p:txBody>
          <a:bodyPr wrap="square" lIns="0" tIns="0" rIns="0" bIns="0" rtlCol="0" anchor="t"/>
          <a:lstStyle/>
          <a:p>
            <a:pPr indent="0" marL="0">
              <a:buNone/>
            </a:pPr>
            <a:r>
              <a:rPr lang="en-US" sz="1800" b="1" dirty="0">
                <a:solidFill>
                  <a:srgbClr val="0F62FE"/>
                </a:solidFill>
                <a:latin typeface="IBM Plex Sans KR" pitchFamily="34" charset="0"/>
                <a:ea typeface="IBM Plex Sans KR" pitchFamily="34" charset="-122"/>
                <a:cs typeface="IBM Plex Sans KR" pitchFamily="34" charset="-120"/>
              </a:rPr>
              <a:t>05</a:t>
            </a:r>
            <a:endParaRPr lang="en-US" sz="1800" dirty="0"/>
          </a:p>
        </p:txBody>
      </p:sp>
      <p:sp>
        <p:nvSpPr>
          <p:cNvPr id="52" name="o321"/>
          <p:cNvSpPr/>
          <p:nvPr/>
        </p:nvSpPr>
        <p:spPr>
          <a:xfrm>
            <a:off x="6870700" y="4076700"/>
            <a:ext cx="762000" cy="209550"/>
          </a:xfrm>
          <a:prstGeom prst="rect">
            <a:avLst/>
          </a:prstGeom>
          <a:solidFill>
            <a:srgbClr val="EDF5FF"/>
          </a:solidFill>
          <a:ln/>
        </p:spPr>
      </p:sp>
      <p:sp>
        <p:nvSpPr>
          <p:cNvPr id="53" name="o322"/>
          <p:cNvSpPr txBox="1"/>
          <p:nvPr/>
        </p:nvSpPr>
        <p:spPr>
          <a:xfrm>
            <a:off x="6870700" y="4076700"/>
            <a:ext cx="762000" cy="209550"/>
          </a:xfrm>
          <a:prstGeom prst="rect">
            <a:avLst/>
          </a:prstGeom>
          <a:noFill/>
          <a:ln/>
        </p:spPr>
        <p:txBody>
          <a:bodyPr wrap="square" lIns="0" tIns="0" rIns="0" bIns="0" rtlCol="0" anchor="ctr"/>
          <a:lstStyle/>
          <a:p>
            <a:pPr algn="ctr" indent="0" marL="0">
              <a:buNone/>
            </a:pPr>
            <a:r>
              <a:rPr lang="en-US" sz="900" b="1" dirty="0">
                <a:solidFill>
                  <a:srgbClr val="0F62FE"/>
                </a:solidFill>
                <a:latin typeface="IBM Plex Sans KR" pitchFamily="34" charset="0"/>
                <a:ea typeface="IBM Plex Sans KR" pitchFamily="34" charset="-122"/>
                <a:cs typeface="IBM Plex Sans KR" pitchFamily="34" charset="-120"/>
              </a:rPr>
              <a:t>CF6</a:t>
            </a:r>
            <a:endParaRPr lang="en-US" sz="900" dirty="0"/>
          </a:p>
        </p:txBody>
      </p:sp>
      <p:sp>
        <p:nvSpPr>
          <p:cNvPr id="54" name="o323"/>
          <p:cNvSpPr txBox="1"/>
          <p:nvPr/>
        </p:nvSpPr>
        <p:spPr>
          <a:xfrm>
            <a:off x="4559300" y="4457700"/>
            <a:ext cx="3073400" cy="266700"/>
          </a:xfrm>
          <a:prstGeom prst="rect">
            <a:avLst/>
          </a:prstGeom>
          <a:noFill/>
          <a:ln/>
        </p:spPr>
        <p:txBody>
          <a:bodyPr wrap="square" lIns="0" tIns="0" rIns="0" bIns="0" rtlCol="0" anchor="t"/>
          <a:lstStyle/>
          <a:p>
            <a:pPr indent="0" marL="0">
              <a:buNone/>
            </a:pPr>
            <a:r>
              <a:rPr lang="en-US" sz="1700" b="1" dirty="0">
                <a:solidFill>
                  <a:srgbClr val="161616"/>
                </a:solidFill>
                <a:latin typeface="IBM Plex Sans KR" pitchFamily="34" charset="0"/>
                <a:ea typeface="IBM Plex Sans KR" pitchFamily="34" charset="-122"/>
                <a:cs typeface="IBM Plex Sans KR" pitchFamily="34" charset="-120"/>
              </a:rPr>
              <a:t>관리자 모니터링 대시보드</a:t>
            </a:r>
            <a:endParaRPr lang="en-US" sz="1700" dirty="0"/>
          </a:p>
        </p:txBody>
      </p:sp>
      <p:sp>
        <p:nvSpPr>
          <p:cNvPr id="55" name="o324"/>
          <p:cNvSpPr txBox="1"/>
          <p:nvPr/>
        </p:nvSpPr>
        <p:spPr>
          <a:xfrm>
            <a:off x="4559300" y="48387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393939"/>
                </a:solidFill>
                <a:latin typeface="IBM Plex Sans KR" pitchFamily="34" charset="0"/>
                <a:ea typeface="IBM Plex Sans KR" pitchFamily="34" charset="-122"/>
                <a:cs typeface="IBM Plex Sans KR" pitchFamily="34" charset="-120"/>
              </a:rPr>
              <a:t>부서 · 기간 · 근로자별</a:t>
            </a:r>
            <a:endParaRPr lang="en-US" sz="1300" dirty="0"/>
          </a:p>
          <a:p>
            <a:pPr indent="0" marL="0">
              <a:lnSpc>
                <a:spcPct val="145000"/>
              </a:lnSpc>
              <a:buNone/>
            </a:pPr>
            <a:r>
              <a:rPr lang="en-US" sz="1300" dirty="0">
                <a:solidFill>
                  <a:srgbClr val="393939"/>
                </a:solidFill>
                <a:latin typeface="IBM Plex Sans KR" pitchFamily="34" charset="0"/>
                <a:ea typeface="IBM Plex Sans KR" pitchFamily="34" charset="-122"/>
                <a:cs typeface="IBM Plex Sans KR" pitchFamily="34" charset="-120"/>
              </a:rPr>
              <a:t>교육 이수 현황 실시간 조회</a:t>
            </a:r>
            <a:endParaRPr lang="en-US" sz="1300" dirty="0"/>
          </a:p>
        </p:txBody>
      </p:sp>
      <p:sp>
        <p:nvSpPr>
          <p:cNvPr id="56" name="o325"/>
          <p:cNvSpPr/>
          <p:nvPr/>
        </p:nvSpPr>
        <p:spPr>
          <a:xfrm>
            <a:off x="8051800" y="3886200"/>
            <a:ext cx="3530600" cy="1905000"/>
          </a:xfrm>
          <a:prstGeom prst="rect">
            <a:avLst/>
          </a:prstGeom>
          <a:solidFill>
            <a:srgbClr val="0F62FE"/>
          </a:solidFill>
          <a:ln/>
        </p:spPr>
      </p:sp>
      <p:sp>
        <p:nvSpPr>
          <p:cNvPr id="57" name="o326"/>
          <p:cNvSpPr txBox="1"/>
          <p:nvPr/>
        </p:nvSpPr>
        <p:spPr>
          <a:xfrm>
            <a:off x="8280400" y="4076700"/>
            <a:ext cx="571500" cy="228600"/>
          </a:xfrm>
          <a:prstGeom prst="rect">
            <a:avLst/>
          </a:prstGeom>
          <a:noFill/>
          <a:ln/>
        </p:spPr>
        <p:txBody>
          <a:bodyPr wrap="square" lIns="0" tIns="0" rIns="0" bIns="0" rtlCol="0" anchor="t"/>
          <a:lstStyle/>
          <a:p>
            <a:pPr indent="0" marL="0">
              <a:buNone/>
            </a:pPr>
            <a:r>
              <a:rPr lang="en-US" sz="1800" b="1" dirty="0">
                <a:solidFill>
                  <a:srgbClr val="FFFFFF"/>
                </a:solidFill>
                <a:latin typeface="IBM Plex Sans KR" pitchFamily="34" charset="0"/>
                <a:ea typeface="IBM Plex Sans KR" pitchFamily="34" charset="-122"/>
                <a:cs typeface="IBM Plex Sans KR" pitchFamily="34" charset="-120"/>
              </a:rPr>
              <a:t>06</a:t>
            </a:r>
            <a:endParaRPr lang="en-US" sz="1800" dirty="0"/>
          </a:p>
        </p:txBody>
      </p:sp>
      <p:sp>
        <p:nvSpPr>
          <p:cNvPr id="58" name="o327"/>
          <p:cNvSpPr/>
          <p:nvPr/>
        </p:nvSpPr>
        <p:spPr>
          <a:xfrm>
            <a:off x="10591800" y="4076700"/>
            <a:ext cx="762000" cy="209550"/>
          </a:xfrm>
          <a:prstGeom prst="rect">
            <a:avLst/>
          </a:prstGeom>
          <a:solidFill>
            <a:srgbClr val="FFFFFF"/>
          </a:solidFill>
          <a:ln/>
        </p:spPr>
      </p:sp>
      <p:sp>
        <p:nvSpPr>
          <p:cNvPr id="59" name="o328"/>
          <p:cNvSpPr txBox="1"/>
          <p:nvPr/>
        </p:nvSpPr>
        <p:spPr>
          <a:xfrm>
            <a:off x="10591800" y="4076700"/>
            <a:ext cx="762000" cy="209550"/>
          </a:xfrm>
          <a:prstGeom prst="rect">
            <a:avLst/>
          </a:prstGeom>
          <a:noFill/>
          <a:ln/>
        </p:spPr>
        <p:txBody>
          <a:bodyPr wrap="square" lIns="0" tIns="0" rIns="0" bIns="0" rtlCol="0" anchor="ctr"/>
          <a:lstStyle/>
          <a:p>
            <a:pPr algn="ctr" indent="0" marL="0">
              <a:buNone/>
            </a:pPr>
            <a:r>
              <a:rPr lang="en-US" sz="900" b="1" dirty="0">
                <a:solidFill>
                  <a:srgbClr val="0F62FE"/>
                </a:solidFill>
                <a:latin typeface="IBM Plex Sans KR" pitchFamily="34" charset="0"/>
                <a:ea typeface="IBM Plex Sans KR" pitchFamily="34" charset="-122"/>
                <a:cs typeface="IBM Plex Sans KR" pitchFamily="34" charset="-120"/>
              </a:rPr>
              <a:t>AI</a:t>
            </a:r>
            <a:endParaRPr lang="en-US" sz="900" dirty="0"/>
          </a:p>
        </p:txBody>
      </p:sp>
      <p:sp>
        <p:nvSpPr>
          <p:cNvPr id="60" name="o329"/>
          <p:cNvSpPr txBox="1"/>
          <p:nvPr/>
        </p:nvSpPr>
        <p:spPr>
          <a:xfrm>
            <a:off x="8280400" y="4457700"/>
            <a:ext cx="3073400" cy="266700"/>
          </a:xfrm>
          <a:prstGeom prst="rect">
            <a:avLst/>
          </a:prstGeom>
          <a:noFill/>
          <a:ln/>
        </p:spPr>
        <p:txBody>
          <a:bodyPr wrap="square" lIns="0" tIns="0" rIns="0" bIns="0" rtlCol="0" anchor="t"/>
          <a:lstStyle/>
          <a:p>
            <a:pPr indent="0" marL="0">
              <a:buNone/>
            </a:pPr>
            <a:r>
              <a:rPr lang="en-US" sz="1700" b="1" dirty="0">
                <a:solidFill>
                  <a:srgbClr val="FFFFFF"/>
                </a:solidFill>
                <a:latin typeface="IBM Plex Sans KR" pitchFamily="34" charset="0"/>
                <a:ea typeface="IBM Plex Sans KR" pitchFamily="34" charset="-122"/>
                <a:cs typeface="IBM Plex Sans KR" pitchFamily="34" charset="-120"/>
              </a:rPr>
              <a:t>AI 수시 위험성평가</a:t>
            </a:r>
            <a:endParaRPr lang="en-US" sz="1700" dirty="0"/>
          </a:p>
        </p:txBody>
      </p:sp>
      <p:sp>
        <p:nvSpPr>
          <p:cNvPr id="61" name="o330"/>
          <p:cNvSpPr txBox="1"/>
          <p:nvPr/>
        </p:nvSpPr>
        <p:spPr>
          <a:xfrm>
            <a:off x="8280400" y="4838700"/>
            <a:ext cx="3073400" cy="762000"/>
          </a:xfrm>
          <a:prstGeom prst="rect">
            <a:avLst/>
          </a:prstGeom>
          <a:noFill/>
          <a:ln/>
        </p:spPr>
        <p:txBody>
          <a:bodyPr wrap="square" lIns="0" tIns="0" rIns="0" bIns="0" rtlCol="0" anchor="t"/>
          <a:lstStyle/>
          <a:p>
            <a:pPr indent="0" marL="0">
              <a:lnSpc>
                <a:spcPct val="145000"/>
              </a:lnSpc>
              <a:buNone/>
            </a:pPr>
            <a:r>
              <a:rPr lang="en-US" sz="1300" dirty="0">
                <a:solidFill>
                  <a:srgbClr val="FFFFFF"/>
                </a:solidFill>
                <a:latin typeface="IBM Plex Sans KR" pitchFamily="34" charset="0"/>
                <a:ea typeface="IBM Plex Sans KR" pitchFamily="34" charset="-122"/>
                <a:cs typeface="IBM Plex Sans KR" pitchFamily="34" charset="-120"/>
              </a:rPr>
              <a:t>현장 사진 · 작업 입력 → 위험요인 ·</a:t>
            </a:r>
            <a:endParaRPr lang="en-US" sz="1300" dirty="0"/>
          </a:p>
          <a:p>
            <a:pPr indent="0" marL="0">
              <a:lnSpc>
                <a:spcPct val="145000"/>
              </a:lnSpc>
              <a:buNone/>
            </a:pPr>
            <a:r>
              <a:rPr lang="en-US" sz="1300" dirty="0">
                <a:solidFill>
                  <a:srgbClr val="FFFFFF"/>
                </a:solidFill>
                <a:latin typeface="IBM Plex Sans KR" pitchFamily="34" charset="0"/>
                <a:ea typeface="IBM Plex Sans KR" pitchFamily="34" charset="-122"/>
                <a:cs typeface="IBM Plex Sans KR" pitchFamily="34" charset="-120"/>
              </a:rPr>
              <a:t>위험도 산출 → 평가서 자동 작성</a:t>
            </a:r>
            <a:endParaRPr lang="en-US" sz="1300" dirty="0"/>
          </a:p>
        </p:txBody>
      </p:sp>
      <p:sp>
        <p:nvSpPr>
          <p:cNvPr id="62" name="o331"/>
          <p:cNvSpPr txBox="1"/>
          <p:nvPr/>
        </p:nvSpPr>
        <p:spPr>
          <a:xfrm>
            <a:off x="609600" y="6000750"/>
            <a:ext cx="10972800" cy="17145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AppSheet · Google Sheets · Apps Script · EmailJS · GitHub 기반 자체 개발   |   4월 프로토타입 → 61병동 시범 → 전 부서 확대</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332"/>
          <p:cNvSpPr/>
          <p:nvPr/>
        </p:nvSpPr>
        <p:spPr>
          <a:xfrm>
            <a:off x="609600" y="228600"/>
            <a:ext cx="2686050" cy="38100"/>
          </a:xfrm>
          <a:prstGeom prst="rect">
            <a:avLst/>
          </a:prstGeom>
          <a:solidFill>
            <a:srgbClr val="0F62FE"/>
          </a:solidFill>
          <a:ln/>
        </p:spPr>
      </p:sp>
      <p:sp>
        <p:nvSpPr>
          <p:cNvPr id="3" name="o333"/>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Plan</a:t>
            </a:r>
            <a:endParaRPr lang="en-US" sz="800" dirty="0"/>
          </a:p>
        </p:txBody>
      </p:sp>
      <p:sp>
        <p:nvSpPr>
          <p:cNvPr id="4" name="o334"/>
          <p:cNvSpPr/>
          <p:nvPr/>
        </p:nvSpPr>
        <p:spPr>
          <a:xfrm>
            <a:off x="3371850" y="228600"/>
            <a:ext cx="2686050" cy="38100"/>
          </a:xfrm>
          <a:prstGeom prst="rect">
            <a:avLst/>
          </a:prstGeom>
          <a:solidFill>
            <a:srgbClr val="0F62FE"/>
          </a:solidFill>
          <a:ln/>
        </p:spPr>
      </p:sp>
      <p:sp>
        <p:nvSpPr>
          <p:cNvPr id="5" name="o335"/>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b="1" dirty="0">
                <a:solidFill>
                  <a:srgbClr val="0F62FE"/>
                </a:solidFill>
                <a:latin typeface="IBM Plex Sans KR" pitchFamily="34" charset="0"/>
                <a:ea typeface="IBM Plex Sans KR" pitchFamily="34" charset="-122"/>
                <a:cs typeface="IBM Plex Sans KR" pitchFamily="34" charset="-120"/>
              </a:rPr>
              <a:t>Do</a:t>
            </a:r>
            <a:endParaRPr lang="en-US" sz="800" dirty="0"/>
          </a:p>
        </p:txBody>
      </p:sp>
      <p:sp>
        <p:nvSpPr>
          <p:cNvPr id="6" name="o336"/>
          <p:cNvSpPr/>
          <p:nvPr/>
        </p:nvSpPr>
        <p:spPr>
          <a:xfrm>
            <a:off x="6134100" y="228600"/>
            <a:ext cx="2686050" cy="38100"/>
          </a:xfrm>
          <a:prstGeom prst="rect">
            <a:avLst/>
          </a:prstGeom>
          <a:solidFill>
            <a:srgbClr val="E0E0E0"/>
          </a:solidFill>
          <a:ln/>
        </p:spPr>
      </p:sp>
      <p:sp>
        <p:nvSpPr>
          <p:cNvPr id="7" name="o337"/>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Check</a:t>
            </a:r>
            <a:endParaRPr lang="en-US" sz="800" dirty="0"/>
          </a:p>
        </p:txBody>
      </p:sp>
      <p:sp>
        <p:nvSpPr>
          <p:cNvPr id="8" name="o338"/>
          <p:cNvSpPr/>
          <p:nvPr/>
        </p:nvSpPr>
        <p:spPr>
          <a:xfrm>
            <a:off x="8896350" y="228600"/>
            <a:ext cx="2686050" cy="38100"/>
          </a:xfrm>
          <a:prstGeom prst="rect">
            <a:avLst/>
          </a:prstGeom>
          <a:solidFill>
            <a:srgbClr val="E0E0E0"/>
          </a:solidFill>
          <a:ln/>
        </p:spPr>
      </p:sp>
      <p:sp>
        <p:nvSpPr>
          <p:cNvPr id="9" name="o339"/>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Act</a:t>
            </a:r>
            <a:endParaRPr lang="en-US" sz="800" dirty="0"/>
          </a:p>
        </p:txBody>
      </p:sp>
      <p:sp>
        <p:nvSpPr>
          <p:cNvPr id="10" name="o340"/>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F62FE"/>
                </a:solidFill>
                <a:latin typeface="IBM Plex Sans KR" pitchFamily="34" charset="0"/>
                <a:ea typeface="IBM Plex Sans KR" pitchFamily="34" charset="-122"/>
                <a:cs typeface="IBM Plex Sans KR" pitchFamily="34" charset="-120"/>
              </a:rPr>
              <a:t>05   DEMO  ·  시연</a:t>
            </a:r>
            <a:endParaRPr lang="en-US" sz="1100" dirty="0"/>
          </a:p>
        </p:txBody>
      </p:sp>
      <p:sp>
        <p:nvSpPr>
          <p:cNvPr id="11" name="o341"/>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신규 입사자 1명의 교육, 작성부터 승인까지 한 화면에서</a:t>
            </a:r>
            <a:endParaRPr lang="en-US" sz="2600" dirty="0"/>
          </a:p>
        </p:txBody>
      </p:sp>
      <p:sp>
        <p:nvSpPr>
          <p:cNvPr id="12" name="o342"/>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25252"/>
                </a:solidFill>
                <a:latin typeface="IBM Plex Sans KR" pitchFamily="34" charset="0"/>
                <a:ea typeface="IBM Plex Sans KR" pitchFamily="34" charset="-122"/>
                <a:cs typeface="IBM Plex Sans KR" pitchFamily="34" charset="-120"/>
              </a:rPr>
              <a:t>프로그램 시연 영상 1분 30초</a:t>
            </a:r>
            <a:endParaRPr lang="en-US" sz="1300" dirty="0"/>
          </a:p>
        </p:txBody>
      </p:sp>
      <p:sp>
        <p:nvSpPr>
          <p:cNvPr id="13" name="o343"/>
          <p:cNvSpPr/>
          <p:nvPr/>
        </p:nvSpPr>
        <p:spPr>
          <a:xfrm>
            <a:off x="0" y="6477000"/>
            <a:ext cx="12192000" cy="381000"/>
          </a:xfrm>
          <a:prstGeom prst="rect">
            <a:avLst/>
          </a:prstGeom>
          <a:solidFill>
            <a:srgbClr val="161616"/>
          </a:solidFill>
          <a:ln/>
        </p:spPr>
      </p:sp>
      <p:sp>
        <p:nvSpPr>
          <p:cNvPr id="14" name="o344"/>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IBM Plex Sans KR" pitchFamily="34" charset="0"/>
                <a:ea typeface="IBM Plex Sans KR" pitchFamily="34" charset="-122"/>
                <a:cs typeface="IBM Plex Sans KR" pitchFamily="34" charset="-120"/>
              </a:rPr>
              <a:t>부산부민병원 안전보건 통합관리 시스템  ·  Safety First</a:t>
            </a:r>
            <a:endParaRPr lang="en-US" sz="900" dirty="0"/>
          </a:p>
        </p:txBody>
      </p:sp>
      <p:sp>
        <p:nvSpPr>
          <p:cNvPr id="15" name="o345"/>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IBM Plex Sans KR" pitchFamily="34" charset="0"/>
                <a:ea typeface="IBM Plex Sans KR" pitchFamily="34" charset="-122"/>
                <a:cs typeface="IBM Plex Sans KR" pitchFamily="34" charset="-120"/>
              </a:rPr>
              <a:t>08</a:t>
            </a:r>
            <a:endParaRPr lang="en-US" sz="1000" dirty="0"/>
          </a:p>
        </p:txBody>
      </p:sp>
      <p:sp>
        <p:nvSpPr>
          <p:cNvPr id="16" name="o346"/>
          <p:cNvSpPr/>
          <p:nvPr/>
        </p:nvSpPr>
        <p:spPr>
          <a:xfrm>
            <a:off x="609600" y="1600200"/>
            <a:ext cx="7467600" cy="4200525"/>
          </a:xfrm>
          <a:prstGeom prst="rect">
            <a:avLst/>
          </a:prstGeom>
          <a:solidFill>
            <a:srgbClr val="F4F4F4"/>
          </a:solidFill>
          <a:ln w="12700">
            <a:solidFill>
              <a:srgbClr val="E0E0E0"/>
            </a:solidFill>
            <a:prstDash val="solid"/>
          </a:ln>
        </p:spPr>
      </p:sp>
      <p:sp>
        <p:nvSpPr>
          <p:cNvPr id="17" name="o347"/>
          <p:cNvSpPr txBox="1"/>
          <p:nvPr/>
        </p:nvSpPr>
        <p:spPr>
          <a:xfrm>
            <a:off x="609600" y="1600200"/>
            <a:ext cx="7467600" cy="4200525"/>
          </a:xfrm>
          <a:prstGeom prst="rect">
            <a:avLst/>
          </a:prstGeom>
          <a:noFill/>
          <a:ln/>
        </p:spPr>
        <p:txBody>
          <a:bodyPr wrap="square" lIns="0" tIns="0" rIns="0" bIns="0" rtlCol="0" anchor="ctr"/>
          <a:lstStyle/>
          <a:p>
            <a:pPr algn="ctr" indent="0" marL="0">
              <a:buNone/>
            </a:pPr>
            <a:r>
              <a:rPr lang="en-US" sz="1600" b="1" dirty="0">
                <a:solidFill>
                  <a:srgbClr val="525252"/>
                </a:solidFill>
                <a:latin typeface="IBM Plex Sans KR" pitchFamily="34" charset="0"/>
                <a:ea typeface="IBM Plex Sans KR" pitchFamily="34" charset="-122"/>
                <a:cs typeface="IBM Plex Sans KR" pitchFamily="34" charset="-120"/>
              </a:rPr>
              <a:t>시연 영상 (16:9) — 삽입 → 비디오</a:t>
            </a:r>
            <a:endParaRPr lang="en-US" sz="1600" dirty="0"/>
          </a:p>
        </p:txBody>
      </p:sp>
      <p:sp>
        <p:nvSpPr>
          <p:cNvPr id="18" name="o348"/>
          <p:cNvSpPr txBox="1"/>
          <p:nvPr/>
        </p:nvSpPr>
        <p:spPr>
          <a:xfrm>
            <a:off x="8382000" y="1638300"/>
            <a:ext cx="3200400" cy="190500"/>
          </a:xfrm>
          <a:prstGeom prst="rect">
            <a:avLst/>
          </a:prstGeom>
          <a:noFill/>
          <a:ln/>
        </p:spPr>
        <p:txBody>
          <a:bodyPr wrap="square" lIns="0" tIns="0" rIns="0" bIns="0" rtlCol="0" anchor="t"/>
          <a:lstStyle/>
          <a:p>
            <a:pPr indent="0" marL="0">
              <a:buNone/>
            </a:pPr>
            <a:r>
              <a:rPr lang="en-US" sz="1300" b="1" dirty="0">
                <a:solidFill>
                  <a:srgbClr val="525252"/>
                </a:solidFill>
                <a:latin typeface="IBM Plex Sans KR" pitchFamily="34" charset="0"/>
                <a:ea typeface="IBM Plex Sans KR" pitchFamily="34" charset="-122"/>
                <a:cs typeface="IBM Plex Sans KR" pitchFamily="34" charset="-120"/>
              </a:rPr>
              <a:t>시연 순서</a:t>
            </a:r>
            <a:endParaRPr lang="en-US" sz="1300" dirty="0"/>
          </a:p>
        </p:txBody>
      </p:sp>
      <p:sp>
        <p:nvSpPr>
          <p:cNvPr id="19" name="o349"/>
          <p:cNvSpPr/>
          <p:nvPr/>
        </p:nvSpPr>
        <p:spPr>
          <a:xfrm>
            <a:off x="8534400" y="2000250"/>
            <a:ext cx="0" cy="3619500"/>
          </a:xfrm>
          <a:prstGeom prst="line">
            <a:avLst/>
          </a:prstGeom>
          <a:noFill/>
          <a:ln w="6350">
            <a:solidFill>
              <a:srgbClr val="D0E2FF"/>
            </a:solidFill>
            <a:prstDash val="solid"/>
          </a:ln>
        </p:spPr>
      </p:sp>
      <p:sp>
        <p:nvSpPr>
          <p:cNvPr id="20" name="o350"/>
          <p:cNvSpPr/>
          <p:nvPr/>
        </p:nvSpPr>
        <p:spPr>
          <a:xfrm>
            <a:off x="8458200" y="1943100"/>
            <a:ext cx="152400" cy="152400"/>
          </a:xfrm>
          <a:prstGeom prst="ellipse">
            <a:avLst/>
          </a:prstGeom>
          <a:solidFill>
            <a:srgbClr val="78A9FF"/>
          </a:solidFill>
          <a:ln/>
        </p:spPr>
      </p:sp>
      <p:sp>
        <p:nvSpPr>
          <p:cNvPr id="21" name="o351"/>
          <p:cNvSpPr txBox="1"/>
          <p:nvPr/>
        </p:nvSpPr>
        <p:spPr>
          <a:xfrm>
            <a:off x="8763000" y="1924050"/>
            <a:ext cx="1143000" cy="190500"/>
          </a:xfrm>
          <a:prstGeom prst="rect">
            <a:avLst/>
          </a:prstGeom>
          <a:noFill/>
          <a:ln/>
        </p:spPr>
        <p:txBody>
          <a:bodyPr wrap="square" lIns="0" tIns="0" rIns="0" bIns="0" rtlCol="0" anchor="t"/>
          <a:lstStyle/>
          <a:p>
            <a:pPr indent="0" marL="0">
              <a:buNone/>
            </a:pPr>
            <a:r>
              <a:rPr lang="en-US" sz="1200" b="1" dirty="0">
                <a:solidFill>
                  <a:srgbClr val="0F62FE"/>
                </a:solidFill>
                <a:latin typeface="IBM Plex Sans KR" pitchFamily="34" charset="0"/>
                <a:ea typeface="IBM Plex Sans KR" pitchFamily="34" charset="-122"/>
                <a:cs typeface="IBM Plex Sans KR" pitchFamily="34" charset="-120"/>
              </a:rPr>
              <a:t>0:00</a:t>
            </a:r>
            <a:endParaRPr lang="en-US" sz="1200" dirty="0"/>
          </a:p>
        </p:txBody>
      </p:sp>
      <p:sp>
        <p:nvSpPr>
          <p:cNvPr id="22" name="o352"/>
          <p:cNvSpPr txBox="1"/>
          <p:nvPr/>
        </p:nvSpPr>
        <p:spPr>
          <a:xfrm>
            <a:off x="8763000" y="2152650"/>
            <a:ext cx="2819400" cy="247650"/>
          </a:xfrm>
          <a:prstGeom prst="rect">
            <a:avLst/>
          </a:prstGeom>
          <a:noFill/>
          <a:ln/>
        </p:spPr>
        <p:txBody>
          <a:bodyPr wrap="square" lIns="0" tIns="0" rIns="0" bIns="0" rtlCol="0" anchor="t"/>
          <a:lstStyle/>
          <a:p>
            <a:pPr indent="0" marL="0">
              <a:buNone/>
            </a:pPr>
            <a:r>
              <a:rPr lang="en-US" sz="1600" b="1" dirty="0">
                <a:solidFill>
                  <a:srgbClr val="161616"/>
                </a:solidFill>
                <a:latin typeface="IBM Plex Sans KR" pitchFamily="34" charset="0"/>
                <a:ea typeface="IBM Plex Sans KR" pitchFamily="34" charset="-122"/>
                <a:cs typeface="IBM Plex Sans KR" pitchFamily="34" charset="-120"/>
              </a:rPr>
              <a:t>MSDS 라이브러리 조회</a:t>
            </a:r>
            <a:endParaRPr lang="en-US" sz="1600" dirty="0"/>
          </a:p>
        </p:txBody>
      </p:sp>
      <p:sp>
        <p:nvSpPr>
          <p:cNvPr id="23" name="o353"/>
          <p:cNvSpPr/>
          <p:nvPr/>
        </p:nvSpPr>
        <p:spPr>
          <a:xfrm>
            <a:off x="8458200" y="2895600"/>
            <a:ext cx="152400" cy="152400"/>
          </a:xfrm>
          <a:prstGeom prst="ellipse">
            <a:avLst/>
          </a:prstGeom>
          <a:solidFill>
            <a:srgbClr val="78A9FF"/>
          </a:solidFill>
          <a:ln/>
        </p:spPr>
      </p:sp>
      <p:sp>
        <p:nvSpPr>
          <p:cNvPr id="24" name="o354"/>
          <p:cNvSpPr txBox="1"/>
          <p:nvPr/>
        </p:nvSpPr>
        <p:spPr>
          <a:xfrm>
            <a:off x="8763000" y="2876550"/>
            <a:ext cx="1143000" cy="190500"/>
          </a:xfrm>
          <a:prstGeom prst="rect">
            <a:avLst/>
          </a:prstGeom>
          <a:noFill/>
          <a:ln/>
        </p:spPr>
        <p:txBody>
          <a:bodyPr wrap="square" lIns="0" tIns="0" rIns="0" bIns="0" rtlCol="0" anchor="t"/>
          <a:lstStyle/>
          <a:p>
            <a:pPr indent="0" marL="0">
              <a:buNone/>
            </a:pPr>
            <a:r>
              <a:rPr lang="en-US" sz="1200" b="1" dirty="0">
                <a:solidFill>
                  <a:srgbClr val="0F62FE"/>
                </a:solidFill>
                <a:latin typeface="IBM Plex Sans KR" pitchFamily="34" charset="0"/>
                <a:ea typeface="IBM Plex Sans KR" pitchFamily="34" charset="-122"/>
                <a:cs typeface="IBM Plex Sans KR" pitchFamily="34" charset="-120"/>
              </a:rPr>
              <a:t>0:20</a:t>
            </a:r>
            <a:endParaRPr lang="en-US" sz="1200" dirty="0"/>
          </a:p>
        </p:txBody>
      </p:sp>
      <p:sp>
        <p:nvSpPr>
          <p:cNvPr id="25" name="o355"/>
          <p:cNvSpPr txBox="1"/>
          <p:nvPr/>
        </p:nvSpPr>
        <p:spPr>
          <a:xfrm>
            <a:off x="8763000" y="3105150"/>
            <a:ext cx="2819400" cy="247650"/>
          </a:xfrm>
          <a:prstGeom prst="rect">
            <a:avLst/>
          </a:prstGeom>
          <a:noFill/>
          <a:ln/>
        </p:spPr>
        <p:txBody>
          <a:bodyPr wrap="square" lIns="0" tIns="0" rIns="0" bIns="0" rtlCol="0" anchor="t"/>
          <a:lstStyle/>
          <a:p>
            <a:pPr indent="0" marL="0">
              <a:buNone/>
            </a:pPr>
            <a:r>
              <a:rPr lang="en-US" sz="1600" b="1" dirty="0">
                <a:solidFill>
                  <a:srgbClr val="161616"/>
                </a:solidFill>
                <a:latin typeface="IBM Plex Sans KR" pitchFamily="34" charset="0"/>
                <a:ea typeface="IBM Plex Sans KR" pitchFamily="34" charset="-122"/>
                <a:cs typeface="IBM Plex Sans KR" pitchFamily="34" charset="-120"/>
              </a:rPr>
              <a:t>교육일지 작성 · 전자서명</a:t>
            </a:r>
            <a:endParaRPr lang="en-US" sz="1600" dirty="0"/>
          </a:p>
        </p:txBody>
      </p:sp>
      <p:sp>
        <p:nvSpPr>
          <p:cNvPr id="26" name="o356"/>
          <p:cNvSpPr/>
          <p:nvPr/>
        </p:nvSpPr>
        <p:spPr>
          <a:xfrm>
            <a:off x="8458200" y="3848100"/>
            <a:ext cx="152400" cy="152400"/>
          </a:xfrm>
          <a:prstGeom prst="ellipse">
            <a:avLst/>
          </a:prstGeom>
          <a:solidFill>
            <a:srgbClr val="0F62FE"/>
          </a:solidFill>
          <a:ln/>
        </p:spPr>
      </p:sp>
      <p:sp>
        <p:nvSpPr>
          <p:cNvPr id="27" name="o357"/>
          <p:cNvSpPr txBox="1"/>
          <p:nvPr/>
        </p:nvSpPr>
        <p:spPr>
          <a:xfrm>
            <a:off x="8763000" y="3829050"/>
            <a:ext cx="1143000" cy="190500"/>
          </a:xfrm>
          <a:prstGeom prst="rect">
            <a:avLst/>
          </a:prstGeom>
          <a:noFill/>
          <a:ln/>
        </p:spPr>
        <p:txBody>
          <a:bodyPr wrap="square" lIns="0" tIns="0" rIns="0" bIns="0" rtlCol="0" anchor="t"/>
          <a:lstStyle/>
          <a:p>
            <a:pPr indent="0" marL="0">
              <a:buNone/>
            </a:pPr>
            <a:r>
              <a:rPr lang="en-US" sz="1200" b="1" dirty="0">
                <a:solidFill>
                  <a:srgbClr val="0F62FE"/>
                </a:solidFill>
                <a:latin typeface="IBM Plex Sans KR" pitchFamily="34" charset="0"/>
                <a:ea typeface="IBM Plex Sans KR" pitchFamily="34" charset="-122"/>
                <a:cs typeface="IBM Plex Sans KR" pitchFamily="34" charset="-120"/>
              </a:rPr>
              <a:t>0:50</a:t>
            </a:r>
            <a:endParaRPr lang="en-US" sz="1200" dirty="0"/>
          </a:p>
        </p:txBody>
      </p:sp>
      <p:sp>
        <p:nvSpPr>
          <p:cNvPr id="28" name="o358"/>
          <p:cNvSpPr txBox="1"/>
          <p:nvPr/>
        </p:nvSpPr>
        <p:spPr>
          <a:xfrm>
            <a:off x="8763000" y="4057650"/>
            <a:ext cx="2819400" cy="247650"/>
          </a:xfrm>
          <a:prstGeom prst="rect">
            <a:avLst/>
          </a:prstGeom>
          <a:noFill/>
          <a:ln/>
        </p:spPr>
        <p:txBody>
          <a:bodyPr wrap="square" lIns="0" tIns="0" rIns="0" bIns="0" rtlCol="0" anchor="t"/>
          <a:lstStyle/>
          <a:p>
            <a:pPr indent="0" marL="0">
              <a:buNone/>
            </a:pPr>
            <a:r>
              <a:rPr lang="en-US" sz="1600" b="1" dirty="0">
                <a:solidFill>
                  <a:srgbClr val="161616"/>
                </a:solidFill>
                <a:latin typeface="IBM Plex Sans KR" pitchFamily="34" charset="0"/>
                <a:ea typeface="IBM Plex Sans KR" pitchFamily="34" charset="-122"/>
                <a:cs typeface="IBM Plex Sans KR" pitchFamily="34" charset="-120"/>
              </a:rPr>
              <a:t>관리자 알림 · 비대면 승인</a:t>
            </a:r>
            <a:endParaRPr lang="en-US" sz="1600" dirty="0"/>
          </a:p>
        </p:txBody>
      </p:sp>
      <p:sp>
        <p:nvSpPr>
          <p:cNvPr id="29" name="o359"/>
          <p:cNvSpPr/>
          <p:nvPr/>
        </p:nvSpPr>
        <p:spPr>
          <a:xfrm>
            <a:off x="8458200" y="4800600"/>
            <a:ext cx="152400" cy="152400"/>
          </a:xfrm>
          <a:prstGeom prst="ellipse">
            <a:avLst/>
          </a:prstGeom>
          <a:solidFill>
            <a:srgbClr val="78A9FF"/>
          </a:solidFill>
          <a:ln/>
        </p:spPr>
      </p:sp>
      <p:sp>
        <p:nvSpPr>
          <p:cNvPr id="30" name="o360"/>
          <p:cNvSpPr txBox="1"/>
          <p:nvPr/>
        </p:nvSpPr>
        <p:spPr>
          <a:xfrm>
            <a:off x="8763000" y="4781550"/>
            <a:ext cx="1143000" cy="190500"/>
          </a:xfrm>
          <a:prstGeom prst="rect">
            <a:avLst/>
          </a:prstGeom>
          <a:noFill/>
          <a:ln/>
        </p:spPr>
        <p:txBody>
          <a:bodyPr wrap="square" lIns="0" tIns="0" rIns="0" bIns="0" rtlCol="0" anchor="t"/>
          <a:lstStyle/>
          <a:p>
            <a:pPr indent="0" marL="0">
              <a:buNone/>
            </a:pPr>
            <a:r>
              <a:rPr lang="en-US" sz="1200" b="1" dirty="0">
                <a:solidFill>
                  <a:srgbClr val="0F62FE"/>
                </a:solidFill>
                <a:latin typeface="IBM Plex Sans KR" pitchFamily="34" charset="0"/>
                <a:ea typeface="IBM Plex Sans KR" pitchFamily="34" charset="-122"/>
                <a:cs typeface="IBM Plex Sans KR" pitchFamily="34" charset="-120"/>
              </a:rPr>
              <a:t>1:10</a:t>
            </a:r>
            <a:endParaRPr lang="en-US" sz="1200" dirty="0"/>
          </a:p>
        </p:txBody>
      </p:sp>
      <p:sp>
        <p:nvSpPr>
          <p:cNvPr id="31" name="o361"/>
          <p:cNvSpPr txBox="1"/>
          <p:nvPr/>
        </p:nvSpPr>
        <p:spPr>
          <a:xfrm>
            <a:off x="8763000" y="5010150"/>
            <a:ext cx="2819400" cy="247650"/>
          </a:xfrm>
          <a:prstGeom prst="rect">
            <a:avLst/>
          </a:prstGeom>
          <a:noFill/>
          <a:ln/>
        </p:spPr>
        <p:txBody>
          <a:bodyPr wrap="square" lIns="0" tIns="0" rIns="0" bIns="0" rtlCol="0" anchor="t"/>
          <a:lstStyle/>
          <a:p>
            <a:pPr indent="0" marL="0">
              <a:buNone/>
            </a:pPr>
            <a:r>
              <a:rPr lang="en-US" sz="1600" b="1" dirty="0">
                <a:solidFill>
                  <a:srgbClr val="161616"/>
                </a:solidFill>
                <a:latin typeface="IBM Plex Sans KR" pitchFamily="34" charset="0"/>
                <a:ea typeface="IBM Plex Sans KR" pitchFamily="34" charset="-122"/>
                <a:cs typeface="IBM Plex Sans KR" pitchFamily="34" charset="-120"/>
              </a:rPr>
              <a:t>대시보드 · AI 위험성평가</a:t>
            </a:r>
            <a:endParaRPr lang="en-US" sz="1600" dirty="0"/>
          </a:p>
        </p:txBody>
      </p:sp>
      <p:sp>
        <p:nvSpPr>
          <p:cNvPr id="32" name="o362"/>
          <p:cNvSpPr txBox="1"/>
          <p:nvPr/>
        </p:nvSpPr>
        <p:spPr>
          <a:xfrm>
            <a:off x="8382000" y="5791200"/>
            <a:ext cx="3200400" cy="190500"/>
          </a:xfrm>
          <a:prstGeom prst="rect">
            <a:avLst/>
          </a:prstGeom>
          <a:noFill/>
          <a:ln/>
        </p:spPr>
        <p:txBody>
          <a:bodyPr wrap="square" lIns="0" tIns="0" rIns="0" bIns="0" rtlCol="0" anchor="t"/>
          <a:lstStyle/>
          <a:p>
            <a:pPr indent="0" marL="0">
              <a:buNone/>
            </a:pPr>
            <a:r>
              <a:rPr lang="en-US" sz="1200" b="1" dirty="0">
                <a:solidFill>
                  <a:srgbClr val="0F62FE"/>
                </a:solidFill>
                <a:latin typeface="IBM Plex Sans KR" pitchFamily="34" charset="0"/>
                <a:ea typeface="IBM Plex Sans KR" pitchFamily="34" charset="-122"/>
                <a:cs typeface="IBM Plex Sans KR" pitchFamily="34" charset="-120"/>
              </a:rPr>
              <a:t>"이 1분이 예전의 19분 24초입니다"</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363"/>
          <p:cNvSpPr/>
          <p:nvPr/>
        </p:nvSpPr>
        <p:spPr>
          <a:xfrm>
            <a:off x="609600" y="228600"/>
            <a:ext cx="2686050" cy="38100"/>
          </a:xfrm>
          <a:prstGeom prst="rect">
            <a:avLst/>
          </a:prstGeom>
          <a:solidFill>
            <a:srgbClr val="0F62FE"/>
          </a:solidFill>
          <a:ln/>
        </p:spPr>
      </p:sp>
      <p:sp>
        <p:nvSpPr>
          <p:cNvPr id="3" name="o364"/>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Plan</a:t>
            </a:r>
            <a:endParaRPr lang="en-US" sz="800" dirty="0"/>
          </a:p>
        </p:txBody>
      </p:sp>
      <p:sp>
        <p:nvSpPr>
          <p:cNvPr id="4" name="o365"/>
          <p:cNvSpPr/>
          <p:nvPr/>
        </p:nvSpPr>
        <p:spPr>
          <a:xfrm>
            <a:off x="3371850" y="228600"/>
            <a:ext cx="2686050" cy="38100"/>
          </a:xfrm>
          <a:prstGeom prst="rect">
            <a:avLst/>
          </a:prstGeom>
          <a:solidFill>
            <a:srgbClr val="0F62FE"/>
          </a:solidFill>
          <a:ln/>
        </p:spPr>
      </p:sp>
      <p:sp>
        <p:nvSpPr>
          <p:cNvPr id="5" name="o366"/>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b="1" dirty="0">
                <a:solidFill>
                  <a:srgbClr val="0F62FE"/>
                </a:solidFill>
                <a:latin typeface="IBM Plex Sans KR" pitchFamily="34" charset="0"/>
                <a:ea typeface="IBM Plex Sans KR" pitchFamily="34" charset="-122"/>
                <a:cs typeface="IBM Plex Sans KR" pitchFamily="34" charset="-120"/>
              </a:rPr>
              <a:t>Do</a:t>
            </a:r>
            <a:endParaRPr lang="en-US" sz="800" dirty="0"/>
          </a:p>
        </p:txBody>
      </p:sp>
      <p:sp>
        <p:nvSpPr>
          <p:cNvPr id="6" name="o367"/>
          <p:cNvSpPr/>
          <p:nvPr/>
        </p:nvSpPr>
        <p:spPr>
          <a:xfrm>
            <a:off x="6134100" y="228600"/>
            <a:ext cx="2686050" cy="38100"/>
          </a:xfrm>
          <a:prstGeom prst="rect">
            <a:avLst/>
          </a:prstGeom>
          <a:solidFill>
            <a:srgbClr val="E0E0E0"/>
          </a:solidFill>
          <a:ln/>
        </p:spPr>
      </p:sp>
      <p:sp>
        <p:nvSpPr>
          <p:cNvPr id="7" name="o368"/>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Check</a:t>
            </a:r>
            <a:endParaRPr lang="en-US" sz="800" dirty="0"/>
          </a:p>
        </p:txBody>
      </p:sp>
      <p:sp>
        <p:nvSpPr>
          <p:cNvPr id="8" name="o369"/>
          <p:cNvSpPr/>
          <p:nvPr/>
        </p:nvSpPr>
        <p:spPr>
          <a:xfrm>
            <a:off x="8896350" y="228600"/>
            <a:ext cx="2686050" cy="38100"/>
          </a:xfrm>
          <a:prstGeom prst="rect">
            <a:avLst/>
          </a:prstGeom>
          <a:solidFill>
            <a:srgbClr val="E0E0E0"/>
          </a:solidFill>
          <a:ln/>
        </p:spPr>
      </p:sp>
      <p:sp>
        <p:nvSpPr>
          <p:cNvPr id="9" name="o370"/>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Act</a:t>
            </a:r>
            <a:endParaRPr lang="en-US" sz="800" dirty="0"/>
          </a:p>
        </p:txBody>
      </p:sp>
      <p:sp>
        <p:nvSpPr>
          <p:cNvPr id="10" name="o371"/>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F62FE"/>
                </a:solidFill>
                <a:latin typeface="IBM Plex Sans KR" pitchFamily="34" charset="0"/>
                <a:ea typeface="IBM Plex Sans KR" pitchFamily="34" charset="-122"/>
                <a:cs typeface="IBM Plex Sans KR" pitchFamily="34" charset="-120"/>
              </a:rPr>
              <a:t>05+   SOLUTION  ·  AI 적용</a:t>
            </a:r>
            <a:endParaRPr lang="en-US" sz="1100" dirty="0"/>
          </a:p>
        </p:txBody>
      </p:sp>
      <p:sp>
        <p:nvSpPr>
          <p:cNvPr id="11" name="o372"/>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AI는 초안을 만들고, 최종 판단은 사람이 합니다</a:t>
            </a:r>
            <a:endParaRPr lang="en-US" sz="2600" dirty="0"/>
          </a:p>
        </p:txBody>
      </p:sp>
      <p:sp>
        <p:nvSpPr>
          <p:cNvPr id="12" name="o373"/>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25252"/>
                </a:solidFill>
                <a:latin typeface="IBM Plex Sans KR" pitchFamily="34" charset="0"/>
                <a:ea typeface="IBM Plex Sans KR" pitchFamily="34" charset="-122"/>
                <a:cs typeface="IBM Plex Sans KR" pitchFamily="34" charset="-120"/>
              </a:rPr>
              <a:t>AI 수시 위험성평가 — 근로자 참여형 · 2026.05–07 시범 운영</a:t>
            </a:r>
            <a:endParaRPr lang="en-US" sz="1300" dirty="0"/>
          </a:p>
        </p:txBody>
      </p:sp>
      <p:sp>
        <p:nvSpPr>
          <p:cNvPr id="13" name="o374"/>
          <p:cNvSpPr/>
          <p:nvPr/>
        </p:nvSpPr>
        <p:spPr>
          <a:xfrm>
            <a:off x="0" y="6477000"/>
            <a:ext cx="12192000" cy="381000"/>
          </a:xfrm>
          <a:prstGeom prst="rect">
            <a:avLst/>
          </a:prstGeom>
          <a:solidFill>
            <a:srgbClr val="161616"/>
          </a:solidFill>
          <a:ln/>
        </p:spPr>
      </p:sp>
      <p:sp>
        <p:nvSpPr>
          <p:cNvPr id="14" name="o375"/>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IBM Plex Sans KR" pitchFamily="34" charset="0"/>
                <a:ea typeface="IBM Plex Sans KR" pitchFamily="34" charset="-122"/>
                <a:cs typeface="IBM Plex Sans KR" pitchFamily="34" charset="-120"/>
              </a:rPr>
              <a:t>부산부민병원 안전보건 통합관리 시스템  ·  Safety First</a:t>
            </a:r>
            <a:endParaRPr lang="en-US" sz="900" dirty="0"/>
          </a:p>
        </p:txBody>
      </p:sp>
      <p:sp>
        <p:nvSpPr>
          <p:cNvPr id="15" name="o376"/>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IBM Plex Sans KR" pitchFamily="34" charset="0"/>
                <a:ea typeface="IBM Plex Sans KR" pitchFamily="34" charset="-122"/>
                <a:cs typeface="IBM Plex Sans KR" pitchFamily="34" charset="-120"/>
              </a:rPr>
              <a:t>09</a:t>
            </a:r>
            <a:endParaRPr lang="en-US" sz="1000" dirty="0"/>
          </a:p>
        </p:txBody>
      </p:sp>
      <p:sp>
        <p:nvSpPr>
          <p:cNvPr id="16" name="o377"/>
          <p:cNvSpPr/>
          <p:nvPr/>
        </p:nvSpPr>
        <p:spPr>
          <a:xfrm>
            <a:off x="609600" y="1600200"/>
            <a:ext cx="2571750" cy="419100"/>
          </a:xfrm>
          <a:prstGeom prst="rect">
            <a:avLst/>
          </a:prstGeom>
          <a:solidFill>
            <a:srgbClr val="EDF5FF"/>
          </a:solidFill>
          <a:ln/>
        </p:spPr>
      </p:sp>
      <p:sp>
        <p:nvSpPr>
          <p:cNvPr id="17" name="o378"/>
          <p:cNvSpPr txBox="1"/>
          <p:nvPr/>
        </p:nvSpPr>
        <p:spPr>
          <a:xfrm>
            <a:off x="609600" y="1600200"/>
            <a:ext cx="2571750" cy="419100"/>
          </a:xfrm>
          <a:prstGeom prst="rect">
            <a:avLst/>
          </a:prstGeom>
          <a:noFill/>
          <a:ln/>
        </p:spPr>
        <p:txBody>
          <a:bodyPr wrap="square" lIns="0" tIns="0" rIns="0" bIns="0" rtlCol="0" anchor="ctr"/>
          <a:lstStyle/>
          <a:p>
            <a:pPr algn="ctr" indent="0" marL="0">
              <a:buNone/>
            </a:pPr>
            <a:r>
              <a:rPr lang="en-US" sz="1400" b="1" dirty="0">
                <a:solidFill>
                  <a:srgbClr val="0F62FE"/>
                </a:solidFill>
                <a:latin typeface="IBM Plex Sans KR" pitchFamily="34" charset="0"/>
                <a:ea typeface="IBM Plex Sans KR" pitchFamily="34" charset="-122"/>
                <a:cs typeface="IBM Plex Sans KR" pitchFamily="34" charset="-120"/>
              </a:rPr>
              <a:t>현장 사진 · 작업 입력</a:t>
            </a:r>
            <a:endParaRPr lang="en-US" sz="1400" dirty="0"/>
          </a:p>
        </p:txBody>
      </p:sp>
      <p:sp>
        <p:nvSpPr>
          <p:cNvPr id="18" name="o379"/>
          <p:cNvSpPr txBox="1"/>
          <p:nvPr/>
        </p:nvSpPr>
        <p:spPr>
          <a:xfrm>
            <a:off x="3181350" y="1600200"/>
            <a:ext cx="228600" cy="419100"/>
          </a:xfrm>
          <a:prstGeom prst="rect">
            <a:avLst/>
          </a:prstGeom>
          <a:noFill/>
          <a:ln/>
        </p:spPr>
        <p:txBody>
          <a:bodyPr wrap="square" lIns="0" tIns="0" rIns="0" bIns="0" rtlCol="0" anchor="ctr"/>
          <a:lstStyle/>
          <a:p>
            <a:pPr algn="ctr" indent="0" marL="0">
              <a:buNone/>
            </a:pPr>
            <a:r>
              <a:rPr lang="en-US" sz="2000" b="1" dirty="0">
                <a:solidFill>
                  <a:srgbClr val="0F62FE"/>
                </a:solidFill>
                <a:latin typeface="IBM Plex Sans KR" pitchFamily="34" charset="0"/>
                <a:ea typeface="IBM Plex Sans KR" pitchFamily="34" charset="-122"/>
                <a:cs typeface="IBM Plex Sans KR" pitchFamily="34" charset="-120"/>
              </a:rPr>
              <a:t>›</a:t>
            </a:r>
            <a:endParaRPr lang="en-US" sz="2000" dirty="0"/>
          </a:p>
        </p:txBody>
      </p:sp>
      <p:sp>
        <p:nvSpPr>
          <p:cNvPr id="19" name="o380"/>
          <p:cNvSpPr/>
          <p:nvPr/>
        </p:nvSpPr>
        <p:spPr>
          <a:xfrm>
            <a:off x="3409950" y="1600200"/>
            <a:ext cx="2571750" cy="419100"/>
          </a:xfrm>
          <a:prstGeom prst="rect">
            <a:avLst/>
          </a:prstGeom>
          <a:solidFill>
            <a:srgbClr val="EDF5FF"/>
          </a:solidFill>
          <a:ln/>
        </p:spPr>
      </p:sp>
      <p:sp>
        <p:nvSpPr>
          <p:cNvPr id="20" name="o381"/>
          <p:cNvSpPr txBox="1"/>
          <p:nvPr/>
        </p:nvSpPr>
        <p:spPr>
          <a:xfrm>
            <a:off x="3409950" y="1600200"/>
            <a:ext cx="2571750" cy="419100"/>
          </a:xfrm>
          <a:prstGeom prst="rect">
            <a:avLst/>
          </a:prstGeom>
          <a:noFill/>
          <a:ln/>
        </p:spPr>
        <p:txBody>
          <a:bodyPr wrap="square" lIns="0" tIns="0" rIns="0" bIns="0" rtlCol="0" anchor="ctr"/>
          <a:lstStyle/>
          <a:p>
            <a:pPr algn="ctr" indent="0" marL="0">
              <a:buNone/>
            </a:pPr>
            <a:r>
              <a:rPr lang="en-US" sz="1400" b="1" dirty="0">
                <a:solidFill>
                  <a:srgbClr val="0F62FE"/>
                </a:solidFill>
                <a:latin typeface="IBM Plex Sans KR" pitchFamily="34" charset="0"/>
                <a:ea typeface="IBM Plex Sans KR" pitchFamily="34" charset="-122"/>
                <a:cs typeface="IBM Plex Sans KR" pitchFamily="34" charset="-120"/>
              </a:rPr>
              <a:t>위험요인 자동 분석</a:t>
            </a:r>
            <a:endParaRPr lang="en-US" sz="1400" dirty="0"/>
          </a:p>
        </p:txBody>
      </p:sp>
      <p:sp>
        <p:nvSpPr>
          <p:cNvPr id="21" name="o382"/>
          <p:cNvSpPr txBox="1"/>
          <p:nvPr/>
        </p:nvSpPr>
        <p:spPr>
          <a:xfrm>
            <a:off x="5981700" y="1600200"/>
            <a:ext cx="228600" cy="419100"/>
          </a:xfrm>
          <a:prstGeom prst="rect">
            <a:avLst/>
          </a:prstGeom>
          <a:noFill/>
          <a:ln/>
        </p:spPr>
        <p:txBody>
          <a:bodyPr wrap="square" lIns="0" tIns="0" rIns="0" bIns="0" rtlCol="0" anchor="ctr"/>
          <a:lstStyle/>
          <a:p>
            <a:pPr algn="ctr" indent="0" marL="0">
              <a:buNone/>
            </a:pPr>
            <a:r>
              <a:rPr lang="en-US" sz="2000" b="1" dirty="0">
                <a:solidFill>
                  <a:srgbClr val="0F62FE"/>
                </a:solidFill>
                <a:latin typeface="IBM Plex Sans KR" pitchFamily="34" charset="0"/>
                <a:ea typeface="IBM Plex Sans KR" pitchFamily="34" charset="-122"/>
                <a:cs typeface="IBM Plex Sans KR" pitchFamily="34" charset="-120"/>
              </a:rPr>
              <a:t>›</a:t>
            </a:r>
            <a:endParaRPr lang="en-US" sz="2000" dirty="0"/>
          </a:p>
        </p:txBody>
      </p:sp>
      <p:sp>
        <p:nvSpPr>
          <p:cNvPr id="22" name="o383"/>
          <p:cNvSpPr/>
          <p:nvPr/>
        </p:nvSpPr>
        <p:spPr>
          <a:xfrm>
            <a:off x="6210300" y="1600200"/>
            <a:ext cx="2571750" cy="419100"/>
          </a:xfrm>
          <a:prstGeom prst="rect">
            <a:avLst/>
          </a:prstGeom>
          <a:solidFill>
            <a:srgbClr val="EDF5FF"/>
          </a:solidFill>
          <a:ln/>
        </p:spPr>
      </p:sp>
      <p:sp>
        <p:nvSpPr>
          <p:cNvPr id="23" name="o384"/>
          <p:cNvSpPr txBox="1"/>
          <p:nvPr/>
        </p:nvSpPr>
        <p:spPr>
          <a:xfrm>
            <a:off x="6210300" y="1600200"/>
            <a:ext cx="2571750" cy="419100"/>
          </a:xfrm>
          <a:prstGeom prst="rect">
            <a:avLst/>
          </a:prstGeom>
          <a:noFill/>
          <a:ln/>
        </p:spPr>
        <p:txBody>
          <a:bodyPr wrap="square" lIns="0" tIns="0" rIns="0" bIns="0" rtlCol="0" anchor="ctr"/>
          <a:lstStyle/>
          <a:p>
            <a:pPr algn="ctr" indent="0" marL="0">
              <a:buNone/>
            </a:pPr>
            <a:r>
              <a:rPr lang="en-US" sz="1400" b="1" dirty="0">
                <a:solidFill>
                  <a:srgbClr val="0F62FE"/>
                </a:solidFill>
                <a:latin typeface="IBM Plex Sans KR" pitchFamily="34" charset="0"/>
                <a:ea typeface="IBM Plex Sans KR" pitchFamily="34" charset="-122"/>
                <a:cs typeface="IBM Plex Sans KR" pitchFamily="34" charset="-120"/>
              </a:rPr>
              <a:t>위험도 산출 (5×4)</a:t>
            </a:r>
            <a:endParaRPr lang="en-US" sz="1400" dirty="0"/>
          </a:p>
        </p:txBody>
      </p:sp>
      <p:sp>
        <p:nvSpPr>
          <p:cNvPr id="24" name="o385"/>
          <p:cNvSpPr txBox="1"/>
          <p:nvPr/>
        </p:nvSpPr>
        <p:spPr>
          <a:xfrm>
            <a:off x="8782050" y="1600200"/>
            <a:ext cx="228600" cy="419100"/>
          </a:xfrm>
          <a:prstGeom prst="rect">
            <a:avLst/>
          </a:prstGeom>
          <a:noFill/>
          <a:ln/>
        </p:spPr>
        <p:txBody>
          <a:bodyPr wrap="square" lIns="0" tIns="0" rIns="0" bIns="0" rtlCol="0" anchor="ctr"/>
          <a:lstStyle/>
          <a:p>
            <a:pPr algn="ctr" indent="0" marL="0">
              <a:buNone/>
            </a:pPr>
            <a:r>
              <a:rPr lang="en-US" sz="2000" b="1" dirty="0">
                <a:solidFill>
                  <a:srgbClr val="0F62FE"/>
                </a:solidFill>
                <a:latin typeface="IBM Plex Sans KR" pitchFamily="34" charset="0"/>
                <a:ea typeface="IBM Plex Sans KR" pitchFamily="34" charset="-122"/>
                <a:cs typeface="IBM Plex Sans KR" pitchFamily="34" charset="-120"/>
              </a:rPr>
              <a:t>›</a:t>
            </a:r>
            <a:endParaRPr lang="en-US" sz="2000" dirty="0"/>
          </a:p>
        </p:txBody>
      </p:sp>
      <p:sp>
        <p:nvSpPr>
          <p:cNvPr id="25" name="o386"/>
          <p:cNvSpPr/>
          <p:nvPr/>
        </p:nvSpPr>
        <p:spPr>
          <a:xfrm>
            <a:off x="9010650" y="1600200"/>
            <a:ext cx="2571750" cy="419100"/>
          </a:xfrm>
          <a:prstGeom prst="rect">
            <a:avLst/>
          </a:prstGeom>
          <a:solidFill>
            <a:srgbClr val="0F62FE"/>
          </a:solidFill>
          <a:ln/>
        </p:spPr>
      </p:sp>
      <p:sp>
        <p:nvSpPr>
          <p:cNvPr id="26" name="o387"/>
          <p:cNvSpPr txBox="1"/>
          <p:nvPr/>
        </p:nvSpPr>
        <p:spPr>
          <a:xfrm>
            <a:off x="9010650" y="1600200"/>
            <a:ext cx="2571750" cy="419100"/>
          </a:xfrm>
          <a:prstGeom prst="rect">
            <a:avLst/>
          </a:prstGeom>
          <a:noFill/>
          <a:ln/>
        </p:spPr>
        <p:txBody>
          <a:bodyPr wrap="square" lIns="0" tIns="0" rIns="0" bIns="0" rtlCol="0" anchor="ctr"/>
          <a:lstStyle/>
          <a:p>
            <a:pPr algn="ctr" indent="0" marL="0">
              <a:buNone/>
            </a:pPr>
            <a:r>
              <a:rPr lang="en-US" sz="1400" b="1" dirty="0">
                <a:solidFill>
                  <a:srgbClr val="FFFFFF"/>
                </a:solidFill>
                <a:latin typeface="IBM Plex Sans KR" pitchFamily="34" charset="0"/>
                <a:ea typeface="IBM Plex Sans KR" pitchFamily="34" charset="-122"/>
                <a:cs typeface="IBM Plex Sans KR" pitchFamily="34" charset="-120"/>
              </a:rPr>
              <a:t>개선대책 · 평가서 작성</a:t>
            </a:r>
            <a:endParaRPr lang="en-US" sz="1400" dirty="0"/>
          </a:p>
        </p:txBody>
      </p:sp>
      <p:sp>
        <p:nvSpPr>
          <p:cNvPr id="27" name="o388"/>
          <p:cNvSpPr/>
          <p:nvPr/>
        </p:nvSpPr>
        <p:spPr>
          <a:xfrm>
            <a:off x="609600" y="2209800"/>
            <a:ext cx="6324600" cy="3581400"/>
          </a:xfrm>
          <a:prstGeom prst="rect">
            <a:avLst/>
          </a:prstGeom>
          <a:solidFill>
            <a:srgbClr val="F4F4F4"/>
          </a:solidFill>
          <a:ln w="12700">
            <a:solidFill>
              <a:srgbClr val="E0E0E0"/>
            </a:solidFill>
            <a:prstDash val="solid"/>
          </a:ln>
        </p:spPr>
      </p:sp>
      <p:sp>
        <p:nvSpPr>
          <p:cNvPr id="28" name="o389"/>
          <p:cNvSpPr txBox="1"/>
          <p:nvPr/>
        </p:nvSpPr>
        <p:spPr>
          <a:xfrm>
            <a:off x="609600" y="2209800"/>
            <a:ext cx="6324600" cy="3581400"/>
          </a:xfrm>
          <a:prstGeom prst="rect">
            <a:avLst/>
          </a:prstGeom>
          <a:noFill/>
          <a:ln/>
        </p:spPr>
        <p:txBody>
          <a:bodyPr wrap="square" lIns="0" tIns="0" rIns="0" bIns="0" rtlCol="0" anchor="ctr"/>
          <a:lstStyle/>
          <a:p>
            <a:pPr algn="ctr" indent="0" marL="0">
              <a:lnSpc>
                <a:spcPct val="140000"/>
              </a:lnSpc>
              <a:buNone/>
            </a:pPr>
            <a:r>
              <a:rPr lang="en-US" sz="1400" b="1" dirty="0">
                <a:solidFill>
                  <a:srgbClr val="525252"/>
                </a:solidFill>
                <a:latin typeface="IBM Plex Sans KR" pitchFamily="34" charset="0"/>
                <a:ea typeface="IBM Plex Sans KR" pitchFamily="34" charset="-122"/>
                <a:cs typeface="IBM Plex Sans KR" pitchFamily="34" charset="-120"/>
              </a:rPr>
              <a:t>AI 위험성평가 결과 화면 캡처</a:t>
            </a:r>
            <a:endParaRPr lang="en-US" sz="1400" dirty="0"/>
          </a:p>
          <a:p>
            <a:pPr algn="ctr" indent="0" marL="0">
              <a:lnSpc>
                <a:spcPct val="140000"/>
              </a:lnSpc>
              <a:buNone/>
            </a:pPr>
            <a:r>
              <a:rPr lang="en-US" sz="1400" b="1" dirty="0">
                <a:solidFill>
                  <a:srgbClr val="525252"/>
                </a:solidFill>
                <a:latin typeface="IBM Plex Sans KR" pitchFamily="34" charset="0"/>
                <a:ea typeface="IBM Plex Sans KR" pitchFamily="34" charset="-122"/>
                <a:cs typeface="IBM Plex Sans KR" pitchFamily="34" charset="-120"/>
              </a:rPr>
              <a:t>(현장 사진 → 위험요인 → 위험도 → 개선대책 실제 사례 1건)</a:t>
            </a:r>
            <a:endParaRPr lang="en-US" sz="1400" dirty="0"/>
          </a:p>
        </p:txBody>
      </p:sp>
      <p:sp>
        <p:nvSpPr>
          <p:cNvPr id="29" name="o390"/>
          <p:cNvSpPr/>
          <p:nvPr/>
        </p:nvSpPr>
        <p:spPr>
          <a:xfrm>
            <a:off x="7124700" y="2209800"/>
            <a:ext cx="4457700" cy="1428750"/>
          </a:xfrm>
          <a:prstGeom prst="rect">
            <a:avLst/>
          </a:prstGeom>
          <a:solidFill>
            <a:srgbClr val="FFFFFF"/>
          </a:solidFill>
          <a:ln w="12700">
            <a:solidFill>
              <a:srgbClr val="E0E0E0"/>
            </a:solidFill>
            <a:prstDash val="solid"/>
          </a:ln>
        </p:spPr>
      </p:sp>
      <p:sp>
        <p:nvSpPr>
          <p:cNvPr id="30" name="o391"/>
          <p:cNvSpPr txBox="1"/>
          <p:nvPr/>
        </p:nvSpPr>
        <p:spPr>
          <a:xfrm>
            <a:off x="7391400" y="2400300"/>
            <a:ext cx="3810000" cy="171450"/>
          </a:xfrm>
          <a:prstGeom prst="rect">
            <a:avLst/>
          </a:prstGeom>
          <a:noFill/>
          <a:ln/>
        </p:spPr>
        <p:txBody>
          <a:bodyPr wrap="square" lIns="0" tIns="0" rIns="0" bIns="0" rtlCol="0" anchor="t"/>
          <a:lstStyle/>
          <a:p>
            <a:pPr indent="0" marL="0">
              <a:buNone/>
            </a:pPr>
            <a:r>
              <a:rPr lang="en-US" sz="1200" dirty="0">
                <a:solidFill>
                  <a:srgbClr val="525252"/>
                </a:solidFill>
                <a:latin typeface="IBM Plex Sans KR" pitchFamily="34" charset="0"/>
                <a:ea typeface="IBM Plex Sans KR" pitchFamily="34" charset="-122"/>
                <a:cs typeface="IBM Plex Sans KR" pitchFamily="34" charset="-120"/>
              </a:rPr>
              <a:t>운영 실적  ·  2026.05–07</a:t>
            </a:r>
            <a:endParaRPr lang="en-US" sz="1200" dirty="0"/>
          </a:p>
        </p:txBody>
      </p:sp>
      <p:sp>
        <p:nvSpPr>
          <p:cNvPr id="31" name="o392"/>
          <p:cNvSpPr txBox="1"/>
          <p:nvPr/>
        </p:nvSpPr>
        <p:spPr>
          <a:xfrm>
            <a:off x="7391400" y="2647950"/>
            <a:ext cx="3810000" cy="533400"/>
          </a:xfrm>
          <a:prstGeom prst="rect">
            <a:avLst/>
          </a:prstGeom>
          <a:noFill/>
          <a:ln/>
        </p:spPr>
        <p:txBody>
          <a:bodyPr wrap="square" lIns="0" tIns="0" rIns="0" bIns="0" rtlCol="0" anchor="t"/>
          <a:lstStyle/>
          <a:p>
            <a:pPr indent="0" marL="0">
              <a:buNone/>
            </a:pPr>
            <a:r>
              <a:rPr lang="en-US" sz="3800" b="1" dirty="0">
                <a:solidFill>
                  <a:srgbClr val="0F62FE"/>
                </a:solidFill>
                <a:latin typeface="IBM Plex Sans KR" pitchFamily="34" charset="0"/>
                <a:ea typeface="IBM Plex Sans KR" pitchFamily="34" charset="-122"/>
                <a:cs typeface="IBM Plex Sans KR" pitchFamily="34" charset="-120"/>
              </a:rPr>
              <a:t>[실적]건</a:t>
            </a:r>
            <a:endParaRPr lang="en-US" sz="3800" dirty="0"/>
          </a:p>
        </p:txBody>
      </p:sp>
      <p:sp>
        <p:nvSpPr>
          <p:cNvPr id="32" name="o393"/>
          <p:cNvSpPr txBox="1"/>
          <p:nvPr/>
        </p:nvSpPr>
        <p:spPr>
          <a:xfrm>
            <a:off x="7391400" y="3276600"/>
            <a:ext cx="3810000" cy="17145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수시 위험성평가 시행 건수</a:t>
            </a:r>
            <a:endParaRPr lang="en-US" sz="1100" dirty="0"/>
          </a:p>
        </p:txBody>
      </p:sp>
      <p:sp>
        <p:nvSpPr>
          <p:cNvPr id="33" name="o394"/>
          <p:cNvSpPr/>
          <p:nvPr/>
        </p:nvSpPr>
        <p:spPr>
          <a:xfrm>
            <a:off x="7124700" y="3790950"/>
            <a:ext cx="4457700" cy="2000250"/>
          </a:xfrm>
          <a:prstGeom prst="rect">
            <a:avLst/>
          </a:prstGeom>
          <a:solidFill>
            <a:srgbClr val="161616"/>
          </a:solidFill>
          <a:ln/>
        </p:spPr>
      </p:sp>
      <p:sp>
        <p:nvSpPr>
          <p:cNvPr id="34" name="o395"/>
          <p:cNvSpPr txBox="1"/>
          <p:nvPr/>
        </p:nvSpPr>
        <p:spPr>
          <a:xfrm>
            <a:off x="7391400" y="3981450"/>
            <a:ext cx="3810000" cy="171450"/>
          </a:xfrm>
          <a:prstGeom prst="rect">
            <a:avLst/>
          </a:prstGeom>
          <a:noFill/>
          <a:ln/>
        </p:spPr>
        <p:txBody>
          <a:bodyPr wrap="square" lIns="0" tIns="0" rIns="0" bIns="0" rtlCol="0" anchor="t"/>
          <a:lstStyle/>
          <a:p>
            <a:pPr indent="0" marL="0">
              <a:buNone/>
            </a:pPr>
            <a:r>
              <a:rPr lang="en-US" sz="1200" b="1" dirty="0">
                <a:solidFill>
                  <a:srgbClr val="78A9FF"/>
                </a:solidFill>
                <a:latin typeface="IBM Plex Sans KR" pitchFamily="34" charset="0"/>
                <a:ea typeface="IBM Plex Sans KR" pitchFamily="34" charset="-122"/>
                <a:cs typeface="IBM Plex Sans KR" pitchFamily="34" charset="-120"/>
              </a:rPr>
              <a:t>검토 원칙</a:t>
            </a:r>
            <a:endParaRPr lang="en-US" sz="1200" dirty="0"/>
          </a:p>
        </p:txBody>
      </p:sp>
      <p:sp>
        <p:nvSpPr>
          <p:cNvPr id="35" name="o396"/>
          <p:cNvSpPr txBox="1"/>
          <p:nvPr/>
        </p:nvSpPr>
        <p:spPr>
          <a:xfrm>
            <a:off x="7391400" y="4229100"/>
            <a:ext cx="4000500" cy="266700"/>
          </a:xfrm>
          <a:prstGeom prst="rect">
            <a:avLst/>
          </a:prstGeom>
          <a:noFill/>
          <a:ln/>
        </p:spPr>
        <p:txBody>
          <a:bodyPr wrap="square" lIns="0" tIns="0" rIns="0" bIns="0" rtlCol="0" anchor="t"/>
          <a:lstStyle/>
          <a:p>
            <a:pPr indent="0" marL="0">
              <a:buNone/>
            </a:pPr>
            <a:r>
              <a:rPr lang="en-US" sz="1900" b="1" dirty="0">
                <a:solidFill>
                  <a:srgbClr val="FFFFFF"/>
                </a:solidFill>
                <a:latin typeface="IBM Plex Sans KR" pitchFamily="34" charset="0"/>
                <a:ea typeface="IBM Plex Sans KR" pitchFamily="34" charset="-122"/>
                <a:cs typeface="IBM Plex Sans KR" pitchFamily="34" charset="-120"/>
              </a:rPr>
              <a:t>AI는 초안, 확정은 안전관리자</a:t>
            </a:r>
            <a:endParaRPr lang="en-US" sz="1900" dirty="0"/>
          </a:p>
        </p:txBody>
      </p:sp>
      <p:sp>
        <p:nvSpPr>
          <p:cNvPr id="36" name="o397"/>
          <p:cNvSpPr txBox="1"/>
          <p:nvPr/>
        </p:nvSpPr>
        <p:spPr>
          <a:xfrm>
            <a:off x="7391400" y="4610100"/>
            <a:ext cx="3924300" cy="1047750"/>
          </a:xfrm>
          <a:prstGeom prst="rect">
            <a:avLst/>
          </a:prstGeom>
          <a:noFill/>
          <a:ln/>
        </p:spPr>
        <p:txBody>
          <a:bodyPr wrap="square" lIns="0" tIns="0" rIns="0" bIns="0" rtlCol="0" anchor="t"/>
          <a:lstStyle/>
          <a:p>
            <a:pPr indent="0" marL="0">
              <a:lnSpc>
                <a:spcPct val="145000"/>
              </a:lnSpc>
              <a:buNone/>
            </a:pPr>
            <a:r>
              <a:rPr lang="en-US" sz="1300" dirty="0">
                <a:solidFill>
                  <a:srgbClr val="FFFFFF"/>
                </a:solidFill>
                <a:latin typeface="IBM Plex Sans KR" pitchFamily="34" charset="0"/>
                <a:ea typeface="IBM Plex Sans KR" pitchFamily="34" charset="-122"/>
                <a:cs typeface="IBM Plex Sans KR" pitchFamily="34" charset="-120"/>
              </a:rPr>
              <a:t>점수 · 등급은 서버가 다시 계산하고, 법령 조문 번호를 대조합니다. 현재 시범 단계이며 정확도 고도화가 다음 과제입니다.</a:t>
            </a:r>
            <a:endParaRPr lang="en-US" sz="1300" dirty="0"/>
          </a:p>
        </p:txBody>
      </p:sp>
      <p:sp>
        <p:nvSpPr>
          <p:cNvPr id="37" name="o398"/>
          <p:cNvSpPr txBox="1"/>
          <p:nvPr/>
        </p:nvSpPr>
        <p:spPr>
          <a:xfrm>
            <a:off x="609600" y="5962650"/>
            <a:ext cx="10972800" cy="17145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그 밖의 AI 기능   AI MSDS 검토 (규제 항목 제안 → 관리자 승인)  ·  AI 도우미 (출처와 함께 답변)</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399"/>
          <p:cNvSpPr/>
          <p:nvPr/>
        </p:nvSpPr>
        <p:spPr>
          <a:xfrm>
            <a:off x="609600" y="228600"/>
            <a:ext cx="2686050" cy="38100"/>
          </a:xfrm>
          <a:prstGeom prst="rect">
            <a:avLst/>
          </a:prstGeom>
          <a:solidFill>
            <a:srgbClr val="0F62FE"/>
          </a:solidFill>
          <a:ln/>
        </p:spPr>
      </p:sp>
      <p:sp>
        <p:nvSpPr>
          <p:cNvPr id="3" name="o400"/>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Plan</a:t>
            </a:r>
            <a:endParaRPr lang="en-US" sz="800" dirty="0"/>
          </a:p>
        </p:txBody>
      </p:sp>
      <p:sp>
        <p:nvSpPr>
          <p:cNvPr id="4" name="o401"/>
          <p:cNvSpPr/>
          <p:nvPr/>
        </p:nvSpPr>
        <p:spPr>
          <a:xfrm>
            <a:off x="3371850" y="228600"/>
            <a:ext cx="2686050" cy="38100"/>
          </a:xfrm>
          <a:prstGeom prst="rect">
            <a:avLst/>
          </a:prstGeom>
          <a:solidFill>
            <a:srgbClr val="0F62FE"/>
          </a:solidFill>
          <a:ln/>
        </p:spPr>
      </p:sp>
      <p:sp>
        <p:nvSpPr>
          <p:cNvPr id="5" name="o402"/>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Do</a:t>
            </a:r>
            <a:endParaRPr lang="en-US" sz="800" dirty="0"/>
          </a:p>
        </p:txBody>
      </p:sp>
      <p:sp>
        <p:nvSpPr>
          <p:cNvPr id="6" name="o403"/>
          <p:cNvSpPr/>
          <p:nvPr/>
        </p:nvSpPr>
        <p:spPr>
          <a:xfrm>
            <a:off x="6134100" y="228600"/>
            <a:ext cx="2686050" cy="38100"/>
          </a:xfrm>
          <a:prstGeom prst="rect">
            <a:avLst/>
          </a:prstGeom>
          <a:solidFill>
            <a:srgbClr val="0F62FE"/>
          </a:solidFill>
          <a:ln/>
        </p:spPr>
      </p:sp>
      <p:sp>
        <p:nvSpPr>
          <p:cNvPr id="7" name="o404"/>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b="1" dirty="0">
                <a:solidFill>
                  <a:srgbClr val="0F62FE"/>
                </a:solidFill>
                <a:latin typeface="IBM Plex Sans KR" pitchFamily="34" charset="0"/>
                <a:ea typeface="IBM Plex Sans KR" pitchFamily="34" charset="-122"/>
                <a:cs typeface="IBM Plex Sans KR" pitchFamily="34" charset="-120"/>
              </a:rPr>
              <a:t>Check</a:t>
            </a:r>
            <a:endParaRPr lang="en-US" sz="800" dirty="0"/>
          </a:p>
        </p:txBody>
      </p:sp>
      <p:sp>
        <p:nvSpPr>
          <p:cNvPr id="8" name="o405"/>
          <p:cNvSpPr/>
          <p:nvPr/>
        </p:nvSpPr>
        <p:spPr>
          <a:xfrm>
            <a:off x="8896350" y="228600"/>
            <a:ext cx="2686050" cy="38100"/>
          </a:xfrm>
          <a:prstGeom prst="rect">
            <a:avLst/>
          </a:prstGeom>
          <a:solidFill>
            <a:srgbClr val="E0E0E0"/>
          </a:solidFill>
          <a:ln/>
        </p:spPr>
      </p:sp>
      <p:sp>
        <p:nvSpPr>
          <p:cNvPr id="9" name="o406"/>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Act</a:t>
            </a:r>
            <a:endParaRPr lang="en-US" sz="800" dirty="0"/>
          </a:p>
        </p:txBody>
      </p:sp>
      <p:sp>
        <p:nvSpPr>
          <p:cNvPr id="10" name="o407"/>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F62FE"/>
                </a:solidFill>
                <a:latin typeface="IBM Plex Sans KR" pitchFamily="34" charset="0"/>
                <a:ea typeface="IBM Plex Sans KR" pitchFamily="34" charset="-122"/>
                <a:cs typeface="IBM Plex Sans KR" pitchFamily="34" charset="-120"/>
              </a:rPr>
              <a:t>06   RESULT  ·  개선 전후 비교</a:t>
            </a:r>
            <a:endParaRPr lang="en-US" sz="1100" dirty="0"/>
          </a:p>
        </p:txBody>
      </p:sp>
      <p:sp>
        <p:nvSpPr>
          <p:cNvPr id="11" name="o408"/>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같은 교육, 행정 시간은 93% 줄었습니다</a:t>
            </a:r>
            <a:endParaRPr lang="en-US" sz="2600" dirty="0"/>
          </a:p>
        </p:txBody>
      </p:sp>
      <p:sp>
        <p:nvSpPr>
          <p:cNvPr id="12" name="o409"/>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25252"/>
                </a:solidFill>
                <a:latin typeface="IBM Plex Sans KR" pitchFamily="34" charset="0"/>
                <a:ea typeface="IBM Plex Sans KR" pitchFamily="34" charset="-122"/>
                <a:cs typeface="IBM Plex Sans KR" pitchFamily="34" charset="-120"/>
              </a:rPr>
              <a:t>특별안전보건교육 1건당 행정 소요시간 (교육 진행시간 제외) · 세부 행동 단위 실측</a:t>
            </a:r>
            <a:endParaRPr lang="en-US" sz="1300" dirty="0"/>
          </a:p>
        </p:txBody>
      </p:sp>
      <p:sp>
        <p:nvSpPr>
          <p:cNvPr id="13" name="o410"/>
          <p:cNvSpPr/>
          <p:nvPr/>
        </p:nvSpPr>
        <p:spPr>
          <a:xfrm>
            <a:off x="0" y="6477000"/>
            <a:ext cx="12192000" cy="381000"/>
          </a:xfrm>
          <a:prstGeom prst="rect">
            <a:avLst/>
          </a:prstGeom>
          <a:solidFill>
            <a:srgbClr val="161616"/>
          </a:solidFill>
          <a:ln/>
        </p:spPr>
      </p:sp>
      <p:sp>
        <p:nvSpPr>
          <p:cNvPr id="14" name="o411"/>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IBM Plex Sans KR" pitchFamily="34" charset="0"/>
                <a:ea typeface="IBM Plex Sans KR" pitchFamily="34" charset="-122"/>
                <a:cs typeface="IBM Plex Sans KR" pitchFamily="34" charset="-120"/>
              </a:rPr>
              <a:t>부산부민병원 안전보건 통합관리 시스템  ·  Safety First</a:t>
            </a:r>
            <a:endParaRPr lang="en-US" sz="900" dirty="0"/>
          </a:p>
        </p:txBody>
      </p:sp>
      <p:sp>
        <p:nvSpPr>
          <p:cNvPr id="15" name="o412"/>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IBM Plex Sans KR" pitchFamily="34" charset="0"/>
                <a:ea typeface="IBM Plex Sans KR" pitchFamily="34" charset="-122"/>
                <a:cs typeface="IBM Plex Sans KR" pitchFamily="34" charset="-120"/>
              </a:rPr>
              <a:t>10</a:t>
            </a:r>
            <a:endParaRPr lang="en-US" sz="1000" dirty="0"/>
          </a:p>
        </p:txBody>
      </p:sp>
      <p:sp>
        <p:nvSpPr>
          <p:cNvPr id="16" name="o413"/>
          <p:cNvSpPr/>
          <p:nvPr/>
        </p:nvSpPr>
        <p:spPr>
          <a:xfrm>
            <a:off x="609600" y="1600200"/>
            <a:ext cx="10972800" cy="4648200"/>
          </a:xfrm>
          <a:prstGeom prst="rect">
            <a:avLst/>
          </a:prstGeom>
          <a:solidFill>
            <a:srgbClr val="FFFFFF"/>
          </a:solidFill>
          <a:ln w="12700">
            <a:solidFill>
              <a:srgbClr val="E0E0E0"/>
            </a:solidFill>
            <a:prstDash val="solid"/>
          </a:ln>
        </p:spPr>
      </p:sp>
      <p:sp>
        <p:nvSpPr>
          <p:cNvPr id="17" name="o414"/>
          <p:cNvSpPr txBox="1"/>
          <p:nvPr/>
        </p:nvSpPr>
        <p:spPr>
          <a:xfrm>
            <a:off x="914400" y="1752600"/>
            <a:ext cx="2857500" cy="171450"/>
          </a:xfrm>
          <a:prstGeom prst="rect">
            <a:avLst/>
          </a:prstGeom>
          <a:noFill/>
          <a:ln/>
        </p:spPr>
        <p:txBody>
          <a:bodyPr wrap="square" lIns="0" tIns="0" rIns="0" bIns="0" rtlCol="0" anchor="t"/>
          <a:lstStyle/>
          <a:p>
            <a:pPr indent="0" marL="0">
              <a:buNone/>
            </a:pPr>
            <a:r>
              <a:rPr lang="en-US" sz="1100" b="1" dirty="0">
                <a:solidFill>
                  <a:srgbClr val="525252"/>
                </a:solidFill>
                <a:latin typeface="IBM Plex Sans KR" pitchFamily="34" charset="0"/>
                <a:ea typeface="IBM Plex Sans KR" pitchFamily="34" charset="-122"/>
                <a:cs typeface="IBM Plex Sans KR" pitchFamily="34" charset="-120"/>
              </a:rPr>
              <a:t>BEFORE · 종이 수기</a:t>
            </a:r>
            <a:endParaRPr lang="en-US" sz="1100" dirty="0"/>
          </a:p>
        </p:txBody>
      </p:sp>
      <p:sp>
        <p:nvSpPr>
          <p:cNvPr id="18" name="o415"/>
          <p:cNvSpPr txBox="1"/>
          <p:nvPr/>
        </p:nvSpPr>
        <p:spPr>
          <a:xfrm>
            <a:off x="914400" y="1943100"/>
            <a:ext cx="2857500" cy="419100"/>
          </a:xfrm>
          <a:prstGeom prst="rect">
            <a:avLst/>
          </a:prstGeom>
          <a:noFill/>
          <a:ln/>
        </p:spPr>
        <p:txBody>
          <a:bodyPr wrap="square" lIns="0" tIns="0" rIns="0" bIns="0" rtlCol="0" anchor="t"/>
          <a:lstStyle/>
          <a:p>
            <a:pPr indent="0" marL="0">
              <a:buNone/>
            </a:pPr>
            <a:r>
              <a:rPr lang="en-US" sz="3000" b="1" dirty="0">
                <a:solidFill>
                  <a:srgbClr val="525252"/>
                </a:solidFill>
                <a:latin typeface="IBM Plex Sans KR" pitchFamily="34" charset="0"/>
                <a:ea typeface="IBM Plex Sans KR" pitchFamily="34" charset="-122"/>
                <a:cs typeface="IBM Plex Sans KR" pitchFamily="34" charset="-120"/>
              </a:rPr>
              <a:t>33분 48초</a:t>
            </a:r>
            <a:endParaRPr lang="en-US" sz="3000" dirty="0"/>
          </a:p>
        </p:txBody>
      </p:sp>
      <p:sp>
        <p:nvSpPr>
          <p:cNvPr id="19" name="o416"/>
          <p:cNvSpPr txBox="1"/>
          <p:nvPr/>
        </p:nvSpPr>
        <p:spPr>
          <a:xfrm>
            <a:off x="4000500" y="1752600"/>
            <a:ext cx="2857500" cy="171450"/>
          </a:xfrm>
          <a:prstGeom prst="rect">
            <a:avLst/>
          </a:prstGeom>
          <a:noFill/>
          <a:ln/>
        </p:spPr>
        <p:txBody>
          <a:bodyPr wrap="square" lIns="0" tIns="0" rIns="0" bIns="0" rtlCol="0" anchor="t"/>
          <a:lstStyle/>
          <a:p>
            <a:pPr indent="0" marL="0">
              <a:buNone/>
            </a:pPr>
            <a:r>
              <a:rPr lang="en-US" sz="1100" b="1" dirty="0">
                <a:solidFill>
                  <a:srgbClr val="0F62FE"/>
                </a:solidFill>
                <a:latin typeface="IBM Plex Sans KR" pitchFamily="34" charset="0"/>
                <a:ea typeface="IBM Plex Sans KR" pitchFamily="34" charset="-122"/>
                <a:cs typeface="IBM Plex Sans KR" pitchFamily="34" charset="-120"/>
              </a:rPr>
              <a:t>AFTER · AI 통합 플랫폼</a:t>
            </a:r>
            <a:endParaRPr lang="en-US" sz="1100" dirty="0"/>
          </a:p>
        </p:txBody>
      </p:sp>
      <p:sp>
        <p:nvSpPr>
          <p:cNvPr id="20" name="o417"/>
          <p:cNvSpPr txBox="1"/>
          <p:nvPr/>
        </p:nvSpPr>
        <p:spPr>
          <a:xfrm>
            <a:off x="4000500" y="1943100"/>
            <a:ext cx="2857500" cy="419100"/>
          </a:xfrm>
          <a:prstGeom prst="rect">
            <a:avLst/>
          </a:prstGeom>
          <a:noFill/>
          <a:ln/>
        </p:spPr>
        <p:txBody>
          <a:bodyPr wrap="square" lIns="0" tIns="0" rIns="0" bIns="0" rtlCol="0" anchor="t"/>
          <a:lstStyle/>
          <a:p>
            <a:pPr indent="0" marL="0">
              <a:buNone/>
            </a:pPr>
            <a:r>
              <a:rPr lang="en-US" sz="3000" b="1" dirty="0">
                <a:solidFill>
                  <a:srgbClr val="0F62FE"/>
                </a:solidFill>
                <a:latin typeface="IBM Plex Sans KR" pitchFamily="34" charset="0"/>
                <a:ea typeface="IBM Plex Sans KR" pitchFamily="34" charset="-122"/>
                <a:cs typeface="IBM Plex Sans KR" pitchFamily="34" charset="-120"/>
              </a:rPr>
              <a:t>2분 22초</a:t>
            </a:r>
            <a:endParaRPr lang="en-US" sz="3000" dirty="0"/>
          </a:p>
        </p:txBody>
      </p:sp>
      <p:sp>
        <p:nvSpPr>
          <p:cNvPr id="21" name="o418"/>
          <p:cNvSpPr/>
          <p:nvPr/>
        </p:nvSpPr>
        <p:spPr>
          <a:xfrm>
            <a:off x="9334500" y="1752600"/>
            <a:ext cx="1943100" cy="609600"/>
          </a:xfrm>
          <a:prstGeom prst="rect">
            <a:avLst/>
          </a:prstGeom>
          <a:solidFill>
            <a:srgbClr val="0F62FE"/>
          </a:solidFill>
          <a:ln/>
        </p:spPr>
      </p:sp>
      <p:sp>
        <p:nvSpPr>
          <p:cNvPr id="22" name="o419"/>
          <p:cNvSpPr txBox="1"/>
          <p:nvPr/>
        </p:nvSpPr>
        <p:spPr>
          <a:xfrm>
            <a:off x="9334500" y="1752600"/>
            <a:ext cx="1943100" cy="609600"/>
          </a:xfrm>
          <a:prstGeom prst="rect">
            <a:avLst/>
          </a:prstGeom>
          <a:noFill/>
          <a:ln/>
        </p:spPr>
        <p:txBody>
          <a:bodyPr wrap="square" lIns="0" tIns="0" rIns="0" bIns="0" rtlCol="0" anchor="ctr"/>
          <a:lstStyle/>
          <a:p>
            <a:pPr algn="ctr" indent="0" marL="0">
              <a:buNone/>
            </a:pPr>
            <a:r>
              <a:rPr lang="en-US" sz="3000" b="1" dirty="0">
                <a:solidFill>
                  <a:srgbClr val="FFFFFF"/>
                </a:solidFill>
                <a:latin typeface="IBM Plex Sans KR" pitchFamily="34" charset="0"/>
                <a:ea typeface="IBM Plex Sans KR" pitchFamily="34" charset="-122"/>
                <a:cs typeface="IBM Plex Sans KR" pitchFamily="34" charset="-120"/>
              </a:rPr>
              <a:t>−93%</a:t>
            </a:r>
            <a:endParaRPr lang="en-US" sz="3000" dirty="0"/>
          </a:p>
        </p:txBody>
      </p:sp>
      <p:sp>
        <p:nvSpPr>
          <p:cNvPr id="23" name="o420"/>
          <p:cNvSpPr/>
          <p:nvPr/>
        </p:nvSpPr>
        <p:spPr>
          <a:xfrm>
            <a:off x="914400" y="2533650"/>
            <a:ext cx="10363200" cy="0"/>
          </a:xfrm>
          <a:prstGeom prst="line">
            <a:avLst/>
          </a:prstGeom>
          <a:noFill/>
          <a:ln w="9525">
            <a:solidFill>
              <a:srgbClr val="E0E0E0"/>
            </a:solidFill>
            <a:prstDash val="solid"/>
          </a:ln>
        </p:spPr>
      </p:sp>
      <p:sp>
        <p:nvSpPr>
          <p:cNvPr id="24" name="o421"/>
          <p:cNvSpPr txBox="1"/>
          <p:nvPr/>
        </p:nvSpPr>
        <p:spPr>
          <a:xfrm>
            <a:off x="914400" y="2590800"/>
            <a:ext cx="2286000" cy="381000"/>
          </a:xfrm>
          <a:prstGeom prst="rect">
            <a:avLst/>
          </a:prstGeom>
          <a:noFill/>
          <a:ln/>
        </p:spPr>
        <p:txBody>
          <a:bodyPr wrap="square" lIns="0" tIns="0" rIns="0" bIns="0" rtlCol="0" anchor="ctr"/>
          <a:lstStyle/>
          <a:p>
            <a:pPr indent="0" marL="0">
              <a:buNone/>
            </a:pPr>
            <a:r>
              <a:rPr lang="en-US" sz="1300" dirty="0">
                <a:solidFill>
                  <a:srgbClr val="161616"/>
                </a:solidFill>
                <a:latin typeface="IBM Plex Sans KR" pitchFamily="34" charset="0"/>
                <a:ea typeface="IBM Plex Sans KR" pitchFamily="34" charset="-122"/>
                <a:cs typeface="IBM Plex Sans KR" pitchFamily="34" charset="-120"/>
              </a:rPr>
              <a:t>1. 대상자 확인 · 일지 작성</a:t>
            </a:r>
            <a:endParaRPr lang="en-US" sz="1300" dirty="0"/>
          </a:p>
        </p:txBody>
      </p:sp>
      <p:sp>
        <p:nvSpPr>
          <p:cNvPr id="25" name="o422"/>
          <p:cNvSpPr/>
          <p:nvPr/>
        </p:nvSpPr>
        <p:spPr>
          <a:xfrm>
            <a:off x="3238500" y="2628900"/>
            <a:ext cx="813062" cy="133350"/>
          </a:xfrm>
          <a:prstGeom prst="rect">
            <a:avLst/>
          </a:prstGeom>
          <a:solidFill>
            <a:srgbClr val="C6C6C6"/>
          </a:solidFill>
          <a:ln/>
        </p:spPr>
      </p:sp>
      <p:sp>
        <p:nvSpPr>
          <p:cNvPr id="26" name="o423"/>
          <p:cNvSpPr txBox="1"/>
          <p:nvPr/>
        </p:nvSpPr>
        <p:spPr>
          <a:xfrm>
            <a:off x="4127762" y="2590800"/>
            <a:ext cx="1143000" cy="190500"/>
          </a:xfrm>
          <a:prstGeom prst="rect">
            <a:avLst/>
          </a:prstGeom>
          <a:noFill/>
          <a:ln/>
        </p:spPr>
        <p:txBody>
          <a:bodyPr wrap="square" lIns="0" tIns="0" rIns="0" bIns="0" rtlCol="0" anchor="ctr"/>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2분 18초</a:t>
            </a:r>
            <a:endParaRPr lang="en-US" sz="1100" dirty="0"/>
          </a:p>
        </p:txBody>
      </p:sp>
      <p:sp>
        <p:nvSpPr>
          <p:cNvPr id="27" name="o424"/>
          <p:cNvSpPr/>
          <p:nvPr/>
        </p:nvSpPr>
        <p:spPr>
          <a:xfrm>
            <a:off x="3238500" y="2800350"/>
            <a:ext cx="106052" cy="133350"/>
          </a:xfrm>
          <a:prstGeom prst="rect">
            <a:avLst/>
          </a:prstGeom>
          <a:solidFill>
            <a:srgbClr val="0F62FE"/>
          </a:solidFill>
          <a:ln/>
        </p:spPr>
      </p:sp>
      <p:sp>
        <p:nvSpPr>
          <p:cNvPr id="28" name="o425"/>
          <p:cNvSpPr txBox="1"/>
          <p:nvPr/>
        </p:nvSpPr>
        <p:spPr>
          <a:xfrm>
            <a:off x="3420752" y="2762250"/>
            <a:ext cx="1143000" cy="190500"/>
          </a:xfrm>
          <a:prstGeom prst="rect">
            <a:avLst/>
          </a:prstGeom>
          <a:noFill/>
          <a:ln/>
        </p:spPr>
        <p:txBody>
          <a:bodyPr wrap="square" lIns="0" tIns="0" rIns="0" bIns="0" rtlCol="0" anchor="ctr"/>
          <a:lstStyle/>
          <a:p>
            <a:pPr indent="0" marL="0">
              <a:buNone/>
            </a:pPr>
            <a:r>
              <a:rPr lang="en-US" sz="1100" b="1" dirty="0">
                <a:solidFill>
                  <a:srgbClr val="0F62FE"/>
                </a:solidFill>
                <a:latin typeface="IBM Plex Sans KR" pitchFamily="34" charset="0"/>
                <a:ea typeface="IBM Plex Sans KR" pitchFamily="34" charset="-122"/>
                <a:cs typeface="IBM Plex Sans KR" pitchFamily="34" charset="-120"/>
              </a:rPr>
              <a:t>18초</a:t>
            </a:r>
            <a:endParaRPr lang="en-US" sz="1100" dirty="0"/>
          </a:p>
        </p:txBody>
      </p:sp>
      <p:sp>
        <p:nvSpPr>
          <p:cNvPr id="29" name="o426"/>
          <p:cNvSpPr/>
          <p:nvPr/>
        </p:nvSpPr>
        <p:spPr>
          <a:xfrm>
            <a:off x="914400" y="3028950"/>
            <a:ext cx="10363200" cy="0"/>
          </a:xfrm>
          <a:prstGeom prst="line">
            <a:avLst/>
          </a:prstGeom>
          <a:noFill/>
          <a:ln w="9525">
            <a:solidFill>
              <a:srgbClr val="E0E0E0"/>
            </a:solidFill>
            <a:prstDash val="solid"/>
          </a:ln>
        </p:spPr>
      </p:sp>
      <p:sp>
        <p:nvSpPr>
          <p:cNvPr id="30" name="o427"/>
          <p:cNvSpPr txBox="1"/>
          <p:nvPr/>
        </p:nvSpPr>
        <p:spPr>
          <a:xfrm>
            <a:off x="914400" y="3086100"/>
            <a:ext cx="2286000" cy="381000"/>
          </a:xfrm>
          <a:prstGeom prst="rect">
            <a:avLst/>
          </a:prstGeom>
          <a:noFill/>
          <a:ln/>
        </p:spPr>
        <p:txBody>
          <a:bodyPr wrap="square" lIns="0" tIns="0" rIns="0" bIns="0" rtlCol="0" anchor="ctr"/>
          <a:lstStyle/>
          <a:p>
            <a:pPr indent="0" marL="0">
              <a:buNone/>
            </a:pPr>
            <a:r>
              <a:rPr lang="en-US" sz="1300" dirty="0">
                <a:solidFill>
                  <a:srgbClr val="161616"/>
                </a:solidFill>
                <a:latin typeface="IBM Plex Sans KR" pitchFamily="34" charset="0"/>
                <a:ea typeface="IBM Plex Sans KR" pitchFamily="34" charset="-122"/>
                <a:cs typeface="IBM Plex Sans KR" pitchFamily="34" charset="-120"/>
              </a:rPr>
              <a:t>2. 부서장에게 일지 전송</a:t>
            </a:r>
            <a:endParaRPr lang="en-US" sz="1300" dirty="0"/>
          </a:p>
        </p:txBody>
      </p:sp>
      <p:sp>
        <p:nvSpPr>
          <p:cNvPr id="31" name="o428"/>
          <p:cNvSpPr/>
          <p:nvPr/>
        </p:nvSpPr>
        <p:spPr>
          <a:xfrm>
            <a:off x="3238500" y="3124200"/>
            <a:ext cx="353505" cy="133350"/>
          </a:xfrm>
          <a:prstGeom prst="rect">
            <a:avLst/>
          </a:prstGeom>
          <a:solidFill>
            <a:srgbClr val="C6C6C6"/>
          </a:solidFill>
          <a:ln/>
        </p:spPr>
      </p:sp>
      <p:sp>
        <p:nvSpPr>
          <p:cNvPr id="32" name="o429"/>
          <p:cNvSpPr txBox="1"/>
          <p:nvPr/>
        </p:nvSpPr>
        <p:spPr>
          <a:xfrm>
            <a:off x="3668205" y="3086100"/>
            <a:ext cx="1143000" cy="190500"/>
          </a:xfrm>
          <a:prstGeom prst="rect">
            <a:avLst/>
          </a:prstGeom>
          <a:noFill/>
          <a:ln/>
        </p:spPr>
        <p:txBody>
          <a:bodyPr wrap="square" lIns="0" tIns="0" rIns="0" bIns="0" rtlCol="0" anchor="ctr"/>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1분 00초</a:t>
            </a:r>
            <a:endParaRPr lang="en-US" sz="1100" dirty="0"/>
          </a:p>
        </p:txBody>
      </p:sp>
      <p:sp>
        <p:nvSpPr>
          <p:cNvPr id="33" name="o430"/>
          <p:cNvSpPr/>
          <p:nvPr/>
        </p:nvSpPr>
        <p:spPr>
          <a:xfrm>
            <a:off x="3238500" y="3295650"/>
            <a:ext cx="294588" cy="133350"/>
          </a:xfrm>
          <a:prstGeom prst="rect">
            <a:avLst/>
          </a:prstGeom>
          <a:solidFill>
            <a:srgbClr val="0F62FE"/>
          </a:solidFill>
          <a:ln/>
        </p:spPr>
      </p:sp>
      <p:sp>
        <p:nvSpPr>
          <p:cNvPr id="34" name="o431"/>
          <p:cNvSpPr txBox="1"/>
          <p:nvPr/>
        </p:nvSpPr>
        <p:spPr>
          <a:xfrm>
            <a:off x="3609288" y="3257550"/>
            <a:ext cx="1143000" cy="190500"/>
          </a:xfrm>
          <a:prstGeom prst="rect">
            <a:avLst/>
          </a:prstGeom>
          <a:noFill/>
          <a:ln/>
        </p:spPr>
        <p:txBody>
          <a:bodyPr wrap="square" lIns="0" tIns="0" rIns="0" bIns="0" rtlCol="0" anchor="ctr"/>
          <a:lstStyle/>
          <a:p>
            <a:pPr indent="0" marL="0">
              <a:buNone/>
            </a:pPr>
            <a:r>
              <a:rPr lang="en-US" sz="1100" b="1" dirty="0">
                <a:solidFill>
                  <a:srgbClr val="0F62FE"/>
                </a:solidFill>
                <a:latin typeface="IBM Plex Sans KR" pitchFamily="34" charset="0"/>
                <a:ea typeface="IBM Plex Sans KR" pitchFamily="34" charset="-122"/>
                <a:cs typeface="IBM Plex Sans KR" pitchFamily="34" charset="-120"/>
              </a:rPr>
              <a:t>50초</a:t>
            </a:r>
            <a:endParaRPr lang="en-US" sz="1100" dirty="0"/>
          </a:p>
        </p:txBody>
      </p:sp>
      <p:sp>
        <p:nvSpPr>
          <p:cNvPr id="35" name="o432"/>
          <p:cNvSpPr/>
          <p:nvPr/>
        </p:nvSpPr>
        <p:spPr>
          <a:xfrm>
            <a:off x="914400" y="3524250"/>
            <a:ext cx="10363200" cy="0"/>
          </a:xfrm>
          <a:prstGeom prst="line">
            <a:avLst/>
          </a:prstGeom>
          <a:noFill/>
          <a:ln w="9525">
            <a:solidFill>
              <a:srgbClr val="E0E0E0"/>
            </a:solidFill>
            <a:prstDash val="solid"/>
          </a:ln>
        </p:spPr>
      </p:sp>
      <p:sp>
        <p:nvSpPr>
          <p:cNvPr id="36" name="o433"/>
          <p:cNvSpPr txBox="1"/>
          <p:nvPr/>
        </p:nvSpPr>
        <p:spPr>
          <a:xfrm>
            <a:off x="914400" y="3581400"/>
            <a:ext cx="2286000" cy="381000"/>
          </a:xfrm>
          <a:prstGeom prst="rect">
            <a:avLst/>
          </a:prstGeom>
          <a:noFill/>
          <a:ln/>
        </p:spPr>
        <p:txBody>
          <a:bodyPr wrap="square" lIns="0" tIns="0" rIns="0" bIns="0" rtlCol="0" anchor="ctr"/>
          <a:lstStyle/>
          <a:p>
            <a:pPr indent="0" marL="0">
              <a:buNone/>
            </a:pPr>
            <a:r>
              <a:rPr lang="en-US" sz="1300" dirty="0">
                <a:solidFill>
                  <a:srgbClr val="161616"/>
                </a:solidFill>
                <a:latin typeface="IBM Plex Sans KR" pitchFamily="34" charset="0"/>
                <a:ea typeface="IBM Plex Sans KR" pitchFamily="34" charset="-122"/>
                <a:cs typeface="IBM Plex Sans KR" pitchFamily="34" charset="-120"/>
              </a:rPr>
              <a:t>3. 출력 · 수기 서명</a:t>
            </a:r>
            <a:endParaRPr lang="en-US" sz="1300" dirty="0"/>
          </a:p>
        </p:txBody>
      </p:sp>
      <p:sp>
        <p:nvSpPr>
          <p:cNvPr id="37" name="o434"/>
          <p:cNvSpPr/>
          <p:nvPr/>
        </p:nvSpPr>
        <p:spPr>
          <a:xfrm>
            <a:off x="3238500" y="3619500"/>
            <a:ext cx="530258" cy="133350"/>
          </a:xfrm>
          <a:prstGeom prst="rect">
            <a:avLst/>
          </a:prstGeom>
          <a:solidFill>
            <a:srgbClr val="C6C6C6"/>
          </a:solidFill>
          <a:ln/>
        </p:spPr>
      </p:sp>
      <p:sp>
        <p:nvSpPr>
          <p:cNvPr id="38" name="o435"/>
          <p:cNvSpPr txBox="1"/>
          <p:nvPr/>
        </p:nvSpPr>
        <p:spPr>
          <a:xfrm>
            <a:off x="3844958" y="3581400"/>
            <a:ext cx="1143000" cy="190500"/>
          </a:xfrm>
          <a:prstGeom prst="rect">
            <a:avLst/>
          </a:prstGeom>
          <a:noFill/>
          <a:ln/>
        </p:spPr>
        <p:txBody>
          <a:bodyPr wrap="square" lIns="0" tIns="0" rIns="0" bIns="0" rtlCol="0" anchor="ctr"/>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1분 30초</a:t>
            </a:r>
            <a:endParaRPr lang="en-US" sz="1100" dirty="0"/>
          </a:p>
        </p:txBody>
      </p:sp>
      <p:sp>
        <p:nvSpPr>
          <p:cNvPr id="39" name="o436"/>
          <p:cNvSpPr/>
          <p:nvPr/>
        </p:nvSpPr>
        <p:spPr>
          <a:xfrm>
            <a:off x="3238500" y="3790950"/>
            <a:ext cx="53026" cy="133350"/>
          </a:xfrm>
          <a:prstGeom prst="rect">
            <a:avLst/>
          </a:prstGeom>
          <a:solidFill>
            <a:srgbClr val="0F62FE"/>
          </a:solidFill>
          <a:ln/>
        </p:spPr>
      </p:sp>
      <p:sp>
        <p:nvSpPr>
          <p:cNvPr id="40" name="o437"/>
          <p:cNvSpPr txBox="1"/>
          <p:nvPr/>
        </p:nvSpPr>
        <p:spPr>
          <a:xfrm>
            <a:off x="3367726" y="3752850"/>
            <a:ext cx="1143000" cy="190500"/>
          </a:xfrm>
          <a:prstGeom prst="rect">
            <a:avLst/>
          </a:prstGeom>
          <a:noFill/>
          <a:ln/>
        </p:spPr>
        <p:txBody>
          <a:bodyPr wrap="square" lIns="0" tIns="0" rIns="0" bIns="0" rtlCol="0" anchor="ctr"/>
          <a:lstStyle/>
          <a:p>
            <a:pPr indent="0" marL="0">
              <a:buNone/>
            </a:pPr>
            <a:r>
              <a:rPr lang="en-US" sz="1100" b="1" dirty="0">
                <a:solidFill>
                  <a:srgbClr val="0F62FE"/>
                </a:solidFill>
                <a:latin typeface="IBM Plex Sans KR" pitchFamily="34" charset="0"/>
                <a:ea typeface="IBM Plex Sans KR" pitchFamily="34" charset="-122"/>
                <a:cs typeface="IBM Plex Sans KR" pitchFamily="34" charset="-120"/>
              </a:rPr>
              <a:t>09초</a:t>
            </a:r>
            <a:endParaRPr lang="en-US" sz="1100" dirty="0"/>
          </a:p>
        </p:txBody>
      </p:sp>
      <p:sp>
        <p:nvSpPr>
          <p:cNvPr id="41" name="o438"/>
          <p:cNvSpPr/>
          <p:nvPr/>
        </p:nvSpPr>
        <p:spPr>
          <a:xfrm>
            <a:off x="914400" y="4019550"/>
            <a:ext cx="10363200" cy="0"/>
          </a:xfrm>
          <a:prstGeom prst="line">
            <a:avLst/>
          </a:prstGeom>
          <a:noFill/>
          <a:ln w="9525">
            <a:solidFill>
              <a:srgbClr val="E0E0E0"/>
            </a:solidFill>
            <a:prstDash val="solid"/>
          </a:ln>
        </p:spPr>
      </p:sp>
      <p:sp>
        <p:nvSpPr>
          <p:cNvPr id="42" name="o439"/>
          <p:cNvSpPr txBox="1"/>
          <p:nvPr/>
        </p:nvSpPr>
        <p:spPr>
          <a:xfrm>
            <a:off x="914400" y="4076700"/>
            <a:ext cx="2286000" cy="381000"/>
          </a:xfrm>
          <a:prstGeom prst="rect">
            <a:avLst/>
          </a:prstGeom>
          <a:noFill/>
          <a:ln/>
        </p:spPr>
        <p:txBody>
          <a:bodyPr wrap="square" lIns="0" tIns="0" rIns="0" bIns="0" rtlCol="0" anchor="ctr"/>
          <a:lstStyle/>
          <a:p>
            <a:pPr indent="0" marL="0">
              <a:buNone/>
            </a:pPr>
            <a:r>
              <a:rPr lang="en-US" sz="1300" b="1" dirty="0">
                <a:solidFill>
                  <a:srgbClr val="161616"/>
                </a:solidFill>
                <a:latin typeface="IBM Plex Sans KR" pitchFamily="34" charset="0"/>
                <a:ea typeface="IBM Plex Sans KR" pitchFamily="34" charset="-122"/>
                <a:cs typeface="IBM Plex Sans KR" pitchFamily="34" charset="-120"/>
              </a:rPr>
              <a:t>4. 보건관리실 직접 제출</a:t>
            </a:r>
            <a:endParaRPr lang="en-US" sz="1300" dirty="0"/>
          </a:p>
        </p:txBody>
      </p:sp>
      <p:sp>
        <p:nvSpPr>
          <p:cNvPr id="43" name="o440"/>
          <p:cNvSpPr/>
          <p:nvPr/>
        </p:nvSpPr>
        <p:spPr>
          <a:xfrm>
            <a:off x="3238500" y="4114800"/>
            <a:ext cx="2474536" cy="133350"/>
          </a:xfrm>
          <a:prstGeom prst="rect">
            <a:avLst/>
          </a:prstGeom>
          <a:solidFill>
            <a:srgbClr val="C6C6C6"/>
          </a:solidFill>
          <a:ln/>
        </p:spPr>
      </p:sp>
      <p:sp>
        <p:nvSpPr>
          <p:cNvPr id="44" name="o441"/>
          <p:cNvSpPr txBox="1"/>
          <p:nvPr/>
        </p:nvSpPr>
        <p:spPr>
          <a:xfrm>
            <a:off x="5789236" y="4076700"/>
            <a:ext cx="1143000" cy="190500"/>
          </a:xfrm>
          <a:prstGeom prst="rect">
            <a:avLst/>
          </a:prstGeom>
          <a:noFill/>
          <a:ln/>
        </p:spPr>
        <p:txBody>
          <a:bodyPr wrap="square" lIns="0" tIns="0" rIns="0" bIns="0" rtlCol="0" anchor="ctr"/>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7분 00초</a:t>
            </a:r>
            <a:endParaRPr lang="en-US" sz="1100" dirty="0"/>
          </a:p>
        </p:txBody>
      </p:sp>
      <p:sp>
        <p:nvSpPr>
          <p:cNvPr id="45" name="o442"/>
          <p:cNvSpPr txBox="1"/>
          <p:nvPr/>
        </p:nvSpPr>
        <p:spPr>
          <a:xfrm>
            <a:off x="3238500" y="4248150"/>
            <a:ext cx="1524000" cy="190500"/>
          </a:xfrm>
          <a:prstGeom prst="rect">
            <a:avLst/>
          </a:prstGeom>
          <a:noFill/>
          <a:ln/>
        </p:spPr>
        <p:txBody>
          <a:bodyPr wrap="square" lIns="0" tIns="0" rIns="0" bIns="0" rtlCol="0" anchor="ctr"/>
          <a:lstStyle/>
          <a:p>
            <a:pPr indent="0" marL="0">
              <a:buNone/>
            </a:pPr>
            <a:r>
              <a:rPr lang="en-US" sz="1100" b="1" dirty="0">
                <a:solidFill>
                  <a:srgbClr val="0F62FE"/>
                </a:solidFill>
                <a:latin typeface="IBM Plex Sans KR" pitchFamily="34" charset="0"/>
                <a:ea typeface="IBM Plex Sans KR" pitchFamily="34" charset="-122"/>
                <a:cs typeface="IBM Plex Sans KR" pitchFamily="34" charset="-120"/>
              </a:rPr>
              <a:t>단계 삭제</a:t>
            </a:r>
            <a:endParaRPr lang="en-US" sz="1100" dirty="0"/>
          </a:p>
        </p:txBody>
      </p:sp>
      <p:sp>
        <p:nvSpPr>
          <p:cNvPr id="46" name="o443"/>
          <p:cNvSpPr/>
          <p:nvPr/>
        </p:nvSpPr>
        <p:spPr>
          <a:xfrm>
            <a:off x="914400" y="4514850"/>
            <a:ext cx="10363200" cy="0"/>
          </a:xfrm>
          <a:prstGeom prst="line">
            <a:avLst/>
          </a:prstGeom>
          <a:noFill/>
          <a:ln w="9525">
            <a:solidFill>
              <a:srgbClr val="E0E0E0"/>
            </a:solidFill>
            <a:prstDash val="solid"/>
          </a:ln>
        </p:spPr>
      </p:sp>
      <p:sp>
        <p:nvSpPr>
          <p:cNvPr id="47" name="o444"/>
          <p:cNvSpPr txBox="1"/>
          <p:nvPr/>
        </p:nvSpPr>
        <p:spPr>
          <a:xfrm>
            <a:off x="914400" y="4572000"/>
            <a:ext cx="2286000" cy="381000"/>
          </a:xfrm>
          <a:prstGeom prst="rect">
            <a:avLst/>
          </a:prstGeom>
          <a:noFill/>
          <a:ln/>
        </p:spPr>
        <p:txBody>
          <a:bodyPr wrap="square" lIns="0" tIns="0" rIns="0" bIns="0" rtlCol="0" anchor="ctr"/>
          <a:lstStyle/>
          <a:p>
            <a:pPr indent="0" marL="0">
              <a:buNone/>
            </a:pPr>
            <a:r>
              <a:rPr lang="en-US" sz="1300" dirty="0">
                <a:solidFill>
                  <a:srgbClr val="161616"/>
                </a:solidFill>
                <a:latin typeface="IBM Plex Sans KR" pitchFamily="34" charset="0"/>
                <a:ea typeface="IBM Plex Sans KR" pitchFamily="34" charset="-122"/>
                <a:cs typeface="IBM Plex Sans KR" pitchFamily="34" charset="-120"/>
              </a:rPr>
              <a:t>5. 사진 촬영 · 전송</a:t>
            </a:r>
            <a:endParaRPr lang="en-US" sz="1300" dirty="0"/>
          </a:p>
        </p:txBody>
      </p:sp>
      <p:sp>
        <p:nvSpPr>
          <p:cNvPr id="48" name="o445"/>
          <p:cNvSpPr/>
          <p:nvPr/>
        </p:nvSpPr>
        <p:spPr>
          <a:xfrm>
            <a:off x="3238500" y="4610100"/>
            <a:ext cx="176753" cy="133350"/>
          </a:xfrm>
          <a:prstGeom prst="rect">
            <a:avLst/>
          </a:prstGeom>
          <a:solidFill>
            <a:srgbClr val="C6C6C6"/>
          </a:solidFill>
          <a:ln/>
        </p:spPr>
      </p:sp>
      <p:sp>
        <p:nvSpPr>
          <p:cNvPr id="49" name="o446"/>
          <p:cNvSpPr txBox="1"/>
          <p:nvPr/>
        </p:nvSpPr>
        <p:spPr>
          <a:xfrm>
            <a:off x="3491453" y="4572000"/>
            <a:ext cx="1143000" cy="190500"/>
          </a:xfrm>
          <a:prstGeom prst="rect">
            <a:avLst/>
          </a:prstGeom>
          <a:noFill/>
          <a:ln/>
        </p:spPr>
        <p:txBody>
          <a:bodyPr wrap="square" lIns="0" tIns="0" rIns="0" bIns="0" rtlCol="0" anchor="ctr"/>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30초</a:t>
            </a:r>
            <a:endParaRPr lang="en-US" sz="1100" dirty="0"/>
          </a:p>
        </p:txBody>
      </p:sp>
      <p:sp>
        <p:nvSpPr>
          <p:cNvPr id="50" name="o447"/>
          <p:cNvSpPr/>
          <p:nvPr/>
        </p:nvSpPr>
        <p:spPr>
          <a:xfrm>
            <a:off x="3238500" y="4781550"/>
            <a:ext cx="38100" cy="133350"/>
          </a:xfrm>
          <a:prstGeom prst="rect">
            <a:avLst/>
          </a:prstGeom>
          <a:solidFill>
            <a:srgbClr val="0F62FE"/>
          </a:solidFill>
          <a:ln/>
        </p:spPr>
      </p:sp>
      <p:sp>
        <p:nvSpPr>
          <p:cNvPr id="51" name="o448"/>
          <p:cNvSpPr txBox="1"/>
          <p:nvPr/>
        </p:nvSpPr>
        <p:spPr>
          <a:xfrm>
            <a:off x="3352800" y="4743450"/>
            <a:ext cx="1143000" cy="190500"/>
          </a:xfrm>
          <a:prstGeom prst="rect">
            <a:avLst/>
          </a:prstGeom>
          <a:noFill/>
          <a:ln/>
        </p:spPr>
        <p:txBody>
          <a:bodyPr wrap="square" lIns="0" tIns="0" rIns="0" bIns="0" rtlCol="0" anchor="ctr"/>
          <a:lstStyle/>
          <a:p>
            <a:pPr indent="0" marL="0">
              <a:buNone/>
            </a:pPr>
            <a:r>
              <a:rPr lang="en-US" sz="1100" b="1" dirty="0">
                <a:solidFill>
                  <a:srgbClr val="0F62FE"/>
                </a:solidFill>
                <a:latin typeface="IBM Plex Sans KR" pitchFamily="34" charset="0"/>
                <a:ea typeface="IBM Plex Sans KR" pitchFamily="34" charset="-122"/>
                <a:cs typeface="IBM Plex Sans KR" pitchFamily="34" charset="-120"/>
              </a:rPr>
              <a:t>06초</a:t>
            </a:r>
            <a:endParaRPr lang="en-US" sz="1100" dirty="0"/>
          </a:p>
        </p:txBody>
      </p:sp>
      <p:sp>
        <p:nvSpPr>
          <p:cNvPr id="52" name="o449"/>
          <p:cNvSpPr/>
          <p:nvPr/>
        </p:nvSpPr>
        <p:spPr>
          <a:xfrm>
            <a:off x="914400" y="5010150"/>
            <a:ext cx="10363200" cy="0"/>
          </a:xfrm>
          <a:prstGeom prst="line">
            <a:avLst/>
          </a:prstGeom>
          <a:noFill/>
          <a:ln w="9525">
            <a:solidFill>
              <a:srgbClr val="E0E0E0"/>
            </a:solidFill>
            <a:prstDash val="solid"/>
          </a:ln>
        </p:spPr>
      </p:sp>
      <p:sp>
        <p:nvSpPr>
          <p:cNvPr id="53" name="o450"/>
          <p:cNvSpPr txBox="1"/>
          <p:nvPr/>
        </p:nvSpPr>
        <p:spPr>
          <a:xfrm>
            <a:off x="914400" y="5067300"/>
            <a:ext cx="2286000" cy="381000"/>
          </a:xfrm>
          <a:prstGeom prst="rect">
            <a:avLst/>
          </a:prstGeom>
          <a:noFill/>
          <a:ln/>
        </p:spPr>
        <p:txBody>
          <a:bodyPr wrap="square" lIns="0" tIns="0" rIns="0" bIns="0" rtlCol="0" anchor="ctr"/>
          <a:lstStyle/>
          <a:p>
            <a:pPr indent="0" marL="0">
              <a:buNone/>
            </a:pPr>
            <a:r>
              <a:rPr lang="en-US" sz="1300" dirty="0">
                <a:solidFill>
                  <a:srgbClr val="161616"/>
                </a:solidFill>
                <a:latin typeface="IBM Plex Sans KR" pitchFamily="34" charset="0"/>
                <a:ea typeface="IBM Plex Sans KR" pitchFamily="34" charset="-122"/>
                <a:cs typeface="IBM Plex Sans KR" pitchFamily="34" charset="-120"/>
              </a:rPr>
              <a:t>6. 취합 · 인쇄 · 파일링</a:t>
            </a:r>
            <a:endParaRPr lang="en-US" sz="1300" dirty="0"/>
          </a:p>
        </p:txBody>
      </p:sp>
      <p:sp>
        <p:nvSpPr>
          <p:cNvPr id="54" name="o451"/>
          <p:cNvSpPr/>
          <p:nvPr/>
        </p:nvSpPr>
        <p:spPr>
          <a:xfrm>
            <a:off x="3238500" y="5105400"/>
            <a:ext cx="742361" cy="133350"/>
          </a:xfrm>
          <a:prstGeom prst="rect">
            <a:avLst/>
          </a:prstGeom>
          <a:solidFill>
            <a:srgbClr val="C6C6C6"/>
          </a:solidFill>
          <a:ln/>
        </p:spPr>
      </p:sp>
      <p:sp>
        <p:nvSpPr>
          <p:cNvPr id="55" name="o452"/>
          <p:cNvSpPr txBox="1"/>
          <p:nvPr/>
        </p:nvSpPr>
        <p:spPr>
          <a:xfrm>
            <a:off x="4057061" y="5067300"/>
            <a:ext cx="1143000" cy="190500"/>
          </a:xfrm>
          <a:prstGeom prst="rect">
            <a:avLst/>
          </a:prstGeom>
          <a:noFill/>
          <a:ln/>
        </p:spPr>
        <p:txBody>
          <a:bodyPr wrap="square" lIns="0" tIns="0" rIns="0" bIns="0" rtlCol="0" anchor="ctr"/>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2분 06초</a:t>
            </a:r>
            <a:endParaRPr lang="en-US" sz="1100" dirty="0"/>
          </a:p>
        </p:txBody>
      </p:sp>
      <p:sp>
        <p:nvSpPr>
          <p:cNvPr id="56" name="o453"/>
          <p:cNvSpPr txBox="1"/>
          <p:nvPr/>
        </p:nvSpPr>
        <p:spPr>
          <a:xfrm>
            <a:off x="3238500" y="5238750"/>
            <a:ext cx="1524000" cy="190500"/>
          </a:xfrm>
          <a:prstGeom prst="rect">
            <a:avLst/>
          </a:prstGeom>
          <a:noFill/>
          <a:ln/>
        </p:spPr>
        <p:txBody>
          <a:bodyPr wrap="square" lIns="0" tIns="0" rIns="0" bIns="0" rtlCol="0" anchor="ctr"/>
          <a:lstStyle/>
          <a:p>
            <a:pPr indent="0" marL="0">
              <a:buNone/>
            </a:pPr>
            <a:r>
              <a:rPr lang="en-US" sz="1100" b="1" dirty="0">
                <a:solidFill>
                  <a:srgbClr val="0F62FE"/>
                </a:solidFill>
                <a:latin typeface="IBM Plex Sans KR" pitchFamily="34" charset="0"/>
                <a:ea typeface="IBM Plex Sans KR" pitchFamily="34" charset="-122"/>
                <a:cs typeface="IBM Plex Sans KR" pitchFamily="34" charset="-120"/>
              </a:rPr>
              <a:t>단계 삭제</a:t>
            </a:r>
            <a:endParaRPr lang="en-US" sz="1100" dirty="0"/>
          </a:p>
        </p:txBody>
      </p:sp>
      <p:sp>
        <p:nvSpPr>
          <p:cNvPr id="57" name="o454"/>
          <p:cNvSpPr/>
          <p:nvPr/>
        </p:nvSpPr>
        <p:spPr>
          <a:xfrm>
            <a:off x="914400" y="5505450"/>
            <a:ext cx="10363200" cy="0"/>
          </a:xfrm>
          <a:prstGeom prst="line">
            <a:avLst/>
          </a:prstGeom>
          <a:noFill/>
          <a:ln w="9525">
            <a:solidFill>
              <a:srgbClr val="E0E0E0"/>
            </a:solidFill>
            <a:prstDash val="solid"/>
          </a:ln>
        </p:spPr>
      </p:sp>
      <p:sp>
        <p:nvSpPr>
          <p:cNvPr id="58" name="o455"/>
          <p:cNvSpPr txBox="1"/>
          <p:nvPr/>
        </p:nvSpPr>
        <p:spPr>
          <a:xfrm>
            <a:off x="914400" y="5562600"/>
            <a:ext cx="2286000" cy="381000"/>
          </a:xfrm>
          <a:prstGeom prst="rect">
            <a:avLst/>
          </a:prstGeom>
          <a:noFill/>
          <a:ln/>
        </p:spPr>
        <p:txBody>
          <a:bodyPr wrap="square" lIns="0" tIns="0" rIns="0" bIns="0" rtlCol="0" anchor="ctr"/>
          <a:lstStyle/>
          <a:p>
            <a:pPr indent="0" marL="0">
              <a:buNone/>
            </a:pPr>
            <a:r>
              <a:rPr lang="en-US" sz="1300" b="1" dirty="0">
                <a:solidFill>
                  <a:srgbClr val="161616"/>
                </a:solidFill>
                <a:latin typeface="IBM Plex Sans KR" pitchFamily="34" charset="0"/>
                <a:ea typeface="IBM Plex Sans KR" pitchFamily="34" charset="-122"/>
                <a:cs typeface="IBM Plex Sans KR" pitchFamily="34" charset="-120"/>
              </a:rPr>
              <a:t>7. 내부 결재</a:t>
            </a:r>
            <a:endParaRPr lang="en-US" sz="1300" dirty="0"/>
          </a:p>
        </p:txBody>
      </p:sp>
      <p:sp>
        <p:nvSpPr>
          <p:cNvPr id="59" name="o456"/>
          <p:cNvSpPr/>
          <p:nvPr/>
        </p:nvSpPr>
        <p:spPr>
          <a:xfrm>
            <a:off x="3238500" y="5600700"/>
            <a:ext cx="6858000" cy="133350"/>
          </a:xfrm>
          <a:prstGeom prst="rect">
            <a:avLst/>
          </a:prstGeom>
          <a:solidFill>
            <a:srgbClr val="C6C6C6"/>
          </a:solidFill>
          <a:ln/>
        </p:spPr>
      </p:sp>
      <p:sp>
        <p:nvSpPr>
          <p:cNvPr id="60" name="o457"/>
          <p:cNvSpPr txBox="1"/>
          <p:nvPr/>
        </p:nvSpPr>
        <p:spPr>
          <a:xfrm>
            <a:off x="10172700" y="5562600"/>
            <a:ext cx="1143000" cy="190500"/>
          </a:xfrm>
          <a:prstGeom prst="rect">
            <a:avLst/>
          </a:prstGeom>
          <a:noFill/>
          <a:ln/>
        </p:spPr>
        <p:txBody>
          <a:bodyPr wrap="square" lIns="0" tIns="0" rIns="0" bIns="0" rtlCol="0" anchor="ctr"/>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19분 24초</a:t>
            </a:r>
            <a:endParaRPr lang="en-US" sz="1100" dirty="0"/>
          </a:p>
        </p:txBody>
      </p:sp>
      <p:sp>
        <p:nvSpPr>
          <p:cNvPr id="61" name="o458"/>
          <p:cNvSpPr/>
          <p:nvPr/>
        </p:nvSpPr>
        <p:spPr>
          <a:xfrm>
            <a:off x="3238500" y="5772150"/>
            <a:ext cx="353505" cy="133350"/>
          </a:xfrm>
          <a:prstGeom prst="rect">
            <a:avLst/>
          </a:prstGeom>
          <a:solidFill>
            <a:srgbClr val="0F62FE"/>
          </a:solidFill>
          <a:ln/>
        </p:spPr>
      </p:sp>
      <p:sp>
        <p:nvSpPr>
          <p:cNvPr id="62" name="o459"/>
          <p:cNvSpPr txBox="1"/>
          <p:nvPr/>
        </p:nvSpPr>
        <p:spPr>
          <a:xfrm>
            <a:off x="3668205" y="5734050"/>
            <a:ext cx="1143000" cy="190500"/>
          </a:xfrm>
          <a:prstGeom prst="rect">
            <a:avLst/>
          </a:prstGeom>
          <a:noFill/>
          <a:ln/>
        </p:spPr>
        <p:txBody>
          <a:bodyPr wrap="square" lIns="0" tIns="0" rIns="0" bIns="0" rtlCol="0" anchor="ctr"/>
          <a:lstStyle/>
          <a:p>
            <a:pPr indent="0" marL="0">
              <a:buNone/>
            </a:pPr>
            <a:r>
              <a:rPr lang="en-US" sz="1100" b="1" dirty="0">
                <a:solidFill>
                  <a:srgbClr val="0F62FE"/>
                </a:solidFill>
                <a:latin typeface="IBM Plex Sans KR" pitchFamily="34" charset="0"/>
                <a:ea typeface="IBM Plex Sans KR" pitchFamily="34" charset="-122"/>
                <a:cs typeface="IBM Plex Sans KR" pitchFamily="34" charset="-120"/>
              </a:rPr>
              <a:t>1분 00초</a:t>
            </a:r>
            <a:endParaRPr lang="en-US" sz="1100" dirty="0"/>
          </a:p>
        </p:txBody>
      </p:sp>
      <p:sp>
        <p:nvSpPr>
          <p:cNvPr id="63" name="o460"/>
          <p:cNvSpPr txBox="1"/>
          <p:nvPr/>
        </p:nvSpPr>
        <p:spPr>
          <a:xfrm>
            <a:off x="914400" y="6019800"/>
            <a:ext cx="10363200" cy="17145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회색 = 개선 전 · 파랑 = 개선 후   |   MSDS 교육 4분 18초 → 49초 (−81%)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461"/>
          <p:cNvSpPr/>
          <p:nvPr/>
        </p:nvSpPr>
        <p:spPr>
          <a:xfrm>
            <a:off x="609600" y="228600"/>
            <a:ext cx="2686050" cy="38100"/>
          </a:xfrm>
          <a:prstGeom prst="rect">
            <a:avLst/>
          </a:prstGeom>
          <a:solidFill>
            <a:srgbClr val="0F62FE"/>
          </a:solidFill>
          <a:ln/>
        </p:spPr>
      </p:sp>
      <p:sp>
        <p:nvSpPr>
          <p:cNvPr id="3" name="o462"/>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Plan</a:t>
            </a:r>
            <a:endParaRPr lang="en-US" sz="800" dirty="0"/>
          </a:p>
        </p:txBody>
      </p:sp>
      <p:sp>
        <p:nvSpPr>
          <p:cNvPr id="4" name="o463"/>
          <p:cNvSpPr/>
          <p:nvPr/>
        </p:nvSpPr>
        <p:spPr>
          <a:xfrm>
            <a:off x="3371850" y="228600"/>
            <a:ext cx="2686050" cy="38100"/>
          </a:xfrm>
          <a:prstGeom prst="rect">
            <a:avLst/>
          </a:prstGeom>
          <a:solidFill>
            <a:srgbClr val="0F62FE"/>
          </a:solidFill>
          <a:ln/>
        </p:spPr>
      </p:sp>
      <p:sp>
        <p:nvSpPr>
          <p:cNvPr id="5" name="o464"/>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Do</a:t>
            </a:r>
            <a:endParaRPr lang="en-US" sz="800" dirty="0"/>
          </a:p>
        </p:txBody>
      </p:sp>
      <p:sp>
        <p:nvSpPr>
          <p:cNvPr id="6" name="o465"/>
          <p:cNvSpPr/>
          <p:nvPr/>
        </p:nvSpPr>
        <p:spPr>
          <a:xfrm>
            <a:off x="6134100" y="228600"/>
            <a:ext cx="2686050" cy="38100"/>
          </a:xfrm>
          <a:prstGeom prst="rect">
            <a:avLst/>
          </a:prstGeom>
          <a:solidFill>
            <a:srgbClr val="0F62FE"/>
          </a:solidFill>
          <a:ln/>
        </p:spPr>
      </p:sp>
      <p:sp>
        <p:nvSpPr>
          <p:cNvPr id="7" name="o466"/>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b="1" dirty="0">
                <a:solidFill>
                  <a:srgbClr val="0F62FE"/>
                </a:solidFill>
                <a:latin typeface="IBM Plex Sans KR" pitchFamily="34" charset="0"/>
                <a:ea typeface="IBM Plex Sans KR" pitchFamily="34" charset="-122"/>
                <a:cs typeface="IBM Plex Sans KR" pitchFamily="34" charset="-120"/>
              </a:rPr>
              <a:t>Check</a:t>
            </a:r>
            <a:endParaRPr lang="en-US" sz="800" dirty="0"/>
          </a:p>
        </p:txBody>
      </p:sp>
      <p:sp>
        <p:nvSpPr>
          <p:cNvPr id="8" name="o467"/>
          <p:cNvSpPr/>
          <p:nvPr/>
        </p:nvSpPr>
        <p:spPr>
          <a:xfrm>
            <a:off x="8896350" y="228600"/>
            <a:ext cx="2686050" cy="38100"/>
          </a:xfrm>
          <a:prstGeom prst="rect">
            <a:avLst/>
          </a:prstGeom>
          <a:solidFill>
            <a:srgbClr val="E0E0E0"/>
          </a:solidFill>
          <a:ln/>
        </p:spPr>
      </p:sp>
      <p:sp>
        <p:nvSpPr>
          <p:cNvPr id="9" name="o468"/>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Act</a:t>
            </a:r>
            <a:endParaRPr lang="en-US" sz="800" dirty="0"/>
          </a:p>
        </p:txBody>
      </p:sp>
      <p:sp>
        <p:nvSpPr>
          <p:cNvPr id="10" name="o469"/>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F62FE"/>
                </a:solidFill>
                <a:latin typeface="IBM Plex Sans KR" pitchFamily="34" charset="0"/>
                <a:ea typeface="IBM Plex Sans KR" pitchFamily="34" charset="-122"/>
                <a:cs typeface="IBM Plex Sans KR" pitchFamily="34" charset="-120"/>
              </a:rPr>
              <a:t>07   IMPACT  ·  성과와 ESG</a:t>
            </a:r>
            <a:endParaRPr lang="en-US" sz="1100" dirty="0"/>
          </a:p>
        </p:txBody>
      </p:sp>
      <p:sp>
        <p:nvSpPr>
          <p:cNvPr id="11" name="o470"/>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4개 지표 모두 목표를 달성했습니다</a:t>
            </a:r>
            <a:endParaRPr lang="en-US" sz="2600" dirty="0"/>
          </a:p>
        </p:txBody>
      </p:sp>
      <p:sp>
        <p:nvSpPr>
          <p:cNvPr id="12" name="o471"/>
          <p:cNvSpPr txBox="1"/>
          <p:nvPr/>
        </p:nvSpPr>
        <p:spPr>
          <a:xfrm>
            <a:off x="609600" y="1219200"/>
            <a:ext cx="10972800" cy="209550"/>
          </a:xfrm>
          <a:prstGeom prst="rect">
            <a:avLst/>
          </a:prstGeom>
          <a:noFill/>
          <a:ln/>
        </p:spPr>
        <p:txBody>
          <a:bodyPr wrap="square" lIns="0" tIns="0" rIns="0" bIns="0" rtlCol="0" anchor="t"/>
          <a:lstStyle/>
          <a:p>
            <a:pPr indent="0" marL="0">
              <a:buNone/>
            </a:pPr>
            <a:r>
              <a:rPr lang="en-US" sz="1300" dirty="0">
                <a:solidFill>
                  <a:srgbClr val="525252"/>
                </a:solidFill>
                <a:latin typeface="IBM Plex Sans KR" pitchFamily="34" charset="0"/>
                <a:ea typeface="IBM Plex Sans KR" pitchFamily="34" charset="-122"/>
                <a:cs typeface="IBM Plex Sans KR" pitchFamily="34" charset="-120"/>
              </a:rPr>
              <a:t>개선 전 2025 → 개선 후 2026.05–07</a:t>
            </a:r>
            <a:endParaRPr lang="en-US" sz="1300" dirty="0"/>
          </a:p>
        </p:txBody>
      </p:sp>
      <p:sp>
        <p:nvSpPr>
          <p:cNvPr id="13" name="o472"/>
          <p:cNvSpPr/>
          <p:nvPr/>
        </p:nvSpPr>
        <p:spPr>
          <a:xfrm>
            <a:off x="0" y="6477000"/>
            <a:ext cx="12192000" cy="381000"/>
          </a:xfrm>
          <a:prstGeom prst="rect">
            <a:avLst/>
          </a:prstGeom>
          <a:solidFill>
            <a:srgbClr val="161616"/>
          </a:solidFill>
          <a:ln/>
        </p:spPr>
      </p:sp>
      <p:sp>
        <p:nvSpPr>
          <p:cNvPr id="14" name="o473"/>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IBM Plex Sans KR" pitchFamily="34" charset="0"/>
                <a:ea typeface="IBM Plex Sans KR" pitchFamily="34" charset="-122"/>
                <a:cs typeface="IBM Plex Sans KR" pitchFamily="34" charset="-120"/>
              </a:rPr>
              <a:t>부산부민병원 안전보건 통합관리 시스템  ·  Safety First</a:t>
            </a:r>
            <a:endParaRPr lang="en-US" sz="900" dirty="0"/>
          </a:p>
        </p:txBody>
      </p:sp>
      <p:sp>
        <p:nvSpPr>
          <p:cNvPr id="15" name="o474"/>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IBM Plex Sans KR" pitchFamily="34" charset="0"/>
                <a:ea typeface="IBM Plex Sans KR" pitchFamily="34" charset="-122"/>
                <a:cs typeface="IBM Plex Sans KR" pitchFamily="34" charset="-120"/>
              </a:rPr>
              <a:t>11</a:t>
            </a:r>
            <a:endParaRPr lang="en-US" sz="1000" dirty="0"/>
          </a:p>
        </p:txBody>
      </p:sp>
      <p:sp>
        <p:nvSpPr>
          <p:cNvPr id="16" name="o475"/>
          <p:cNvSpPr/>
          <p:nvPr/>
        </p:nvSpPr>
        <p:spPr>
          <a:xfrm>
            <a:off x="609600" y="1600200"/>
            <a:ext cx="2600325" cy="2209800"/>
          </a:xfrm>
          <a:prstGeom prst="rect">
            <a:avLst/>
          </a:prstGeom>
          <a:solidFill>
            <a:srgbClr val="FFFFFF"/>
          </a:solidFill>
          <a:ln w="12700">
            <a:solidFill>
              <a:srgbClr val="E0E0E0"/>
            </a:solidFill>
            <a:prstDash val="solid"/>
          </a:ln>
        </p:spPr>
      </p:sp>
      <p:sp>
        <p:nvSpPr>
          <p:cNvPr id="17" name="o476"/>
          <p:cNvSpPr txBox="1"/>
          <p:nvPr/>
        </p:nvSpPr>
        <p:spPr>
          <a:xfrm>
            <a:off x="838200" y="1790700"/>
            <a:ext cx="2143125" cy="666750"/>
          </a:xfrm>
          <a:prstGeom prst="rect">
            <a:avLst/>
          </a:prstGeom>
          <a:noFill/>
          <a:ln/>
        </p:spPr>
        <p:txBody>
          <a:bodyPr wrap="square" lIns="0" tIns="0" rIns="0" bIns="0" rtlCol="0" anchor="t"/>
          <a:lstStyle/>
          <a:p>
            <a:pPr indent="0" marL="0">
              <a:buNone/>
            </a:pPr>
            <a:r>
              <a:rPr lang="en-US" sz="4600" b="1" dirty="0">
                <a:solidFill>
                  <a:srgbClr val="0F62FE"/>
                </a:solidFill>
                <a:latin typeface="IBM Plex Sans KR" pitchFamily="34" charset="0"/>
                <a:ea typeface="IBM Plex Sans KR" pitchFamily="34" charset="-122"/>
                <a:cs typeface="IBM Plex Sans KR" pitchFamily="34" charset="-120"/>
              </a:rPr>
              <a:t>0건</a:t>
            </a:r>
            <a:endParaRPr lang="en-US" sz="4600" dirty="0"/>
          </a:p>
        </p:txBody>
      </p:sp>
      <p:sp>
        <p:nvSpPr>
          <p:cNvPr id="18" name="o477"/>
          <p:cNvSpPr txBox="1"/>
          <p:nvPr/>
        </p:nvSpPr>
        <p:spPr>
          <a:xfrm>
            <a:off x="838200" y="2552700"/>
            <a:ext cx="2143125" cy="209550"/>
          </a:xfrm>
          <a:prstGeom prst="rect">
            <a:avLst/>
          </a:prstGeom>
          <a:noFill/>
          <a:ln/>
        </p:spPr>
        <p:txBody>
          <a:bodyPr wrap="square" lIns="0" tIns="0" rIns="0" bIns="0" rtlCol="0" anchor="t"/>
          <a:lstStyle/>
          <a:p>
            <a:pPr indent="0" marL="0">
              <a:buNone/>
            </a:pPr>
            <a:r>
              <a:rPr lang="en-US" sz="1500" b="1" dirty="0">
                <a:solidFill>
                  <a:srgbClr val="161616"/>
                </a:solidFill>
                <a:latin typeface="IBM Plex Sans KR" pitchFamily="34" charset="0"/>
                <a:ea typeface="IBM Plex Sans KR" pitchFamily="34" charset="-122"/>
                <a:cs typeface="IBM Plex Sans KR" pitchFamily="34" charset="-120"/>
              </a:rPr>
              <a:t>법정교육 누락</a:t>
            </a:r>
            <a:endParaRPr lang="en-US" sz="1500" dirty="0"/>
          </a:p>
        </p:txBody>
      </p:sp>
      <p:sp>
        <p:nvSpPr>
          <p:cNvPr id="19" name="o478"/>
          <p:cNvSpPr txBox="1"/>
          <p:nvPr/>
        </p:nvSpPr>
        <p:spPr>
          <a:xfrm>
            <a:off x="838200" y="2857500"/>
            <a:ext cx="2143125" cy="190500"/>
          </a:xfrm>
          <a:prstGeom prst="rect">
            <a:avLst/>
          </a:prstGeom>
          <a:noFill/>
          <a:ln/>
        </p:spPr>
        <p:txBody>
          <a:bodyPr wrap="square" lIns="0" tIns="0" rIns="0" bIns="0" rtlCol="0" anchor="t"/>
          <a:lstStyle/>
          <a:p>
            <a:pPr indent="0" marL="0">
              <a:buNone/>
            </a:pPr>
            <a:r>
              <a:rPr lang="en-US" sz="1200" b="1" dirty="0">
                <a:solidFill>
                  <a:srgbClr val="393939"/>
                </a:solidFill>
                <a:latin typeface="IBM Plex Sans KR" pitchFamily="34" charset="0"/>
                <a:ea typeface="IBM Plex Sans KR" pitchFamily="34" charset="-122"/>
                <a:cs typeface="IBM Plex Sans KR" pitchFamily="34" charset="-120"/>
              </a:rPr>
              <a:t>18건 → 0건 · 준수율 100%</a:t>
            </a:r>
            <a:endParaRPr lang="en-US" sz="1200" dirty="0"/>
          </a:p>
        </p:txBody>
      </p:sp>
      <p:sp>
        <p:nvSpPr>
          <p:cNvPr id="20" name="o479"/>
          <p:cNvSpPr txBox="1"/>
          <p:nvPr/>
        </p:nvSpPr>
        <p:spPr>
          <a:xfrm>
            <a:off x="838200" y="3276600"/>
            <a:ext cx="2143125" cy="34290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대상 33건 전원 기한 내 이수</a:t>
            </a:r>
            <a:endParaRPr lang="en-US" sz="1100" dirty="0"/>
          </a:p>
        </p:txBody>
      </p:sp>
      <p:sp>
        <p:nvSpPr>
          <p:cNvPr id="21" name="o480"/>
          <p:cNvSpPr/>
          <p:nvPr/>
        </p:nvSpPr>
        <p:spPr>
          <a:xfrm>
            <a:off x="3400425" y="1600200"/>
            <a:ext cx="2600325" cy="2209800"/>
          </a:xfrm>
          <a:prstGeom prst="rect">
            <a:avLst/>
          </a:prstGeom>
          <a:solidFill>
            <a:srgbClr val="0F62FE"/>
          </a:solidFill>
          <a:ln/>
        </p:spPr>
      </p:sp>
      <p:sp>
        <p:nvSpPr>
          <p:cNvPr id="22" name="o481"/>
          <p:cNvSpPr txBox="1"/>
          <p:nvPr/>
        </p:nvSpPr>
        <p:spPr>
          <a:xfrm>
            <a:off x="3629025" y="1790700"/>
            <a:ext cx="2143125" cy="666750"/>
          </a:xfrm>
          <a:prstGeom prst="rect">
            <a:avLst/>
          </a:prstGeom>
          <a:noFill/>
          <a:ln/>
        </p:spPr>
        <p:txBody>
          <a:bodyPr wrap="square" lIns="0" tIns="0" rIns="0" bIns="0" rtlCol="0" anchor="t"/>
          <a:lstStyle/>
          <a:p>
            <a:pPr indent="0" marL="0">
              <a:buNone/>
            </a:pPr>
            <a:r>
              <a:rPr lang="en-US" sz="4600" b="1" dirty="0">
                <a:solidFill>
                  <a:srgbClr val="FFFFFF"/>
                </a:solidFill>
                <a:latin typeface="IBM Plex Sans KR" pitchFamily="34" charset="0"/>
                <a:ea typeface="IBM Plex Sans KR" pitchFamily="34" charset="-122"/>
                <a:cs typeface="IBM Plex Sans KR" pitchFamily="34" charset="-120"/>
              </a:rPr>
              <a:t>93%</a:t>
            </a:r>
            <a:endParaRPr lang="en-US" sz="4600" dirty="0"/>
          </a:p>
        </p:txBody>
      </p:sp>
      <p:sp>
        <p:nvSpPr>
          <p:cNvPr id="23" name="o482"/>
          <p:cNvSpPr txBox="1"/>
          <p:nvPr/>
        </p:nvSpPr>
        <p:spPr>
          <a:xfrm>
            <a:off x="3629025" y="2552700"/>
            <a:ext cx="2143125" cy="209550"/>
          </a:xfrm>
          <a:prstGeom prst="rect">
            <a:avLst/>
          </a:prstGeom>
          <a:noFill/>
          <a:ln/>
        </p:spPr>
        <p:txBody>
          <a:bodyPr wrap="square" lIns="0" tIns="0" rIns="0" bIns="0" rtlCol="0" anchor="t"/>
          <a:lstStyle/>
          <a:p>
            <a:pPr indent="0" marL="0">
              <a:buNone/>
            </a:pPr>
            <a:r>
              <a:rPr lang="en-US" sz="1500" b="1" dirty="0">
                <a:solidFill>
                  <a:srgbClr val="FFFFFF"/>
                </a:solidFill>
                <a:latin typeface="IBM Plex Sans KR" pitchFamily="34" charset="0"/>
                <a:ea typeface="IBM Plex Sans KR" pitchFamily="34" charset="-122"/>
                <a:cs typeface="IBM Plex Sans KR" pitchFamily="34" charset="-120"/>
              </a:rPr>
              <a:t>행정시간 단축</a:t>
            </a:r>
            <a:endParaRPr lang="en-US" sz="1500" dirty="0"/>
          </a:p>
        </p:txBody>
      </p:sp>
      <p:sp>
        <p:nvSpPr>
          <p:cNvPr id="24" name="o483"/>
          <p:cNvSpPr txBox="1"/>
          <p:nvPr/>
        </p:nvSpPr>
        <p:spPr>
          <a:xfrm>
            <a:off x="3629025" y="2857500"/>
            <a:ext cx="2143125" cy="190500"/>
          </a:xfrm>
          <a:prstGeom prst="rect">
            <a:avLst/>
          </a:prstGeom>
          <a:noFill/>
          <a:ln/>
        </p:spPr>
        <p:txBody>
          <a:bodyPr wrap="square" lIns="0" tIns="0" rIns="0" bIns="0" rtlCol="0" anchor="t"/>
          <a:lstStyle/>
          <a:p>
            <a:pPr indent="0" marL="0">
              <a:buNone/>
            </a:pPr>
            <a:r>
              <a:rPr lang="en-US" sz="1200" b="1" dirty="0">
                <a:solidFill>
                  <a:srgbClr val="FFFFFF"/>
                </a:solidFill>
                <a:latin typeface="IBM Plex Sans KR" pitchFamily="34" charset="0"/>
                <a:ea typeface="IBM Plex Sans KR" pitchFamily="34" charset="-122"/>
                <a:cs typeface="IBM Plex Sans KR" pitchFamily="34" charset="-120"/>
              </a:rPr>
              <a:t>33분 48초 → 2분 22초</a:t>
            </a:r>
            <a:endParaRPr lang="en-US" sz="1200" dirty="0"/>
          </a:p>
        </p:txBody>
      </p:sp>
      <p:sp>
        <p:nvSpPr>
          <p:cNvPr id="25" name="o484"/>
          <p:cNvSpPr txBox="1"/>
          <p:nvPr/>
        </p:nvSpPr>
        <p:spPr>
          <a:xfrm>
            <a:off x="3629025" y="3276600"/>
            <a:ext cx="2143125" cy="342900"/>
          </a:xfrm>
          <a:prstGeom prst="rect">
            <a:avLst/>
          </a:prstGeom>
          <a:noFill/>
          <a:ln/>
        </p:spPr>
        <p:txBody>
          <a:bodyPr wrap="square" lIns="0" tIns="0" rIns="0" bIns="0" rtlCol="0" anchor="t"/>
          <a:lstStyle/>
          <a:p>
            <a:pPr indent="0" marL="0">
              <a:buNone/>
            </a:pPr>
            <a:r>
              <a:rPr lang="en-US" sz="1100" dirty="0">
                <a:solidFill>
                  <a:srgbClr val="FFFFFF"/>
                </a:solidFill>
                <a:latin typeface="IBM Plex Sans KR" pitchFamily="34" charset="0"/>
                <a:ea typeface="IBM Plex Sans KR" pitchFamily="34" charset="-122"/>
                <a:cs typeface="IBM Plex Sans KR" pitchFamily="34" charset="-120"/>
              </a:rPr>
              <a:t>목표 70% 초과 · MSDS −81%</a:t>
            </a:r>
            <a:endParaRPr lang="en-US" sz="1100" dirty="0"/>
          </a:p>
        </p:txBody>
      </p:sp>
      <p:sp>
        <p:nvSpPr>
          <p:cNvPr id="26" name="o485"/>
          <p:cNvSpPr/>
          <p:nvPr/>
        </p:nvSpPr>
        <p:spPr>
          <a:xfrm>
            <a:off x="6191250" y="1600200"/>
            <a:ext cx="2600325" cy="2209800"/>
          </a:xfrm>
          <a:prstGeom prst="rect">
            <a:avLst/>
          </a:prstGeom>
          <a:solidFill>
            <a:srgbClr val="FFFFFF"/>
          </a:solidFill>
          <a:ln w="12700">
            <a:solidFill>
              <a:srgbClr val="E0E0E0"/>
            </a:solidFill>
            <a:prstDash val="solid"/>
          </a:ln>
        </p:spPr>
      </p:sp>
      <p:sp>
        <p:nvSpPr>
          <p:cNvPr id="27" name="o486"/>
          <p:cNvSpPr txBox="1"/>
          <p:nvPr/>
        </p:nvSpPr>
        <p:spPr>
          <a:xfrm>
            <a:off x="6419850" y="1790700"/>
            <a:ext cx="2143125" cy="666750"/>
          </a:xfrm>
          <a:prstGeom prst="rect">
            <a:avLst/>
          </a:prstGeom>
          <a:noFill/>
          <a:ln/>
        </p:spPr>
        <p:txBody>
          <a:bodyPr wrap="square" lIns="0" tIns="0" rIns="0" bIns="0" rtlCol="0" anchor="t"/>
          <a:lstStyle/>
          <a:p>
            <a:pPr indent="0" marL="0">
              <a:buNone/>
            </a:pPr>
            <a:r>
              <a:rPr lang="en-US" sz="4600" b="1" dirty="0">
                <a:solidFill>
                  <a:srgbClr val="0F62FE"/>
                </a:solidFill>
                <a:latin typeface="IBM Plex Sans KR" pitchFamily="34" charset="0"/>
                <a:ea typeface="IBM Plex Sans KR" pitchFamily="34" charset="-122"/>
                <a:cs typeface="IBM Plex Sans KR" pitchFamily="34" charset="-120"/>
              </a:rPr>
              <a:t>100%</a:t>
            </a:r>
            <a:endParaRPr lang="en-US" sz="4600" dirty="0"/>
          </a:p>
        </p:txBody>
      </p:sp>
      <p:sp>
        <p:nvSpPr>
          <p:cNvPr id="28" name="o487"/>
          <p:cNvSpPr txBox="1"/>
          <p:nvPr/>
        </p:nvSpPr>
        <p:spPr>
          <a:xfrm>
            <a:off x="6419850" y="2552700"/>
            <a:ext cx="2143125" cy="209550"/>
          </a:xfrm>
          <a:prstGeom prst="rect">
            <a:avLst/>
          </a:prstGeom>
          <a:noFill/>
          <a:ln/>
        </p:spPr>
        <p:txBody>
          <a:bodyPr wrap="square" lIns="0" tIns="0" rIns="0" bIns="0" rtlCol="0" anchor="t"/>
          <a:lstStyle/>
          <a:p>
            <a:pPr indent="0" marL="0">
              <a:buNone/>
            </a:pPr>
            <a:r>
              <a:rPr lang="en-US" sz="1500" b="1" dirty="0">
                <a:solidFill>
                  <a:srgbClr val="161616"/>
                </a:solidFill>
                <a:latin typeface="IBM Plex Sans KR" pitchFamily="34" charset="0"/>
                <a:ea typeface="IBM Plex Sans KR" pitchFamily="34" charset="-122"/>
                <a:cs typeface="IBM Plex Sans KR" pitchFamily="34" charset="-120"/>
              </a:rPr>
              <a:t>Paperless 전환</a:t>
            </a:r>
            <a:endParaRPr lang="en-US" sz="1500" dirty="0"/>
          </a:p>
        </p:txBody>
      </p:sp>
      <p:sp>
        <p:nvSpPr>
          <p:cNvPr id="29" name="o488"/>
          <p:cNvSpPr txBox="1"/>
          <p:nvPr/>
        </p:nvSpPr>
        <p:spPr>
          <a:xfrm>
            <a:off x="6419850" y="2857500"/>
            <a:ext cx="2143125" cy="190500"/>
          </a:xfrm>
          <a:prstGeom prst="rect">
            <a:avLst/>
          </a:prstGeom>
          <a:noFill/>
          <a:ln/>
        </p:spPr>
        <p:txBody>
          <a:bodyPr wrap="square" lIns="0" tIns="0" rIns="0" bIns="0" rtlCol="0" anchor="t"/>
          <a:lstStyle/>
          <a:p>
            <a:pPr indent="0" marL="0">
              <a:buNone/>
            </a:pPr>
            <a:r>
              <a:rPr lang="en-US" sz="1200" b="1" dirty="0">
                <a:solidFill>
                  <a:srgbClr val="393939"/>
                </a:solidFill>
                <a:latin typeface="IBM Plex Sans KR" pitchFamily="34" charset="0"/>
                <a:ea typeface="IBM Plex Sans KR" pitchFamily="34" charset="-122"/>
                <a:cs typeface="IBM Plex Sans KR" pitchFamily="34" charset="-120"/>
              </a:rPr>
              <a:t>월 17.3건 전량 디지털</a:t>
            </a:r>
            <a:endParaRPr lang="en-US" sz="1200" dirty="0"/>
          </a:p>
        </p:txBody>
      </p:sp>
      <p:sp>
        <p:nvSpPr>
          <p:cNvPr id="30" name="o489"/>
          <p:cNvSpPr txBox="1"/>
          <p:nvPr/>
        </p:nvSpPr>
        <p:spPr>
          <a:xfrm>
            <a:off x="6419850" y="3276600"/>
            <a:ext cx="2143125" cy="34290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5–7월 52건 · 종이 출력 0건</a:t>
            </a:r>
            <a:endParaRPr lang="en-US" sz="1100" dirty="0"/>
          </a:p>
        </p:txBody>
      </p:sp>
      <p:sp>
        <p:nvSpPr>
          <p:cNvPr id="31" name="o490"/>
          <p:cNvSpPr/>
          <p:nvPr/>
        </p:nvSpPr>
        <p:spPr>
          <a:xfrm>
            <a:off x="8982075" y="1600200"/>
            <a:ext cx="2600325" cy="2209800"/>
          </a:xfrm>
          <a:prstGeom prst="rect">
            <a:avLst/>
          </a:prstGeom>
          <a:solidFill>
            <a:srgbClr val="FFFFFF"/>
          </a:solidFill>
          <a:ln w="12700">
            <a:solidFill>
              <a:srgbClr val="E0E0E0"/>
            </a:solidFill>
            <a:prstDash val="solid"/>
          </a:ln>
        </p:spPr>
      </p:sp>
      <p:sp>
        <p:nvSpPr>
          <p:cNvPr id="32" name="o491"/>
          <p:cNvSpPr txBox="1"/>
          <p:nvPr/>
        </p:nvSpPr>
        <p:spPr>
          <a:xfrm>
            <a:off x="9210675" y="1790700"/>
            <a:ext cx="2143125" cy="666750"/>
          </a:xfrm>
          <a:prstGeom prst="rect">
            <a:avLst/>
          </a:prstGeom>
          <a:noFill/>
          <a:ln/>
        </p:spPr>
        <p:txBody>
          <a:bodyPr wrap="square" lIns="0" tIns="0" rIns="0" bIns="0" rtlCol="0" anchor="t"/>
          <a:lstStyle/>
          <a:p>
            <a:pPr indent="0" marL="0">
              <a:buNone/>
            </a:pPr>
            <a:r>
              <a:rPr lang="en-US" sz="4600" b="1" dirty="0">
                <a:solidFill>
                  <a:srgbClr val="0F62FE"/>
                </a:solidFill>
                <a:latin typeface="IBM Plex Sans KR" pitchFamily="34" charset="0"/>
                <a:ea typeface="IBM Plex Sans KR" pitchFamily="34" charset="-122"/>
                <a:cs typeface="IBM Plex Sans KR" pitchFamily="34" charset="-120"/>
              </a:rPr>
              <a:t>6/6</a:t>
            </a:r>
            <a:endParaRPr lang="en-US" sz="4600" dirty="0"/>
          </a:p>
        </p:txBody>
      </p:sp>
      <p:sp>
        <p:nvSpPr>
          <p:cNvPr id="33" name="o492"/>
          <p:cNvSpPr txBox="1"/>
          <p:nvPr/>
        </p:nvSpPr>
        <p:spPr>
          <a:xfrm>
            <a:off x="9210675" y="2552700"/>
            <a:ext cx="2143125" cy="209550"/>
          </a:xfrm>
          <a:prstGeom prst="rect">
            <a:avLst/>
          </a:prstGeom>
          <a:noFill/>
          <a:ln/>
        </p:spPr>
        <p:txBody>
          <a:bodyPr wrap="square" lIns="0" tIns="0" rIns="0" bIns="0" rtlCol="0" anchor="t"/>
          <a:lstStyle/>
          <a:p>
            <a:pPr indent="0" marL="0">
              <a:buNone/>
            </a:pPr>
            <a:r>
              <a:rPr lang="en-US" sz="1500" b="1" dirty="0">
                <a:solidFill>
                  <a:srgbClr val="161616"/>
                </a:solidFill>
                <a:latin typeface="IBM Plex Sans KR" pitchFamily="34" charset="0"/>
                <a:ea typeface="IBM Plex Sans KR" pitchFamily="34" charset="-122"/>
                <a:cs typeface="IBM Plex Sans KR" pitchFamily="34" charset="-120"/>
              </a:rPr>
              <a:t>플랫폼 구축</a:t>
            </a:r>
            <a:endParaRPr lang="en-US" sz="1500" dirty="0"/>
          </a:p>
        </p:txBody>
      </p:sp>
      <p:sp>
        <p:nvSpPr>
          <p:cNvPr id="34" name="o493"/>
          <p:cNvSpPr txBox="1"/>
          <p:nvPr/>
        </p:nvSpPr>
        <p:spPr>
          <a:xfrm>
            <a:off x="9210675" y="2857500"/>
            <a:ext cx="2143125" cy="190500"/>
          </a:xfrm>
          <a:prstGeom prst="rect">
            <a:avLst/>
          </a:prstGeom>
          <a:noFill/>
          <a:ln/>
        </p:spPr>
        <p:txBody>
          <a:bodyPr wrap="square" lIns="0" tIns="0" rIns="0" bIns="0" rtlCol="0" anchor="t"/>
          <a:lstStyle/>
          <a:p>
            <a:pPr indent="0" marL="0">
              <a:buNone/>
            </a:pPr>
            <a:r>
              <a:rPr lang="en-US" sz="1200" b="1" dirty="0">
                <a:solidFill>
                  <a:srgbClr val="393939"/>
                </a:solidFill>
                <a:latin typeface="IBM Plex Sans KR" pitchFamily="34" charset="0"/>
                <a:ea typeface="IBM Plex Sans KR" pitchFamily="34" charset="-122"/>
                <a:cs typeface="IBM Plex Sans KR" pitchFamily="34" charset="-120"/>
              </a:rPr>
              <a:t>핵심 모듈 100% 가동</a:t>
            </a:r>
            <a:endParaRPr lang="en-US" sz="1200" dirty="0"/>
          </a:p>
        </p:txBody>
      </p:sp>
      <p:sp>
        <p:nvSpPr>
          <p:cNvPr id="35" name="o494"/>
          <p:cNvSpPr txBox="1"/>
          <p:nvPr/>
        </p:nvSpPr>
        <p:spPr>
          <a:xfrm>
            <a:off x="9210675" y="3276600"/>
            <a:ext cx="2143125" cy="342900"/>
          </a:xfrm>
          <a:prstGeom prst="rect">
            <a:avLst/>
          </a:prstGeom>
          <a:noFill/>
          <a:ln/>
        </p:spPr>
        <p:txBody>
          <a:bodyPr wrap="square" lIns="0" tIns="0" rIns="0" bIns="0" rtlCol="0" anchor="t"/>
          <a:lstStyle/>
          <a:p>
            <a:pPr indent="0" marL="0">
              <a:buNone/>
            </a:pPr>
            <a:r>
              <a:rPr lang="en-US" sz="1100" dirty="0">
                <a:solidFill>
                  <a:srgbClr val="525252"/>
                </a:solidFill>
                <a:latin typeface="IBM Plex Sans KR" pitchFamily="34" charset="0"/>
                <a:ea typeface="IBM Plex Sans KR" pitchFamily="34" charset="-122"/>
                <a:cs typeface="IBM Plex Sans KR" pitchFamily="34" charset="-120"/>
              </a:rPr>
              <a:t>현장 피드백 반영 완료</a:t>
            </a:r>
            <a:endParaRPr lang="en-US" sz="1100" dirty="0"/>
          </a:p>
        </p:txBody>
      </p:sp>
      <p:sp>
        <p:nvSpPr>
          <p:cNvPr id="36" name="o495"/>
          <p:cNvSpPr/>
          <p:nvPr/>
        </p:nvSpPr>
        <p:spPr>
          <a:xfrm>
            <a:off x="609600" y="4000500"/>
            <a:ext cx="10972800" cy="647700"/>
          </a:xfrm>
          <a:prstGeom prst="rect">
            <a:avLst/>
          </a:prstGeom>
          <a:solidFill>
            <a:srgbClr val="F4F4F4"/>
          </a:solidFill>
          <a:ln w="12700">
            <a:solidFill>
              <a:srgbClr val="D0E2FF"/>
            </a:solidFill>
            <a:prstDash val="solid"/>
          </a:ln>
        </p:spPr>
      </p:sp>
      <p:sp>
        <p:nvSpPr>
          <p:cNvPr id="37" name="o496"/>
          <p:cNvSpPr/>
          <p:nvPr/>
        </p:nvSpPr>
        <p:spPr>
          <a:xfrm>
            <a:off x="838200" y="4133850"/>
            <a:ext cx="381000" cy="381000"/>
          </a:xfrm>
          <a:prstGeom prst="ellipse">
            <a:avLst/>
          </a:prstGeom>
          <a:solidFill>
            <a:srgbClr val="161616"/>
          </a:solidFill>
          <a:ln/>
        </p:spPr>
      </p:sp>
      <p:sp>
        <p:nvSpPr>
          <p:cNvPr id="38" name="o497"/>
          <p:cNvSpPr txBox="1"/>
          <p:nvPr/>
        </p:nvSpPr>
        <p:spPr>
          <a:xfrm>
            <a:off x="838200" y="4133850"/>
            <a:ext cx="381000" cy="381000"/>
          </a:xfrm>
          <a:prstGeom prst="rect">
            <a:avLst/>
          </a:prstGeom>
          <a:noFill/>
          <a:ln/>
        </p:spPr>
        <p:txBody>
          <a:bodyPr wrap="square" lIns="0" tIns="0" rIns="0" bIns="0" rtlCol="0" anchor="ctr"/>
          <a:lstStyle/>
          <a:p>
            <a:pPr algn="ctr" indent="0" marL="0">
              <a:buNone/>
            </a:pPr>
            <a:r>
              <a:rPr lang="en-US" sz="1600" b="1" dirty="0">
                <a:solidFill>
                  <a:srgbClr val="FFFFFF"/>
                </a:solidFill>
                <a:latin typeface="IBM Plex Sans KR" pitchFamily="34" charset="0"/>
                <a:ea typeface="IBM Plex Sans KR" pitchFamily="34" charset="-122"/>
                <a:cs typeface="IBM Plex Sans KR" pitchFamily="34" charset="-120"/>
              </a:rPr>
              <a:t>E</a:t>
            </a:r>
            <a:endParaRPr lang="en-US" sz="1600" dirty="0"/>
          </a:p>
        </p:txBody>
      </p:sp>
      <p:sp>
        <p:nvSpPr>
          <p:cNvPr id="39" name="o498"/>
          <p:cNvSpPr txBox="1"/>
          <p:nvPr/>
        </p:nvSpPr>
        <p:spPr>
          <a:xfrm>
            <a:off x="1371600" y="4000500"/>
            <a:ext cx="1619250" cy="647700"/>
          </a:xfrm>
          <a:prstGeom prst="rect">
            <a:avLst/>
          </a:prstGeom>
          <a:noFill/>
          <a:ln/>
        </p:spPr>
        <p:txBody>
          <a:bodyPr wrap="square" lIns="0" tIns="0" rIns="0" bIns="0" rtlCol="0" anchor="ctr"/>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ESG · 환경</a:t>
            </a:r>
            <a:endParaRPr lang="en-US" sz="1400" dirty="0"/>
          </a:p>
        </p:txBody>
      </p:sp>
      <p:sp>
        <p:nvSpPr>
          <p:cNvPr id="40" name="o499"/>
          <p:cNvSpPr txBox="1"/>
          <p:nvPr/>
        </p:nvSpPr>
        <p:spPr>
          <a:xfrm>
            <a:off x="3048000" y="4000500"/>
            <a:ext cx="8382000" cy="647700"/>
          </a:xfrm>
          <a:prstGeom prst="rect">
            <a:avLst/>
          </a:prstGeom>
          <a:noFill/>
          <a:ln/>
        </p:spPr>
        <p:txBody>
          <a:bodyPr wrap="square" lIns="0" tIns="0" rIns="0" bIns="0" rtlCol="0" anchor="ctr"/>
          <a:lstStyle/>
          <a:p>
            <a:pPr indent="0" marL="0">
              <a:buNone/>
            </a:pPr>
            <a:r>
              <a:rPr lang="en-US" sz="1400" dirty="0">
                <a:solidFill>
                  <a:srgbClr val="161616"/>
                </a:solidFill>
                <a:latin typeface="IBM Plex Sans KR" pitchFamily="34" charset="0"/>
                <a:ea typeface="IBM Plex Sans KR" pitchFamily="34" charset="-122"/>
                <a:cs typeface="IBM Plex Sans KR" pitchFamily="34" charset="-120"/>
              </a:rPr>
              <a:t>종이 교육일지 · MSDS 출력 · 바인더 보관 0건 — 연 94건의 종이 행정을 데이터 자산으로</a:t>
            </a:r>
            <a:endParaRPr lang="en-US" sz="1400" dirty="0"/>
          </a:p>
        </p:txBody>
      </p:sp>
      <p:sp>
        <p:nvSpPr>
          <p:cNvPr id="41" name="o500"/>
          <p:cNvSpPr/>
          <p:nvPr/>
        </p:nvSpPr>
        <p:spPr>
          <a:xfrm>
            <a:off x="609600" y="4762500"/>
            <a:ext cx="10972800" cy="647700"/>
          </a:xfrm>
          <a:prstGeom prst="rect">
            <a:avLst/>
          </a:prstGeom>
          <a:solidFill>
            <a:srgbClr val="F4F4F4"/>
          </a:solidFill>
          <a:ln w="12700">
            <a:solidFill>
              <a:srgbClr val="D0E2FF"/>
            </a:solidFill>
            <a:prstDash val="solid"/>
          </a:ln>
        </p:spPr>
      </p:sp>
      <p:sp>
        <p:nvSpPr>
          <p:cNvPr id="42" name="o501"/>
          <p:cNvSpPr/>
          <p:nvPr/>
        </p:nvSpPr>
        <p:spPr>
          <a:xfrm>
            <a:off x="838200" y="4895850"/>
            <a:ext cx="381000" cy="381000"/>
          </a:xfrm>
          <a:prstGeom prst="ellipse">
            <a:avLst/>
          </a:prstGeom>
          <a:solidFill>
            <a:srgbClr val="161616"/>
          </a:solidFill>
          <a:ln/>
        </p:spPr>
      </p:sp>
      <p:sp>
        <p:nvSpPr>
          <p:cNvPr id="43" name="o502"/>
          <p:cNvSpPr txBox="1"/>
          <p:nvPr/>
        </p:nvSpPr>
        <p:spPr>
          <a:xfrm>
            <a:off x="838200" y="4895850"/>
            <a:ext cx="381000" cy="381000"/>
          </a:xfrm>
          <a:prstGeom prst="rect">
            <a:avLst/>
          </a:prstGeom>
          <a:noFill/>
          <a:ln/>
        </p:spPr>
        <p:txBody>
          <a:bodyPr wrap="square" lIns="0" tIns="0" rIns="0" bIns="0" rtlCol="0" anchor="ctr"/>
          <a:lstStyle/>
          <a:p>
            <a:pPr algn="ctr" indent="0" marL="0">
              <a:buNone/>
            </a:pPr>
            <a:r>
              <a:rPr lang="en-US" sz="1600" b="1" dirty="0">
                <a:solidFill>
                  <a:srgbClr val="FFFFFF"/>
                </a:solidFill>
                <a:latin typeface="IBM Plex Sans KR" pitchFamily="34" charset="0"/>
                <a:ea typeface="IBM Plex Sans KR" pitchFamily="34" charset="-122"/>
                <a:cs typeface="IBM Plex Sans KR" pitchFamily="34" charset="-120"/>
              </a:rPr>
              <a:t>S</a:t>
            </a:r>
            <a:endParaRPr lang="en-US" sz="1600" dirty="0"/>
          </a:p>
        </p:txBody>
      </p:sp>
      <p:sp>
        <p:nvSpPr>
          <p:cNvPr id="44" name="o503"/>
          <p:cNvSpPr txBox="1"/>
          <p:nvPr/>
        </p:nvSpPr>
        <p:spPr>
          <a:xfrm>
            <a:off x="1371600" y="4762500"/>
            <a:ext cx="1619250" cy="647700"/>
          </a:xfrm>
          <a:prstGeom prst="rect">
            <a:avLst/>
          </a:prstGeom>
          <a:noFill/>
          <a:ln/>
        </p:spPr>
        <p:txBody>
          <a:bodyPr wrap="square" lIns="0" tIns="0" rIns="0" bIns="0" rtlCol="0" anchor="ctr"/>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ESG · 사회</a:t>
            </a:r>
            <a:endParaRPr lang="en-US" sz="1400" dirty="0"/>
          </a:p>
        </p:txBody>
      </p:sp>
      <p:sp>
        <p:nvSpPr>
          <p:cNvPr id="45" name="o504"/>
          <p:cNvSpPr txBox="1"/>
          <p:nvPr/>
        </p:nvSpPr>
        <p:spPr>
          <a:xfrm>
            <a:off x="3048000" y="4762500"/>
            <a:ext cx="8382000" cy="647700"/>
          </a:xfrm>
          <a:prstGeom prst="rect">
            <a:avLst/>
          </a:prstGeom>
          <a:noFill/>
          <a:ln/>
        </p:spPr>
        <p:txBody>
          <a:bodyPr wrap="square" lIns="0" tIns="0" rIns="0" bIns="0" rtlCol="0" anchor="ctr"/>
          <a:lstStyle/>
          <a:p>
            <a:pPr indent="0" marL="0">
              <a:buNone/>
            </a:pPr>
            <a:r>
              <a:rPr lang="en-US" sz="1400" dirty="0">
                <a:solidFill>
                  <a:srgbClr val="161616"/>
                </a:solidFill>
                <a:latin typeface="IBM Plex Sans KR" pitchFamily="34" charset="0"/>
                <a:ea typeface="IBM Plex Sans KR" pitchFamily="34" charset="-122"/>
                <a:cs typeface="IBM Plex Sans KR" pitchFamily="34" charset="-120"/>
              </a:rPr>
              <a:t>직원 안전보건교육 누락 0건 · 근로자 참여형 AI 수시 위험성평가</a:t>
            </a:r>
            <a:endParaRPr lang="en-US" sz="1400" dirty="0"/>
          </a:p>
        </p:txBody>
      </p:sp>
      <p:sp>
        <p:nvSpPr>
          <p:cNvPr id="46" name="o505"/>
          <p:cNvSpPr/>
          <p:nvPr/>
        </p:nvSpPr>
        <p:spPr>
          <a:xfrm>
            <a:off x="609600" y="5524500"/>
            <a:ext cx="10972800" cy="647700"/>
          </a:xfrm>
          <a:prstGeom prst="rect">
            <a:avLst/>
          </a:prstGeom>
          <a:solidFill>
            <a:srgbClr val="F4F4F4"/>
          </a:solidFill>
          <a:ln w="12700">
            <a:solidFill>
              <a:srgbClr val="D0E2FF"/>
            </a:solidFill>
            <a:prstDash val="solid"/>
          </a:ln>
        </p:spPr>
      </p:sp>
      <p:sp>
        <p:nvSpPr>
          <p:cNvPr id="47" name="o506"/>
          <p:cNvSpPr/>
          <p:nvPr/>
        </p:nvSpPr>
        <p:spPr>
          <a:xfrm>
            <a:off x="838200" y="5657850"/>
            <a:ext cx="381000" cy="381000"/>
          </a:xfrm>
          <a:prstGeom prst="ellipse">
            <a:avLst/>
          </a:prstGeom>
          <a:solidFill>
            <a:srgbClr val="161616"/>
          </a:solidFill>
          <a:ln/>
        </p:spPr>
      </p:sp>
      <p:sp>
        <p:nvSpPr>
          <p:cNvPr id="48" name="o507"/>
          <p:cNvSpPr txBox="1"/>
          <p:nvPr/>
        </p:nvSpPr>
        <p:spPr>
          <a:xfrm>
            <a:off x="838200" y="5657850"/>
            <a:ext cx="381000" cy="381000"/>
          </a:xfrm>
          <a:prstGeom prst="rect">
            <a:avLst/>
          </a:prstGeom>
          <a:noFill/>
          <a:ln/>
        </p:spPr>
        <p:txBody>
          <a:bodyPr wrap="square" lIns="0" tIns="0" rIns="0" bIns="0" rtlCol="0" anchor="ctr"/>
          <a:lstStyle/>
          <a:p>
            <a:pPr algn="ctr" indent="0" marL="0">
              <a:buNone/>
            </a:pPr>
            <a:r>
              <a:rPr lang="en-US" sz="1600" b="1" dirty="0">
                <a:solidFill>
                  <a:srgbClr val="FFFFFF"/>
                </a:solidFill>
                <a:latin typeface="IBM Plex Sans KR" pitchFamily="34" charset="0"/>
                <a:ea typeface="IBM Plex Sans KR" pitchFamily="34" charset="-122"/>
                <a:cs typeface="IBM Plex Sans KR" pitchFamily="34" charset="-120"/>
              </a:rPr>
              <a:t>G</a:t>
            </a:r>
            <a:endParaRPr lang="en-US" sz="1600" dirty="0"/>
          </a:p>
        </p:txBody>
      </p:sp>
      <p:sp>
        <p:nvSpPr>
          <p:cNvPr id="49" name="o508"/>
          <p:cNvSpPr txBox="1"/>
          <p:nvPr/>
        </p:nvSpPr>
        <p:spPr>
          <a:xfrm>
            <a:off x="1371600" y="5524500"/>
            <a:ext cx="1619250" cy="647700"/>
          </a:xfrm>
          <a:prstGeom prst="rect">
            <a:avLst/>
          </a:prstGeom>
          <a:noFill/>
          <a:ln/>
        </p:spPr>
        <p:txBody>
          <a:bodyPr wrap="square" lIns="0" tIns="0" rIns="0" bIns="0" rtlCol="0" anchor="ctr"/>
          <a:lstStyle/>
          <a:p>
            <a:pPr indent="0" marL="0">
              <a:buNone/>
            </a:pPr>
            <a:r>
              <a:rPr lang="en-US" sz="1400" b="1" dirty="0">
                <a:solidFill>
                  <a:srgbClr val="0F62FE"/>
                </a:solidFill>
                <a:latin typeface="IBM Plex Sans KR" pitchFamily="34" charset="0"/>
                <a:ea typeface="IBM Plex Sans KR" pitchFamily="34" charset="-122"/>
                <a:cs typeface="IBM Plex Sans KR" pitchFamily="34" charset="-120"/>
              </a:rPr>
              <a:t>ESG · 지배구조</a:t>
            </a:r>
            <a:endParaRPr lang="en-US" sz="1400" dirty="0"/>
          </a:p>
        </p:txBody>
      </p:sp>
      <p:sp>
        <p:nvSpPr>
          <p:cNvPr id="50" name="o509"/>
          <p:cNvSpPr txBox="1"/>
          <p:nvPr/>
        </p:nvSpPr>
        <p:spPr>
          <a:xfrm>
            <a:off x="3048000" y="5524500"/>
            <a:ext cx="8382000" cy="647700"/>
          </a:xfrm>
          <a:prstGeom prst="rect">
            <a:avLst/>
          </a:prstGeom>
          <a:noFill/>
          <a:ln/>
        </p:spPr>
        <p:txBody>
          <a:bodyPr wrap="square" lIns="0" tIns="0" rIns="0" bIns="0" rtlCol="0" anchor="ctr"/>
          <a:lstStyle/>
          <a:p>
            <a:pPr indent="0" marL="0">
              <a:buNone/>
            </a:pPr>
            <a:r>
              <a:rPr lang="en-US" sz="1400" dirty="0">
                <a:solidFill>
                  <a:srgbClr val="161616"/>
                </a:solidFill>
                <a:latin typeface="IBM Plex Sans KR" pitchFamily="34" charset="0"/>
                <a:ea typeface="IBM Plex Sans KR" pitchFamily="34" charset="-122"/>
                <a:cs typeface="IBM Plex Sans KR" pitchFamily="34" charset="-120"/>
              </a:rPr>
              <a:t>중대재해처벌법 · 인증 10.7 · 11.3 증빙 무결성 · 표준 업무지침 제정</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510"/>
          <p:cNvSpPr/>
          <p:nvPr/>
        </p:nvSpPr>
        <p:spPr>
          <a:xfrm>
            <a:off x="609600" y="228600"/>
            <a:ext cx="2686050" cy="38100"/>
          </a:xfrm>
          <a:prstGeom prst="rect">
            <a:avLst/>
          </a:prstGeom>
          <a:solidFill>
            <a:srgbClr val="0F62FE"/>
          </a:solidFill>
          <a:ln/>
        </p:spPr>
      </p:sp>
      <p:sp>
        <p:nvSpPr>
          <p:cNvPr id="3" name="o511"/>
          <p:cNvSpPr txBox="1"/>
          <p:nvPr/>
        </p:nvSpPr>
        <p:spPr>
          <a:xfrm>
            <a:off x="6096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Plan</a:t>
            </a:r>
            <a:endParaRPr lang="en-US" sz="800" dirty="0"/>
          </a:p>
        </p:txBody>
      </p:sp>
      <p:sp>
        <p:nvSpPr>
          <p:cNvPr id="4" name="o512"/>
          <p:cNvSpPr/>
          <p:nvPr/>
        </p:nvSpPr>
        <p:spPr>
          <a:xfrm>
            <a:off x="3371850" y="228600"/>
            <a:ext cx="2686050" cy="38100"/>
          </a:xfrm>
          <a:prstGeom prst="rect">
            <a:avLst/>
          </a:prstGeom>
          <a:solidFill>
            <a:srgbClr val="0F62FE"/>
          </a:solidFill>
          <a:ln/>
        </p:spPr>
      </p:sp>
      <p:sp>
        <p:nvSpPr>
          <p:cNvPr id="5" name="o513"/>
          <p:cNvSpPr txBox="1"/>
          <p:nvPr/>
        </p:nvSpPr>
        <p:spPr>
          <a:xfrm>
            <a:off x="337185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Do</a:t>
            </a:r>
            <a:endParaRPr lang="en-US" sz="800" dirty="0"/>
          </a:p>
        </p:txBody>
      </p:sp>
      <p:sp>
        <p:nvSpPr>
          <p:cNvPr id="6" name="o514"/>
          <p:cNvSpPr/>
          <p:nvPr/>
        </p:nvSpPr>
        <p:spPr>
          <a:xfrm>
            <a:off x="6134100" y="228600"/>
            <a:ext cx="2686050" cy="38100"/>
          </a:xfrm>
          <a:prstGeom prst="rect">
            <a:avLst/>
          </a:prstGeom>
          <a:solidFill>
            <a:srgbClr val="0F62FE"/>
          </a:solidFill>
          <a:ln/>
        </p:spPr>
      </p:sp>
      <p:sp>
        <p:nvSpPr>
          <p:cNvPr id="7" name="o515"/>
          <p:cNvSpPr txBox="1"/>
          <p:nvPr/>
        </p:nvSpPr>
        <p:spPr>
          <a:xfrm>
            <a:off x="6134100" y="304800"/>
            <a:ext cx="2686050" cy="133350"/>
          </a:xfrm>
          <a:prstGeom prst="rect">
            <a:avLst/>
          </a:prstGeom>
          <a:noFill/>
          <a:ln/>
        </p:spPr>
        <p:txBody>
          <a:bodyPr wrap="square" lIns="0" tIns="0" rIns="0" bIns="0" rtlCol="0" anchor="t"/>
          <a:lstStyle/>
          <a:p>
            <a:pPr indent="0" marL="0">
              <a:buNone/>
            </a:pPr>
            <a:r>
              <a:rPr lang="en-US" sz="800" dirty="0">
                <a:solidFill>
                  <a:srgbClr val="525252"/>
                </a:solidFill>
                <a:latin typeface="IBM Plex Sans KR" pitchFamily="34" charset="0"/>
                <a:ea typeface="IBM Plex Sans KR" pitchFamily="34" charset="-122"/>
                <a:cs typeface="IBM Plex Sans KR" pitchFamily="34" charset="-120"/>
              </a:rPr>
              <a:t>Check</a:t>
            </a:r>
            <a:endParaRPr lang="en-US" sz="800" dirty="0"/>
          </a:p>
        </p:txBody>
      </p:sp>
      <p:sp>
        <p:nvSpPr>
          <p:cNvPr id="8" name="o516"/>
          <p:cNvSpPr/>
          <p:nvPr/>
        </p:nvSpPr>
        <p:spPr>
          <a:xfrm>
            <a:off x="8896350" y="228600"/>
            <a:ext cx="2686050" cy="38100"/>
          </a:xfrm>
          <a:prstGeom prst="rect">
            <a:avLst/>
          </a:prstGeom>
          <a:solidFill>
            <a:srgbClr val="0F62FE"/>
          </a:solidFill>
          <a:ln/>
        </p:spPr>
      </p:sp>
      <p:sp>
        <p:nvSpPr>
          <p:cNvPr id="9" name="o517"/>
          <p:cNvSpPr txBox="1"/>
          <p:nvPr/>
        </p:nvSpPr>
        <p:spPr>
          <a:xfrm>
            <a:off x="8896350" y="304800"/>
            <a:ext cx="2686050" cy="133350"/>
          </a:xfrm>
          <a:prstGeom prst="rect">
            <a:avLst/>
          </a:prstGeom>
          <a:noFill/>
          <a:ln/>
        </p:spPr>
        <p:txBody>
          <a:bodyPr wrap="square" lIns="0" tIns="0" rIns="0" bIns="0" rtlCol="0" anchor="t"/>
          <a:lstStyle/>
          <a:p>
            <a:pPr indent="0" marL="0">
              <a:buNone/>
            </a:pPr>
            <a:r>
              <a:rPr lang="en-US" sz="800" b="1" dirty="0">
                <a:solidFill>
                  <a:srgbClr val="0F62FE"/>
                </a:solidFill>
                <a:latin typeface="IBM Plex Sans KR" pitchFamily="34" charset="0"/>
                <a:ea typeface="IBM Plex Sans KR" pitchFamily="34" charset="-122"/>
                <a:cs typeface="IBM Plex Sans KR" pitchFamily="34" charset="-120"/>
              </a:rPr>
              <a:t>Act</a:t>
            </a:r>
            <a:endParaRPr lang="en-US" sz="800" dirty="0"/>
          </a:p>
        </p:txBody>
      </p:sp>
      <p:sp>
        <p:nvSpPr>
          <p:cNvPr id="10" name="o518"/>
          <p:cNvSpPr txBox="1"/>
          <p:nvPr/>
        </p:nvSpPr>
        <p:spPr>
          <a:xfrm>
            <a:off x="609600" y="571500"/>
            <a:ext cx="8572500" cy="171450"/>
          </a:xfrm>
          <a:prstGeom prst="rect">
            <a:avLst/>
          </a:prstGeom>
          <a:noFill/>
          <a:ln/>
        </p:spPr>
        <p:txBody>
          <a:bodyPr wrap="square" lIns="0" tIns="0" rIns="0" bIns="0" rtlCol="0" anchor="t"/>
          <a:lstStyle/>
          <a:p>
            <a:pPr indent="0" marL="0">
              <a:buNone/>
            </a:pPr>
            <a:r>
              <a:rPr lang="en-US" sz="1100" b="1" spc="100" kern="0" dirty="0">
                <a:solidFill>
                  <a:srgbClr val="0F62FE"/>
                </a:solidFill>
                <a:latin typeface="IBM Plex Sans KR" pitchFamily="34" charset="0"/>
                <a:ea typeface="IBM Plex Sans KR" pitchFamily="34" charset="-122"/>
                <a:cs typeface="IBM Plex Sans KR" pitchFamily="34" charset="-120"/>
              </a:rPr>
              <a:t>08   NEXT  ·  표준화 · 고도화</a:t>
            </a:r>
            <a:endParaRPr lang="en-US" sz="1100" dirty="0"/>
          </a:p>
        </p:txBody>
      </p:sp>
      <p:sp>
        <p:nvSpPr>
          <p:cNvPr id="11" name="o519"/>
          <p:cNvSpPr txBox="1"/>
          <p:nvPr/>
        </p:nvSpPr>
        <p:spPr>
          <a:xfrm>
            <a:off x="609600" y="781050"/>
            <a:ext cx="10972800" cy="419100"/>
          </a:xfrm>
          <a:prstGeom prst="rect">
            <a:avLst/>
          </a:prstGeom>
          <a:noFill/>
          <a:ln/>
        </p:spPr>
        <p:txBody>
          <a:bodyPr wrap="square" lIns="0" tIns="0" rIns="0" bIns="0" rtlCol="0" anchor="t"/>
          <a:lstStyle/>
          <a:p>
            <a:pPr indent="0" marL="0">
              <a:buNone/>
            </a:pPr>
            <a:r>
              <a:rPr lang="en-US" sz="2600" dirty="0">
                <a:solidFill>
                  <a:srgbClr val="161616"/>
                </a:solidFill>
                <a:latin typeface="IBM Plex Sans KR" pitchFamily="34" charset="0"/>
                <a:ea typeface="IBM Plex Sans KR" pitchFamily="34" charset="-122"/>
                <a:cs typeface="IBM Plex Sans KR" pitchFamily="34" charset="-120"/>
              </a:rPr>
              <a:t>검증된 프로세스를 병원의 표준으로</a:t>
            </a:r>
            <a:endParaRPr lang="en-US" sz="2600" dirty="0"/>
          </a:p>
        </p:txBody>
      </p:sp>
      <p:sp>
        <p:nvSpPr>
          <p:cNvPr id="12" name="o520"/>
          <p:cNvSpPr/>
          <p:nvPr/>
        </p:nvSpPr>
        <p:spPr>
          <a:xfrm>
            <a:off x="0" y="6477000"/>
            <a:ext cx="12192000" cy="381000"/>
          </a:xfrm>
          <a:prstGeom prst="rect">
            <a:avLst/>
          </a:prstGeom>
          <a:solidFill>
            <a:srgbClr val="161616"/>
          </a:solidFill>
          <a:ln/>
        </p:spPr>
      </p:sp>
      <p:sp>
        <p:nvSpPr>
          <p:cNvPr id="13" name="o521"/>
          <p:cNvSpPr txBox="1"/>
          <p:nvPr/>
        </p:nvSpPr>
        <p:spPr>
          <a:xfrm>
            <a:off x="609600" y="6477000"/>
            <a:ext cx="6667500" cy="381000"/>
          </a:xfrm>
          <a:prstGeom prst="rect">
            <a:avLst/>
          </a:prstGeom>
          <a:noFill/>
          <a:ln/>
        </p:spPr>
        <p:txBody>
          <a:bodyPr wrap="square" lIns="0" tIns="0" rIns="0" bIns="0" rtlCol="0" anchor="ctr"/>
          <a:lstStyle/>
          <a:p>
            <a:pPr indent="0" marL="0">
              <a:buNone/>
            </a:pPr>
            <a:r>
              <a:rPr lang="en-US" sz="900" dirty="0">
                <a:solidFill>
                  <a:srgbClr val="FFFFFF"/>
                </a:solidFill>
                <a:latin typeface="IBM Plex Sans KR" pitchFamily="34" charset="0"/>
                <a:ea typeface="IBM Plex Sans KR" pitchFamily="34" charset="-122"/>
                <a:cs typeface="IBM Plex Sans KR" pitchFamily="34" charset="-120"/>
              </a:rPr>
              <a:t>부산부민병원 안전보건 통합관리 시스템  ·  Safety First</a:t>
            </a:r>
            <a:endParaRPr lang="en-US" sz="900" dirty="0"/>
          </a:p>
        </p:txBody>
      </p:sp>
      <p:sp>
        <p:nvSpPr>
          <p:cNvPr id="14" name="o522"/>
          <p:cNvSpPr txBox="1"/>
          <p:nvPr/>
        </p:nvSpPr>
        <p:spPr>
          <a:xfrm>
            <a:off x="10629900" y="6477000"/>
            <a:ext cx="952500" cy="381000"/>
          </a:xfrm>
          <a:prstGeom prst="rect">
            <a:avLst/>
          </a:prstGeom>
          <a:noFill/>
          <a:ln/>
        </p:spPr>
        <p:txBody>
          <a:bodyPr wrap="square" lIns="0" tIns="0" rIns="0" bIns="0" rtlCol="0" anchor="ctr"/>
          <a:lstStyle/>
          <a:p>
            <a:pPr algn="r" indent="0" marL="0">
              <a:buNone/>
            </a:pPr>
            <a:r>
              <a:rPr lang="en-US" sz="1000" b="1" dirty="0">
                <a:solidFill>
                  <a:srgbClr val="FFFFFF"/>
                </a:solidFill>
                <a:latin typeface="IBM Plex Sans KR" pitchFamily="34" charset="0"/>
                <a:ea typeface="IBM Plex Sans KR" pitchFamily="34" charset="-122"/>
                <a:cs typeface="IBM Plex Sans KR" pitchFamily="34" charset="-120"/>
              </a:rPr>
              <a:t>12</a:t>
            </a:r>
            <a:endParaRPr lang="en-US" sz="1000" dirty="0"/>
          </a:p>
        </p:txBody>
      </p:sp>
      <p:sp>
        <p:nvSpPr>
          <p:cNvPr id="15" name="o523"/>
          <p:cNvSpPr/>
          <p:nvPr/>
        </p:nvSpPr>
        <p:spPr>
          <a:xfrm>
            <a:off x="609600" y="1333500"/>
            <a:ext cx="6705600" cy="1066800"/>
          </a:xfrm>
          <a:prstGeom prst="rect">
            <a:avLst/>
          </a:prstGeom>
          <a:solidFill>
            <a:srgbClr val="FFFFFF"/>
          </a:solidFill>
          <a:ln w="12700">
            <a:solidFill>
              <a:srgbClr val="E0E0E0"/>
            </a:solidFill>
            <a:prstDash val="solid"/>
          </a:ln>
        </p:spPr>
      </p:sp>
      <p:sp>
        <p:nvSpPr>
          <p:cNvPr id="16" name="o524"/>
          <p:cNvSpPr txBox="1"/>
          <p:nvPr/>
        </p:nvSpPr>
        <p:spPr>
          <a:xfrm>
            <a:off x="876300" y="1524000"/>
            <a:ext cx="1905000" cy="247650"/>
          </a:xfrm>
          <a:prstGeom prst="rect">
            <a:avLst/>
          </a:prstGeom>
          <a:noFill/>
          <a:ln/>
        </p:spPr>
        <p:txBody>
          <a:bodyPr wrap="square" lIns="0" tIns="0" rIns="0" bIns="0" rtlCol="0" anchor="t"/>
          <a:lstStyle/>
          <a:p>
            <a:pPr indent="0" marL="0">
              <a:buNone/>
            </a:pPr>
            <a:r>
              <a:rPr lang="en-US" sz="1800" b="1" dirty="0">
                <a:solidFill>
                  <a:srgbClr val="0F62FE"/>
                </a:solidFill>
                <a:latin typeface="IBM Plex Sans KR" pitchFamily="34" charset="0"/>
                <a:ea typeface="IBM Plex Sans KR" pitchFamily="34" charset="-122"/>
                <a:cs typeface="IBM Plex Sans KR" pitchFamily="34" charset="-120"/>
              </a:rPr>
              <a:t>표준화</a:t>
            </a:r>
            <a:endParaRPr lang="en-US" sz="1800" dirty="0"/>
          </a:p>
        </p:txBody>
      </p:sp>
      <p:sp>
        <p:nvSpPr>
          <p:cNvPr id="17" name="o525"/>
          <p:cNvSpPr/>
          <p:nvPr/>
        </p:nvSpPr>
        <p:spPr>
          <a:xfrm>
            <a:off x="6096000" y="1543050"/>
            <a:ext cx="990600" cy="209550"/>
          </a:xfrm>
          <a:prstGeom prst="rect">
            <a:avLst/>
          </a:prstGeom>
          <a:solidFill>
            <a:srgbClr val="EDF5FF"/>
          </a:solidFill>
          <a:ln/>
        </p:spPr>
      </p:sp>
      <p:sp>
        <p:nvSpPr>
          <p:cNvPr id="18" name="o526"/>
          <p:cNvSpPr txBox="1"/>
          <p:nvPr/>
        </p:nvSpPr>
        <p:spPr>
          <a:xfrm>
            <a:off x="6096000" y="1543050"/>
            <a:ext cx="990600" cy="209550"/>
          </a:xfrm>
          <a:prstGeom prst="rect">
            <a:avLst/>
          </a:prstGeom>
          <a:noFill/>
          <a:ln/>
        </p:spPr>
        <p:txBody>
          <a:bodyPr wrap="square" lIns="0" tIns="0" rIns="0" bIns="0" rtlCol="0" anchor="ctr"/>
          <a:lstStyle/>
          <a:p>
            <a:pPr algn="ctr" indent="0" marL="0">
              <a:buNone/>
            </a:pPr>
            <a:r>
              <a:rPr lang="en-US" sz="900" b="1" dirty="0">
                <a:solidFill>
                  <a:srgbClr val="0F62FE"/>
                </a:solidFill>
                <a:latin typeface="IBM Plex Sans KR" pitchFamily="34" charset="0"/>
                <a:ea typeface="IBM Plex Sans KR" pitchFamily="34" charset="-122"/>
                <a:cs typeface="IBM Plex Sans KR" pitchFamily="34" charset="-120"/>
              </a:rPr>
              <a:t>완료</a:t>
            </a:r>
            <a:endParaRPr lang="en-US" sz="900" dirty="0"/>
          </a:p>
        </p:txBody>
      </p:sp>
      <p:sp>
        <p:nvSpPr>
          <p:cNvPr id="19" name="o527"/>
          <p:cNvSpPr txBox="1"/>
          <p:nvPr/>
        </p:nvSpPr>
        <p:spPr>
          <a:xfrm>
            <a:off x="876300" y="18859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393939"/>
                </a:solidFill>
                <a:latin typeface="IBM Plex Sans KR" pitchFamily="34" charset="0"/>
                <a:ea typeface="IBM Plex Sans KR" pitchFamily="34" charset="-122"/>
                <a:cs typeface="IBM Plex Sans KR" pitchFamily="34" charset="-120"/>
              </a:rPr>
              <a:t>「법정 안전보건 관리 표준 업무지침」 제정 · 정식 업무 전환</a:t>
            </a:r>
            <a:endParaRPr lang="en-US" sz="1400" dirty="0"/>
          </a:p>
        </p:txBody>
      </p:sp>
      <p:sp>
        <p:nvSpPr>
          <p:cNvPr id="20" name="o528"/>
          <p:cNvSpPr/>
          <p:nvPr/>
        </p:nvSpPr>
        <p:spPr>
          <a:xfrm>
            <a:off x="609600" y="2552700"/>
            <a:ext cx="6705600" cy="1066800"/>
          </a:xfrm>
          <a:prstGeom prst="rect">
            <a:avLst/>
          </a:prstGeom>
          <a:solidFill>
            <a:srgbClr val="FFFFFF"/>
          </a:solidFill>
          <a:ln w="12700">
            <a:solidFill>
              <a:srgbClr val="E0E0E0"/>
            </a:solidFill>
            <a:prstDash val="solid"/>
          </a:ln>
        </p:spPr>
      </p:sp>
      <p:sp>
        <p:nvSpPr>
          <p:cNvPr id="21" name="o529"/>
          <p:cNvSpPr txBox="1"/>
          <p:nvPr/>
        </p:nvSpPr>
        <p:spPr>
          <a:xfrm>
            <a:off x="876300" y="2743200"/>
            <a:ext cx="1905000" cy="247650"/>
          </a:xfrm>
          <a:prstGeom prst="rect">
            <a:avLst/>
          </a:prstGeom>
          <a:noFill/>
          <a:ln/>
        </p:spPr>
        <p:txBody>
          <a:bodyPr wrap="square" lIns="0" tIns="0" rIns="0" bIns="0" rtlCol="0" anchor="t"/>
          <a:lstStyle/>
          <a:p>
            <a:pPr indent="0" marL="0">
              <a:buNone/>
            </a:pPr>
            <a:r>
              <a:rPr lang="en-US" sz="1800" b="1" dirty="0">
                <a:solidFill>
                  <a:srgbClr val="0F62FE"/>
                </a:solidFill>
                <a:latin typeface="IBM Plex Sans KR" pitchFamily="34" charset="0"/>
                <a:ea typeface="IBM Plex Sans KR" pitchFamily="34" charset="-122"/>
                <a:cs typeface="IBM Plex Sans KR" pitchFamily="34" charset="-120"/>
              </a:rPr>
              <a:t>지속 관리</a:t>
            </a:r>
            <a:endParaRPr lang="en-US" sz="1800" dirty="0"/>
          </a:p>
        </p:txBody>
      </p:sp>
      <p:sp>
        <p:nvSpPr>
          <p:cNvPr id="22" name="o530"/>
          <p:cNvSpPr/>
          <p:nvPr/>
        </p:nvSpPr>
        <p:spPr>
          <a:xfrm>
            <a:off x="6096000" y="2762250"/>
            <a:ext cx="990600" cy="209550"/>
          </a:xfrm>
          <a:prstGeom prst="rect">
            <a:avLst/>
          </a:prstGeom>
          <a:solidFill>
            <a:srgbClr val="EDF5FF"/>
          </a:solidFill>
          <a:ln/>
        </p:spPr>
      </p:sp>
      <p:sp>
        <p:nvSpPr>
          <p:cNvPr id="23" name="o531"/>
          <p:cNvSpPr txBox="1"/>
          <p:nvPr/>
        </p:nvSpPr>
        <p:spPr>
          <a:xfrm>
            <a:off x="6096000" y="2762250"/>
            <a:ext cx="990600" cy="209550"/>
          </a:xfrm>
          <a:prstGeom prst="rect">
            <a:avLst/>
          </a:prstGeom>
          <a:noFill/>
          <a:ln/>
        </p:spPr>
        <p:txBody>
          <a:bodyPr wrap="square" lIns="0" tIns="0" rIns="0" bIns="0" rtlCol="0" anchor="ctr"/>
          <a:lstStyle/>
          <a:p>
            <a:pPr algn="ctr" indent="0" marL="0">
              <a:buNone/>
            </a:pPr>
            <a:r>
              <a:rPr lang="en-US" sz="900" b="1" dirty="0">
                <a:solidFill>
                  <a:srgbClr val="0F62FE"/>
                </a:solidFill>
                <a:latin typeface="IBM Plex Sans KR" pitchFamily="34" charset="0"/>
                <a:ea typeface="IBM Plex Sans KR" pitchFamily="34" charset="-122"/>
                <a:cs typeface="IBM Plex Sans KR" pitchFamily="34" charset="-120"/>
              </a:rPr>
              <a:t>운영</a:t>
            </a:r>
            <a:endParaRPr lang="en-US" sz="900" dirty="0"/>
          </a:p>
        </p:txBody>
      </p:sp>
      <p:sp>
        <p:nvSpPr>
          <p:cNvPr id="24" name="o532"/>
          <p:cNvSpPr txBox="1"/>
          <p:nvPr/>
        </p:nvSpPr>
        <p:spPr>
          <a:xfrm>
            <a:off x="876300" y="31051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393939"/>
                </a:solidFill>
                <a:latin typeface="IBM Plex Sans KR" pitchFamily="34" charset="0"/>
                <a:ea typeface="IBM Plex Sans KR" pitchFamily="34" charset="-122"/>
                <a:cs typeface="IBM Plex Sans KR" pitchFamily="34" charset="-120"/>
              </a:rPr>
              <a:t>관리자 대시보드로 신규 입사자 이수 현황 실시간 점검 (CQI 연계)</a:t>
            </a:r>
            <a:endParaRPr lang="en-US" sz="1400" dirty="0"/>
          </a:p>
        </p:txBody>
      </p:sp>
      <p:sp>
        <p:nvSpPr>
          <p:cNvPr id="25" name="o533"/>
          <p:cNvSpPr/>
          <p:nvPr/>
        </p:nvSpPr>
        <p:spPr>
          <a:xfrm>
            <a:off x="609600" y="3771900"/>
            <a:ext cx="6705600" cy="1066800"/>
          </a:xfrm>
          <a:prstGeom prst="rect">
            <a:avLst/>
          </a:prstGeom>
          <a:solidFill>
            <a:srgbClr val="FFFFFF"/>
          </a:solidFill>
          <a:ln w="12700">
            <a:solidFill>
              <a:srgbClr val="E0E0E0"/>
            </a:solidFill>
            <a:prstDash val="solid"/>
          </a:ln>
        </p:spPr>
      </p:sp>
      <p:sp>
        <p:nvSpPr>
          <p:cNvPr id="26" name="o534"/>
          <p:cNvSpPr txBox="1"/>
          <p:nvPr/>
        </p:nvSpPr>
        <p:spPr>
          <a:xfrm>
            <a:off x="876300" y="3962400"/>
            <a:ext cx="1905000" cy="247650"/>
          </a:xfrm>
          <a:prstGeom prst="rect">
            <a:avLst/>
          </a:prstGeom>
          <a:noFill/>
          <a:ln/>
        </p:spPr>
        <p:txBody>
          <a:bodyPr wrap="square" lIns="0" tIns="0" rIns="0" bIns="0" rtlCol="0" anchor="t"/>
          <a:lstStyle/>
          <a:p>
            <a:pPr indent="0" marL="0">
              <a:buNone/>
            </a:pPr>
            <a:r>
              <a:rPr lang="en-US" sz="1800" b="1" dirty="0">
                <a:solidFill>
                  <a:srgbClr val="0F62FE"/>
                </a:solidFill>
                <a:latin typeface="IBM Plex Sans KR" pitchFamily="34" charset="0"/>
                <a:ea typeface="IBM Plex Sans KR" pitchFamily="34" charset="-122"/>
                <a:cs typeface="IBM Plex Sans KR" pitchFamily="34" charset="-120"/>
              </a:rPr>
              <a:t>고도화</a:t>
            </a:r>
            <a:endParaRPr lang="en-US" sz="1800" dirty="0"/>
          </a:p>
        </p:txBody>
      </p:sp>
      <p:sp>
        <p:nvSpPr>
          <p:cNvPr id="27" name="o535"/>
          <p:cNvSpPr/>
          <p:nvPr/>
        </p:nvSpPr>
        <p:spPr>
          <a:xfrm>
            <a:off x="6096000" y="3981450"/>
            <a:ext cx="990600" cy="209550"/>
          </a:xfrm>
          <a:prstGeom prst="rect">
            <a:avLst/>
          </a:prstGeom>
          <a:solidFill>
            <a:srgbClr val="EDF5FF"/>
          </a:solidFill>
          <a:ln/>
        </p:spPr>
      </p:sp>
      <p:sp>
        <p:nvSpPr>
          <p:cNvPr id="28" name="o536"/>
          <p:cNvSpPr txBox="1"/>
          <p:nvPr/>
        </p:nvSpPr>
        <p:spPr>
          <a:xfrm>
            <a:off x="6096000" y="3981450"/>
            <a:ext cx="990600" cy="209550"/>
          </a:xfrm>
          <a:prstGeom prst="rect">
            <a:avLst/>
          </a:prstGeom>
          <a:noFill/>
          <a:ln/>
        </p:spPr>
        <p:txBody>
          <a:bodyPr wrap="square" lIns="0" tIns="0" rIns="0" bIns="0" rtlCol="0" anchor="ctr"/>
          <a:lstStyle/>
          <a:p>
            <a:pPr algn="ctr" indent="0" marL="0">
              <a:buNone/>
            </a:pPr>
            <a:r>
              <a:rPr lang="en-US" sz="900" b="1" dirty="0">
                <a:solidFill>
                  <a:srgbClr val="0F62FE"/>
                </a:solidFill>
                <a:latin typeface="IBM Plex Sans KR" pitchFamily="34" charset="0"/>
                <a:ea typeface="IBM Plex Sans KR" pitchFamily="34" charset="-122"/>
                <a:cs typeface="IBM Plex Sans KR" pitchFamily="34" charset="-120"/>
              </a:rPr>
              <a:t>완료</a:t>
            </a:r>
            <a:endParaRPr lang="en-US" sz="900" dirty="0"/>
          </a:p>
        </p:txBody>
      </p:sp>
      <p:sp>
        <p:nvSpPr>
          <p:cNvPr id="29" name="o537"/>
          <p:cNvSpPr txBox="1"/>
          <p:nvPr/>
        </p:nvSpPr>
        <p:spPr>
          <a:xfrm>
            <a:off x="876300" y="43243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393939"/>
                </a:solidFill>
                <a:latin typeface="IBM Plex Sans KR" pitchFamily="34" charset="0"/>
                <a:ea typeface="IBM Plex Sans KR" pitchFamily="34" charset="-122"/>
                <a:cs typeface="IBM Plex Sans KR" pitchFamily="34" charset="-120"/>
              </a:rPr>
              <a:t>미이수자 부서장 자동 알림 · AI MSDS 검토 · AI 도우미 (2026.08–10)</a:t>
            </a:r>
            <a:endParaRPr lang="en-US" sz="1400" dirty="0"/>
          </a:p>
        </p:txBody>
      </p:sp>
      <p:sp>
        <p:nvSpPr>
          <p:cNvPr id="30" name="o538"/>
          <p:cNvSpPr/>
          <p:nvPr/>
        </p:nvSpPr>
        <p:spPr>
          <a:xfrm>
            <a:off x="609600" y="4991100"/>
            <a:ext cx="6705600" cy="1066800"/>
          </a:xfrm>
          <a:prstGeom prst="rect">
            <a:avLst/>
          </a:prstGeom>
          <a:solidFill>
            <a:srgbClr val="F4F4F4"/>
          </a:solidFill>
          <a:ln w="12700">
            <a:solidFill>
              <a:srgbClr val="D0E2FF"/>
            </a:solidFill>
            <a:prstDash val="solid"/>
          </a:ln>
        </p:spPr>
      </p:sp>
      <p:sp>
        <p:nvSpPr>
          <p:cNvPr id="31" name="o539"/>
          <p:cNvSpPr txBox="1"/>
          <p:nvPr/>
        </p:nvSpPr>
        <p:spPr>
          <a:xfrm>
            <a:off x="876300" y="5181600"/>
            <a:ext cx="1905000" cy="247650"/>
          </a:xfrm>
          <a:prstGeom prst="rect">
            <a:avLst/>
          </a:prstGeom>
          <a:noFill/>
          <a:ln/>
        </p:spPr>
        <p:txBody>
          <a:bodyPr wrap="square" lIns="0" tIns="0" rIns="0" bIns="0" rtlCol="0" anchor="t"/>
          <a:lstStyle/>
          <a:p>
            <a:pPr indent="0" marL="0">
              <a:buNone/>
            </a:pPr>
            <a:r>
              <a:rPr lang="en-US" sz="1800" b="1" dirty="0">
                <a:solidFill>
                  <a:srgbClr val="0F62FE"/>
                </a:solidFill>
                <a:latin typeface="IBM Plex Sans KR" pitchFamily="34" charset="0"/>
                <a:ea typeface="IBM Plex Sans KR" pitchFamily="34" charset="-122"/>
                <a:cs typeface="IBM Plex Sans KR" pitchFamily="34" charset="-120"/>
              </a:rPr>
              <a:t>확장</a:t>
            </a:r>
            <a:endParaRPr lang="en-US" sz="1800" dirty="0"/>
          </a:p>
        </p:txBody>
      </p:sp>
      <p:sp>
        <p:nvSpPr>
          <p:cNvPr id="32" name="o540"/>
          <p:cNvSpPr/>
          <p:nvPr/>
        </p:nvSpPr>
        <p:spPr>
          <a:xfrm>
            <a:off x="6096000" y="5200650"/>
            <a:ext cx="990600" cy="209550"/>
          </a:xfrm>
          <a:prstGeom prst="rect">
            <a:avLst/>
          </a:prstGeom>
          <a:solidFill>
            <a:srgbClr val="0F62FE"/>
          </a:solidFill>
          <a:ln/>
        </p:spPr>
      </p:sp>
      <p:sp>
        <p:nvSpPr>
          <p:cNvPr id="33" name="o541"/>
          <p:cNvSpPr txBox="1"/>
          <p:nvPr/>
        </p:nvSpPr>
        <p:spPr>
          <a:xfrm>
            <a:off x="6096000" y="5200650"/>
            <a:ext cx="990600" cy="209550"/>
          </a:xfrm>
          <a:prstGeom prst="rect">
            <a:avLst/>
          </a:prstGeom>
          <a:noFill/>
          <a:ln/>
        </p:spPr>
        <p:txBody>
          <a:bodyPr wrap="square" lIns="0" tIns="0" rIns="0" bIns="0" rtlCol="0" anchor="ctr"/>
          <a:lstStyle/>
          <a:p>
            <a:pPr algn="ctr" indent="0" marL="0">
              <a:buNone/>
            </a:pPr>
            <a:r>
              <a:rPr lang="en-US" sz="900" b="1" dirty="0">
                <a:solidFill>
                  <a:srgbClr val="FFFFFF"/>
                </a:solidFill>
                <a:latin typeface="IBM Plex Sans KR" pitchFamily="34" charset="0"/>
                <a:ea typeface="IBM Plex Sans KR" pitchFamily="34" charset="-122"/>
                <a:cs typeface="IBM Plex Sans KR" pitchFamily="34" charset="-120"/>
              </a:rPr>
              <a:t>제언</a:t>
            </a:r>
            <a:endParaRPr lang="en-US" sz="900" dirty="0"/>
          </a:p>
        </p:txBody>
      </p:sp>
      <p:sp>
        <p:nvSpPr>
          <p:cNvPr id="34" name="o542"/>
          <p:cNvSpPr txBox="1"/>
          <p:nvPr/>
        </p:nvSpPr>
        <p:spPr>
          <a:xfrm>
            <a:off x="876300" y="5543550"/>
            <a:ext cx="6096000" cy="381000"/>
          </a:xfrm>
          <a:prstGeom prst="rect">
            <a:avLst/>
          </a:prstGeom>
          <a:noFill/>
          <a:ln/>
        </p:spPr>
        <p:txBody>
          <a:bodyPr wrap="square" lIns="0" tIns="0" rIns="0" bIns="0" rtlCol="0" anchor="t"/>
          <a:lstStyle/>
          <a:p>
            <a:pPr indent="0" marL="0">
              <a:lnSpc>
                <a:spcPct val="135000"/>
              </a:lnSpc>
              <a:buNone/>
            </a:pPr>
            <a:r>
              <a:rPr lang="en-US" sz="1400" dirty="0">
                <a:solidFill>
                  <a:srgbClr val="393939"/>
                </a:solidFill>
                <a:latin typeface="IBM Plex Sans KR" pitchFamily="34" charset="0"/>
                <a:ea typeface="IBM Plex Sans KR" pitchFamily="34" charset="-122"/>
                <a:cs typeface="IBM Plex Sans KR" pitchFamily="34" charset="-120"/>
              </a:rPr>
              <a:t>건강상담(연 819건) · 기타 서류 확대 · AI 위험성평가 참여 확대</a:t>
            </a:r>
            <a:endParaRPr lang="en-US" sz="1400" dirty="0"/>
          </a:p>
        </p:txBody>
      </p:sp>
      <p:sp>
        <p:nvSpPr>
          <p:cNvPr id="35" name="o543"/>
          <p:cNvSpPr/>
          <p:nvPr/>
        </p:nvSpPr>
        <p:spPr>
          <a:xfrm>
            <a:off x="7505700" y="1333500"/>
            <a:ext cx="4076700" cy="4724400"/>
          </a:xfrm>
          <a:prstGeom prst="rect">
            <a:avLst/>
          </a:prstGeom>
          <a:solidFill>
            <a:srgbClr val="161616"/>
          </a:solidFill>
          <a:ln/>
        </p:spPr>
      </p:sp>
      <p:sp>
        <p:nvSpPr>
          <p:cNvPr id="36" name="o544"/>
          <p:cNvSpPr txBox="1"/>
          <p:nvPr/>
        </p:nvSpPr>
        <p:spPr>
          <a:xfrm>
            <a:off x="7810500" y="1600200"/>
            <a:ext cx="3429000" cy="171450"/>
          </a:xfrm>
          <a:prstGeom prst="rect">
            <a:avLst/>
          </a:prstGeom>
          <a:noFill/>
          <a:ln/>
        </p:spPr>
        <p:txBody>
          <a:bodyPr wrap="square" lIns="0" tIns="0" rIns="0" bIns="0" rtlCol="0" anchor="t"/>
          <a:lstStyle/>
          <a:p>
            <a:pPr indent="0" marL="0">
              <a:buNone/>
            </a:pPr>
            <a:r>
              <a:rPr lang="en-US" sz="1100" b="1" spc="200" kern="0" dirty="0">
                <a:solidFill>
                  <a:srgbClr val="78A9FF"/>
                </a:solidFill>
                <a:latin typeface="IBM Plex Sans KR" pitchFamily="34" charset="0"/>
                <a:ea typeface="IBM Plex Sans KR" pitchFamily="34" charset="-122"/>
                <a:cs typeface="IBM Plex Sans KR" pitchFamily="34" charset="-120"/>
              </a:rPr>
              <a:t>OUR PROMISE</a:t>
            </a:r>
            <a:endParaRPr lang="en-US" sz="1100" dirty="0"/>
          </a:p>
        </p:txBody>
      </p:sp>
      <p:sp>
        <p:nvSpPr>
          <p:cNvPr id="37" name="o545"/>
          <p:cNvSpPr txBox="1"/>
          <p:nvPr/>
        </p:nvSpPr>
        <p:spPr>
          <a:xfrm>
            <a:off x="7810500" y="1905000"/>
            <a:ext cx="3619500" cy="1047750"/>
          </a:xfrm>
          <a:prstGeom prst="rect">
            <a:avLst/>
          </a:prstGeom>
          <a:noFill/>
          <a:ln/>
        </p:spPr>
        <p:txBody>
          <a:bodyPr wrap="square" lIns="0" tIns="0" rIns="0" bIns="0" rtlCol="0" anchor="t"/>
          <a:lstStyle/>
          <a:p>
            <a:pPr indent="0" marL="0">
              <a:lnSpc>
                <a:spcPct val="120000"/>
              </a:lnSpc>
              <a:buNone/>
            </a:pPr>
            <a:r>
              <a:rPr lang="en-US" sz="3000" b="1" dirty="0">
                <a:solidFill>
                  <a:srgbClr val="FFFFFF"/>
                </a:solidFill>
                <a:latin typeface="IBM Plex Sans KR" pitchFamily="34" charset="0"/>
                <a:ea typeface="IBM Plex Sans KR" pitchFamily="34" charset="-122"/>
                <a:cs typeface="IBM Plex Sans KR" pitchFamily="34" charset="-120"/>
              </a:rPr>
              <a:t>기다리지 않는 행정,</a:t>
            </a:r>
            <a:endParaRPr lang="en-US" sz="3000" dirty="0"/>
          </a:p>
          <a:p>
            <a:pPr indent="0" marL="0">
              <a:lnSpc>
                <a:spcPct val="120000"/>
              </a:lnSpc>
              <a:buNone/>
            </a:pPr>
            <a:r>
              <a:rPr lang="en-US" sz="3000" b="1" dirty="0">
                <a:solidFill>
                  <a:srgbClr val="FFFFFF"/>
                </a:solidFill>
                <a:latin typeface="IBM Plex Sans KR" pitchFamily="34" charset="0"/>
                <a:ea typeface="IBM Plex Sans KR" pitchFamily="34" charset="-122"/>
                <a:cs typeface="IBM Plex Sans KR" pitchFamily="34" charset="-120"/>
              </a:rPr>
              <a:t>누락 없는 안전.</a:t>
            </a:r>
            <a:endParaRPr lang="en-US" sz="3000" dirty="0"/>
          </a:p>
        </p:txBody>
      </p:sp>
      <p:sp>
        <p:nvSpPr>
          <p:cNvPr id="38" name="o546"/>
          <p:cNvSpPr txBox="1"/>
          <p:nvPr/>
        </p:nvSpPr>
        <p:spPr>
          <a:xfrm>
            <a:off x="7810500" y="3143250"/>
            <a:ext cx="3467100" cy="762000"/>
          </a:xfrm>
          <a:prstGeom prst="rect">
            <a:avLst/>
          </a:prstGeom>
          <a:noFill/>
          <a:ln/>
        </p:spPr>
        <p:txBody>
          <a:bodyPr wrap="square" lIns="0" tIns="0" rIns="0" bIns="0" rtlCol="0" anchor="t"/>
          <a:lstStyle/>
          <a:p>
            <a:pPr indent="0" marL="0">
              <a:lnSpc>
                <a:spcPct val="145000"/>
              </a:lnSpc>
              <a:buNone/>
            </a:pPr>
            <a:r>
              <a:rPr lang="en-US" sz="1400" dirty="0">
                <a:solidFill>
                  <a:srgbClr val="D0E2FF"/>
                </a:solidFill>
                <a:latin typeface="IBM Plex Sans KR" pitchFamily="34" charset="0"/>
                <a:ea typeface="IBM Plex Sans KR" pitchFamily="34" charset="-122"/>
                <a:cs typeface="IBM Plex Sans KR" pitchFamily="34" charset="-120"/>
              </a:rPr>
              <a:t>안전보건 데이터가 실시간으로 흐를 때, 관리자는 서류가 아닌 현장에 집중합니다.</a:t>
            </a:r>
            <a:endParaRPr lang="en-US" sz="1400" dirty="0"/>
          </a:p>
        </p:txBody>
      </p:sp>
      <p:sp>
        <p:nvSpPr>
          <p:cNvPr id="39" name="o547"/>
          <p:cNvSpPr/>
          <p:nvPr/>
        </p:nvSpPr>
        <p:spPr>
          <a:xfrm>
            <a:off x="7810500" y="4953000"/>
            <a:ext cx="3467100" cy="0"/>
          </a:xfrm>
          <a:prstGeom prst="line">
            <a:avLst/>
          </a:prstGeom>
          <a:noFill/>
          <a:ln w="9525">
            <a:solidFill>
              <a:srgbClr val="0043CE"/>
            </a:solidFill>
            <a:prstDash val="solid"/>
          </a:ln>
        </p:spPr>
      </p:sp>
      <p:sp>
        <p:nvSpPr>
          <p:cNvPr id="40" name="o548"/>
          <p:cNvSpPr txBox="1"/>
          <p:nvPr/>
        </p:nvSpPr>
        <p:spPr>
          <a:xfrm>
            <a:off x="7810500" y="5143500"/>
            <a:ext cx="3467100" cy="419100"/>
          </a:xfrm>
          <a:prstGeom prst="rect">
            <a:avLst/>
          </a:prstGeom>
          <a:noFill/>
          <a:ln/>
        </p:spPr>
        <p:txBody>
          <a:bodyPr wrap="square" lIns="0" tIns="0" rIns="0" bIns="0" rtlCol="0" anchor="t"/>
          <a:lstStyle/>
          <a:p>
            <a:pPr indent="0" marL="0">
              <a:buNone/>
            </a:pPr>
            <a:r>
              <a:rPr lang="en-US" sz="2800" b="1" dirty="0">
                <a:solidFill>
                  <a:srgbClr val="FFFFFF"/>
                </a:solidFill>
                <a:latin typeface="IBM Plex Sans KR" pitchFamily="34" charset="0"/>
                <a:ea typeface="IBM Plex Sans KR" pitchFamily="34" charset="-122"/>
                <a:cs typeface="IBM Plex Sans KR" pitchFamily="34" charset="-120"/>
              </a:rPr>
              <a:t>감사합니다</a:t>
            </a:r>
            <a:endParaRPr lang="en-US" sz="2800" dirty="0"/>
          </a:p>
        </p:txBody>
      </p:sp>
      <p:sp>
        <p:nvSpPr>
          <p:cNvPr id="41" name="o549"/>
          <p:cNvSpPr txBox="1"/>
          <p:nvPr/>
        </p:nvSpPr>
        <p:spPr>
          <a:xfrm>
            <a:off x="7810500" y="5619750"/>
            <a:ext cx="3467100" cy="190500"/>
          </a:xfrm>
          <a:prstGeom prst="rect">
            <a:avLst/>
          </a:prstGeom>
          <a:noFill/>
          <a:ln/>
        </p:spPr>
        <p:txBody>
          <a:bodyPr wrap="square" lIns="0" tIns="0" rIns="0" bIns="0" rtlCol="0" anchor="t"/>
          <a:lstStyle/>
          <a:p>
            <a:pPr indent="0" marL="0">
              <a:buNone/>
            </a:pPr>
            <a:r>
              <a:rPr lang="en-US" sz="1100" dirty="0">
                <a:solidFill>
                  <a:srgbClr val="D0E2FF"/>
                </a:solidFill>
                <a:latin typeface="IBM Plex Sans KR" pitchFamily="34" charset="0"/>
                <a:ea typeface="IBM Plex Sans KR" pitchFamily="34" charset="-122"/>
                <a:cs typeface="IBM Plex Sans KR" pitchFamily="34" charset="-120"/>
              </a:rPr>
              <a:t>문의 · 보건관리실 내선 3293 · 3034</a:t>
            </a:r>
            <a:endParaRPr lang="en-US" sz="1100" dirty="0"/>
          </a:p>
        </p:txBody>
      </p:sp>
    </p:spTree>
  </p:cSld>
  <p:clrMapOvr>
    <a:masterClrMapping/>
  </p:clrMapOvr>
</p:sld>
</file>

<file path=ppt/theme/theme1.xml><?xml version="1.0" encoding="utf-8"?>
<a:theme xmlns:a="http://schemas.openxmlformats.org/drawingml/2006/main" name="Bumin Green">
  <a:themeElements>
    <a:clrScheme name="Bumin Green">
      <a:dk1>
        <a:srgbClr val="1E1E1C"/>
      </a:dk1>
      <a:lt1>
        <a:srgbClr val="FFFFFF"/>
      </a:lt1>
      <a:dk2>
        <a:srgbClr val="45423D"/>
      </a:dk2>
      <a:lt2>
        <a:srgbClr val="F5F6F2"/>
      </a:lt2>
      <a:accent1>
        <a:srgbClr val="67AF28"/>
      </a:accent1>
      <a:accent2>
        <a:srgbClr val="3F7518"/>
      </a:accent2>
      <a:accent3>
        <a:srgbClr val="345C12"/>
      </a:accent3>
      <a:accent4>
        <a:srgbClr val="A3302A"/>
      </a:accent4>
      <a:accent5>
        <a:srgbClr val="4C8A1D"/>
      </a:accent5>
      <a:accent6>
        <a:srgbClr val="EEF6E6"/>
      </a:accent6>
      <a:hlink>
        <a:srgbClr val="3F7518"/>
      </a:hlink>
      <a:folHlink>
        <a:srgbClr val="345C12"/>
      </a:folHlink>
    </a:clrScheme>
    <a:fontScheme name="Bumin Green">
      <a:majorFont>
        <a:latin typeface="IBM Plex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통합 안전보건 플랫폼 구축을 통한 업무 효율성 증가</dc:title>
  <dc:subject>PptxGenJS Presentation</dc:subject>
  <dc:creator>총무-안전보건팀 (Safety First)</dc:creator>
  <cp:lastModifiedBy>총무-안전보건팀 (Safety First)</cp:lastModifiedBy>
  <cp:revision>1</cp:revision>
  <dcterms:created xsi:type="dcterms:W3CDTF">2026-10-27T08:33:44Z</dcterms:created>
  <dcterms:modified xsi:type="dcterms:W3CDTF">2026-10-27T08:33:44Z</dcterms:modified>
</cp:coreProperties>
</file>