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표지 [0:00–0:20]
안녕하십니까. 부민병원 총무-안전보건팀 보건관리자 장은선입니다.
(도입) "지금 이 순간, 우리 병원 신규 입사자 중 법정 안전보건교육을 받지 않은 사람이 몇 명인지 바로 답하실 수 있습니까?"
오늘은 이 질문에 바로 답할 수 있게 된 과정, AI 통합 안전보건 플랫폼 활동을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목차 [0:20–0:25]
(말없이 넘겨도 됨) "무엇이 달라졌는지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01 WHY · 활동 배경 [0:25–1:05]
법은 "했다"가 아니라 "했다는 증거"를 요구합니다. MSDS와 신규·특별안전보건교육, 인증기준 10.7·11.3 모두 실시간 증빙이 필요합니다.
그런데 저희는 출력하고, 서명받고, 들고 오고, 결재를 기다렸습니다.
이 활동은 병원 중점과제 '업무 프로세스 개선', 그리고 ESG 환경 부문과 정확히 맞닿아 있습니다.
전환: "이 활동은 저희 세 명이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팀 구성 [1:05–1:15]
"팀장 김광현, 보건관리자인 제가 플랫폼을 직접 개발했고, 안전관리자 장종문이 MSDS와 AI 위험성평가를 맡았습니다."
전환: "먼저 1년치 데이터를 전수조사했습니다."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02 PROBLEM · 현황 파악 [1:15–2:00]
2025년 신규 입사자 106명을 전수조사한 결과, 18건(17%)이 누락되어 있었습니다. 특정 시기가 아니라 12개월 중 8개월에서 반복됐습니다.
특별안전보건교육 1건의 서류 처리에 33분 48초. 그중 결재 대기 57%, 걸어서 제출 21% — 78%가 아무 가치도 만들지 않는 시간이었습니다.
전환: "문제는 사람이 아니라 방식이었습니다."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03 ROOT CAUSE &amp; GOAL · 원인과 목표 [2:00–2:40]
Fishbone으로 4M 원인을 분류했고, 핵심은 결재 대기 · 방문 제출 · 실시간 모니터링 부재 세 가지였습니다.
현황을 기준값으로 목표를 숫자로 정했습니다: 누락률 0%, 리드타임 70% 이상 단축, 종이 일지 0건, 6대 모듈 100%.
전환: "원인마다 대응 기능을 하나씩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04 SOLUTION · 플랫폼 구성 [2:40–3:20]
흐름은 단순합니다: 모바일 작성 → 전자서명 → 비대면 승인 → 자동 보관.
각 카드의 태그는 앞에서 찾은 원인 코드입니다. 원인 하나에 기능 하나.
초록 카드, AI 수시 위험성평가는 사진과 작업 내용만으로 위험도를 산출하고 평가서 초안을 만듭니다.
담당자가 직접 개발했고, 61병동 시범 운영 피드백을 반영해 전 부서로 확대했습니다.
전환: "실제 화면으로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05 DEMO · 시연 영상 [3:20–4:50 · 1분 30초]
시작: "신규 입사자 한 명이 들어왔을 때를 가정해 보겠습니다."
- 0:00 MSDS — 부서 선택 → 경고표지 · 응급조치 · 원본 PDF
- 0:20 교육일지 — 이름 검색 → 자동 입력 → 현장 서명
- 0:50 승인 — "이 1분이 예전의 19분 24초입니다."
- 1:10 대시보드 · AI — 미이수자가 한 화면에
종료 후: "AI는 어디에 쓰였는지 짚고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05+ AI 적용 [4:50–5:15]
- 사진 한 장으로 위험요인 · 위험도 · 개선대책 초안이 나오는 흐름만 짚기
- "AI는 초안, 확정은 사람" — 이 문장은 꼭 말하기
- 시범 단계라는 한계를 먼저 밝히기 (AI MSDS 검토 · AI 도우미는 질문이 나오면 답변)
전환: "이 과정이 만든 차이를 숫자로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06 RESULT · 개선 전후 비교 [5:15–6:05]
왼쪽이 예전, 오른쪽이 지금 — 같은 특별안전보건교육 한 건입니다.
가장 긴 막대, 내부 결재 19분 24초가 1분이 되었습니다.
직접 제출 7분과 취합 · 파일링은 단계 자체가 사라졌습니다.
합계 33분 48초 → 2분 22초, 93% 단축. 목표 70% 초과, MSDS 교육도 81% 단축.
전환: "시간뿐만 아니라, 네 가지 지표 모두 목표를 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07 IMPACT · 성과와 ESG [6:05–6:45]
네 개 지표 모두 목표를 달성했습니다.
누락 18건 → 0건 — 효율이 아니라 법적 리스크의 문제입니다.
행정시간 93% 단축, Paperless 100%, 6개 모듈 모두 정상 가동.
ESG로도 이어집니다: E 종이 행정의 데이터화, S 누락 없는 직원 보호, G 언제든 준비된 법적 증빙.
전환: "이 성과를 어떻게 지속하고 넓힐지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08 NEXT · 결론과 제언 [6:45–7:30]
시범사업에 그치지 않고 표준 업무지침으로 정식 전환했습니다.
대시보드와 현장 피드백 점검을 통해 CQI로 이어 가고 있습니다. 미이수자 부서장 자동 알림과 AI MSDS 검토 · 도우미까지 고도화를 마쳤고, 다음은 연 819건의 건강상담과 다른 안전보건 서류로의 확대입니다.
마무리: "기다리지 않는 행정, 누락 없는 안전.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o1" descr="/tmp/claude-0/-home-user-health/066b9d04-89c1-5e53-a1bb-1693165fc6b6/scratchpad/logo/img0.jpg">    </p:cNvPr>
          <p:cNvPicPr>
            <a:picLocks noChangeAspect="1"/>
          </p:cNvPicPr>
          <p:nvPr/>
        </p:nvPicPr>
        <p:blipFill>
          <a:blip r:embed="rId1"/>
          <a:stretch>
            <a:fillRect/>
          </a:stretch>
        </p:blipFill>
        <p:spPr>
          <a:xfrm>
            <a:off x="609600" y="457200"/>
            <a:ext cx="1333500" cy="342900"/>
          </a:xfrm>
          <a:prstGeom prst="rect">
            <a:avLst/>
          </a:prstGeom>
        </p:spPr>
      </p:pic>
      <p:sp>
        <p:nvSpPr>
          <p:cNvPr id="4" name="o2"/>
          <p:cNvSpPr txBox="1"/>
          <p:nvPr/>
        </p:nvSpPr>
        <p:spPr>
          <a:xfrm>
            <a:off x="609600" y="1600200"/>
            <a:ext cx="6096000" cy="19050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2026 가을 학술대회 · QI 경진대회 구연</a:t>
            </a:r>
            <a:endParaRPr lang="en-US" sz="1300" dirty="0"/>
          </a:p>
        </p:txBody>
      </p:sp>
      <p:sp>
        <p:nvSpPr>
          <p:cNvPr id="5" name="o3"/>
          <p:cNvSpPr txBox="1"/>
          <p:nvPr/>
        </p:nvSpPr>
        <p:spPr>
          <a:xfrm>
            <a:off x="609600" y="1885950"/>
            <a:ext cx="6667500" cy="1143000"/>
          </a:xfrm>
          <a:prstGeom prst="rect">
            <a:avLst/>
          </a:prstGeom>
          <a:noFill/>
          <a:ln/>
        </p:spPr>
        <p:txBody>
          <a:bodyPr wrap="square" lIns="0" tIns="0" rIns="0" bIns="0" rtlCol="0" anchor="t"/>
          <a:lstStyle/>
          <a:p>
            <a:pPr indent="0" marL="0">
              <a:lnSpc>
                <a:spcPct val="115000"/>
              </a:lnSpc>
              <a:buNone/>
            </a:pPr>
            <a:r>
              <a:rPr lang="en-US" sz="3200" dirty="0">
                <a:solidFill>
                  <a:srgbClr val="161616"/>
                </a:solidFill>
                <a:latin typeface="IBM Plex Sans KR" pitchFamily="34" charset="0"/>
                <a:ea typeface="IBM Plex Sans KR" pitchFamily="34" charset="-122"/>
                <a:cs typeface="IBM Plex Sans KR" pitchFamily="34" charset="-120"/>
              </a:rPr>
              <a:t>AI 통합 안전보건 플랫폼</a:t>
            </a:r>
            <a:endParaRPr lang="en-US" sz="3200" dirty="0"/>
          </a:p>
          <a:p>
            <a:pPr indent="0" marL="0">
              <a:lnSpc>
                <a:spcPct val="115000"/>
              </a:lnSpc>
              <a:buNone/>
            </a:pPr>
            <a:r>
              <a:rPr lang="en-US" sz="3200" dirty="0">
                <a:solidFill>
                  <a:srgbClr val="161616"/>
                </a:solidFill>
                <a:latin typeface="IBM Plex Sans KR" pitchFamily="34" charset="0"/>
                <a:ea typeface="IBM Plex Sans KR" pitchFamily="34" charset="-122"/>
                <a:cs typeface="IBM Plex Sans KR" pitchFamily="34" charset="-120"/>
              </a:rPr>
              <a:t>구축을 통한 업무 효율성 증가</a:t>
            </a:r>
            <a:endParaRPr lang="en-US" sz="3200" dirty="0"/>
          </a:p>
        </p:txBody>
      </p:sp>
      <p:sp>
        <p:nvSpPr>
          <p:cNvPr id="6" name="o4"/>
          <p:cNvSpPr txBox="1"/>
          <p:nvPr/>
        </p:nvSpPr>
        <p:spPr>
          <a:xfrm>
            <a:off x="609600" y="3143250"/>
            <a:ext cx="6667500" cy="228600"/>
          </a:xfrm>
          <a:prstGeom prst="rect">
            <a:avLst/>
          </a:prstGeom>
          <a:noFill/>
          <a:ln/>
        </p:spPr>
        <p:txBody>
          <a:bodyPr wrap="square" lIns="0" tIns="0" rIns="0" bIns="0" rtlCol="0" anchor="t"/>
          <a:lstStyle/>
          <a:p>
            <a:pPr indent="0" marL="0">
              <a:buNone/>
            </a:pPr>
            <a:r>
              <a:rPr lang="en-US" sz="1500" dirty="0">
                <a:solidFill>
                  <a:srgbClr val="525252"/>
                </a:solidFill>
                <a:latin typeface="IBM Plex Sans KR" pitchFamily="34" charset="0"/>
                <a:ea typeface="IBM Plex Sans KR" pitchFamily="34" charset="-122"/>
                <a:cs typeface="IBM Plex Sans KR" pitchFamily="34" charset="-120"/>
              </a:rPr>
              <a:t>종이 · 수기 · 대면 결재 → 모바일 · 전자서명 · 비대면 승인</a:t>
            </a:r>
            <a:endParaRPr lang="en-US" sz="1500" dirty="0"/>
          </a:p>
        </p:txBody>
      </p:sp>
      <p:sp>
        <p:nvSpPr>
          <p:cNvPr id="7" name="o5"/>
          <p:cNvSpPr txBox="1"/>
          <p:nvPr/>
        </p:nvSpPr>
        <p:spPr>
          <a:xfrm>
            <a:off x="609600" y="4953000"/>
            <a:ext cx="6096000" cy="209550"/>
          </a:xfrm>
          <a:prstGeom prst="rect">
            <a:avLst/>
          </a:prstGeom>
          <a:noFill/>
          <a:ln/>
        </p:spPr>
        <p:txBody>
          <a:bodyPr wrap="square" lIns="0" tIns="0" rIns="0" bIns="0" rtlCol="0" anchor="t"/>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장은선 · 김광현 · 장종문</a:t>
            </a:r>
            <a:endParaRPr lang="en-US" sz="1500" dirty="0"/>
          </a:p>
        </p:txBody>
      </p:sp>
      <p:sp>
        <p:nvSpPr>
          <p:cNvPr id="8" name="o6"/>
          <p:cNvSpPr txBox="1"/>
          <p:nvPr/>
        </p:nvSpPr>
        <p:spPr>
          <a:xfrm>
            <a:off x="609600" y="5219700"/>
            <a:ext cx="60960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인당의료재단 부민병원 총무-안전보건팀 (Safety First)</a:t>
            </a:r>
            <a:endParaRPr lang="en-US" sz="1200" dirty="0"/>
          </a:p>
        </p:txBody>
      </p:sp>
      <p:sp>
        <p:nvSpPr>
          <p:cNvPr id="9" name="o7"/>
          <p:cNvSpPr/>
          <p:nvPr/>
        </p:nvSpPr>
        <p:spPr>
          <a:xfrm>
            <a:off x="7620000" y="0"/>
            <a:ext cx="4572000" cy="6858000"/>
          </a:xfrm>
          <a:prstGeom prst="rect">
            <a:avLst/>
          </a:prstGeom>
          <a:solidFill>
            <a:srgbClr val="F4F4F4"/>
          </a:solidFill>
          <a:ln/>
        </p:spPr>
      </p:sp>
      <p:sp>
        <p:nvSpPr>
          <p:cNvPr id="10" name="o8"/>
          <p:cNvSpPr txBox="1"/>
          <p:nvPr/>
        </p:nvSpPr>
        <p:spPr>
          <a:xfrm>
            <a:off x="8001000" y="1600200"/>
            <a:ext cx="3810000" cy="19050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특별안전보건교육 1건 행정시간</a:t>
            </a:r>
            <a:endParaRPr lang="en-US" sz="1300" dirty="0"/>
          </a:p>
        </p:txBody>
      </p:sp>
      <p:sp>
        <p:nvSpPr>
          <p:cNvPr id="11" name="o9"/>
          <p:cNvSpPr txBox="1"/>
          <p:nvPr/>
        </p:nvSpPr>
        <p:spPr>
          <a:xfrm>
            <a:off x="7962900" y="1905000"/>
            <a:ext cx="4191000" cy="1238250"/>
          </a:xfrm>
          <a:prstGeom prst="rect">
            <a:avLst/>
          </a:prstGeom>
          <a:noFill/>
          <a:ln/>
        </p:spPr>
        <p:txBody>
          <a:bodyPr wrap="square" lIns="0" tIns="0" rIns="0" bIns="0" rtlCol="0" anchor="t"/>
          <a:lstStyle/>
          <a:p>
            <a:pPr indent="0" marL="0">
              <a:buNone/>
            </a:pPr>
            <a:r>
              <a:rPr lang="en-US" sz="8800" dirty="0">
                <a:solidFill>
                  <a:srgbClr val="0F62FE"/>
                </a:solidFill>
                <a:latin typeface="IBM Plex Sans KR" pitchFamily="34" charset="0"/>
                <a:ea typeface="IBM Plex Sans KR" pitchFamily="34" charset="-122"/>
                <a:cs typeface="IBM Plex Sans KR" pitchFamily="34" charset="-120"/>
              </a:rPr>
              <a:t>−93%</a:t>
            </a:r>
            <a:endParaRPr lang="en-US" sz="8800" dirty="0"/>
          </a:p>
        </p:txBody>
      </p:sp>
      <p:sp>
        <p:nvSpPr>
          <p:cNvPr id="12" name="o10"/>
          <p:cNvSpPr txBox="1"/>
          <p:nvPr/>
        </p:nvSpPr>
        <p:spPr>
          <a:xfrm>
            <a:off x="8001000" y="3390900"/>
            <a:ext cx="3810000" cy="285750"/>
          </a:xfrm>
          <a:prstGeom prst="rect">
            <a:avLst/>
          </a:prstGeom>
          <a:noFill/>
          <a:ln/>
        </p:spPr>
        <p:txBody>
          <a:bodyPr wrap="square" lIns="0" tIns="0" rIns="0" bIns="0" rtlCol="0" anchor="t"/>
          <a:lstStyle/>
          <a:p>
            <a:pPr indent="0" marL="0">
              <a:buNone/>
            </a:pPr>
            <a:r>
              <a:rPr lang="en-US" sz="2000" b="1" dirty="0">
                <a:solidFill>
                  <a:srgbClr val="161616"/>
                </a:solidFill>
                <a:latin typeface="IBM Plex Sans KR" pitchFamily="34" charset="0"/>
                <a:ea typeface="IBM Plex Sans KR" pitchFamily="34" charset="-122"/>
                <a:cs typeface="IBM Plex Sans KR" pitchFamily="34" charset="-120"/>
              </a:rPr>
              <a:t>33분 48초 → 2분 22초</a:t>
            </a:r>
            <a:endParaRPr lang="en-US" sz="2000" dirty="0"/>
          </a:p>
        </p:txBody>
      </p:sp>
      <p:sp>
        <p:nvSpPr>
          <p:cNvPr id="13" name="o11"/>
          <p:cNvSpPr/>
          <p:nvPr/>
        </p:nvSpPr>
        <p:spPr>
          <a:xfrm>
            <a:off x="8001000" y="4000500"/>
            <a:ext cx="3581400" cy="0"/>
          </a:xfrm>
          <a:prstGeom prst="line">
            <a:avLst/>
          </a:prstGeom>
          <a:noFill/>
          <a:ln w="9525">
            <a:solidFill>
              <a:srgbClr val="C6C6C6"/>
            </a:solidFill>
            <a:prstDash val="solid"/>
          </a:ln>
        </p:spPr>
      </p:sp>
      <p:sp>
        <p:nvSpPr>
          <p:cNvPr id="14" name="o12"/>
          <p:cNvSpPr txBox="1"/>
          <p:nvPr/>
        </p:nvSpPr>
        <p:spPr>
          <a:xfrm>
            <a:off x="8001000" y="4191000"/>
            <a:ext cx="1714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법정교육 누락</a:t>
            </a:r>
            <a:endParaRPr lang="en-US" sz="1200" dirty="0"/>
          </a:p>
        </p:txBody>
      </p:sp>
      <p:sp>
        <p:nvSpPr>
          <p:cNvPr id="15" name="o13"/>
          <p:cNvSpPr txBox="1"/>
          <p:nvPr/>
        </p:nvSpPr>
        <p:spPr>
          <a:xfrm>
            <a:off x="8001000" y="4400550"/>
            <a:ext cx="1809750" cy="381000"/>
          </a:xfrm>
          <a:prstGeom prst="rect">
            <a:avLst/>
          </a:prstGeom>
          <a:noFill/>
          <a:ln/>
        </p:spPr>
        <p:txBody>
          <a:bodyPr wrap="square" lIns="0" tIns="0" rIns="0" bIns="0" rtlCol="0" anchor="t"/>
          <a:lstStyle/>
          <a:p>
            <a:pPr indent="0" marL="0">
              <a:buNone/>
            </a:pPr>
            <a:r>
              <a:rPr lang="en-US" sz="2600" b="1" dirty="0">
                <a:solidFill>
                  <a:srgbClr val="161616"/>
                </a:solidFill>
                <a:latin typeface="IBM Plex Sans KR" pitchFamily="34" charset="0"/>
                <a:ea typeface="IBM Plex Sans KR" pitchFamily="34" charset="-122"/>
                <a:cs typeface="IBM Plex Sans KR" pitchFamily="34" charset="-120"/>
              </a:rPr>
              <a:t>18 → 0건</a:t>
            </a:r>
            <a:endParaRPr lang="en-US" sz="2600" dirty="0"/>
          </a:p>
        </p:txBody>
      </p:sp>
      <p:sp>
        <p:nvSpPr>
          <p:cNvPr id="16" name="o14"/>
          <p:cNvSpPr txBox="1"/>
          <p:nvPr/>
        </p:nvSpPr>
        <p:spPr>
          <a:xfrm>
            <a:off x="9867900" y="4191000"/>
            <a:ext cx="1714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종이 출력</a:t>
            </a:r>
            <a:endParaRPr lang="en-US" sz="1200" dirty="0"/>
          </a:p>
        </p:txBody>
      </p:sp>
      <p:sp>
        <p:nvSpPr>
          <p:cNvPr id="17" name="o15"/>
          <p:cNvSpPr txBox="1"/>
          <p:nvPr/>
        </p:nvSpPr>
        <p:spPr>
          <a:xfrm>
            <a:off x="9867900" y="4400550"/>
            <a:ext cx="1809750" cy="381000"/>
          </a:xfrm>
          <a:prstGeom prst="rect">
            <a:avLst/>
          </a:prstGeom>
          <a:noFill/>
          <a:ln/>
        </p:spPr>
        <p:txBody>
          <a:bodyPr wrap="square" lIns="0" tIns="0" rIns="0" bIns="0" rtlCol="0" anchor="t"/>
          <a:lstStyle/>
          <a:p>
            <a:pPr indent="0" marL="0">
              <a:buNone/>
            </a:pPr>
            <a:r>
              <a:rPr lang="en-US" sz="2600" b="1" dirty="0">
                <a:solidFill>
                  <a:srgbClr val="161616"/>
                </a:solidFill>
                <a:latin typeface="IBM Plex Sans KR" pitchFamily="34" charset="0"/>
                <a:ea typeface="IBM Plex Sans KR" pitchFamily="34" charset="-122"/>
                <a:cs typeface="IBM Plex Sans KR" pitchFamily="34" charset="-120"/>
              </a:rPr>
              <a:t>94 → 0건</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o16"/>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17"/>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5" name="o18"/>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6" name="o19"/>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7" name="o20"/>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CONTENTS  ·  목차</a:t>
            </a:r>
            <a:endParaRPr lang="en-US" sz="1200" dirty="0"/>
          </a:p>
        </p:txBody>
      </p:sp>
      <p:sp>
        <p:nvSpPr>
          <p:cNvPr id="8" name="o21"/>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무엇이 달라졌는지, PDCA 순서로 말씀드립니다</a:t>
            </a:r>
            <a:endParaRPr lang="en-US" sz="2600" dirty="0"/>
          </a:p>
        </p:txBody>
      </p:sp>
      <p:sp>
        <p:nvSpPr>
          <p:cNvPr id="9" name="o22"/>
          <p:cNvSpPr/>
          <p:nvPr/>
        </p:nvSpPr>
        <p:spPr>
          <a:xfrm>
            <a:off x="609600" y="6324600"/>
            <a:ext cx="10972800" cy="0"/>
          </a:xfrm>
          <a:prstGeom prst="line">
            <a:avLst/>
          </a:prstGeom>
          <a:noFill/>
          <a:ln w="9525">
            <a:solidFill>
              <a:srgbClr val="E0E0E0"/>
            </a:solidFill>
            <a:prstDash val="solid"/>
          </a:ln>
        </p:spPr>
      </p:sp>
      <p:sp>
        <p:nvSpPr>
          <p:cNvPr id="10" name="o23"/>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1" name="o24"/>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02</a:t>
            </a:r>
            <a:endParaRPr lang="en-US" sz="900" dirty="0"/>
          </a:p>
        </p:txBody>
      </p:sp>
      <p:sp>
        <p:nvSpPr>
          <p:cNvPr id="12" name="o25"/>
          <p:cNvSpPr/>
          <p:nvPr/>
        </p:nvSpPr>
        <p:spPr>
          <a:xfrm>
            <a:off x="609600" y="1866900"/>
            <a:ext cx="2514600" cy="19050"/>
          </a:xfrm>
          <a:prstGeom prst="rect">
            <a:avLst/>
          </a:prstGeom>
          <a:solidFill>
            <a:srgbClr val="161616"/>
          </a:solidFill>
          <a:ln/>
        </p:spPr>
      </p:sp>
      <p:sp>
        <p:nvSpPr>
          <p:cNvPr id="13" name="o26"/>
          <p:cNvSpPr txBox="1"/>
          <p:nvPr/>
        </p:nvSpPr>
        <p:spPr>
          <a:xfrm>
            <a:off x="609600" y="2057400"/>
            <a:ext cx="25146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Plan</a:t>
            </a:r>
            <a:endParaRPr lang="en-US" sz="1400" dirty="0"/>
          </a:p>
        </p:txBody>
      </p:sp>
      <p:sp>
        <p:nvSpPr>
          <p:cNvPr id="14" name="o27"/>
          <p:cNvSpPr txBox="1"/>
          <p:nvPr/>
        </p:nvSpPr>
        <p:spPr>
          <a:xfrm>
            <a:off x="571500" y="2362200"/>
            <a:ext cx="2590800" cy="85725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17%</a:t>
            </a:r>
            <a:endParaRPr lang="en-US" sz="6000" dirty="0"/>
          </a:p>
        </p:txBody>
      </p:sp>
      <p:sp>
        <p:nvSpPr>
          <p:cNvPr id="15" name="o28"/>
          <p:cNvSpPr txBox="1"/>
          <p:nvPr/>
        </p:nvSpPr>
        <p:spPr>
          <a:xfrm>
            <a:off x="609600" y="3276600"/>
            <a:ext cx="2514600" cy="1905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2025년 교육 누락률</a:t>
            </a:r>
            <a:endParaRPr lang="en-US" sz="1200" dirty="0"/>
          </a:p>
        </p:txBody>
      </p:sp>
      <p:sp>
        <p:nvSpPr>
          <p:cNvPr id="16" name="o29"/>
          <p:cNvSpPr/>
          <p:nvPr/>
        </p:nvSpPr>
        <p:spPr>
          <a:xfrm>
            <a:off x="609600" y="3733800"/>
            <a:ext cx="2514600" cy="0"/>
          </a:xfrm>
          <a:prstGeom prst="line">
            <a:avLst/>
          </a:prstGeom>
          <a:noFill/>
          <a:ln w="9525">
            <a:solidFill>
              <a:srgbClr val="E0E0E0"/>
            </a:solidFill>
            <a:prstDash val="solid"/>
          </a:ln>
        </p:spPr>
      </p:sp>
      <p:sp>
        <p:nvSpPr>
          <p:cNvPr id="17" name="o30"/>
          <p:cNvSpPr txBox="1"/>
          <p:nvPr/>
        </p:nvSpPr>
        <p:spPr>
          <a:xfrm>
            <a:off x="609600" y="3924300"/>
            <a:ext cx="2514600" cy="1714500"/>
          </a:xfrm>
          <a:prstGeom prst="rect">
            <a:avLst/>
          </a:prstGeom>
          <a:noFill/>
          <a:ln/>
        </p:spPr>
        <p:txBody>
          <a:bodyPr wrap="square" lIns="0" tIns="0" rIns="0" bIns="0" rtlCol="0" anchor="t"/>
          <a:lstStyle/>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01  WHY · 활동 배경</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팀 구성</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02  PROBLEM · 현황</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03  원인 · 목표</a:t>
            </a:r>
            <a:endParaRPr lang="en-US" sz="1400" dirty="0"/>
          </a:p>
        </p:txBody>
      </p:sp>
      <p:sp>
        <p:nvSpPr>
          <p:cNvPr id="18" name="o31"/>
          <p:cNvSpPr txBox="1"/>
          <p:nvPr/>
        </p:nvSpPr>
        <p:spPr>
          <a:xfrm>
            <a:off x="609600" y="5867400"/>
            <a:ext cx="2514600" cy="152400"/>
          </a:xfrm>
          <a:prstGeom prst="rect">
            <a:avLst/>
          </a:prstGeom>
          <a:noFill/>
          <a:ln/>
        </p:spPr>
        <p:txBody>
          <a:bodyPr wrap="square" lIns="0" tIns="0" rIns="0" bIns="0" rtlCol="0" anchor="t"/>
          <a:lstStyle/>
          <a:p>
            <a:pPr indent="0" marL="0">
              <a:buNone/>
            </a:pPr>
            <a:r>
              <a:rPr lang="en-US" sz="1000" dirty="0">
                <a:solidFill>
                  <a:srgbClr val="6F6F6F"/>
                </a:solidFill>
                <a:latin typeface="IBM Plex Sans KR" pitchFamily="34" charset="0"/>
                <a:ea typeface="IBM Plex Sans KR" pitchFamily="34" charset="-122"/>
                <a:cs typeface="IBM Plex Sans KR" pitchFamily="34" charset="-120"/>
              </a:rPr>
              <a:t>Slide 03 – 06</a:t>
            </a:r>
            <a:endParaRPr lang="en-US" sz="1000" dirty="0"/>
          </a:p>
        </p:txBody>
      </p:sp>
      <p:sp>
        <p:nvSpPr>
          <p:cNvPr id="19" name="o32"/>
          <p:cNvSpPr/>
          <p:nvPr/>
        </p:nvSpPr>
        <p:spPr>
          <a:xfrm>
            <a:off x="3429000" y="1866900"/>
            <a:ext cx="2514600" cy="19050"/>
          </a:xfrm>
          <a:prstGeom prst="rect">
            <a:avLst/>
          </a:prstGeom>
          <a:solidFill>
            <a:srgbClr val="161616"/>
          </a:solidFill>
          <a:ln/>
        </p:spPr>
      </p:sp>
      <p:sp>
        <p:nvSpPr>
          <p:cNvPr id="20" name="o33"/>
          <p:cNvSpPr txBox="1"/>
          <p:nvPr/>
        </p:nvSpPr>
        <p:spPr>
          <a:xfrm>
            <a:off x="3429000" y="2057400"/>
            <a:ext cx="25146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Do</a:t>
            </a:r>
            <a:endParaRPr lang="en-US" sz="1400" dirty="0"/>
          </a:p>
        </p:txBody>
      </p:sp>
      <p:sp>
        <p:nvSpPr>
          <p:cNvPr id="21" name="o34"/>
          <p:cNvSpPr txBox="1"/>
          <p:nvPr/>
        </p:nvSpPr>
        <p:spPr>
          <a:xfrm>
            <a:off x="3390900" y="2362200"/>
            <a:ext cx="2590800" cy="85725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6개</a:t>
            </a:r>
            <a:endParaRPr lang="en-US" sz="6000" dirty="0"/>
          </a:p>
        </p:txBody>
      </p:sp>
      <p:sp>
        <p:nvSpPr>
          <p:cNvPr id="22" name="o35"/>
          <p:cNvSpPr txBox="1"/>
          <p:nvPr/>
        </p:nvSpPr>
        <p:spPr>
          <a:xfrm>
            <a:off x="3429000" y="3276600"/>
            <a:ext cx="2514600" cy="1905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플랫폼 모듈</a:t>
            </a:r>
            <a:endParaRPr lang="en-US" sz="1200" dirty="0"/>
          </a:p>
        </p:txBody>
      </p:sp>
      <p:sp>
        <p:nvSpPr>
          <p:cNvPr id="23" name="o36"/>
          <p:cNvSpPr/>
          <p:nvPr/>
        </p:nvSpPr>
        <p:spPr>
          <a:xfrm>
            <a:off x="3429000" y="3733800"/>
            <a:ext cx="2514600" cy="0"/>
          </a:xfrm>
          <a:prstGeom prst="line">
            <a:avLst/>
          </a:prstGeom>
          <a:noFill/>
          <a:ln w="9525">
            <a:solidFill>
              <a:srgbClr val="E0E0E0"/>
            </a:solidFill>
            <a:prstDash val="solid"/>
          </a:ln>
        </p:spPr>
      </p:sp>
      <p:sp>
        <p:nvSpPr>
          <p:cNvPr id="24" name="o37"/>
          <p:cNvSpPr txBox="1"/>
          <p:nvPr/>
        </p:nvSpPr>
        <p:spPr>
          <a:xfrm>
            <a:off x="3429000" y="3924300"/>
            <a:ext cx="2514600" cy="1714500"/>
          </a:xfrm>
          <a:prstGeom prst="rect">
            <a:avLst/>
          </a:prstGeom>
          <a:noFill/>
          <a:ln/>
        </p:spPr>
        <p:txBody>
          <a:bodyPr wrap="square" lIns="0" tIns="0" rIns="0" bIns="0" rtlCol="0" anchor="t"/>
          <a:lstStyle/>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04  SOLUTION · 플랫폼</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05  DEMO · 시연</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AI 적용</a:t>
            </a:r>
            <a:endParaRPr lang="en-US" sz="1400" dirty="0"/>
          </a:p>
        </p:txBody>
      </p:sp>
      <p:sp>
        <p:nvSpPr>
          <p:cNvPr id="25" name="o38"/>
          <p:cNvSpPr txBox="1"/>
          <p:nvPr/>
        </p:nvSpPr>
        <p:spPr>
          <a:xfrm>
            <a:off x="3429000" y="5867400"/>
            <a:ext cx="2514600" cy="152400"/>
          </a:xfrm>
          <a:prstGeom prst="rect">
            <a:avLst/>
          </a:prstGeom>
          <a:noFill/>
          <a:ln/>
        </p:spPr>
        <p:txBody>
          <a:bodyPr wrap="square" lIns="0" tIns="0" rIns="0" bIns="0" rtlCol="0" anchor="t"/>
          <a:lstStyle/>
          <a:p>
            <a:pPr indent="0" marL="0">
              <a:buNone/>
            </a:pPr>
            <a:r>
              <a:rPr lang="en-US" sz="1000" dirty="0">
                <a:solidFill>
                  <a:srgbClr val="6F6F6F"/>
                </a:solidFill>
                <a:latin typeface="IBM Plex Sans KR" pitchFamily="34" charset="0"/>
                <a:ea typeface="IBM Plex Sans KR" pitchFamily="34" charset="-122"/>
                <a:cs typeface="IBM Plex Sans KR" pitchFamily="34" charset="-120"/>
              </a:rPr>
              <a:t>Slide 07 – 09</a:t>
            </a:r>
            <a:endParaRPr lang="en-US" sz="1000" dirty="0"/>
          </a:p>
        </p:txBody>
      </p:sp>
      <p:sp>
        <p:nvSpPr>
          <p:cNvPr id="26" name="o39"/>
          <p:cNvSpPr/>
          <p:nvPr/>
        </p:nvSpPr>
        <p:spPr>
          <a:xfrm>
            <a:off x="6248400" y="1866900"/>
            <a:ext cx="2514600" cy="19050"/>
          </a:xfrm>
          <a:prstGeom prst="rect">
            <a:avLst/>
          </a:prstGeom>
          <a:solidFill>
            <a:srgbClr val="0F62FE"/>
          </a:solidFill>
          <a:ln/>
        </p:spPr>
      </p:sp>
      <p:sp>
        <p:nvSpPr>
          <p:cNvPr id="27" name="o40"/>
          <p:cNvSpPr txBox="1"/>
          <p:nvPr/>
        </p:nvSpPr>
        <p:spPr>
          <a:xfrm>
            <a:off x="6248400" y="2057400"/>
            <a:ext cx="25146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Check</a:t>
            </a:r>
            <a:endParaRPr lang="en-US" sz="1400" dirty="0"/>
          </a:p>
        </p:txBody>
      </p:sp>
      <p:sp>
        <p:nvSpPr>
          <p:cNvPr id="28" name="o41"/>
          <p:cNvSpPr txBox="1"/>
          <p:nvPr/>
        </p:nvSpPr>
        <p:spPr>
          <a:xfrm>
            <a:off x="6210300" y="2362200"/>
            <a:ext cx="2590800" cy="857250"/>
          </a:xfrm>
          <a:prstGeom prst="rect">
            <a:avLst/>
          </a:prstGeom>
          <a:noFill/>
          <a:ln/>
        </p:spPr>
        <p:txBody>
          <a:bodyPr wrap="square" lIns="0" tIns="0" rIns="0" bIns="0" rtlCol="0" anchor="t"/>
          <a:lstStyle/>
          <a:p>
            <a:pPr indent="0" marL="0">
              <a:buNone/>
            </a:pPr>
            <a:r>
              <a:rPr lang="en-US" sz="6000" dirty="0">
                <a:solidFill>
                  <a:srgbClr val="0F62FE"/>
                </a:solidFill>
                <a:latin typeface="IBM Plex Sans KR" pitchFamily="34" charset="0"/>
                <a:ea typeface="IBM Plex Sans KR" pitchFamily="34" charset="-122"/>
                <a:cs typeface="IBM Plex Sans KR" pitchFamily="34" charset="-120"/>
              </a:rPr>
              <a:t>−93%</a:t>
            </a:r>
            <a:endParaRPr lang="en-US" sz="6000" dirty="0"/>
          </a:p>
        </p:txBody>
      </p:sp>
      <p:sp>
        <p:nvSpPr>
          <p:cNvPr id="29" name="o42"/>
          <p:cNvSpPr txBox="1"/>
          <p:nvPr/>
        </p:nvSpPr>
        <p:spPr>
          <a:xfrm>
            <a:off x="6248400" y="3276600"/>
            <a:ext cx="2514600" cy="1905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행정시간</a:t>
            </a:r>
            <a:endParaRPr lang="en-US" sz="1200" dirty="0"/>
          </a:p>
        </p:txBody>
      </p:sp>
      <p:sp>
        <p:nvSpPr>
          <p:cNvPr id="30" name="o43"/>
          <p:cNvSpPr/>
          <p:nvPr/>
        </p:nvSpPr>
        <p:spPr>
          <a:xfrm>
            <a:off x="6248400" y="3733800"/>
            <a:ext cx="2514600" cy="0"/>
          </a:xfrm>
          <a:prstGeom prst="line">
            <a:avLst/>
          </a:prstGeom>
          <a:noFill/>
          <a:ln w="9525">
            <a:solidFill>
              <a:srgbClr val="E0E0E0"/>
            </a:solidFill>
            <a:prstDash val="solid"/>
          </a:ln>
        </p:spPr>
      </p:sp>
      <p:sp>
        <p:nvSpPr>
          <p:cNvPr id="31" name="o44"/>
          <p:cNvSpPr txBox="1"/>
          <p:nvPr/>
        </p:nvSpPr>
        <p:spPr>
          <a:xfrm>
            <a:off x="6248400" y="3924300"/>
            <a:ext cx="2514600" cy="1714500"/>
          </a:xfrm>
          <a:prstGeom prst="rect">
            <a:avLst/>
          </a:prstGeom>
          <a:noFill/>
          <a:ln/>
        </p:spPr>
        <p:txBody>
          <a:bodyPr wrap="square" lIns="0" tIns="0" rIns="0" bIns="0" rtlCol="0" anchor="t"/>
          <a:lstStyle/>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06  RESULT · 전후 비교</a:t>
            </a:r>
            <a:endParaRPr lang="en-US" sz="1400" dirty="0"/>
          </a:p>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07  IMPACT · 성과 · ESG</a:t>
            </a:r>
            <a:endParaRPr lang="en-US" sz="1400" dirty="0"/>
          </a:p>
        </p:txBody>
      </p:sp>
      <p:sp>
        <p:nvSpPr>
          <p:cNvPr id="32" name="o45"/>
          <p:cNvSpPr txBox="1"/>
          <p:nvPr/>
        </p:nvSpPr>
        <p:spPr>
          <a:xfrm>
            <a:off x="6248400" y="5867400"/>
            <a:ext cx="2514600" cy="152400"/>
          </a:xfrm>
          <a:prstGeom prst="rect">
            <a:avLst/>
          </a:prstGeom>
          <a:noFill/>
          <a:ln/>
        </p:spPr>
        <p:txBody>
          <a:bodyPr wrap="square" lIns="0" tIns="0" rIns="0" bIns="0" rtlCol="0" anchor="t"/>
          <a:lstStyle/>
          <a:p>
            <a:pPr indent="0" marL="0">
              <a:buNone/>
            </a:pPr>
            <a:r>
              <a:rPr lang="en-US" sz="1000" dirty="0">
                <a:solidFill>
                  <a:srgbClr val="6F6F6F"/>
                </a:solidFill>
                <a:latin typeface="IBM Plex Sans KR" pitchFamily="34" charset="0"/>
                <a:ea typeface="IBM Plex Sans KR" pitchFamily="34" charset="-122"/>
                <a:cs typeface="IBM Plex Sans KR" pitchFamily="34" charset="-120"/>
              </a:rPr>
              <a:t>Slide 10 – 11</a:t>
            </a:r>
            <a:endParaRPr lang="en-US" sz="1000" dirty="0"/>
          </a:p>
        </p:txBody>
      </p:sp>
      <p:sp>
        <p:nvSpPr>
          <p:cNvPr id="33" name="o46"/>
          <p:cNvSpPr/>
          <p:nvPr/>
        </p:nvSpPr>
        <p:spPr>
          <a:xfrm>
            <a:off x="9067800" y="1866900"/>
            <a:ext cx="2514600" cy="19050"/>
          </a:xfrm>
          <a:prstGeom prst="rect">
            <a:avLst/>
          </a:prstGeom>
          <a:solidFill>
            <a:srgbClr val="161616"/>
          </a:solidFill>
          <a:ln/>
        </p:spPr>
      </p:sp>
      <p:sp>
        <p:nvSpPr>
          <p:cNvPr id="34" name="o47"/>
          <p:cNvSpPr txBox="1"/>
          <p:nvPr/>
        </p:nvSpPr>
        <p:spPr>
          <a:xfrm>
            <a:off x="9067800" y="2057400"/>
            <a:ext cx="25146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Act</a:t>
            </a:r>
            <a:endParaRPr lang="en-US" sz="1400" dirty="0"/>
          </a:p>
        </p:txBody>
      </p:sp>
      <p:sp>
        <p:nvSpPr>
          <p:cNvPr id="35" name="o48"/>
          <p:cNvSpPr txBox="1"/>
          <p:nvPr/>
        </p:nvSpPr>
        <p:spPr>
          <a:xfrm>
            <a:off x="9029700" y="2362200"/>
            <a:ext cx="2590800" cy="85725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표준화</a:t>
            </a:r>
            <a:endParaRPr lang="en-US" sz="6000" dirty="0"/>
          </a:p>
        </p:txBody>
      </p:sp>
      <p:sp>
        <p:nvSpPr>
          <p:cNvPr id="36" name="o49"/>
          <p:cNvSpPr txBox="1"/>
          <p:nvPr/>
        </p:nvSpPr>
        <p:spPr>
          <a:xfrm>
            <a:off x="9067800" y="3276600"/>
            <a:ext cx="2514600" cy="1905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정식 업무 전환</a:t>
            </a:r>
            <a:endParaRPr lang="en-US" sz="1200" dirty="0"/>
          </a:p>
        </p:txBody>
      </p:sp>
      <p:sp>
        <p:nvSpPr>
          <p:cNvPr id="37" name="o50"/>
          <p:cNvSpPr/>
          <p:nvPr/>
        </p:nvSpPr>
        <p:spPr>
          <a:xfrm>
            <a:off x="9067800" y="3733800"/>
            <a:ext cx="2514600" cy="0"/>
          </a:xfrm>
          <a:prstGeom prst="line">
            <a:avLst/>
          </a:prstGeom>
          <a:noFill/>
          <a:ln w="9525">
            <a:solidFill>
              <a:srgbClr val="E0E0E0"/>
            </a:solidFill>
            <a:prstDash val="solid"/>
          </a:ln>
        </p:spPr>
      </p:sp>
      <p:sp>
        <p:nvSpPr>
          <p:cNvPr id="38" name="o51"/>
          <p:cNvSpPr txBox="1"/>
          <p:nvPr/>
        </p:nvSpPr>
        <p:spPr>
          <a:xfrm>
            <a:off x="9067800" y="3924300"/>
            <a:ext cx="2514600" cy="1714500"/>
          </a:xfrm>
          <a:prstGeom prst="rect">
            <a:avLst/>
          </a:prstGeom>
          <a:noFill/>
          <a:ln/>
        </p:spPr>
        <p:txBody>
          <a:bodyPr wrap="square" lIns="0" tIns="0" rIns="0" bIns="0" rtlCol="0" anchor="t"/>
          <a:lstStyle/>
          <a:p>
            <a:pPr indent="0" marL="0">
              <a:lnSpc>
                <a:spcPct val="170000"/>
              </a:lnSpc>
              <a:buNone/>
            </a:pPr>
            <a:r>
              <a:rPr lang="en-US" sz="1400" dirty="0">
                <a:solidFill>
                  <a:srgbClr val="393939"/>
                </a:solidFill>
                <a:latin typeface="IBM Plex Sans KR" pitchFamily="34" charset="0"/>
                <a:ea typeface="IBM Plex Sans KR" pitchFamily="34" charset="-122"/>
                <a:cs typeface="IBM Plex Sans KR" pitchFamily="34" charset="-120"/>
              </a:rPr>
              <a:t>08  NEXT · 결론과 제언</a:t>
            </a:r>
            <a:endParaRPr lang="en-US" sz="1400" dirty="0"/>
          </a:p>
        </p:txBody>
      </p:sp>
      <p:sp>
        <p:nvSpPr>
          <p:cNvPr id="39" name="o52"/>
          <p:cNvSpPr txBox="1"/>
          <p:nvPr/>
        </p:nvSpPr>
        <p:spPr>
          <a:xfrm>
            <a:off x="9067800" y="5867400"/>
            <a:ext cx="2514600" cy="152400"/>
          </a:xfrm>
          <a:prstGeom prst="rect">
            <a:avLst/>
          </a:prstGeom>
          <a:noFill/>
          <a:ln/>
        </p:spPr>
        <p:txBody>
          <a:bodyPr wrap="square" lIns="0" tIns="0" rIns="0" bIns="0" rtlCol="0" anchor="t"/>
          <a:lstStyle/>
          <a:p>
            <a:pPr indent="0" marL="0">
              <a:buNone/>
            </a:pPr>
            <a:r>
              <a:rPr lang="en-US" sz="1000" dirty="0">
                <a:solidFill>
                  <a:srgbClr val="6F6F6F"/>
                </a:solidFill>
                <a:latin typeface="IBM Plex Sans KR" pitchFamily="34" charset="0"/>
                <a:ea typeface="IBM Plex Sans KR" pitchFamily="34" charset="-122"/>
                <a:cs typeface="IBM Plex Sans KR" pitchFamily="34" charset="-120"/>
              </a:rPr>
              <a:t>Slide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o53"/>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Plan</a:t>
            </a:r>
            <a:endParaRPr lang="en-US" sz="900" dirty="0"/>
          </a:p>
        </p:txBody>
      </p:sp>
      <p:sp>
        <p:nvSpPr>
          <p:cNvPr id="4" name="o54"/>
          <p:cNvSpPr/>
          <p:nvPr/>
        </p:nvSpPr>
        <p:spPr>
          <a:xfrm>
            <a:off x="609600" y="514350"/>
            <a:ext cx="381000" cy="19050"/>
          </a:xfrm>
          <a:prstGeom prst="rect">
            <a:avLst/>
          </a:prstGeom>
          <a:solidFill>
            <a:srgbClr val="0F62FE"/>
          </a:solidFill>
          <a:ln/>
        </p:spPr>
      </p:sp>
      <p:sp>
        <p:nvSpPr>
          <p:cNvPr id="5" name="o55"/>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6" name="o56"/>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57"/>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58"/>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01  WHY · 활동 배경  ·  주제 선정 평가 22.5점 · 병원 중점과제 정합성 검토 후 선정</a:t>
            </a:r>
            <a:endParaRPr lang="en-US" sz="1200" dirty="0"/>
          </a:p>
        </p:txBody>
      </p:sp>
      <p:sp>
        <p:nvSpPr>
          <p:cNvPr id="9" name="o59"/>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법은 실시간 증빙을 요구했지만, 기록은 모두 종이였습니다</a:t>
            </a:r>
            <a:endParaRPr lang="en-US" sz="2600" dirty="0"/>
          </a:p>
        </p:txBody>
      </p:sp>
      <p:sp>
        <p:nvSpPr>
          <p:cNvPr id="10" name="o60"/>
          <p:cNvSpPr/>
          <p:nvPr/>
        </p:nvSpPr>
        <p:spPr>
          <a:xfrm>
            <a:off x="609600" y="6324600"/>
            <a:ext cx="10972800" cy="0"/>
          </a:xfrm>
          <a:prstGeom prst="line">
            <a:avLst/>
          </a:prstGeom>
          <a:noFill/>
          <a:ln w="9525">
            <a:solidFill>
              <a:srgbClr val="E0E0E0"/>
            </a:solidFill>
            <a:prstDash val="solid"/>
          </a:ln>
        </p:spPr>
      </p:sp>
      <p:sp>
        <p:nvSpPr>
          <p:cNvPr id="11" name="o61"/>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62"/>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03</a:t>
            </a:r>
            <a:endParaRPr lang="en-US" sz="900" dirty="0"/>
          </a:p>
        </p:txBody>
      </p:sp>
      <p:sp>
        <p:nvSpPr>
          <p:cNvPr id="13" name="o63"/>
          <p:cNvSpPr txBox="1"/>
          <p:nvPr/>
        </p:nvSpPr>
        <p:spPr>
          <a:xfrm>
            <a:off x="609600" y="1866900"/>
            <a:ext cx="5334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종이 기반 처리</a:t>
            </a:r>
            <a:endParaRPr lang="en-US" sz="1400" dirty="0"/>
          </a:p>
        </p:txBody>
      </p:sp>
      <p:sp>
        <p:nvSpPr>
          <p:cNvPr id="14" name="o64"/>
          <p:cNvSpPr txBox="1"/>
          <p:nvPr/>
        </p:nvSpPr>
        <p:spPr>
          <a:xfrm>
            <a:off x="552450" y="2095500"/>
            <a:ext cx="6096000" cy="1809750"/>
          </a:xfrm>
          <a:prstGeom prst="rect">
            <a:avLst/>
          </a:prstGeom>
          <a:noFill/>
          <a:ln/>
        </p:spPr>
        <p:txBody>
          <a:bodyPr wrap="square" lIns="0" tIns="0" rIns="0" bIns="0" rtlCol="0" anchor="t"/>
          <a:lstStyle/>
          <a:p>
            <a:pPr indent="0" marL="0">
              <a:buNone/>
            </a:pPr>
            <a:r>
              <a:rPr lang="en-US" sz="15000" dirty="0">
                <a:solidFill>
                  <a:srgbClr val="0F62FE"/>
                </a:solidFill>
                <a:latin typeface="IBM Plex Sans KR" pitchFamily="34" charset="0"/>
                <a:ea typeface="IBM Plex Sans KR" pitchFamily="34" charset="-122"/>
                <a:cs typeface="IBM Plex Sans KR" pitchFamily="34" charset="-120"/>
              </a:rPr>
              <a:t>100%</a:t>
            </a:r>
            <a:endParaRPr lang="en-US" sz="15000" dirty="0"/>
          </a:p>
        </p:txBody>
      </p:sp>
      <p:sp>
        <p:nvSpPr>
          <p:cNvPr id="15" name="o65"/>
          <p:cNvSpPr txBox="1"/>
          <p:nvPr/>
        </p:nvSpPr>
        <p:spPr>
          <a:xfrm>
            <a:off x="609600" y="4000500"/>
            <a:ext cx="60960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연 94건 출력  →  대면 서명  →  방문 제출  →  바인더 보관</a:t>
            </a:r>
            <a:endParaRPr lang="en-US" sz="1400" dirty="0"/>
          </a:p>
        </p:txBody>
      </p:sp>
      <p:sp>
        <p:nvSpPr>
          <p:cNvPr id="16" name="o66"/>
          <p:cNvSpPr/>
          <p:nvPr/>
        </p:nvSpPr>
        <p:spPr>
          <a:xfrm>
            <a:off x="7239000" y="1866900"/>
            <a:ext cx="4343400" cy="0"/>
          </a:xfrm>
          <a:prstGeom prst="line">
            <a:avLst/>
          </a:prstGeom>
          <a:noFill/>
          <a:ln w="9525">
            <a:solidFill>
              <a:srgbClr val="E0E0E0"/>
            </a:solidFill>
            <a:prstDash val="solid"/>
          </a:ln>
        </p:spPr>
      </p:sp>
      <p:sp>
        <p:nvSpPr>
          <p:cNvPr id="17" name="o67"/>
          <p:cNvSpPr txBox="1"/>
          <p:nvPr/>
        </p:nvSpPr>
        <p:spPr>
          <a:xfrm>
            <a:off x="7239000" y="20002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법 · 제도</a:t>
            </a:r>
            <a:endParaRPr lang="en-US" sz="1200" dirty="0"/>
          </a:p>
        </p:txBody>
      </p:sp>
      <p:sp>
        <p:nvSpPr>
          <p:cNvPr id="18" name="o68"/>
          <p:cNvSpPr txBox="1"/>
          <p:nvPr/>
        </p:nvSpPr>
        <p:spPr>
          <a:xfrm>
            <a:off x="7239000" y="22288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실시간 증빙 의무</a:t>
            </a:r>
            <a:endParaRPr lang="en-US" sz="2400" dirty="0"/>
          </a:p>
        </p:txBody>
      </p:sp>
      <p:sp>
        <p:nvSpPr>
          <p:cNvPr id="19" name="o69"/>
          <p:cNvSpPr txBox="1"/>
          <p:nvPr/>
        </p:nvSpPr>
        <p:spPr>
          <a:xfrm>
            <a:off x="7239000" y="26670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중대재해처벌법 · 산업안전보건법 · 인증기준 10.7 · 11.3</a:t>
            </a:r>
            <a:endParaRPr lang="en-US" sz="1100" dirty="0"/>
          </a:p>
        </p:txBody>
      </p:sp>
      <p:sp>
        <p:nvSpPr>
          <p:cNvPr id="20" name="o70"/>
          <p:cNvSpPr/>
          <p:nvPr/>
        </p:nvSpPr>
        <p:spPr>
          <a:xfrm>
            <a:off x="7239000" y="2971800"/>
            <a:ext cx="4343400" cy="0"/>
          </a:xfrm>
          <a:prstGeom prst="line">
            <a:avLst/>
          </a:prstGeom>
          <a:noFill/>
          <a:ln w="9525">
            <a:solidFill>
              <a:srgbClr val="E0E0E0"/>
            </a:solidFill>
            <a:prstDash val="solid"/>
          </a:ln>
        </p:spPr>
      </p:sp>
      <p:sp>
        <p:nvSpPr>
          <p:cNvPr id="21" name="o71"/>
          <p:cNvSpPr txBox="1"/>
          <p:nvPr/>
        </p:nvSpPr>
        <p:spPr>
          <a:xfrm>
            <a:off x="7239000" y="31051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현장</a:t>
            </a:r>
            <a:endParaRPr lang="en-US" sz="1200" dirty="0"/>
          </a:p>
        </p:txBody>
      </p:sp>
      <p:sp>
        <p:nvSpPr>
          <p:cNvPr id="22" name="o72"/>
          <p:cNvSpPr txBox="1"/>
          <p:nvPr/>
        </p:nvSpPr>
        <p:spPr>
          <a:xfrm>
            <a:off x="7239000" y="33337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이수 누락 즉시 확인 불가</a:t>
            </a:r>
            <a:endParaRPr lang="en-US" sz="2400" dirty="0"/>
          </a:p>
        </p:txBody>
      </p:sp>
      <p:sp>
        <p:nvSpPr>
          <p:cNvPr id="23" name="o73"/>
          <p:cNvSpPr txBox="1"/>
          <p:nvPr/>
        </p:nvSpPr>
        <p:spPr>
          <a:xfrm>
            <a:off x="7239000" y="37719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출력 · 서명 · 제출 · 결재 4단계 수기 행정</a:t>
            </a:r>
            <a:endParaRPr lang="en-US" sz="1100" dirty="0"/>
          </a:p>
        </p:txBody>
      </p:sp>
      <p:sp>
        <p:nvSpPr>
          <p:cNvPr id="24" name="o74"/>
          <p:cNvSpPr/>
          <p:nvPr/>
        </p:nvSpPr>
        <p:spPr>
          <a:xfrm>
            <a:off x="7239000" y="4076700"/>
            <a:ext cx="4343400" cy="0"/>
          </a:xfrm>
          <a:prstGeom prst="line">
            <a:avLst/>
          </a:prstGeom>
          <a:noFill/>
          <a:ln w="9525">
            <a:solidFill>
              <a:srgbClr val="E0E0E0"/>
            </a:solidFill>
            <a:prstDash val="solid"/>
          </a:ln>
        </p:spPr>
      </p:sp>
      <p:sp>
        <p:nvSpPr>
          <p:cNvPr id="25" name="o75"/>
          <p:cNvSpPr txBox="1"/>
          <p:nvPr/>
        </p:nvSpPr>
        <p:spPr>
          <a:xfrm>
            <a:off x="7239000" y="42100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경영</a:t>
            </a:r>
            <a:endParaRPr lang="en-US" sz="1200" dirty="0"/>
          </a:p>
        </p:txBody>
      </p:sp>
      <p:sp>
        <p:nvSpPr>
          <p:cNvPr id="26" name="o76"/>
          <p:cNvSpPr txBox="1"/>
          <p:nvPr/>
        </p:nvSpPr>
        <p:spPr>
          <a:xfrm>
            <a:off x="7239000" y="44386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업무 프로세스 개선</a:t>
            </a:r>
            <a:endParaRPr lang="en-US" sz="2400" dirty="0"/>
          </a:p>
        </p:txBody>
      </p:sp>
      <p:sp>
        <p:nvSpPr>
          <p:cNvPr id="27" name="o77"/>
          <p:cNvSpPr txBox="1"/>
          <p:nvPr/>
        </p:nvSpPr>
        <p:spPr>
          <a:xfrm>
            <a:off x="7239000" y="48768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병원 중점과제 · ESG 환경(E) 부문</a:t>
            </a:r>
            <a:endParaRPr lang="en-US" sz="1100" dirty="0"/>
          </a:p>
        </p:txBody>
      </p:sp>
      <p:sp>
        <p:nvSpPr>
          <p:cNvPr id="28" name="o78"/>
          <p:cNvSpPr/>
          <p:nvPr/>
        </p:nvSpPr>
        <p:spPr>
          <a:xfrm>
            <a:off x="609600" y="5448300"/>
            <a:ext cx="10972800" cy="723900"/>
          </a:xfrm>
          <a:prstGeom prst="rect">
            <a:avLst/>
          </a:prstGeom>
          <a:solidFill>
            <a:srgbClr val="F4F4F4"/>
          </a:solidFill>
          <a:ln/>
        </p:spPr>
      </p:sp>
      <p:sp>
        <p:nvSpPr>
          <p:cNvPr id="29" name="o79"/>
          <p:cNvSpPr/>
          <p:nvPr/>
        </p:nvSpPr>
        <p:spPr>
          <a:xfrm>
            <a:off x="609600" y="5448300"/>
            <a:ext cx="38100" cy="723900"/>
          </a:xfrm>
          <a:prstGeom prst="rect">
            <a:avLst/>
          </a:prstGeom>
          <a:solidFill>
            <a:srgbClr val="0F62FE"/>
          </a:solidFill>
          <a:ln/>
        </p:spPr>
      </p:sp>
      <p:sp>
        <p:nvSpPr>
          <p:cNvPr id="30" name="o80"/>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31" name="o81"/>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법은 "했다는 증거"를 요구합니다 — 모바일 기반 디지털 체계가 필요했습니다</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o82"/>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Plan</a:t>
            </a:r>
            <a:endParaRPr lang="en-US" sz="900" dirty="0"/>
          </a:p>
        </p:txBody>
      </p:sp>
      <p:sp>
        <p:nvSpPr>
          <p:cNvPr id="4" name="o83"/>
          <p:cNvSpPr/>
          <p:nvPr/>
        </p:nvSpPr>
        <p:spPr>
          <a:xfrm>
            <a:off x="609600" y="514350"/>
            <a:ext cx="381000" cy="19050"/>
          </a:xfrm>
          <a:prstGeom prst="rect">
            <a:avLst/>
          </a:prstGeom>
          <a:solidFill>
            <a:srgbClr val="0F62FE"/>
          </a:solidFill>
          <a:ln/>
        </p:spPr>
      </p:sp>
      <p:sp>
        <p:nvSpPr>
          <p:cNvPr id="5" name="o84"/>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6" name="o85"/>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86"/>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87"/>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PLAN  ·  팀 구성 · 2026년 1–10월 활동 일정</a:t>
            </a:r>
            <a:endParaRPr lang="en-US" sz="1200" dirty="0"/>
          </a:p>
        </p:txBody>
      </p:sp>
      <p:sp>
        <p:nvSpPr>
          <p:cNvPr id="9" name="o88"/>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3명이 외부 개발 없이 기획부터 표준화까지 직접 수행했습니다</a:t>
            </a:r>
            <a:endParaRPr lang="en-US" sz="2600" dirty="0"/>
          </a:p>
        </p:txBody>
      </p:sp>
      <p:sp>
        <p:nvSpPr>
          <p:cNvPr id="10" name="o89"/>
          <p:cNvSpPr/>
          <p:nvPr/>
        </p:nvSpPr>
        <p:spPr>
          <a:xfrm>
            <a:off x="609600" y="6324600"/>
            <a:ext cx="10972800" cy="0"/>
          </a:xfrm>
          <a:prstGeom prst="line">
            <a:avLst/>
          </a:prstGeom>
          <a:noFill/>
          <a:ln w="9525">
            <a:solidFill>
              <a:srgbClr val="E0E0E0"/>
            </a:solidFill>
            <a:prstDash val="solid"/>
          </a:ln>
        </p:spPr>
      </p:sp>
      <p:sp>
        <p:nvSpPr>
          <p:cNvPr id="11" name="o90"/>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91"/>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04</a:t>
            </a:r>
            <a:endParaRPr lang="en-US" sz="900" dirty="0"/>
          </a:p>
        </p:txBody>
      </p:sp>
      <p:sp>
        <p:nvSpPr>
          <p:cNvPr id="13" name="o92"/>
          <p:cNvSpPr txBox="1"/>
          <p:nvPr/>
        </p:nvSpPr>
        <p:spPr>
          <a:xfrm>
            <a:off x="609600" y="1866900"/>
            <a:ext cx="5334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팀원 · 활동 기간</a:t>
            </a:r>
            <a:endParaRPr lang="en-US" sz="1400" dirty="0"/>
          </a:p>
        </p:txBody>
      </p:sp>
      <p:sp>
        <p:nvSpPr>
          <p:cNvPr id="14" name="o93"/>
          <p:cNvSpPr txBox="1"/>
          <p:nvPr/>
        </p:nvSpPr>
        <p:spPr>
          <a:xfrm>
            <a:off x="571500" y="2133600"/>
            <a:ext cx="6477000" cy="952500"/>
          </a:xfrm>
          <a:prstGeom prst="rect">
            <a:avLst/>
          </a:prstGeom>
          <a:noFill/>
          <a:ln/>
        </p:spPr>
        <p:txBody>
          <a:bodyPr wrap="square" lIns="0" tIns="0" rIns="0" bIns="0" rtlCol="0" anchor="t"/>
          <a:lstStyle/>
          <a:p>
            <a:pPr indent="0" marL="0">
              <a:buNone/>
            </a:pPr>
            <a:r>
              <a:rPr lang="en-US" sz="6400" dirty="0">
                <a:solidFill>
                  <a:srgbClr val="0F62FE"/>
                </a:solidFill>
                <a:latin typeface="IBM Plex Sans KR" pitchFamily="34" charset="0"/>
                <a:ea typeface="IBM Plex Sans KR" pitchFamily="34" charset="-122"/>
                <a:cs typeface="IBM Plex Sans KR" pitchFamily="34" charset="-120"/>
              </a:rPr>
              <a:t>3명 · 10개월</a:t>
            </a:r>
            <a:endParaRPr lang="en-US" sz="6400" dirty="0"/>
          </a:p>
        </p:txBody>
      </p:sp>
      <p:sp>
        <p:nvSpPr>
          <p:cNvPr id="15" name="o94"/>
          <p:cNvSpPr txBox="1"/>
          <p:nvPr/>
        </p:nvSpPr>
        <p:spPr>
          <a:xfrm>
            <a:off x="152400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1월</a:t>
            </a:r>
            <a:endParaRPr lang="en-US" sz="900" dirty="0"/>
          </a:p>
        </p:txBody>
      </p:sp>
      <p:sp>
        <p:nvSpPr>
          <p:cNvPr id="16" name="o95"/>
          <p:cNvSpPr txBox="1"/>
          <p:nvPr/>
        </p:nvSpPr>
        <p:spPr>
          <a:xfrm>
            <a:off x="203835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2월</a:t>
            </a:r>
            <a:endParaRPr lang="en-US" sz="900" dirty="0"/>
          </a:p>
        </p:txBody>
      </p:sp>
      <p:sp>
        <p:nvSpPr>
          <p:cNvPr id="17" name="o96"/>
          <p:cNvSpPr txBox="1"/>
          <p:nvPr/>
        </p:nvSpPr>
        <p:spPr>
          <a:xfrm>
            <a:off x="255270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3월</a:t>
            </a:r>
            <a:endParaRPr lang="en-US" sz="900" dirty="0"/>
          </a:p>
        </p:txBody>
      </p:sp>
      <p:sp>
        <p:nvSpPr>
          <p:cNvPr id="18" name="o97"/>
          <p:cNvSpPr txBox="1"/>
          <p:nvPr/>
        </p:nvSpPr>
        <p:spPr>
          <a:xfrm>
            <a:off x="306705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4월</a:t>
            </a:r>
            <a:endParaRPr lang="en-US" sz="900" dirty="0"/>
          </a:p>
        </p:txBody>
      </p:sp>
      <p:sp>
        <p:nvSpPr>
          <p:cNvPr id="19" name="o98"/>
          <p:cNvSpPr txBox="1"/>
          <p:nvPr/>
        </p:nvSpPr>
        <p:spPr>
          <a:xfrm>
            <a:off x="358140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5월</a:t>
            </a:r>
            <a:endParaRPr lang="en-US" sz="900" dirty="0"/>
          </a:p>
        </p:txBody>
      </p:sp>
      <p:sp>
        <p:nvSpPr>
          <p:cNvPr id="20" name="o99"/>
          <p:cNvSpPr txBox="1"/>
          <p:nvPr/>
        </p:nvSpPr>
        <p:spPr>
          <a:xfrm>
            <a:off x="409575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6월</a:t>
            </a:r>
            <a:endParaRPr lang="en-US" sz="900" dirty="0"/>
          </a:p>
        </p:txBody>
      </p:sp>
      <p:sp>
        <p:nvSpPr>
          <p:cNvPr id="21" name="o100"/>
          <p:cNvSpPr txBox="1"/>
          <p:nvPr/>
        </p:nvSpPr>
        <p:spPr>
          <a:xfrm>
            <a:off x="461010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7월</a:t>
            </a:r>
            <a:endParaRPr lang="en-US" sz="900" dirty="0"/>
          </a:p>
        </p:txBody>
      </p:sp>
      <p:sp>
        <p:nvSpPr>
          <p:cNvPr id="22" name="o101"/>
          <p:cNvSpPr txBox="1"/>
          <p:nvPr/>
        </p:nvSpPr>
        <p:spPr>
          <a:xfrm>
            <a:off x="512445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8월</a:t>
            </a:r>
            <a:endParaRPr lang="en-US" sz="900" dirty="0"/>
          </a:p>
        </p:txBody>
      </p:sp>
      <p:sp>
        <p:nvSpPr>
          <p:cNvPr id="23" name="o102"/>
          <p:cNvSpPr txBox="1"/>
          <p:nvPr/>
        </p:nvSpPr>
        <p:spPr>
          <a:xfrm>
            <a:off x="563880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9월</a:t>
            </a:r>
            <a:endParaRPr lang="en-US" sz="900" dirty="0"/>
          </a:p>
        </p:txBody>
      </p:sp>
      <p:sp>
        <p:nvSpPr>
          <p:cNvPr id="24" name="o103"/>
          <p:cNvSpPr txBox="1"/>
          <p:nvPr/>
        </p:nvSpPr>
        <p:spPr>
          <a:xfrm>
            <a:off x="6153150" y="3390900"/>
            <a:ext cx="514350" cy="133350"/>
          </a:xfrm>
          <a:prstGeom prst="rect">
            <a:avLst/>
          </a:prstGeom>
          <a:noFill/>
          <a:ln/>
        </p:spPr>
        <p:txBody>
          <a:bodyPr wrap="square" lIns="0" tIns="0" rIns="0" bIns="0" rtlCol="0" anchor="t"/>
          <a:lstStyle/>
          <a:p>
            <a:pPr algn="ctr" indent="0" marL="0">
              <a:buNone/>
            </a:pPr>
            <a:r>
              <a:rPr lang="en-US" sz="900" dirty="0">
                <a:solidFill>
                  <a:srgbClr val="6F6F6F"/>
                </a:solidFill>
                <a:latin typeface="IBM Plex Sans KR" pitchFamily="34" charset="0"/>
                <a:ea typeface="IBM Plex Sans KR" pitchFamily="34" charset="-122"/>
                <a:cs typeface="IBM Plex Sans KR" pitchFamily="34" charset="-120"/>
              </a:rPr>
              <a:t>10월</a:t>
            </a:r>
            <a:endParaRPr lang="en-US" sz="900" dirty="0"/>
          </a:p>
        </p:txBody>
      </p:sp>
      <p:sp>
        <p:nvSpPr>
          <p:cNvPr id="25" name="o104"/>
          <p:cNvSpPr/>
          <p:nvPr/>
        </p:nvSpPr>
        <p:spPr>
          <a:xfrm>
            <a:off x="1524000" y="3581400"/>
            <a:ext cx="5143500" cy="0"/>
          </a:xfrm>
          <a:prstGeom prst="line">
            <a:avLst/>
          </a:prstGeom>
          <a:noFill/>
          <a:ln w="9525">
            <a:solidFill>
              <a:srgbClr val="E0E0E0"/>
            </a:solidFill>
            <a:prstDash val="solid"/>
          </a:ln>
        </p:spPr>
      </p:sp>
      <p:sp>
        <p:nvSpPr>
          <p:cNvPr id="26" name="o105"/>
          <p:cNvSpPr txBox="1"/>
          <p:nvPr/>
        </p:nvSpPr>
        <p:spPr>
          <a:xfrm>
            <a:off x="609600" y="3695700"/>
            <a:ext cx="857250" cy="228600"/>
          </a:xfrm>
          <a:prstGeom prst="rect">
            <a:avLst/>
          </a:prstGeom>
          <a:noFill/>
          <a:ln/>
        </p:spPr>
        <p:txBody>
          <a:bodyPr wrap="square" lIns="0" tIns="0" rIns="0" bIns="0" rtlCol="0" anchor="ctr"/>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Plan</a:t>
            </a:r>
            <a:endParaRPr lang="en-US" sz="1200" dirty="0"/>
          </a:p>
        </p:txBody>
      </p:sp>
      <p:sp>
        <p:nvSpPr>
          <p:cNvPr id="27" name="o106"/>
          <p:cNvSpPr/>
          <p:nvPr/>
        </p:nvSpPr>
        <p:spPr>
          <a:xfrm>
            <a:off x="1543050" y="3733800"/>
            <a:ext cx="1504950" cy="152400"/>
          </a:xfrm>
          <a:prstGeom prst="rect">
            <a:avLst/>
          </a:prstGeom>
          <a:solidFill>
            <a:srgbClr val="C6C6C6"/>
          </a:solidFill>
          <a:ln/>
        </p:spPr>
      </p:sp>
      <p:sp>
        <p:nvSpPr>
          <p:cNvPr id="28" name="o107"/>
          <p:cNvSpPr txBox="1"/>
          <p:nvPr/>
        </p:nvSpPr>
        <p:spPr>
          <a:xfrm>
            <a:off x="3143250" y="3695700"/>
            <a:ext cx="1562100" cy="228600"/>
          </a:xfrm>
          <a:prstGeom prst="rect">
            <a:avLst/>
          </a:prstGeom>
          <a:noFill/>
          <a:ln/>
        </p:spPr>
        <p:txBody>
          <a:bodyPr wrap="square" lIns="0" tIns="0" rIns="0" bIns="0" rtlCol="0" anchor="ctr"/>
          <a:lstStyle/>
          <a:p>
            <a:pPr algn="l" indent="0" marL="0">
              <a:buNone/>
            </a:pPr>
            <a:r>
              <a:rPr lang="en-US" sz="1100" dirty="0">
                <a:solidFill>
                  <a:srgbClr val="525252"/>
                </a:solidFill>
                <a:latin typeface="IBM Plex Sans KR" pitchFamily="34" charset="0"/>
                <a:ea typeface="IBM Plex Sans KR" pitchFamily="34" charset="-122"/>
                <a:cs typeface="IBM Plex Sans KR" pitchFamily="34" charset="-120"/>
              </a:rPr>
              <a:t>현황 · 원인 · 목표</a:t>
            </a:r>
            <a:endParaRPr lang="en-US" sz="1100" dirty="0"/>
          </a:p>
        </p:txBody>
      </p:sp>
      <p:sp>
        <p:nvSpPr>
          <p:cNvPr id="29" name="o108"/>
          <p:cNvSpPr txBox="1"/>
          <p:nvPr/>
        </p:nvSpPr>
        <p:spPr>
          <a:xfrm>
            <a:off x="609600" y="4076700"/>
            <a:ext cx="857250" cy="228600"/>
          </a:xfrm>
          <a:prstGeom prst="rect">
            <a:avLst/>
          </a:prstGeom>
          <a:noFill/>
          <a:ln/>
        </p:spPr>
        <p:txBody>
          <a:bodyPr wrap="square" lIns="0" tIns="0" rIns="0" bIns="0" rtlCol="0" anchor="ctr"/>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Do</a:t>
            </a:r>
            <a:endParaRPr lang="en-US" sz="1200" dirty="0"/>
          </a:p>
        </p:txBody>
      </p:sp>
      <p:sp>
        <p:nvSpPr>
          <p:cNvPr id="30" name="o109"/>
          <p:cNvSpPr/>
          <p:nvPr/>
        </p:nvSpPr>
        <p:spPr>
          <a:xfrm>
            <a:off x="2571750" y="4114800"/>
            <a:ext cx="2533650" cy="152400"/>
          </a:xfrm>
          <a:prstGeom prst="rect">
            <a:avLst/>
          </a:prstGeom>
          <a:solidFill>
            <a:srgbClr val="4589FF"/>
          </a:solidFill>
          <a:ln/>
        </p:spPr>
      </p:sp>
      <p:sp>
        <p:nvSpPr>
          <p:cNvPr id="31" name="o110"/>
          <p:cNvSpPr txBox="1"/>
          <p:nvPr/>
        </p:nvSpPr>
        <p:spPr>
          <a:xfrm>
            <a:off x="5200650" y="4076700"/>
            <a:ext cx="1562100" cy="228600"/>
          </a:xfrm>
          <a:prstGeom prst="rect">
            <a:avLst/>
          </a:prstGeom>
          <a:noFill/>
          <a:ln/>
        </p:spPr>
        <p:txBody>
          <a:bodyPr wrap="square" lIns="0" tIns="0" rIns="0" bIns="0" rtlCol="0" anchor="ctr"/>
          <a:lstStyle/>
          <a:p>
            <a:pPr algn="l" indent="0" marL="0">
              <a:buNone/>
            </a:pPr>
            <a:r>
              <a:rPr lang="en-US" sz="1100" dirty="0">
                <a:solidFill>
                  <a:srgbClr val="525252"/>
                </a:solidFill>
                <a:latin typeface="IBM Plex Sans KR" pitchFamily="34" charset="0"/>
                <a:ea typeface="IBM Plex Sans KR" pitchFamily="34" charset="-122"/>
                <a:cs typeface="IBM Plex Sans KR" pitchFamily="34" charset="-120"/>
              </a:rPr>
              <a:t>개발 · 전 부서 적용</a:t>
            </a:r>
            <a:endParaRPr lang="en-US" sz="1100" dirty="0"/>
          </a:p>
        </p:txBody>
      </p:sp>
      <p:sp>
        <p:nvSpPr>
          <p:cNvPr id="32" name="o111"/>
          <p:cNvSpPr txBox="1"/>
          <p:nvPr/>
        </p:nvSpPr>
        <p:spPr>
          <a:xfrm>
            <a:off x="609600" y="4457700"/>
            <a:ext cx="857250" cy="228600"/>
          </a:xfrm>
          <a:prstGeom prst="rect">
            <a:avLst/>
          </a:prstGeom>
          <a:noFill/>
          <a:ln/>
        </p:spPr>
        <p:txBody>
          <a:bodyPr wrap="square" lIns="0" tIns="0" rIns="0" bIns="0" rtlCol="0" anchor="ctr"/>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Check</a:t>
            </a:r>
            <a:endParaRPr lang="en-US" sz="1200" dirty="0"/>
          </a:p>
        </p:txBody>
      </p:sp>
      <p:sp>
        <p:nvSpPr>
          <p:cNvPr id="33" name="o112"/>
          <p:cNvSpPr/>
          <p:nvPr/>
        </p:nvSpPr>
        <p:spPr>
          <a:xfrm>
            <a:off x="4629150" y="4495800"/>
            <a:ext cx="476250" cy="152400"/>
          </a:xfrm>
          <a:prstGeom prst="rect">
            <a:avLst/>
          </a:prstGeom>
          <a:solidFill>
            <a:srgbClr val="0F62FE"/>
          </a:solidFill>
          <a:ln/>
        </p:spPr>
      </p:sp>
      <p:sp>
        <p:nvSpPr>
          <p:cNvPr id="34" name="o113"/>
          <p:cNvSpPr txBox="1"/>
          <p:nvPr/>
        </p:nvSpPr>
        <p:spPr>
          <a:xfrm>
            <a:off x="5200650" y="4457700"/>
            <a:ext cx="1562100" cy="228600"/>
          </a:xfrm>
          <a:prstGeom prst="rect">
            <a:avLst/>
          </a:prstGeom>
          <a:noFill/>
          <a:ln/>
        </p:spPr>
        <p:txBody>
          <a:bodyPr wrap="square" lIns="0" tIns="0" rIns="0" bIns="0" rtlCol="0" anchor="ctr"/>
          <a:lstStyle/>
          <a:p>
            <a:pPr algn="l" indent="0" marL="0">
              <a:buNone/>
            </a:pPr>
            <a:r>
              <a:rPr lang="en-US" sz="1100" dirty="0">
                <a:solidFill>
                  <a:srgbClr val="525252"/>
                </a:solidFill>
                <a:latin typeface="IBM Plex Sans KR" pitchFamily="34" charset="0"/>
                <a:ea typeface="IBM Plex Sans KR" pitchFamily="34" charset="-122"/>
                <a:cs typeface="IBM Plex Sans KR" pitchFamily="34" charset="-120"/>
              </a:rPr>
              <a:t>결과 확인</a:t>
            </a:r>
            <a:endParaRPr lang="en-US" sz="1100" dirty="0"/>
          </a:p>
        </p:txBody>
      </p:sp>
      <p:sp>
        <p:nvSpPr>
          <p:cNvPr id="35" name="o114"/>
          <p:cNvSpPr txBox="1"/>
          <p:nvPr/>
        </p:nvSpPr>
        <p:spPr>
          <a:xfrm>
            <a:off x="609600" y="4838700"/>
            <a:ext cx="857250" cy="228600"/>
          </a:xfrm>
          <a:prstGeom prst="rect">
            <a:avLst/>
          </a:prstGeom>
          <a:noFill/>
          <a:ln/>
        </p:spPr>
        <p:txBody>
          <a:bodyPr wrap="square" lIns="0" tIns="0" rIns="0" bIns="0" rtlCol="0" anchor="ctr"/>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Act</a:t>
            </a:r>
            <a:endParaRPr lang="en-US" sz="1200" dirty="0"/>
          </a:p>
        </p:txBody>
      </p:sp>
      <p:sp>
        <p:nvSpPr>
          <p:cNvPr id="36" name="o115"/>
          <p:cNvSpPr/>
          <p:nvPr/>
        </p:nvSpPr>
        <p:spPr>
          <a:xfrm>
            <a:off x="5143500" y="4876800"/>
            <a:ext cx="1504950" cy="152400"/>
          </a:xfrm>
          <a:prstGeom prst="rect">
            <a:avLst/>
          </a:prstGeom>
          <a:solidFill>
            <a:srgbClr val="161616"/>
          </a:solidFill>
          <a:ln/>
        </p:spPr>
      </p:sp>
      <p:sp>
        <p:nvSpPr>
          <p:cNvPr id="37" name="o116"/>
          <p:cNvSpPr txBox="1"/>
          <p:nvPr/>
        </p:nvSpPr>
        <p:spPr>
          <a:xfrm>
            <a:off x="3524250" y="4838700"/>
            <a:ext cx="1562100" cy="228600"/>
          </a:xfrm>
          <a:prstGeom prst="rect">
            <a:avLst/>
          </a:prstGeom>
          <a:noFill/>
          <a:ln/>
        </p:spPr>
        <p:txBody>
          <a:bodyPr wrap="square" lIns="0" tIns="0" rIns="0" bIns="0" rtlCol="0" anchor="ctr"/>
          <a:lstStyle/>
          <a:p>
            <a:pPr algn="r" indent="0" marL="0">
              <a:buNone/>
            </a:pPr>
            <a:r>
              <a:rPr lang="en-US" sz="1100" dirty="0">
                <a:solidFill>
                  <a:srgbClr val="525252"/>
                </a:solidFill>
                <a:latin typeface="IBM Plex Sans KR" pitchFamily="34" charset="0"/>
                <a:ea typeface="IBM Plex Sans KR" pitchFamily="34" charset="-122"/>
                <a:cs typeface="IBM Plex Sans KR" pitchFamily="34" charset="-120"/>
              </a:rPr>
              <a:t>표준화 · AI 고도화</a:t>
            </a:r>
            <a:endParaRPr lang="en-US" sz="1100" dirty="0"/>
          </a:p>
        </p:txBody>
      </p:sp>
      <p:sp>
        <p:nvSpPr>
          <p:cNvPr id="38" name="o117"/>
          <p:cNvSpPr/>
          <p:nvPr/>
        </p:nvSpPr>
        <p:spPr>
          <a:xfrm>
            <a:off x="7239000" y="1866900"/>
            <a:ext cx="4343400" cy="0"/>
          </a:xfrm>
          <a:prstGeom prst="line">
            <a:avLst/>
          </a:prstGeom>
          <a:noFill/>
          <a:ln w="9525">
            <a:solidFill>
              <a:srgbClr val="E0E0E0"/>
            </a:solidFill>
            <a:prstDash val="solid"/>
          </a:ln>
        </p:spPr>
      </p:sp>
      <p:sp>
        <p:nvSpPr>
          <p:cNvPr id="39" name="o118"/>
          <p:cNvSpPr txBox="1"/>
          <p:nvPr/>
        </p:nvSpPr>
        <p:spPr>
          <a:xfrm>
            <a:off x="7239000" y="20002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팀장</a:t>
            </a:r>
            <a:endParaRPr lang="en-US" sz="1200" dirty="0"/>
          </a:p>
        </p:txBody>
      </p:sp>
      <p:sp>
        <p:nvSpPr>
          <p:cNvPr id="40" name="o119"/>
          <p:cNvSpPr txBox="1"/>
          <p:nvPr/>
        </p:nvSpPr>
        <p:spPr>
          <a:xfrm>
            <a:off x="7239000" y="22288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김광현</a:t>
            </a:r>
            <a:endParaRPr lang="en-US" sz="2400" dirty="0"/>
          </a:p>
        </p:txBody>
      </p:sp>
      <p:sp>
        <p:nvSpPr>
          <p:cNvPr id="41" name="o120"/>
          <p:cNvSpPr txBox="1"/>
          <p:nvPr/>
        </p:nvSpPr>
        <p:spPr>
          <a:xfrm>
            <a:off x="7239000" y="26670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활동 총괄</a:t>
            </a:r>
            <a:endParaRPr lang="en-US" sz="1100" dirty="0"/>
          </a:p>
        </p:txBody>
      </p:sp>
      <p:sp>
        <p:nvSpPr>
          <p:cNvPr id="42" name="o121"/>
          <p:cNvSpPr/>
          <p:nvPr/>
        </p:nvSpPr>
        <p:spPr>
          <a:xfrm>
            <a:off x="7239000" y="2971800"/>
            <a:ext cx="4343400" cy="0"/>
          </a:xfrm>
          <a:prstGeom prst="line">
            <a:avLst/>
          </a:prstGeom>
          <a:noFill/>
          <a:ln w="9525">
            <a:solidFill>
              <a:srgbClr val="E0E0E0"/>
            </a:solidFill>
            <a:prstDash val="solid"/>
          </a:ln>
        </p:spPr>
      </p:sp>
      <p:sp>
        <p:nvSpPr>
          <p:cNvPr id="43" name="o122"/>
          <p:cNvSpPr txBox="1"/>
          <p:nvPr/>
        </p:nvSpPr>
        <p:spPr>
          <a:xfrm>
            <a:off x="7239000" y="31051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팀원 · 보건관리자</a:t>
            </a:r>
            <a:endParaRPr lang="en-US" sz="1200" dirty="0"/>
          </a:p>
        </p:txBody>
      </p:sp>
      <p:sp>
        <p:nvSpPr>
          <p:cNvPr id="44" name="o123"/>
          <p:cNvSpPr txBox="1"/>
          <p:nvPr/>
        </p:nvSpPr>
        <p:spPr>
          <a:xfrm>
            <a:off x="7239000" y="3333750"/>
            <a:ext cx="4343400" cy="419100"/>
          </a:xfrm>
          <a:prstGeom prst="rect">
            <a:avLst/>
          </a:prstGeom>
          <a:noFill/>
          <a:ln/>
        </p:spPr>
        <p:txBody>
          <a:bodyPr wrap="square" lIns="0" tIns="0" rIns="0" bIns="0" rtlCol="0" anchor="t"/>
          <a:lstStyle/>
          <a:p>
            <a:pPr indent="0" marL="0">
              <a:buNone/>
            </a:pPr>
            <a:r>
              <a:rPr lang="en-US" sz="2400" b="1" dirty="0">
                <a:solidFill>
                  <a:srgbClr val="0F62FE"/>
                </a:solidFill>
                <a:latin typeface="IBM Plex Sans KR" pitchFamily="34" charset="0"/>
                <a:ea typeface="IBM Plex Sans KR" pitchFamily="34" charset="-122"/>
                <a:cs typeface="IBM Plex Sans KR" pitchFamily="34" charset="-120"/>
              </a:rPr>
              <a:t>장은선</a:t>
            </a:r>
            <a:endParaRPr lang="en-US" sz="2400" dirty="0"/>
          </a:p>
        </p:txBody>
      </p:sp>
      <p:sp>
        <p:nvSpPr>
          <p:cNvPr id="45" name="o124"/>
          <p:cNvSpPr txBox="1"/>
          <p:nvPr/>
        </p:nvSpPr>
        <p:spPr>
          <a:xfrm>
            <a:off x="7239000" y="37719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플랫폼 기획 · 직접 개발</a:t>
            </a:r>
            <a:endParaRPr lang="en-US" sz="1100" dirty="0"/>
          </a:p>
        </p:txBody>
      </p:sp>
      <p:sp>
        <p:nvSpPr>
          <p:cNvPr id="46" name="o125"/>
          <p:cNvSpPr/>
          <p:nvPr/>
        </p:nvSpPr>
        <p:spPr>
          <a:xfrm>
            <a:off x="7239000" y="4076700"/>
            <a:ext cx="4343400" cy="0"/>
          </a:xfrm>
          <a:prstGeom prst="line">
            <a:avLst/>
          </a:prstGeom>
          <a:noFill/>
          <a:ln w="9525">
            <a:solidFill>
              <a:srgbClr val="E0E0E0"/>
            </a:solidFill>
            <a:prstDash val="solid"/>
          </a:ln>
        </p:spPr>
      </p:sp>
      <p:sp>
        <p:nvSpPr>
          <p:cNvPr id="47" name="o126"/>
          <p:cNvSpPr txBox="1"/>
          <p:nvPr/>
        </p:nvSpPr>
        <p:spPr>
          <a:xfrm>
            <a:off x="7239000" y="42100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팀원 · 안전관리자</a:t>
            </a:r>
            <a:endParaRPr lang="en-US" sz="1200" dirty="0"/>
          </a:p>
        </p:txBody>
      </p:sp>
      <p:sp>
        <p:nvSpPr>
          <p:cNvPr id="48" name="o127"/>
          <p:cNvSpPr txBox="1"/>
          <p:nvPr/>
        </p:nvSpPr>
        <p:spPr>
          <a:xfrm>
            <a:off x="7239000" y="44386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장종문</a:t>
            </a:r>
            <a:endParaRPr lang="en-US" sz="2400" dirty="0"/>
          </a:p>
        </p:txBody>
      </p:sp>
      <p:sp>
        <p:nvSpPr>
          <p:cNvPr id="49" name="o128"/>
          <p:cNvSpPr txBox="1"/>
          <p:nvPr/>
        </p:nvSpPr>
        <p:spPr>
          <a:xfrm>
            <a:off x="7239000" y="48768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MSDS · AI 위험성평가</a:t>
            </a:r>
            <a:endParaRPr lang="en-US" sz="1100" dirty="0"/>
          </a:p>
        </p:txBody>
      </p:sp>
      <p:sp>
        <p:nvSpPr>
          <p:cNvPr id="50" name="o129"/>
          <p:cNvSpPr/>
          <p:nvPr/>
        </p:nvSpPr>
        <p:spPr>
          <a:xfrm>
            <a:off x="609600" y="5448300"/>
            <a:ext cx="10972800" cy="723900"/>
          </a:xfrm>
          <a:prstGeom prst="rect">
            <a:avLst/>
          </a:prstGeom>
          <a:solidFill>
            <a:srgbClr val="F4F4F4"/>
          </a:solidFill>
          <a:ln/>
        </p:spPr>
      </p:sp>
      <p:sp>
        <p:nvSpPr>
          <p:cNvPr id="51" name="o130"/>
          <p:cNvSpPr/>
          <p:nvPr/>
        </p:nvSpPr>
        <p:spPr>
          <a:xfrm>
            <a:off x="609600" y="5448300"/>
            <a:ext cx="38100" cy="723900"/>
          </a:xfrm>
          <a:prstGeom prst="rect">
            <a:avLst/>
          </a:prstGeom>
          <a:solidFill>
            <a:srgbClr val="0F62FE"/>
          </a:solidFill>
          <a:ln/>
        </p:spPr>
      </p:sp>
      <p:sp>
        <p:nvSpPr>
          <p:cNvPr id="52" name="o131"/>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53" name="o132"/>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외부 개발비 없이, 현장을 아는 담당자가 직접 만들고 직접 표준화했습니다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o133"/>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Plan</a:t>
            </a:r>
            <a:endParaRPr lang="en-US" sz="900" dirty="0"/>
          </a:p>
        </p:txBody>
      </p:sp>
      <p:sp>
        <p:nvSpPr>
          <p:cNvPr id="4" name="o134"/>
          <p:cNvSpPr/>
          <p:nvPr/>
        </p:nvSpPr>
        <p:spPr>
          <a:xfrm>
            <a:off x="609600" y="514350"/>
            <a:ext cx="381000" cy="19050"/>
          </a:xfrm>
          <a:prstGeom prst="rect">
            <a:avLst/>
          </a:prstGeom>
          <a:solidFill>
            <a:srgbClr val="0F62FE"/>
          </a:solidFill>
          <a:ln/>
        </p:spPr>
      </p:sp>
      <p:sp>
        <p:nvSpPr>
          <p:cNvPr id="5" name="o135"/>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6" name="o136"/>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137"/>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138"/>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02  현황 파악  ·  2025년 1–12월 전수조사 · 단계별 시간 실측</a:t>
            </a:r>
            <a:endParaRPr lang="en-US" sz="1200" dirty="0"/>
          </a:p>
        </p:txBody>
      </p:sp>
      <p:sp>
        <p:nvSpPr>
          <p:cNvPr id="9" name="o139"/>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교육 1건 33분 48초 — 그중 78%는 기다림과 이동이었습니다</a:t>
            </a:r>
            <a:endParaRPr lang="en-US" sz="2600" dirty="0"/>
          </a:p>
        </p:txBody>
      </p:sp>
      <p:sp>
        <p:nvSpPr>
          <p:cNvPr id="10" name="o140"/>
          <p:cNvSpPr/>
          <p:nvPr/>
        </p:nvSpPr>
        <p:spPr>
          <a:xfrm>
            <a:off x="609600" y="6324600"/>
            <a:ext cx="10972800" cy="0"/>
          </a:xfrm>
          <a:prstGeom prst="line">
            <a:avLst/>
          </a:prstGeom>
          <a:noFill/>
          <a:ln w="9525">
            <a:solidFill>
              <a:srgbClr val="E0E0E0"/>
            </a:solidFill>
            <a:prstDash val="solid"/>
          </a:ln>
        </p:spPr>
      </p:sp>
      <p:sp>
        <p:nvSpPr>
          <p:cNvPr id="11" name="o141"/>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142"/>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05</a:t>
            </a:r>
            <a:endParaRPr lang="en-US" sz="900" dirty="0"/>
          </a:p>
        </p:txBody>
      </p:sp>
      <p:sp>
        <p:nvSpPr>
          <p:cNvPr id="13" name="o143"/>
          <p:cNvSpPr txBox="1"/>
          <p:nvPr/>
        </p:nvSpPr>
        <p:spPr>
          <a:xfrm>
            <a:off x="609600" y="1866900"/>
            <a:ext cx="5334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기다림 + 이동</a:t>
            </a:r>
            <a:endParaRPr lang="en-US" sz="1400" dirty="0"/>
          </a:p>
        </p:txBody>
      </p:sp>
      <p:sp>
        <p:nvSpPr>
          <p:cNvPr id="14" name="o144"/>
          <p:cNvSpPr txBox="1"/>
          <p:nvPr/>
        </p:nvSpPr>
        <p:spPr>
          <a:xfrm>
            <a:off x="552450" y="2095500"/>
            <a:ext cx="5715000" cy="1809750"/>
          </a:xfrm>
          <a:prstGeom prst="rect">
            <a:avLst/>
          </a:prstGeom>
          <a:noFill/>
          <a:ln/>
        </p:spPr>
        <p:txBody>
          <a:bodyPr wrap="square" lIns="0" tIns="0" rIns="0" bIns="0" rtlCol="0" anchor="t"/>
          <a:lstStyle/>
          <a:p>
            <a:pPr indent="0" marL="0">
              <a:buNone/>
            </a:pPr>
            <a:r>
              <a:rPr lang="en-US" sz="15000" dirty="0">
                <a:solidFill>
                  <a:srgbClr val="0F62FE"/>
                </a:solidFill>
                <a:latin typeface="IBM Plex Sans KR" pitchFamily="34" charset="0"/>
                <a:ea typeface="IBM Plex Sans KR" pitchFamily="34" charset="-122"/>
                <a:cs typeface="IBM Plex Sans KR" pitchFamily="34" charset="-120"/>
              </a:rPr>
              <a:t>78%</a:t>
            </a:r>
            <a:endParaRPr lang="en-US" sz="15000" dirty="0"/>
          </a:p>
        </p:txBody>
      </p:sp>
      <p:sp>
        <p:nvSpPr>
          <p:cNvPr id="15" name="o145"/>
          <p:cNvSpPr txBox="1"/>
          <p:nvPr/>
        </p:nvSpPr>
        <p:spPr>
          <a:xfrm>
            <a:off x="609600" y="4000500"/>
            <a:ext cx="57150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결재 대기 19분 24초 + 직접 제출 7분 = 26분 24초</a:t>
            </a:r>
            <a:endParaRPr lang="en-US" sz="1400" dirty="0"/>
          </a:p>
        </p:txBody>
      </p:sp>
      <p:sp>
        <p:nvSpPr>
          <p:cNvPr id="16" name="o146"/>
          <p:cNvSpPr/>
          <p:nvPr/>
        </p:nvSpPr>
        <p:spPr>
          <a:xfrm>
            <a:off x="609600" y="4476750"/>
            <a:ext cx="3251632" cy="133350"/>
          </a:xfrm>
          <a:prstGeom prst="rect">
            <a:avLst/>
          </a:prstGeom>
          <a:solidFill>
            <a:srgbClr val="0F62FE"/>
          </a:solidFill>
          <a:ln/>
        </p:spPr>
      </p:sp>
      <p:sp>
        <p:nvSpPr>
          <p:cNvPr id="17" name="o147"/>
          <p:cNvSpPr/>
          <p:nvPr/>
        </p:nvSpPr>
        <p:spPr>
          <a:xfrm>
            <a:off x="3889807" y="4476750"/>
            <a:ext cx="1155005" cy="133350"/>
          </a:xfrm>
          <a:prstGeom prst="rect">
            <a:avLst/>
          </a:prstGeom>
          <a:solidFill>
            <a:srgbClr val="4589FF"/>
          </a:solidFill>
          <a:ln/>
        </p:spPr>
      </p:sp>
      <p:sp>
        <p:nvSpPr>
          <p:cNvPr id="18" name="o148"/>
          <p:cNvSpPr/>
          <p:nvPr/>
        </p:nvSpPr>
        <p:spPr>
          <a:xfrm>
            <a:off x="5073387" y="4476750"/>
            <a:ext cx="1222638" cy="133350"/>
          </a:xfrm>
          <a:prstGeom prst="rect">
            <a:avLst/>
          </a:prstGeom>
          <a:solidFill>
            <a:srgbClr val="C6C6C6"/>
          </a:solidFill>
          <a:ln/>
        </p:spPr>
      </p:sp>
      <p:sp>
        <p:nvSpPr>
          <p:cNvPr id="19" name="o149"/>
          <p:cNvSpPr txBox="1"/>
          <p:nvPr/>
        </p:nvSpPr>
        <p:spPr>
          <a:xfrm>
            <a:off x="609600" y="4686300"/>
            <a:ext cx="19050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결재 대기 57%</a:t>
            </a:r>
            <a:endParaRPr lang="en-US" sz="1100" dirty="0"/>
          </a:p>
        </p:txBody>
      </p:sp>
      <p:sp>
        <p:nvSpPr>
          <p:cNvPr id="20" name="o150"/>
          <p:cNvSpPr txBox="1"/>
          <p:nvPr/>
        </p:nvSpPr>
        <p:spPr>
          <a:xfrm>
            <a:off x="3905250" y="4686300"/>
            <a:ext cx="11430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이동 21%</a:t>
            </a:r>
            <a:endParaRPr lang="en-US" sz="1100" dirty="0"/>
          </a:p>
        </p:txBody>
      </p:sp>
      <p:sp>
        <p:nvSpPr>
          <p:cNvPr id="21" name="o151"/>
          <p:cNvSpPr txBox="1"/>
          <p:nvPr/>
        </p:nvSpPr>
        <p:spPr>
          <a:xfrm>
            <a:off x="5334000" y="4686300"/>
            <a:ext cx="11430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작성 등 22%</a:t>
            </a:r>
            <a:endParaRPr lang="en-US" sz="1100" dirty="0"/>
          </a:p>
        </p:txBody>
      </p:sp>
      <p:sp>
        <p:nvSpPr>
          <p:cNvPr id="22" name="o152"/>
          <p:cNvSpPr/>
          <p:nvPr/>
        </p:nvSpPr>
        <p:spPr>
          <a:xfrm>
            <a:off x="7239000" y="1866900"/>
            <a:ext cx="4343400" cy="0"/>
          </a:xfrm>
          <a:prstGeom prst="line">
            <a:avLst/>
          </a:prstGeom>
          <a:noFill/>
          <a:ln w="9525">
            <a:solidFill>
              <a:srgbClr val="E0E0E0"/>
            </a:solidFill>
            <a:prstDash val="solid"/>
          </a:ln>
        </p:spPr>
      </p:sp>
      <p:sp>
        <p:nvSpPr>
          <p:cNvPr id="23" name="o153"/>
          <p:cNvSpPr txBox="1"/>
          <p:nvPr/>
        </p:nvSpPr>
        <p:spPr>
          <a:xfrm>
            <a:off x="7239000" y="20002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특별안전보건교육 1건 행정시간</a:t>
            </a:r>
            <a:endParaRPr lang="en-US" sz="1200" dirty="0"/>
          </a:p>
        </p:txBody>
      </p:sp>
      <p:sp>
        <p:nvSpPr>
          <p:cNvPr id="24" name="o154"/>
          <p:cNvSpPr txBox="1"/>
          <p:nvPr/>
        </p:nvSpPr>
        <p:spPr>
          <a:xfrm>
            <a:off x="7239000" y="22288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33분 48초</a:t>
            </a:r>
            <a:endParaRPr lang="en-US" sz="2400" dirty="0"/>
          </a:p>
        </p:txBody>
      </p:sp>
      <p:sp>
        <p:nvSpPr>
          <p:cNvPr id="25" name="o155"/>
          <p:cNvSpPr txBox="1"/>
          <p:nvPr/>
        </p:nvSpPr>
        <p:spPr>
          <a:xfrm>
            <a:off x="7239000" y="26670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교육 진행시간 제외</a:t>
            </a:r>
            <a:endParaRPr lang="en-US" sz="1100" dirty="0"/>
          </a:p>
        </p:txBody>
      </p:sp>
      <p:sp>
        <p:nvSpPr>
          <p:cNvPr id="26" name="o156"/>
          <p:cNvSpPr/>
          <p:nvPr/>
        </p:nvSpPr>
        <p:spPr>
          <a:xfrm>
            <a:off x="7239000" y="2971800"/>
            <a:ext cx="4343400" cy="0"/>
          </a:xfrm>
          <a:prstGeom prst="line">
            <a:avLst/>
          </a:prstGeom>
          <a:noFill/>
          <a:ln w="9525">
            <a:solidFill>
              <a:srgbClr val="E0E0E0"/>
            </a:solidFill>
            <a:prstDash val="solid"/>
          </a:ln>
        </p:spPr>
      </p:sp>
      <p:sp>
        <p:nvSpPr>
          <p:cNvPr id="27" name="o157"/>
          <p:cNvSpPr txBox="1"/>
          <p:nvPr/>
        </p:nvSpPr>
        <p:spPr>
          <a:xfrm>
            <a:off x="7239000" y="31051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법정교육 누락</a:t>
            </a:r>
            <a:endParaRPr lang="en-US" sz="1200" dirty="0"/>
          </a:p>
        </p:txBody>
      </p:sp>
      <p:sp>
        <p:nvSpPr>
          <p:cNvPr id="28" name="o158"/>
          <p:cNvSpPr txBox="1"/>
          <p:nvPr/>
        </p:nvSpPr>
        <p:spPr>
          <a:xfrm>
            <a:off x="7239000" y="3333750"/>
            <a:ext cx="4343400" cy="419100"/>
          </a:xfrm>
          <a:prstGeom prst="rect">
            <a:avLst/>
          </a:prstGeom>
          <a:noFill/>
          <a:ln/>
        </p:spPr>
        <p:txBody>
          <a:bodyPr wrap="square" lIns="0" tIns="0" rIns="0" bIns="0" rtlCol="0" anchor="t"/>
          <a:lstStyle/>
          <a:p>
            <a:pPr indent="0" marL="0">
              <a:buNone/>
            </a:pPr>
            <a:r>
              <a:rPr lang="en-US" sz="2400" b="1" dirty="0">
                <a:solidFill>
                  <a:srgbClr val="DA1E28"/>
                </a:solidFill>
                <a:latin typeface="IBM Plex Sans KR" pitchFamily="34" charset="0"/>
                <a:ea typeface="IBM Plex Sans KR" pitchFamily="34" charset="-122"/>
                <a:cs typeface="IBM Plex Sans KR" pitchFamily="34" charset="-120"/>
              </a:rPr>
              <a:t>18건 (17%)</a:t>
            </a:r>
            <a:endParaRPr lang="en-US" sz="2400" dirty="0"/>
          </a:p>
        </p:txBody>
      </p:sp>
      <p:sp>
        <p:nvSpPr>
          <p:cNvPr id="29" name="o159"/>
          <p:cNvSpPr txBox="1"/>
          <p:nvPr/>
        </p:nvSpPr>
        <p:spPr>
          <a:xfrm>
            <a:off x="7239000" y="37719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106명 중 · 12개월 중 8개월 발생</a:t>
            </a:r>
            <a:endParaRPr lang="en-US" sz="1100" dirty="0"/>
          </a:p>
        </p:txBody>
      </p:sp>
      <p:sp>
        <p:nvSpPr>
          <p:cNvPr id="30" name="o160"/>
          <p:cNvSpPr/>
          <p:nvPr/>
        </p:nvSpPr>
        <p:spPr>
          <a:xfrm>
            <a:off x="7239000" y="4076700"/>
            <a:ext cx="4343400" cy="0"/>
          </a:xfrm>
          <a:prstGeom prst="line">
            <a:avLst/>
          </a:prstGeom>
          <a:noFill/>
          <a:ln w="9525">
            <a:solidFill>
              <a:srgbClr val="E0E0E0"/>
            </a:solidFill>
            <a:prstDash val="solid"/>
          </a:ln>
        </p:spPr>
      </p:sp>
      <p:sp>
        <p:nvSpPr>
          <p:cNvPr id="31" name="o161"/>
          <p:cNvSpPr txBox="1"/>
          <p:nvPr/>
        </p:nvSpPr>
        <p:spPr>
          <a:xfrm>
            <a:off x="7239000" y="42100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종이 기반 처리</a:t>
            </a:r>
            <a:endParaRPr lang="en-US" sz="1200" dirty="0"/>
          </a:p>
        </p:txBody>
      </p:sp>
      <p:sp>
        <p:nvSpPr>
          <p:cNvPr id="32" name="o162"/>
          <p:cNvSpPr txBox="1"/>
          <p:nvPr/>
        </p:nvSpPr>
        <p:spPr>
          <a:xfrm>
            <a:off x="7239000" y="44386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100%</a:t>
            </a:r>
            <a:endParaRPr lang="en-US" sz="2400" dirty="0"/>
          </a:p>
        </p:txBody>
      </p:sp>
      <p:sp>
        <p:nvSpPr>
          <p:cNvPr id="33" name="o163"/>
          <p:cNvSpPr txBox="1"/>
          <p:nvPr/>
        </p:nvSpPr>
        <p:spPr>
          <a:xfrm>
            <a:off x="7239000" y="48768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연 94건 출력 · 바인더 보관</a:t>
            </a:r>
            <a:endParaRPr lang="en-US" sz="1100" dirty="0"/>
          </a:p>
        </p:txBody>
      </p:sp>
      <p:sp>
        <p:nvSpPr>
          <p:cNvPr id="34" name="o164"/>
          <p:cNvSpPr/>
          <p:nvPr/>
        </p:nvSpPr>
        <p:spPr>
          <a:xfrm>
            <a:off x="609600" y="5448300"/>
            <a:ext cx="10972800" cy="723900"/>
          </a:xfrm>
          <a:prstGeom prst="rect">
            <a:avLst/>
          </a:prstGeom>
          <a:solidFill>
            <a:srgbClr val="F4F4F4"/>
          </a:solidFill>
          <a:ln/>
        </p:spPr>
      </p:sp>
      <p:sp>
        <p:nvSpPr>
          <p:cNvPr id="35" name="o165"/>
          <p:cNvSpPr/>
          <p:nvPr/>
        </p:nvSpPr>
        <p:spPr>
          <a:xfrm>
            <a:off x="609600" y="5448300"/>
            <a:ext cx="38100" cy="723900"/>
          </a:xfrm>
          <a:prstGeom prst="rect">
            <a:avLst/>
          </a:prstGeom>
          <a:solidFill>
            <a:srgbClr val="0F62FE"/>
          </a:solidFill>
          <a:ln/>
        </p:spPr>
      </p:sp>
      <p:sp>
        <p:nvSpPr>
          <p:cNvPr id="36" name="o166"/>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37" name="o167"/>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문제는 사람이 아니라 방식 — 기다림과 이동은 체계를 바꿔야만 없어집니다</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o168"/>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Plan</a:t>
            </a:r>
            <a:endParaRPr lang="en-US" sz="900" dirty="0"/>
          </a:p>
        </p:txBody>
      </p:sp>
      <p:sp>
        <p:nvSpPr>
          <p:cNvPr id="4" name="o169"/>
          <p:cNvSpPr/>
          <p:nvPr/>
        </p:nvSpPr>
        <p:spPr>
          <a:xfrm>
            <a:off x="609600" y="514350"/>
            <a:ext cx="381000" cy="19050"/>
          </a:xfrm>
          <a:prstGeom prst="rect">
            <a:avLst/>
          </a:prstGeom>
          <a:solidFill>
            <a:srgbClr val="0F62FE"/>
          </a:solidFill>
          <a:ln/>
        </p:spPr>
      </p:sp>
      <p:sp>
        <p:nvSpPr>
          <p:cNvPr id="5" name="o170"/>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6" name="o171"/>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172"/>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173"/>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03  ROOT CAUSE &amp; GOAL  ·  업무 흐름도 · Fishbone(4M) → 기여요인(CF) 도출</a:t>
            </a:r>
            <a:endParaRPr lang="en-US" sz="1200" dirty="0"/>
          </a:p>
        </p:txBody>
      </p:sp>
      <p:sp>
        <p:nvSpPr>
          <p:cNvPr id="9" name="o174"/>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원인은 사람이 아니라 프로세스 — 현황을 기준값으로 목표를 정했습니다</a:t>
            </a:r>
            <a:endParaRPr lang="en-US" sz="2600" dirty="0"/>
          </a:p>
        </p:txBody>
      </p:sp>
      <p:sp>
        <p:nvSpPr>
          <p:cNvPr id="10" name="o175"/>
          <p:cNvSpPr/>
          <p:nvPr/>
        </p:nvSpPr>
        <p:spPr>
          <a:xfrm>
            <a:off x="609600" y="6324600"/>
            <a:ext cx="10972800" cy="0"/>
          </a:xfrm>
          <a:prstGeom prst="line">
            <a:avLst/>
          </a:prstGeom>
          <a:noFill/>
          <a:ln w="9525">
            <a:solidFill>
              <a:srgbClr val="E0E0E0"/>
            </a:solidFill>
            <a:prstDash val="solid"/>
          </a:ln>
        </p:spPr>
      </p:sp>
      <p:sp>
        <p:nvSpPr>
          <p:cNvPr id="11" name="o176"/>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177"/>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06</a:t>
            </a:r>
            <a:endParaRPr lang="en-US" sz="900" dirty="0"/>
          </a:p>
        </p:txBody>
      </p:sp>
      <p:sp>
        <p:nvSpPr>
          <p:cNvPr id="13" name="o178"/>
          <p:cNvSpPr txBox="1"/>
          <p:nvPr/>
        </p:nvSpPr>
        <p:spPr>
          <a:xfrm>
            <a:off x="609600" y="1866900"/>
            <a:ext cx="4953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핵심 원인</a:t>
            </a:r>
            <a:endParaRPr lang="en-US" sz="1400" dirty="0"/>
          </a:p>
        </p:txBody>
      </p:sp>
      <p:sp>
        <p:nvSpPr>
          <p:cNvPr id="14" name="o179"/>
          <p:cNvSpPr/>
          <p:nvPr/>
        </p:nvSpPr>
        <p:spPr>
          <a:xfrm>
            <a:off x="609600" y="2171700"/>
            <a:ext cx="5334000" cy="0"/>
          </a:xfrm>
          <a:prstGeom prst="line">
            <a:avLst/>
          </a:prstGeom>
          <a:noFill/>
          <a:ln w="9525">
            <a:solidFill>
              <a:srgbClr val="E0E0E0"/>
            </a:solidFill>
            <a:prstDash val="solid"/>
          </a:ln>
        </p:spPr>
      </p:sp>
      <p:sp>
        <p:nvSpPr>
          <p:cNvPr id="15" name="o180"/>
          <p:cNvSpPr txBox="1"/>
          <p:nvPr/>
        </p:nvSpPr>
        <p:spPr>
          <a:xfrm>
            <a:off x="609600" y="2324100"/>
            <a:ext cx="476250" cy="2286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01</a:t>
            </a:r>
            <a:endParaRPr lang="en-US" sz="1400" dirty="0"/>
          </a:p>
        </p:txBody>
      </p:sp>
      <p:sp>
        <p:nvSpPr>
          <p:cNvPr id="16" name="o181"/>
          <p:cNvSpPr txBox="1"/>
          <p:nvPr/>
        </p:nvSpPr>
        <p:spPr>
          <a:xfrm>
            <a:off x="1104900" y="2305050"/>
            <a:ext cx="2476500" cy="266700"/>
          </a:xfrm>
          <a:prstGeom prst="rect">
            <a:avLst/>
          </a:prstGeom>
          <a:noFill/>
          <a:ln/>
        </p:spPr>
        <p:txBody>
          <a:bodyPr wrap="square" lIns="0" tIns="0" rIns="0" bIns="0" rtlCol="0" anchor="t"/>
          <a:lstStyle/>
          <a:p>
            <a:pPr indent="0" marL="0">
              <a:buNone/>
            </a:pPr>
            <a:r>
              <a:rPr lang="en-US" sz="2000" b="1" dirty="0">
                <a:solidFill>
                  <a:srgbClr val="161616"/>
                </a:solidFill>
                <a:latin typeface="IBM Plex Sans KR" pitchFamily="34" charset="0"/>
                <a:ea typeface="IBM Plex Sans KR" pitchFamily="34" charset="-122"/>
                <a:cs typeface="IBM Plex Sans KR" pitchFamily="34" charset="-120"/>
              </a:rPr>
              <a:t>결재 대기</a:t>
            </a:r>
            <a:endParaRPr lang="en-US" sz="2000" dirty="0"/>
          </a:p>
        </p:txBody>
      </p:sp>
      <p:sp>
        <p:nvSpPr>
          <p:cNvPr id="17" name="o182"/>
          <p:cNvSpPr txBox="1"/>
          <p:nvPr/>
        </p:nvSpPr>
        <p:spPr>
          <a:xfrm>
            <a:off x="3581400" y="2305050"/>
            <a:ext cx="2362200" cy="266700"/>
          </a:xfrm>
          <a:prstGeom prst="rect">
            <a:avLst/>
          </a:prstGeom>
          <a:noFill/>
          <a:ln/>
        </p:spPr>
        <p:txBody>
          <a:bodyPr wrap="square" lIns="0" tIns="0" rIns="0" bIns="0" rtlCol="0" anchor="t"/>
          <a:lstStyle/>
          <a:p>
            <a:pPr algn="r" indent="0" marL="0">
              <a:buNone/>
            </a:pPr>
            <a:r>
              <a:rPr lang="en-US" sz="2000" dirty="0">
                <a:solidFill>
                  <a:srgbClr val="DA1E28"/>
                </a:solidFill>
                <a:latin typeface="IBM Plex Sans KR" pitchFamily="34" charset="0"/>
                <a:ea typeface="IBM Plex Sans KR" pitchFamily="34" charset="-122"/>
                <a:cs typeface="IBM Plex Sans KR" pitchFamily="34" charset="-120"/>
              </a:rPr>
              <a:t>19분 24초</a:t>
            </a:r>
            <a:endParaRPr lang="en-US" sz="2000" dirty="0"/>
          </a:p>
        </p:txBody>
      </p:sp>
      <p:sp>
        <p:nvSpPr>
          <p:cNvPr id="18" name="o183"/>
          <p:cNvSpPr txBox="1"/>
          <p:nvPr/>
        </p:nvSpPr>
        <p:spPr>
          <a:xfrm>
            <a:off x="1104900" y="2705100"/>
            <a:ext cx="48387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Method · 종이 결재 · 명단 수작업 대조</a:t>
            </a:r>
            <a:endParaRPr lang="en-US" sz="1100" dirty="0"/>
          </a:p>
        </p:txBody>
      </p:sp>
      <p:sp>
        <p:nvSpPr>
          <p:cNvPr id="19" name="o184"/>
          <p:cNvSpPr/>
          <p:nvPr/>
        </p:nvSpPr>
        <p:spPr>
          <a:xfrm>
            <a:off x="609600" y="3200400"/>
            <a:ext cx="5334000" cy="0"/>
          </a:xfrm>
          <a:prstGeom prst="line">
            <a:avLst/>
          </a:prstGeom>
          <a:noFill/>
          <a:ln w="9525">
            <a:solidFill>
              <a:srgbClr val="E0E0E0"/>
            </a:solidFill>
            <a:prstDash val="solid"/>
          </a:ln>
        </p:spPr>
      </p:sp>
      <p:sp>
        <p:nvSpPr>
          <p:cNvPr id="20" name="o185"/>
          <p:cNvSpPr txBox="1"/>
          <p:nvPr/>
        </p:nvSpPr>
        <p:spPr>
          <a:xfrm>
            <a:off x="609600" y="3352800"/>
            <a:ext cx="476250" cy="2286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02</a:t>
            </a:r>
            <a:endParaRPr lang="en-US" sz="1400" dirty="0"/>
          </a:p>
        </p:txBody>
      </p:sp>
      <p:sp>
        <p:nvSpPr>
          <p:cNvPr id="21" name="o186"/>
          <p:cNvSpPr txBox="1"/>
          <p:nvPr/>
        </p:nvSpPr>
        <p:spPr>
          <a:xfrm>
            <a:off x="1104900" y="3333750"/>
            <a:ext cx="2476500" cy="266700"/>
          </a:xfrm>
          <a:prstGeom prst="rect">
            <a:avLst/>
          </a:prstGeom>
          <a:noFill/>
          <a:ln/>
        </p:spPr>
        <p:txBody>
          <a:bodyPr wrap="square" lIns="0" tIns="0" rIns="0" bIns="0" rtlCol="0" anchor="t"/>
          <a:lstStyle/>
          <a:p>
            <a:pPr indent="0" marL="0">
              <a:buNone/>
            </a:pPr>
            <a:r>
              <a:rPr lang="en-US" sz="2000" b="1" dirty="0">
                <a:solidFill>
                  <a:srgbClr val="161616"/>
                </a:solidFill>
                <a:latin typeface="IBM Plex Sans KR" pitchFamily="34" charset="0"/>
                <a:ea typeface="IBM Plex Sans KR" pitchFamily="34" charset="-122"/>
                <a:cs typeface="IBM Plex Sans KR" pitchFamily="34" charset="-120"/>
              </a:rPr>
              <a:t>방문 제출</a:t>
            </a:r>
            <a:endParaRPr lang="en-US" sz="2000" dirty="0"/>
          </a:p>
        </p:txBody>
      </p:sp>
      <p:sp>
        <p:nvSpPr>
          <p:cNvPr id="22" name="o187"/>
          <p:cNvSpPr txBox="1"/>
          <p:nvPr/>
        </p:nvSpPr>
        <p:spPr>
          <a:xfrm>
            <a:off x="3581400" y="3333750"/>
            <a:ext cx="2362200" cy="266700"/>
          </a:xfrm>
          <a:prstGeom prst="rect">
            <a:avLst/>
          </a:prstGeom>
          <a:noFill/>
          <a:ln/>
        </p:spPr>
        <p:txBody>
          <a:bodyPr wrap="square" lIns="0" tIns="0" rIns="0" bIns="0" rtlCol="0" anchor="t"/>
          <a:lstStyle/>
          <a:p>
            <a:pPr algn="r" indent="0" marL="0">
              <a:buNone/>
            </a:pPr>
            <a:r>
              <a:rPr lang="en-US" sz="2000" dirty="0">
                <a:solidFill>
                  <a:srgbClr val="DA1E28"/>
                </a:solidFill>
                <a:latin typeface="IBM Plex Sans KR" pitchFamily="34" charset="0"/>
                <a:ea typeface="IBM Plex Sans KR" pitchFamily="34" charset="-122"/>
                <a:cs typeface="IBM Plex Sans KR" pitchFamily="34" charset="-120"/>
              </a:rPr>
              <a:t>평균 7분</a:t>
            </a:r>
            <a:endParaRPr lang="en-US" sz="2000" dirty="0"/>
          </a:p>
        </p:txBody>
      </p:sp>
      <p:sp>
        <p:nvSpPr>
          <p:cNvPr id="23" name="o188"/>
          <p:cNvSpPr txBox="1"/>
          <p:nvPr/>
        </p:nvSpPr>
        <p:spPr>
          <a:xfrm>
            <a:off x="1104900" y="3733800"/>
            <a:ext cx="48387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Environment · 부서 ↔ 보건관리실 이동</a:t>
            </a:r>
            <a:endParaRPr lang="en-US" sz="1100" dirty="0"/>
          </a:p>
        </p:txBody>
      </p:sp>
      <p:sp>
        <p:nvSpPr>
          <p:cNvPr id="24" name="o189"/>
          <p:cNvSpPr/>
          <p:nvPr/>
        </p:nvSpPr>
        <p:spPr>
          <a:xfrm>
            <a:off x="609600" y="4229100"/>
            <a:ext cx="5334000" cy="0"/>
          </a:xfrm>
          <a:prstGeom prst="line">
            <a:avLst/>
          </a:prstGeom>
          <a:noFill/>
          <a:ln w="9525">
            <a:solidFill>
              <a:srgbClr val="E0E0E0"/>
            </a:solidFill>
            <a:prstDash val="solid"/>
          </a:ln>
        </p:spPr>
      </p:sp>
      <p:sp>
        <p:nvSpPr>
          <p:cNvPr id="25" name="o190"/>
          <p:cNvSpPr txBox="1"/>
          <p:nvPr/>
        </p:nvSpPr>
        <p:spPr>
          <a:xfrm>
            <a:off x="609600" y="4381500"/>
            <a:ext cx="476250" cy="2286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03</a:t>
            </a:r>
            <a:endParaRPr lang="en-US" sz="1400" dirty="0"/>
          </a:p>
        </p:txBody>
      </p:sp>
      <p:sp>
        <p:nvSpPr>
          <p:cNvPr id="26" name="o191"/>
          <p:cNvSpPr txBox="1"/>
          <p:nvPr/>
        </p:nvSpPr>
        <p:spPr>
          <a:xfrm>
            <a:off x="1104900" y="4362450"/>
            <a:ext cx="2476500" cy="266700"/>
          </a:xfrm>
          <a:prstGeom prst="rect">
            <a:avLst/>
          </a:prstGeom>
          <a:noFill/>
          <a:ln/>
        </p:spPr>
        <p:txBody>
          <a:bodyPr wrap="square" lIns="0" tIns="0" rIns="0" bIns="0" rtlCol="0" anchor="t"/>
          <a:lstStyle/>
          <a:p>
            <a:pPr indent="0" marL="0">
              <a:buNone/>
            </a:pPr>
            <a:r>
              <a:rPr lang="en-US" sz="2000" b="1" dirty="0">
                <a:solidFill>
                  <a:srgbClr val="161616"/>
                </a:solidFill>
                <a:latin typeface="IBM Plex Sans KR" pitchFamily="34" charset="0"/>
                <a:ea typeface="IBM Plex Sans KR" pitchFamily="34" charset="-122"/>
                <a:cs typeface="IBM Plex Sans KR" pitchFamily="34" charset="-120"/>
              </a:rPr>
              <a:t>실시간 모니터링 부재</a:t>
            </a:r>
            <a:endParaRPr lang="en-US" sz="2000" dirty="0"/>
          </a:p>
        </p:txBody>
      </p:sp>
      <p:sp>
        <p:nvSpPr>
          <p:cNvPr id="27" name="o192"/>
          <p:cNvSpPr txBox="1"/>
          <p:nvPr/>
        </p:nvSpPr>
        <p:spPr>
          <a:xfrm>
            <a:off x="3581400" y="4362450"/>
            <a:ext cx="2362200" cy="266700"/>
          </a:xfrm>
          <a:prstGeom prst="rect">
            <a:avLst/>
          </a:prstGeom>
          <a:noFill/>
          <a:ln/>
        </p:spPr>
        <p:txBody>
          <a:bodyPr wrap="square" lIns="0" tIns="0" rIns="0" bIns="0" rtlCol="0" anchor="t"/>
          <a:lstStyle/>
          <a:p>
            <a:pPr algn="r" indent="0" marL="0">
              <a:buNone/>
            </a:pPr>
            <a:r>
              <a:rPr lang="en-US" sz="2000" dirty="0">
                <a:solidFill>
                  <a:srgbClr val="DA1E28"/>
                </a:solidFill>
                <a:latin typeface="IBM Plex Sans KR" pitchFamily="34" charset="0"/>
                <a:ea typeface="IBM Plex Sans KR" pitchFamily="34" charset="-122"/>
                <a:cs typeface="IBM Plex Sans KR" pitchFamily="34" charset="-120"/>
              </a:rPr>
              <a:t>확인 불가</a:t>
            </a:r>
            <a:endParaRPr lang="en-US" sz="2000" dirty="0"/>
          </a:p>
        </p:txBody>
      </p:sp>
      <p:sp>
        <p:nvSpPr>
          <p:cNvPr id="28" name="o193"/>
          <p:cNvSpPr txBox="1"/>
          <p:nvPr/>
        </p:nvSpPr>
        <p:spPr>
          <a:xfrm>
            <a:off x="1104900" y="4762500"/>
            <a:ext cx="48387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Machine · 바인더 검색 · 반복 수기 작성</a:t>
            </a:r>
            <a:endParaRPr lang="en-US" sz="1100" dirty="0"/>
          </a:p>
        </p:txBody>
      </p:sp>
      <p:sp>
        <p:nvSpPr>
          <p:cNvPr id="29" name="o194"/>
          <p:cNvSpPr txBox="1"/>
          <p:nvPr/>
        </p:nvSpPr>
        <p:spPr>
          <a:xfrm>
            <a:off x="6705600" y="1866900"/>
            <a:ext cx="1905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지표</a:t>
            </a:r>
            <a:endParaRPr lang="en-US" sz="1400" dirty="0"/>
          </a:p>
        </p:txBody>
      </p:sp>
      <p:sp>
        <p:nvSpPr>
          <p:cNvPr id="30" name="o195"/>
          <p:cNvSpPr txBox="1"/>
          <p:nvPr/>
        </p:nvSpPr>
        <p:spPr>
          <a:xfrm>
            <a:off x="8763000" y="1866900"/>
            <a:ext cx="123825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기준값</a:t>
            </a:r>
            <a:endParaRPr lang="en-US" sz="1400" dirty="0"/>
          </a:p>
        </p:txBody>
      </p:sp>
      <p:sp>
        <p:nvSpPr>
          <p:cNvPr id="31" name="o196"/>
          <p:cNvSpPr txBox="1"/>
          <p:nvPr/>
        </p:nvSpPr>
        <p:spPr>
          <a:xfrm>
            <a:off x="10153650" y="1866900"/>
            <a:ext cx="1428750" cy="190500"/>
          </a:xfrm>
          <a:prstGeom prst="rect">
            <a:avLst/>
          </a:prstGeom>
          <a:noFill/>
          <a:ln/>
        </p:spPr>
        <p:txBody>
          <a:bodyPr wrap="square" lIns="0" tIns="0" rIns="0" bIns="0" rtlCol="0" anchor="t"/>
          <a:lstStyle/>
          <a:p>
            <a:pPr algn="r" indent="0" marL="0">
              <a:buNone/>
            </a:pPr>
            <a:r>
              <a:rPr lang="en-US" sz="1400" dirty="0">
                <a:solidFill>
                  <a:srgbClr val="525252"/>
                </a:solidFill>
                <a:latin typeface="IBM Plex Sans KR" pitchFamily="34" charset="0"/>
                <a:ea typeface="IBM Plex Sans KR" pitchFamily="34" charset="-122"/>
                <a:cs typeface="IBM Plex Sans KR" pitchFamily="34" charset="-120"/>
              </a:rPr>
              <a:t>목표</a:t>
            </a:r>
            <a:endParaRPr lang="en-US" sz="1400" dirty="0"/>
          </a:p>
        </p:txBody>
      </p:sp>
      <p:sp>
        <p:nvSpPr>
          <p:cNvPr id="32" name="o197"/>
          <p:cNvSpPr/>
          <p:nvPr/>
        </p:nvSpPr>
        <p:spPr>
          <a:xfrm>
            <a:off x="6705600" y="2171700"/>
            <a:ext cx="4876800" cy="0"/>
          </a:xfrm>
          <a:prstGeom prst="line">
            <a:avLst/>
          </a:prstGeom>
          <a:noFill/>
          <a:ln w="9525">
            <a:solidFill>
              <a:srgbClr val="E0E0E0"/>
            </a:solidFill>
            <a:prstDash val="solid"/>
          </a:ln>
        </p:spPr>
      </p:sp>
      <p:sp>
        <p:nvSpPr>
          <p:cNvPr id="33" name="o198"/>
          <p:cNvSpPr txBox="1"/>
          <p:nvPr/>
        </p:nvSpPr>
        <p:spPr>
          <a:xfrm>
            <a:off x="6705600" y="2381250"/>
            <a:ext cx="2000250" cy="342900"/>
          </a:xfrm>
          <a:prstGeom prst="rect">
            <a:avLst/>
          </a:prstGeom>
          <a:noFill/>
          <a:ln/>
        </p:spPr>
        <p:txBody>
          <a:bodyPr wrap="square" lIns="0" tIns="0" rIns="0" bIns="0" rtlCol="0" anchor="ctr"/>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법정교육 누락률</a:t>
            </a:r>
            <a:endParaRPr lang="en-US" sz="1600" dirty="0"/>
          </a:p>
        </p:txBody>
      </p:sp>
      <p:sp>
        <p:nvSpPr>
          <p:cNvPr id="34" name="o199"/>
          <p:cNvSpPr txBox="1"/>
          <p:nvPr/>
        </p:nvSpPr>
        <p:spPr>
          <a:xfrm>
            <a:off x="8763000" y="2381250"/>
            <a:ext cx="1333500" cy="342900"/>
          </a:xfrm>
          <a:prstGeom prst="rect">
            <a:avLst/>
          </a:prstGeom>
          <a:noFill/>
          <a:ln/>
        </p:spPr>
        <p:txBody>
          <a:bodyPr wrap="square" lIns="0" tIns="0" rIns="0" bIns="0" rtlCol="0" anchor="ctr"/>
          <a:lstStyle/>
          <a:p>
            <a:pPr indent="0" marL="0">
              <a:buNone/>
            </a:pPr>
            <a:r>
              <a:rPr lang="en-US" sz="1600" dirty="0">
                <a:solidFill>
                  <a:srgbClr val="525252"/>
                </a:solidFill>
                <a:latin typeface="IBM Plex Sans KR" pitchFamily="34" charset="0"/>
                <a:ea typeface="IBM Plex Sans KR" pitchFamily="34" charset="-122"/>
                <a:cs typeface="IBM Plex Sans KR" pitchFamily="34" charset="-120"/>
              </a:rPr>
              <a:t>17%</a:t>
            </a:r>
            <a:endParaRPr lang="en-US" sz="1600" dirty="0"/>
          </a:p>
        </p:txBody>
      </p:sp>
      <p:sp>
        <p:nvSpPr>
          <p:cNvPr id="35" name="o200"/>
          <p:cNvSpPr txBox="1"/>
          <p:nvPr/>
        </p:nvSpPr>
        <p:spPr>
          <a:xfrm>
            <a:off x="10058400" y="2305050"/>
            <a:ext cx="1524000" cy="495300"/>
          </a:xfrm>
          <a:prstGeom prst="rect">
            <a:avLst/>
          </a:prstGeom>
          <a:noFill/>
          <a:ln/>
        </p:spPr>
        <p:txBody>
          <a:bodyPr wrap="square" lIns="0" tIns="0" rIns="0" bIns="0" rtlCol="0" anchor="ctr"/>
          <a:lstStyle/>
          <a:p>
            <a:pPr algn="r" indent="0" marL="0">
              <a:buNone/>
            </a:pPr>
            <a:r>
              <a:rPr lang="en-US" sz="3200" dirty="0">
                <a:solidFill>
                  <a:srgbClr val="0F62FE"/>
                </a:solidFill>
                <a:latin typeface="IBM Plex Sans KR" pitchFamily="34" charset="0"/>
                <a:ea typeface="IBM Plex Sans KR" pitchFamily="34" charset="-122"/>
                <a:cs typeface="IBM Plex Sans KR" pitchFamily="34" charset="-120"/>
              </a:rPr>
              <a:t>0%</a:t>
            </a:r>
            <a:endParaRPr lang="en-US" sz="3200" dirty="0"/>
          </a:p>
        </p:txBody>
      </p:sp>
      <p:sp>
        <p:nvSpPr>
          <p:cNvPr id="36" name="o201"/>
          <p:cNvSpPr/>
          <p:nvPr/>
        </p:nvSpPr>
        <p:spPr>
          <a:xfrm>
            <a:off x="6705600" y="2943225"/>
            <a:ext cx="4876800" cy="0"/>
          </a:xfrm>
          <a:prstGeom prst="line">
            <a:avLst/>
          </a:prstGeom>
          <a:noFill/>
          <a:ln w="9525">
            <a:solidFill>
              <a:srgbClr val="E0E0E0"/>
            </a:solidFill>
            <a:prstDash val="solid"/>
          </a:ln>
        </p:spPr>
      </p:sp>
      <p:sp>
        <p:nvSpPr>
          <p:cNvPr id="37" name="o202"/>
          <p:cNvSpPr txBox="1"/>
          <p:nvPr/>
        </p:nvSpPr>
        <p:spPr>
          <a:xfrm>
            <a:off x="6705600" y="3152775"/>
            <a:ext cx="2000250" cy="342900"/>
          </a:xfrm>
          <a:prstGeom prst="rect">
            <a:avLst/>
          </a:prstGeom>
          <a:noFill/>
          <a:ln/>
        </p:spPr>
        <p:txBody>
          <a:bodyPr wrap="square" lIns="0" tIns="0" rIns="0" bIns="0" rtlCol="0" anchor="ctr"/>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행정 리드타임</a:t>
            </a:r>
            <a:endParaRPr lang="en-US" sz="1600" dirty="0"/>
          </a:p>
        </p:txBody>
      </p:sp>
      <p:sp>
        <p:nvSpPr>
          <p:cNvPr id="38" name="o203"/>
          <p:cNvSpPr txBox="1"/>
          <p:nvPr/>
        </p:nvSpPr>
        <p:spPr>
          <a:xfrm>
            <a:off x="8763000" y="3152775"/>
            <a:ext cx="1333500" cy="342900"/>
          </a:xfrm>
          <a:prstGeom prst="rect">
            <a:avLst/>
          </a:prstGeom>
          <a:noFill/>
          <a:ln/>
        </p:spPr>
        <p:txBody>
          <a:bodyPr wrap="square" lIns="0" tIns="0" rIns="0" bIns="0" rtlCol="0" anchor="ctr"/>
          <a:lstStyle/>
          <a:p>
            <a:pPr indent="0" marL="0">
              <a:buNone/>
            </a:pPr>
            <a:r>
              <a:rPr lang="en-US" sz="1600" dirty="0">
                <a:solidFill>
                  <a:srgbClr val="525252"/>
                </a:solidFill>
                <a:latin typeface="IBM Plex Sans KR" pitchFamily="34" charset="0"/>
                <a:ea typeface="IBM Plex Sans KR" pitchFamily="34" charset="-122"/>
                <a:cs typeface="IBM Plex Sans KR" pitchFamily="34" charset="-120"/>
              </a:rPr>
              <a:t>33분 48초</a:t>
            </a:r>
            <a:endParaRPr lang="en-US" sz="1600" dirty="0"/>
          </a:p>
        </p:txBody>
      </p:sp>
      <p:sp>
        <p:nvSpPr>
          <p:cNvPr id="39" name="o204"/>
          <p:cNvSpPr txBox="1"/>
          <p:nvPr/>
        </p:nvSpPr>
        <p:spPr>
          <a:xfrm>
            <a:off x="10058400" y="3076575"/>
            <a:ext cx="1524000" cy="495300"/>
          </a:xfrm>
          <a:prstGeom prst="rect">
            <a:avLst/>
          </a:prstGeom>
          <a:noFill/>
          <a:ln/>
        </p:spPr>
        <p:txBody>
          <a:bodyPr wrap="square" lIns="0" tIns="0" rIns="0" bIns="0" rtlCol="0" anchor="ctr"/>
          <a:lstStyle/>
          <a:p>
            <a:pPr algn="r" indent="0" marL="0">
              <a:buNone/>
            </a:pPr>
            <a:r>
              <a:rPr lang="en-US" sz="3200" dirty="0">
                <a:solidFill>
                  <a:srgbClr val="0F62FE"/>
                </a:solidFill>
                <a:latin typeface="IBM Plex Sans KR" pitchFamily="34" charset="0"/>
                <a:ea typeface="IBM Plex Sans KR" pitchFamily="34" charset="-122"/>
                <a:cs typeface="IBM Plex Sans KR" pitchFamily="34" charset="-120"/>
              </a:rPr>
              <a:t>70%↓</a:t>
            </a:r>
            <a:endParaRPr lang="en-US" sz="3200" dirty="0"/>
          </a:p>
        </p:txBody>
      </p:sp>
      <p:sp>
        <p:nvSpPr>
          <p:cNvPr id="40" name="o205"/>
          <p:cNvSpPr/>
          <p:nvPr/>
        </p:nvSpPr>
        <p:spPr>
          <a:xfrm>
            <a:off x="6705600" y="3714750"/>
            <a:ext cx="4876800" cy="0"/>
          </a:xfrm>
          <a:prstGeom prst="line">
            <a:avLst/>
          </a:prstGeom>
          <a:noFill/>
          <a:ln w="9525">
            <a:solidFill>
              <a:srgbClr val="E0E0E0"/>
            </a:solidFill>
            <a:prstDash val="solid"/>
          </a:ln>
        </p:spPr>
      </p:sp>
      <p:sp>
        <p:nvSpPr>
          <p:cNvPr id="41" name="o206"/>
          <p:cNvSpPr txBox="1"/>
          <p:nvPr/>
        </p:nvSpPr>
        <p:spPr>
          <a:xfrm>
            <a:off x="6705600" y="3924300"/>
            <a:ext cx="2000250" cy="342900"/>
          </a:xfrm>
          <a:prstGeom prst="rect">
            <a:avLst/>
          </a:prstGeom>
          <a:noFill/>
          <a:ln/>
        </p:spPr>
        <p:txBody>
          <a:bodyPr wrap="square" lIns="0" tIns="0" rIns="0" bIns="0" rtlCol="0" anchor="ctr"/>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종이 교육일지</a:t>
            </a:r>
            <a:endParaRPr lang="en-US" sz="1600" dirty="0"/>
          </a:p>
        </p:txBody>
      </p:sp>
      <p:sp>
        <p:nvSpPr>
          <p:cNvPr id="42" name="o207"/>
          <p:cNvSpPr txBox="1"/>
          <p:nvPr/>
        </p:nvSpPr>
        <p:spPr>
          <a:xfrm>
            <a:off x="8763000" y="3924300"/>
            <a:ext cx="1333500" cy="342900"/>
          </a:xfrm>
          <a:prstGeom prst="rect">
            <a:avLst/>
          </a:prstGeom>
          <a:noFill/>
          <a:ln/>
        </p:spPr>
        <p:txBody>
          <a:bodyPr wrap="square" lIns="0" tIns="0" rIns="0" bIns="0" rtlCol="0" anchor="ctr"/>
          <a:lstStyle/>
          <a:p>
            <a:pPr indent="0" marL="0">
              <a:buNone/>
            </a:pPr>
            <a:r>
              <a:rPr lang="en-US" sz="1600" dirty="0">
                <a:solidFill>
                  <a:srgbClr val="525252"/>
                </a:solidFill>
                <a:latin typeface="IBM Plex Sans KR" pitchFamily="34" charset="0"/>
                <a:ea typeface="IBM Plex Sans KR" pitchFamily="34" charset="-122"/>
                <a:cs typeface="IBM Plex Sans KR" pitchFamily="34" charset="-120"/>
              </a:rPr>
              <a:t>연 94건</a:t>
            </a:r>
            <a:endParaRPr lang="en-US" sz="1600" dirty="0"/>
          </a:p>
        </p:txBody>
      </p:sp>
      <p:sp>
        <p:nvSpPr>
          <p:cNvPr id="43" name="o208"/>
          <p:cNvSpPr txBox="1"/>
          <p:nvPr/>
        </p:nvSpPr>
        <p:spPr>
          <a:xfrm>
            <a:off x="10058400" y="3848100"/>
            <a:ext cx="1524000" cy="495300"/>
          </a:xfrm>
          <a:prstGeom prst="rect">
            <a:avLst/>
          </a:prstGeom>
          <a:noFill/>
          <a:ln/>
        </p:spPr>
        <p:txBody>
          <a:bodyPr wrap="square" lIns="0" tIns="0" rIns="0" bIns="0" rtlCol="0" anchor="ctr"/>
          <a:lstStyle/>
          <a:p>
            <a:pPr algn="r" indent="0" marL="0">
              <a:buNone/>
            </a:pPr>
            <a:r>
              <a:rPr lang="en-US" sz="3200" dirty="0">
                <a:solidFill>
                  <a:srgbClr val="0F62FE"/>
                </a:solidFill>
                <a:latin typeface="IBM Plex Sans KR" pitchFamily="34" charset="0"/>
                <a:ea typeface="IBM Plex Sans KR" pitchFamily="34" charset="-122"/>
                <a:cs typeface="IBM Plex Sans KR" pitchFamily="34" charset="-120"/>
              </a:rPr>
              <a:t>0건</a:t>
            </a:r>
            <a:endParaRPr lang="en-US" sz="3200" dirty="0"/>
          </a:p>
        </p:txBody>
      </p:sp>
      <p:sp>
        <p:nvSpPr>
          <p:cNvPr id="44" name="o209"/>
          <p:cNvSpPr/>
          <p:nvPr/>
        </p:nvSpPr>
        <p:spPr>
          <a:xfrm>
            <a:off x="6705600" y="4486275"/>
            <a:ext cx="4876800" cy="0"/>
          </a:xfrm>
          <a:prstGeom prst="line">
            <a:avLst/>
          </a:prstGeom>
          <a:noFill/>
          <a:ln w="9525">
            <a:solidFill>
              <a:srgbClr val="E0E0E0"/>
            </a:solidFill>
            <a:prstDash val="solid"/>
          </a:ln>
        </p:spPr>
      </p:sp>
      <p:sp>
        <p:nvSpPr>
          <p:cNvPr id="45" name="o210"/>
          <p:cNvSpPr txBox="1"/>
          <p:nvPr/>
        </p:nvSpPr>
        <p:spPr>
          <a:xfrm>
            <a:off x="6705600" y="4695825"/>
            <a:ext cx="2000250" cy="342900"/>
          </a:xfrm>
          <a:prstGeom prst="rect">
            <a:avLst/>
          </a:prstGeom>
          <a:noFill/>
          <a:ln/>
        </p:spPr>
        <p:txBody>
          <a:bodyPr wrap="square" lIns="0" tIns="0" rIns="0" bIns="0" rtlCol="0" anchor="ctr"/>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6대 모듈 구축</a:t>
            </a:r>
            <a:endParaRPr lang="en-US" sz="1600" dirty="0"/>
          </a:p>
        </p:txBody>
      </p:sp>
      <p:sp>
        <p:nvSpPr>
          <p:cNvPr id="46" name="o211"/>
          <p:cNvSpPr txBox="1"/>
          <p:nvPr/>
        </p:nvSpPr>
        <p:spPr>
          <a:xfrm>
            <a:off x="8763000" y="4695825"/>
            <a:ext cx="1333500" cy="342900"/>
          </a:xfrm>
          <a:prstGeom prst="rect">
            <a:avLst/>
          </a:prstGeom>
          <a:noFill/>
          <a:ln/>
        </p:spPr>
        <p:txBody>
          <a:bodyPr wrap="square" lIns="0" tIns="0" rIns="0" bIns="0" rtlCol="0" anchor="ctr"/>
          <a:lstStyle/>
          <a:p>
            <a:pPr indent="0" marL="0">
              <a:buNone/>
            </a:pPr>
            <a:r>
              <a:rPr lang="en-US" sz="1600" dirty="0">
                <a:solidFill>
                  <a:srgbClr val="525252"/>
                </a:solidFill>
                <a:latin typeface="IBM Plex Sans KR" pitchFamily="34" charset="0"/>
                <a:ea typeface="IBM Plex Sans KR" pitchFamily="34" charset="-122"/>
                <a:cs typeface="IBM Plex Sans KR" pitchFamily="34" charset="-120"/>
              </a:rPr>
              <a:t>0 / 6</a:t>
            </a:r>
            <a:endParaRPr lang="en-US" sz="1600" dirty="0"/>
          </a:p>
        </p:txBody>
      </p:sp>
      <p:sp>
        <p:nvSpPr>
          <p:cNvPr id="47" name="o212"/>
          <p:cNvSpPr txBox="1"/>
          <p:nvPr/>
        </p:nvSpPr>
        <p:spPr>
          <a:xfrm>
            <a:off x="10058400" y="4619625"/>
            <a:ext cx="1524000" cy="495300"/>
          </a:xfrm>
          <a:prstGeom prst="rect">
            <a:avLst/>
          </a:prstGeom>
          <a:noFill/>
          <a:ln/>
        </p:spPr>
        <p:txBody>
          <a:bodyPr wrap="square" lIns="0" tIns="0" rIns="0" bIns="0" rtlCol="0" anchor="ctr"/>
          <a:lstStyle/>
          <a:p>
            <a:pPr algn="r" indent="0" marL="0">
              <a:buNone/>
            </a:pPr>
            <a:r>
              <a:rPr lang="en-US" sz="3200" dirty="0">
                <a:solidFill>
                  <a:srgbClr val="0F62FE"/>
                </a:solidFill>
                <a:latin typeface="IBM Plex Sans KR" pitchFamily="34" charset="0"/>
                <a:ea typeface="IBM Plex Sans KR" pitchFamily="34" charset="-122"/>
                <a:cs typeface="IBM Plex Sans KR" pitchFamily="34" charset="-120"/>
              </a:rPr>
              <a:t>6 / 6</a:t>
            </a:r>
            <a:endParaRPr lang="en-US" sz="3200" dirty="0"/>
          </a:p>
        </p:txBody>
      </p:sp>
      <p:sp>
        <p:nvSpPr>
          <p:cNvPr id="48" name="o213"/>
          <p:cNvSpPr/>
          <p:nvPr/>
        </p:nvSpPr>
        <p:spPr>
          <a:xfrm>
            <a:off x="609600" y="5448300"/>
            <a:ext cx="10972800" cy="723900"/>
          </a:xfrm>
          <a:prstGeom prst="rect">
            <a:avLst/>
          </a:prstGeom>
          <a:solidFill>
            <a:srgbClr val="F4F4F4"/>
          </a:solidFill>
          <a:ln/>
        </p:spPr>
      </p:sp>
      <p:sp>
        <p:nvSpPr>
          <p:cNvPr id="49" name="o214"/>
          <p:cNvSpPr/>
          <p:nvPr/>
        </p:nvSpPr>
        <p:spPr>
          <a:xfrm>
            <a:off x="609600" y="5448300"/>
            <a:ext cx="38100" cy="723900"/>
          </a:xfrm>
          <a:prstGeom prst="rect">
            <a:avLst/>
          </a:prstGeom>
          <a:solidFill>
            <a:srgbClr val="0F62FE"/>
          </a:solidFill>
          <a:ln/>
        </p:spPr>
      </p:sp>
      <p:sp>
        <p:nvSpPr>
          <p:cNvPr id="50" name="o215"/>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51" name="o216"/>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원인 하나에 기능 하나 — 세 원인을 없애는 방향으로 4개 목표를 숫자로 정했습니다</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o217"/>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218"/>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Do</a:t>
            </a:r>
            <a:endParaRPr lang="en-US" sz="900" dirty="0"/>
          </a:p>
        </p:txBody>
      </p:sp>
      <p:sp>
        <p:nvSpPr>
          <p:cNvPr id="5" name="o219"/>
          <p:cNvSpPr/>
          <p:nvPr/>
        </p:nvSpPr>
        <p:spPr>
          <a:xfrm>
            <a:off x="1295400" y="514350"/>
            <a:ext cx="381000" cy="19050"/>
          </a:xfrm>
          <a:prstGeom prst="rect">
            <a:avLst/>
          </a:prstGeom>
          <a:solidFill>
            <a:srgbClr val="0F62FE"/>
          </a:solidFill>
          <a:ln/>
        </p:spPr>
      </p:sp>
      <p:sp>
        <p:nvSpPr>
          <p:cNvPr id="6" name="o220"/>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221"/>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222"/>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04  SOLUTION  ·  AppSheet · Google Sheets · Apps Script 기반 자체 개발</a:t>
            </a:r>
            <a:endParaRPr lang="en-US" sz="1200" dirty="0"/>
          </a:p>
        </p:txBody>
      </p:sp>
      <p:sp>
        <p:nvSpPr>
          <p:cNvPr id="9" name="o223"/>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원인마다 하나씩, 6개 모듈로 설계했습니다</a:t>
            </a:r>
            <a:endParaRPr lang="en-US" sz="2600" dirty="0"/>
          </a:p>
        </p:txBody>
      </p:sp>
      <p:sp>
        <p:nvSpPr>
          <p:cNvPr id="10" name="o224"/>
          <p:cNvSpPr/>
          <p:nvPr/>
        </p:nvSpPr>
        <p:spPr>
          <a:xfrm>
            <a:off x="609600" y="6324600"/>
            <a:ext cx="10972800" cy="0"/>
          </a:xfrm>
          <a:prstGeom prst="line">
            <a:avLst/>
          </a:prstGeom>
          <a:noFill/>
          <a:ln w="9525">
            <a:solidFill>
              <a:srgbClr val="E0E0E0"/>
            </a:solidFill>
            <a:prstDash val="solid"/>
          </a:ln>
        </p:spPr>
      </p:sp>
      <p:sp>
        <p:nvSpPr>
          <p:cNvPr id="11" name="o225"/>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226"/>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07</a:t>
            </a:r>
            <a:endParaRPr lang="en-US" sz="900" dirty="0"/>
          </a:p>
        </p:txBody>
      </p:sp>
      <p:sp>
        <p:nvSpPr>
          <p:cNvPr id="13" name="o227"/>
          <p:cNvSpPr/>
          <p:nvPr/>
        </p:nvSpPr>
        <p:spPr>
          <a:xfrm>
            <a:off x="609600" y="1866900"/>
            <a:ext cx="3556000" cy="1562100"/>
          </a:xfrm>
          <a:prstGeom prst="rect">
            <a:avLst/>
          </a:prstGeom>
          <a:solidFill>
            <a:srgbClr val="F4F4F4"/>
          </a:solidFill>
          <a:ln/>
        </p:spPr>
      </p:sp>
      <p:sp>
        <p:nvSpPr>
          <p:cNvPr id="14" name="o228"/>
          <p:cNvSpPr txBox="1"/>
          <p:nvPr/>
        </p:nvSpPr>
        <p:spPr>
          <a:xfrm>
            <a:off x="838200" y="2057400"/>
            <a:ext cx="5715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01</a:t>
            </a:r>
            <a:endParaRPr lang="en-US" sz="1400" dirty="0"/>
          </a:p>
        </p:txBody>
      </p:sp>
      <p:sp>
        <p:nvSpPr>
          <p:cNvPr id="15" name="o229"/>
          <p:cNvSpPr txBox="1"/>
          <p:nvPr/>
        </p:nvSpPr>
        <p:spPr>
          <a:xfrm>
            <a:off x="2984500" y="2057400"/>
            <a:ext cx="952500" cy="190500"/>
          </a:xfrm>
          <a:prstGeom prst="rect">
            <a:avLst/>
          </a:prstGeom>
          <a:noFill/>
          <a:ln/>
        </p:spPr>
        <p:txBody>
          <a:bodyPr wrap="square" lIns="0" tIns="0" rIns="0" bIns="0" rtlCol="0" anchor="t"/>
          <a:lstStyle/>
          <a:p>
            <a:pPr algn="r" indent="0" marL="0">
              <a:buNone/>
            </a:pPr>
            <a:r>
              <a:rPr lang="en-US" sz="1100" dirty="0">
                <a:solidFill>
                  <a:srgbClr val="6F6F6F"/>
                </a:solidFill>
                <a:latin typeface="IBM Plex Sans KR" pitchFamily="34" charset="0"/>
                <a:ea typeface="IBM Plex Sans KR" pitchFamily="34" charset="-122"/>
                <a:cs typeface="IBM Plex Sans KR" pitchFamily="34" charset="-120"/>
              </a:rPr>
              <a:t>CF1</a:t>
            </a:r>
            <a:endParaRPr lang="en-US" sz="1100" dirty="0"/>
          </a:p>
        </p:txBody>
      </p:sp>
      <p:sp>
        <p:nvSpPr>
          <p:cNvPr id="16" name="o230"/>
          <p:cNvSpPr txBox="1"/>
          <p:nvPr/>
        </p:nvSpPr>
        <p:spPr>
          <a:xfrm>
            <a:off x="838200" y="2362200"/>
            <a:ext cx="3098800" cy="26670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MSDS 디지털 라이브러리</a:t>
            </a:r>
            <a:endParaRPr lang="en-US" sz="1800" dirty="0"/>
          </a:p>
        </p:txBody>
      </p:sp>
      <p:sp>
        <p:nvSpPr>
          <p:cNvPr id="17" name="o231"/>
          <p:cNvSpPr txBox="1"/>
          <p:nvPr/>
        </p:nvSpPr>
        <p:spPr>
          <a:xfrm>
            <a:off x="838200" y="27432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부서별 유해화학물질 조회 · 경고표지 ·</a:t>
            </a:r>
            <a:endParaRPr lang="en-US" sz="1200" dirty="0"/>
          </a:p>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응급조치 · 원본 PDF 원클릭</a:t>
            </a:r>
            <a:endParaRPr lang="en-US" sz="1200" dirty="0"/>
          </a:p>
        </p:txBody>
      </p:sp>
      <p:sp>
        <p:nvSpPr>
          <p:cNvPr id="18" name="o232"/>
          <p:cNvSpPr/>
          <p:nvPr/>
        </p:nvSpPr>
        <p:spPr>
          <a:xfrm>
            <a:off x="4318000" y="1866900"/>
            <a:ext cx="3556000" cy="1562100"/>
          </a:xfrm>
          <a:prstGeom prst="rect">
            <a:avLst/>
          </a:prstGeom>
          <a:solidFill>
            <a:srgbClr val="F4F4F4"/>
          </a:solidFill>
          <a:ln/>
        </p:spPr>
      </p:sp>
      <p:sp>
        <p:nvSpPr>
          <p:cNvPr id="19" name="o233"/>
          <p:cNvSpPr txBox="1"/>
          <p:nvPr/>
        </p:nvSpPr>
        <p:spPr>
          <a:xfrm>
            <a:off x="4546600" y="2057400"/>
            <a:ext cx="5715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02</a:t>
            </a:r>
            <a:endParaRPr lang="en-US" sz="1400" dirty="0"/>
          </a:p>
        </p:txBody>
      </p:sp>
      <p:sp>
        <p:nvSpPr>
          <p:cNvPr id="20" name="o234"/>
          <p:cNvSpPr txBox="1"/>
          <p:nvPr/>
        </p:nvSpPr>
        <p:spPr>
          <a:xfrm>
            <a:off x="6692900" y="2057400"/>
            <a:ext cx="952500" cy="190500"/>
          </a:xfrm>
          <a:prstGeom prst="rect">
            <a:avLst/>
          </a:prstGeom>
          <a:noFill/>
          <a:ln/>
        </p:spPr>
        <p:txBody>
          <a:bodyPr wrap="square" lIns="0" tIns="0" rIns="0" bIns="0" rtlCol="0" anchor="t"/>
          <a:lstStyle/>
          <a:p>
            <a:pPr algn="r" indent="0" marL="0">
              <a:buNone/>
            </a:pPr>
            <a:r>
              <a:rPr lang="en-US" sz="1100" dirty="0">
                <a:solidFill>
                  <a:srgbClr val="6F6F6F"/>
                </a:solidFill>
                <a:latin typeface="IBM Plex Sans KR" pitchFamily="34" charset="0"/>
                <a:ea typeface="IBM Plex Sans KR" pitchFamily="34" charset="-122"/>
                <a:cs typeface="IBM Plex Sans KR" pitchFamily="34" charset="-120"/>
              </a:rPr>
              <a:t>CF2 · 3</a:t>
            </a:r>
            <a:endParaRPr lang="en-US" sz="1100" dirty="0"/>
          </a:p>
        </p:txBody>
      </p:sp>
      <p:sp>
        <p:nvSpPr>
          <p:cNvPr id="21" name="o235"/>
          <p:cNvSpPr txBox="1"/>
          <p:nvPr/>
        </p:nvSpPr>
        <p:spPr>
          <a:xfrm>
            <a:off x="4546600" y="2362200"/>
            <a:ext cx="3098800" cy="26670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모바일 교육일지 · 전자서명</a:t>
            </a:r>
            <a:endParaRPr lang="en-US" sz="1800" dirty="0"/>
          </a:p>
        </p:txBody>
      </p:sp>
      <p:sp>
        <p:nvSpPr>
          <p:cNvPr id="22" name="o236"/>
          <p:cNvSpPr txBox="1"/>
          <p:nvPr/>
        </p:nvSpPr>
        <p:spPr>
          <a:xfrm>
            <a:off x="4546600" y="27432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인사 DB 연동, 이름 검색만으로</a:t>
            </a:r>
            <a:endParaRPr lang="en-US" sz="1200" dirty="0"/>
          </a:p>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자동 작성 · 서명 즉시 저장</a:t>
            </a:r>
            <a:endParaRPr lang="en-US" sz="1200" dirty="0"/>
          </a:p>
        </p:txBody>
      </p:sp>
      <p:sp>
        <p:nvSpPr>
          <p:cNvPr id="23" name="o237"/>
          <p:cNvSpPr/>
          <p:nvPr/>
        </p:nvSpPr>
        <p:spPr>
          <a:xfrm>
            <a:off x="8026400" y="1866900"/>
            <a:ext cx="3556000" cy="1562100"/>
          </a:xfrm>
          <a:prstGeom prst="rect">
            <a:avLst/>
          </a:prstGeom>
          <a:solidFill>
            <a:srgbClr val="F4F4F4"/>
          </a:solidFill>
          <a:ln/>
        </p:spPr>
      </p:sp>
      <p:sp>
        <p:nvSpPr>
          <p:cNvPr id="24" name="o238"/>
          <p:cNvSpPr txBox="1"/>
          <p:nvPr/>
        </p:nvSpPr>
        <p:spPr>
          <a:xfrm>
            <a:off x="8255000" y="2057400"/>
            <a:ext cx="5715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03</a:t>
            </a:r>
            <a:endParaRPr lang="en-US" sz="1400" dirty="0"/>
          </a:p>
        </p:txBody>
      </p:sp>
      <p:sp>
        <p:nvSpPr>
          <p:cNvPr id="25" name="o239"/>
          <p:cNvSpPr txBox="1"/>
          <p:nvPr/>
        </p:nvSpPr>
        <p:spPr>
          <a:xfrm>
            <a:off x="10401300" y="2057400"/>
            <a:ext cx="952500" cy="190500"/>
          </a:xfrm>
          <a:prstGeom prst="rect">
            <a:avLst/>
          </a:prstGeom>
          <a:noFill/>
          <a:ln/>
        </p:spPr>
        <p:txBody>
          <a:bodyPr wrap="square" lIns="0" tIns="0" rIns="0" bIns="0" rtlCol="0" anchor="t"/>
          <a:lstStyle/>
          <a:p>
            <a:pPr algn="r" indent="0" marL="0">
              <a:buNone/>
            </a:pPr>
            <a:r>
              <a:rPr lang="en-US" sz="1100" dirty="0">
                <a:solidFill>
                  <a:srgbClr val="6F6F6F"/>
                </a:solidFill>
                <a:latin typeface="IBM Plex Sans KR" pitchFamily="34" charset="0"/>
                <a:ea typeface="IBM Plex Sans KR" pitchFamily="34" charset="-122"/>
                <a:cs typeface="IBM Plex Sans KR" pitchFamily="34" charset="-120"/>
              </a:rPr>
              <a:t>CF4 · 5</a:t>
            </a:r>
            <a:endParaRPr lang="en-US" sz="1100" dirty="0"/>
          </a:p>
        </p:txBody>
      </p:sp>
      <p:sp>
        <p:nvSpPr>
          <p:cNvPr id="26" name="o240"/>
          <p:cNvSpPr txBox="1"/>
          <p:nvPr/>
        </p:nvSpPr>
        <p:spPr>
          <a:xfrm>
            <a:off x="8255000" y="2362200"/>
            <a:ext cx="3098800" cy="26670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비대면 전자결재</a:t>
            </a:r>
            <a:endParaRPr lang="en-US" sz="1800" dirty="0"/>
          </a:p>
        </p:txBody>
      </p:sp>
      <p:sp>
        <p:nvSpPr>
          <p:cNvPr id="27" name="o241"/>
          <p:cNvSpPr txBox="1"/>
          <p:nvPr/>
        </p:nvSpPr>
        <p:spPr>
          <a:xfrm>
            <a:off x="8255000" y="27432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서명 완료 즉시 관리자 알림 ·</a:t>
            </a:r>
            <a:endParaRPr lang="en-US" sz="1200" dirty="0"/>
          </a:p>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장소 제약 없는 원격 승인</a:t>
            </a:r>
            <a:endParaRPr lang="en-US" sz="1200" dirty="0"/>
          </a:p>
        </p:txBody>
      </p:sp>
      <p:sp>
        <p:nvSpPr>
          <p:cNvPr id="28" name="o242"/>
          <p:cNvSpPr/>
          <p:nvPr/>
        </p:nvSpPr>
        <p:spPr>
          <a:xfrm>
            <a:off x="609600" y="3581400"/>
            <a:ext cx="3556000" cy="1562100"/>
          </a:xfrm>
          <a:prstGeom prst="rect">
            <a:avLst/>
          </a:prstGeom>
          <a:solidFill>
            <a:srgbClr val="F4F4F4"/>
          </a:solidFill>
          <a:ln/>
        </p:spPr>
      </p:sp>
      <p:sp>
        <p:nvSpPr>
          <p:cNvPr id="29" name="o243"/>
          <p:cNvSpPr txBox="1"/>
          <p:nvPr/>
        </p:nvSpPr>
        <p:spPr>
          <a:xfrm>
            <a:off x="838200" y="3771900"/>
            <a:ext cx="5715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04</a:t>
            </a:r>
            <a:endParaRPr lang="en-US" sz="1400" dirty="0"/>
          </a:p>
        </p:txBody>
      </p:sp>
      <p:sp>
        <p:nvSpPr>
          <p:cNvPr id="30" name="o244"/>
          <p:cNvSpPr txBox="1"/>
          <p:nvPr/>
        </p:nvSpPr>
        <p:spPr>
          <a:xfrm>
            <a:off x="2984500" y="3771900"/>
            <a:ext cx="952500" cy="190500"/>
          </a:xfrm>
          <a:prstGeom prst="rect">
            <a:avLst/>
          </a:prstGeom>
          <a:noFill/>
          <a:ln/>
        </p:spPr>
        <p:txBody>
          <a:bodyPr wrap="square" lIns="0" tIns="0" rIns="0" bIns="0" rtlCol="0" anchor="t"/>
          <a:lstStyle/>
          <a:p>
            <a:pPr algn="r" indent="0" marL="0">
              <a:buNone/>
            </a:pPr>
            <a:r>
              <a:rPr lang="en-US" sz="1100" dirty="0">
                <a:solidFill>
                  <a:srgbClr val="6F6F6F"/>
                </a:solidFill>
                <a:latin typeface="IBM Plex Sans KR" pitchFamily="34" charset="0"/>
                <a:ea typeface="IBM Plex Sans KR" pitchFamily="34" charset="-122"/>
                <a:cs typeface="IBM Plex Sans KR" pitchFamily="34" charset="-120"/>
              </a:rPr>
              <a:t>CF7</a:t>
            </a:r>
            <a:endParaRPr lang="en-US" sz="1100" dirty="0"/>
          </a:p>
        </p:txBody>
      </p:sp>
      <p:sp>
        <p:nvSpPr>
          <p:cNvPr id="31" name="o245"/>
          <p:cNvSpPr txBox="1"/>
          <p:nvPr/>
        </p:nvSpPr>
        <p:spPr>
          <a:xfrm>
            <a:off x="838200" y="4076700"/>
            <a:ext cx="3098800" cy="26670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보호구 · 법정서류 전산화</a:t>
            </a:r>
            <a:endParaRPr lang="en-US" sz="1800" dirty="0"/>
          </a:p>
        </p:txBody>
      </p:sp>
      <p:sp>
        <p:nvSpPr>
          <p:cNvPr id="32" name="o246"/>
          <p:cNvSpPr txBox="1"/>
          <p:nvPr/>
        </p:nvSpPr>
        <p:spPr>
          <a:xfrm>
            <a:off x="838200" y="44577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보호구 수령증 · 유해화학물질</a:t>
            </a:r>
            <a:endParaRPr lang="en-US" sz="1200" dirty="0"/>
          </a:p>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신규 · 중단 보고서 단일 창구</a:t>
            </a:r>
            <a:endParaRPr lang="en-US" sz="1200" dirty="0"/>
          </a:p>
        </p:txBody>
      </p:sp>
      <p:sp>
        <p:nvSpPr>
          <p:cNvPr id="33" name="o247"/>
          <p:cNvSpPr/>
          <p:nvPr/>
        </p:nvSpPr>
        <p:spPr>
          <a:xfrm>
            <a:off x="4318000" y="3581400"/>
            <a:ext cx="3556000" cy="1562100"/>
          </a:xfrm>
          <a:prstGeom prst="rect">
            <a:avLst/>
          </a:prstGeom>
          <a:solidFill>
            <a:srgbClr val="F4F4F4"/>
          </a:solidFill>
          <a:ln/>
        </p:spPr>
      </p:sp>
      <p:sp>
        <p:nvSpPr>
          <p:cNvPr id="34" name="o248"/>
          <p:cNvSpPr txBox="1"/>
          <p:nvPr/>
        </p:nvSpPr>
        <p:spPr>
          <a:xfrm>
            <a:off x="4546600" y="3771900"/>
            <a:ext cx="571500" cy="19050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05</a:t>
            </a:r>
            <a:endParaRPr lang="en-US" sz="1400" dirty="0"/>
          </a:p>
        </p:txBody>
      </p:sp>
      <p:sp>
        <p:nvSpPr>
          <p:cNvPr id="35" name="o249"/>
          <p:cNvSpPr txBox="1"/>
          <p:nvPr/>
        </p:nvSpPr>
        <p:spPr>
          <a:xfrm>
            <a:off x="6692900" y="3771900"/>
            <a:ext cx="952500" cy="190500"/>
          </a:xfrm>
          <a:prstGeom prst="rect">
            <a:avLst/>
          </a:prstGeom>
          <a:noFill/>
          <a:ln/>
        </p:spPr>
        <p:txBody>
          <a:bodyPr wrap="square" lIns="0" tIns="0" rIns="0" bIns="0" rtlCol="0" anchor="t"/>
          <a:lstStyle/>
          <a:p>
            <a:pPr algn="r" indent="0" marL="0">
              <a:buNone/>
            </a:pPr>
            <a:r>
              <a:rPr lang="en-US" sz="1100" dirty="0">
                <a:solidFill>
                  <a:srgbClr val="6F6F6F"/>
                </a:solidFill>
                <a:latin typeface="IBM Plex Sans KR" pitchFamily="34" charset="0"/>
                <a:ea typeface="IBM Plex Sans KR" pitchFamily="34" charset="-122"/>
                <a:cs typeface="IBM Plex Sans KR" pitchFamily="34" charset="-120"/>
              </a:rPr>
              <a:t>CF6</a:t>
            </a:r>
            <a:endParaRPr lang="en-US" sz="1100" dirty="0"/>
          </a:p>
        </p:txBody>
      </p:sp>
      <p:sp>
        <p:nvSpPr>
          <p:cNvPr id="36" name="o250"/>
          <p:cNvSpPr txBox="1"/>
          <p:nvPr/>
        </p:nvSpPr>
        <p:spPr>
          <a:xfrm>
            <a:off x="4546600" y="4076700"/>
            <a:ext cx="3098800" cy="26670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관리자 모니터링 대시보드</a:t>
            </a:r>
            <a:endParaRPr lang="en-US" sz="1800" dirty="0"/>
          </a:p>
        </p:txBody>
      </p:sp>
      <p:sp>
        <p:nvSpPr>
          <p:cNvPr id="37" name="o251"/>
          <p:cNvSpPr txBox="1"/>
          <p:nvPr/>
        </p:nvSpPr>
        <p:spPr>
          <a:xfrm>
            <a:off x="4546600" y="44577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부서 · 기간 · 근로자별</a:t>
            </a:r>
            <a:endParaRPr lang="en-US" sz="1200" dirty="0"/>
          </a:p>
          <a:p>
            <a:pPr indent="0" marL="0">
              <a:lnSpc>
                <a:spcPct val="140000"/>
              </a:lnSpc>
              <a:buNone/>
            </a:pPr>
            <a:r>
              <a:rPr lang="en-US" sz="1200" dirty="0">
                <a:solidFill>
                  <a:srgbClr val="393939"/>
                </a:solidFill>
                <a:latin typeface="IBM Plex Sans KR" pitchFamily="34" charset="0"/>
                <a:ea typeface="IBM Plex Sans KR" pitchFamily="34" charset="-122"/>
                <a:cs typeface="IBM Plex Sans KR" pitchFamily="34" charset="-120"/>
              </a:rPr>
              <a:t>교육 이수 현황 실시간 조회</a:t>
            </a:r>
            <a:endParaRPr lang="en-US" sz="1200" dirty="0"/>
          </a:p>
        </p:txBody>
      </p:sp>
      <p:sp>
        <p:nvSpPr>
          <p:cNvPr id="38" name="o252"/>
          <p:cNvSpPr/>
          <p:nvPr/>
        </p:nvSpPr>
        <p:spPr>
          <a:xfrm>
            <a:off x="8026400" y="3581400"/>
            <a:ext cx="3556000" cy="1562100"/>
          </a:xfrm>
          <a:prstGeom prst="rect">
            <a:avLst/>
          </a:prstGeom>
          <a:solidFill>
            <a:srgbClr val="0F62FE"/>
          </a:solidFill>
          <a:ln/>
        </p:spPr>
      </p:sp>
      <p:sp>
        <p:nvSpPr>
          <p:cNvPr id="39" name="o253"/>
          <p:cNvSpPr txBox="1"/>
          <p:nvPr/>
        </p:nvSpPr>
        <p:spPr>
          <a:xfrm>
            <a:off x="8255000" y="3771900"/>
            <a:ext cx="571500" cy="190500"/>
          </a:xfrm>
          <a:prstGeom prst="rect">
            <a:avLst/>
          </a:prstGeom>
          <a:noFill/>
          <a:ln/>
        </p:spPr>
        <p:txBody>
          <a:bodyPr wrap="square" lIns="0" tIns="0" rIns="0" bIns="0" rtlCol="0" anchor="t"/>
          <a:lstStyle/>
          <a:p>
            <a:pPr indent="0" marL="0">
              <a:buNone/>
            </a:pPr>
            <a:r>
              <a:rPr lang="en-US" sz="1400" b="1" dirty="0">
                <a:solidFill>
                  <a:srgbClr val="FFFFFF"/>
                </a:solidFill>
                <a:latin typeface="IBM Plex Sans KR" pitchFamily="34" charset="0"/>
                <a:ea typeface="IBM Plex Sans KR" pitchFamily="34" charset="-122"/>
                <a:cs typeface="IBM Plex Sans KR" pitchFamily="34" charset="-120"/>
              </a:rPr>
              <a:t>06</a:t>
            </a:r>
            <a:endParaRPr lang="en-US" sz="1400" dirty="0"/>
          </a:p>
        </p:txBody>
      </p:sp>
      <p:sp>
        <p:nvSpPr>
          <p:cNvPr id="40" name="o254"/>
          <p:cNvSpPr txBox="1"/>
          <p:nvPr/>
        </p:nvSpPr>
        <p:spPr>
          <a:xfrm>
            <a:off x="10401300" y="3771900"/>
            <a:ext cx="952500" cy="190500"/>
          </a:xfrm>
          <a:prstGeom prst="rect">
            <a:avLst/>
          </a:prstGeom>
          <a:noFill/>
          <a:ln/>
        </p:spPr>
        <p:txBody>
          <a:bodyPr wrap="square" lIns="0" tIns="0" rIns="0" bIns="0" rtlCol="0" anchor="t"/>
          <a:lstStyle/>
          <a:p>
            <a:pPr algn="r" indent="0" marL="0">
              <a:buNone/>
            </a:pPr>
            <a:r>
              <a:rPr lang="en-US" sz="1100" dirty="0">
                <a:solidFill>
                  <a:srgbClr val="FFFFFF"/>
                </a:solidFill>
                <a:latin typeface="IBM Plex Sans KR" pitchFamily="34" charset="0"/>
                <a:ea typeface="IBM Plex Sans KR" pitchFamily="34" charset="-122"/>
                <a:cs typeface="IBM Plex Sans KR" pitchFamily="34" charset="-120"/>
              </a:rPr>
              <a:t>AI</a:t>
            </a:r>
            <a:endParaRPr lang="en-US" sz="1100" dirty="0"/>
          </a:p>
        </p:txBody>
      </p:sp>
      <p:sp>
        <p:nvSpPr>
          <p:cNvPr id="41" name="o255"/>
          <p:cNvSpPr txBox="1"/>
          <p:nvPr/>
        </p:nvSpPr>
        <p:spPr>
          <a:xfrm>
            <a:off x="8255000" y="4076700"/>
            <a:ext cx="3098800" cy="266700"/>
          </a:xfrm>
          <a:prstGeom prst="rect">
            <a:avLst/>
          </a:prstGeom>
          <a:noFill/>
          <a:ln/>
        </p:spPr>
        <p:txBody>
          <a:bodyPr wrap="square" lIns="0" tIns="0" rIns="0" bIns="0" rtlCol="0" anchor="t"/>
          <a:lstStyle/>
          <a:p>
            <a:pPr indent="0" marL="0">
              <a:buNone/>
            </a:pPr>
            <a:r>
              <a:rPr lang="en-US" sz="1800" b="1" dirty="0">
                <a:solidFill>
                  <a:srgbClr val="FFFFFF"/>
                </a:solidFill>
                <a:latin typeface="IBM Plex Sans KR" pitchFamily="34" charset="0"/>
                <a:ea typeface="IBM Plex Sans KR" pitchFamily="34" charset="-122"/>
                <a:cs typeface="IBM Plex Sans KR" pitchFamily="34" charset="-120"/>
              </a:rPr>
              <a:t>AI 수시 위험성평가</a:t>
            </a:r>
            <a:endParaRPr lang="en-US" sz="1800" dirty="0"/>
          </a:p>
        </p:txBody>
      </p:sp>
      <p:sp>
        <p:nvSpPr>
          <p:cNvPr id="42" name="o256"/>
          <p:cNvSpPr txBox="1"/>
          <p:nvPr/>
        </p:nvSpPr>
        <p:spPr>
          <a:xfrm>
            <a:off x="8255000" y="4457700"/>
            <a:ext cx="3098800" cy="533400"/>
          </a:xfrm>
          <a:prstGeom prst="rect">
            <a:avLst/>
          </a:prstGeom>
          <a:noFill/>
          <a:ln/>
        </p:spPr>
        <p:txBody>
          <a:bodyPr wrap="square" lIns="0" tIns="0" rIns="0" bIns="0" rtlCol="0" anchor="t"/>
          <a:lstStyle/>
          <a:p>
            <a:pPr indent="0" marL="0">
              <a:lnSpc>
                <a:spcPct val="140000"/>
              </a:lnSpc>
              <a:buNone/>
            </a:pPr>
            <a:r>
              <a:rPr lang="en-US" sz="1200" dirty="0">
                <a:solidFill>
                  <a:srgbClr val="FFFFFF"/>
                </a:solidFill>
                <a:latin typeface="IBM Plex Sans KR" pitchFamily="34" charset="0"/>
                <a:ea typeface="IBM Plex Sans KR" pitchFamily="34" charset="-122"/>
                <a:cs typeface="IBM Plex Sans KR" pitchFamily="34" charset="-120"/>
              </a:rPr>
              <a:t>현장 사진 · 작업 입력 → 위험요인 ·</a:t>
            </a:r>
            <a:endParaRPr lang="en-US" sz="1200" dirty="0"/>
          </a:p>
          <a:p>
            <a:pPr indent="0" marL="0">
              <a:lnSpc>
                <a:spcPct val="140000"/>
              </a:lnSpc>
              <a:buNone/>
            </a:pPr>
            <a:r>
              <a:rPr lang="en-US" sz="1200" dirty="0">
                <a:solidFill>
                  <a:srgbClr val="FFFFFF"/>
                </a:solidFill>
                <a:latin typeface="IBM Plex Sans KR" pitchFamily="34" charset="0"/>
                <a:ea typeface="IBM Plex Sans KR" pitchFamily="34" charset="-122"/>
                <a:cs typeface="IBM Plex Sans KR" pitchFamily="34" charset="-120"/>
              </a:rPr>
              <a:t>위험도 산출 → 평가서 초안</a:t>
            </a:r>
            <a:endParaRPr lang="en-US" sz="1200" dirty="0"/>
          </a:p>
        </p:txBody>
      </p:sp>
      <p:sp>
        <p:nvSpPr>
          <p:cNvPr id="43" name="o257"/>
          <p:cNvSpPr/>
          <p:nvPr/>
        </p:nvSpPr>
        <p:spPr>
          <a:xfrm>
            <a:off x="609600" y="5410200"/>
            <a:ext cx="10972800" cy="723900"/>
          </a:xfrm>
          <a:prstGeom prst="rect">
            <a:avLst/>
          </a:prstGeom>
          <a:solidFill>
            <a:srgbClr val="F4F4F4"/>
          </a:solidFill>
          <a:ln/>
        </p:spPr>
      </p:sp>
      <p:sp>
        <p:nvSpPr>
          <p:cNvPr id="44" name="o258"/>
          <p:cNvSpPr/>
          <p:nvPr/>
        </p:nvSpPr>
        <p:spPr>
          <a:xfrm>
            <a:off x="609600" y="5410200"/>
            <a:ext cx="38100" cy="723900"/>
          </a:xfrm>
          <a:prstGeom prst="rect">
            <a:avLst/>
          </a:prstGeom>
          <a:solidFill>
            <a:srgbClr val="0F62FE"/>
          </a:solidFill>
          <a:ln/>
        </p:spPr>
      </p:sp>
      <p:sp>
        <p:nvSpPr>
          <p:cNvPr id="45" name="o259"/>
          <p:cNvSpPr txBox="1"/>
          <p:nvPr/>
        </p:nvSpPr>
        <p:spPr>
          <a:xfrm>
            <a:off x="876300" y="54102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46" name="o260"/>
          <p:cNvSpPr txBox="1"/>
          <p:nvPr/>
        </p:nvSpPr>
        <p:spPr>
          <a:xfrm>
            <a:off x="2019300" y="54102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모바일 작성 → 전자서명 → 비대면 승인 → 자동 보관  ·  61병동 시범 후 전 부서 확대</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o261"/>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262"/>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Do</a:t>
            </a:r>
            <a:endParaRPr lang="en-US" sz="900" dirty="0"/>
          </a:p>
        </p:txBody>
      </p:sp>
      <p:sp>
        <p:nvSpPr>
          <p:cNvPr id="5" name="o263"/>
          <p:cNvSpPr/>
          <p:nvPr/>
        </p:nvSpPr>
        <p:spPr>
          <a:xfrm>
            <a:off x="1295400" y="514350"/>
            <a:ext cx="381000" cy="19050"/>
          </a:xfrm>
          <a:prstGeom prst="rect">
            <a:avLst/>
          </a:prstGeom>
          <a:solidFill>
            <a:srgbClr val="0F62FE"/>
          </a:solidFill>
          <a:ln/>
        </p:spPr>
      </p:sp>
      <p:sp>
        <p:nvSpPr>
          <p:cNvPr id="6" name="o264"/>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265"/>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266"/>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05  DEMO  ·  프로그램 시연 영상 1분 30초</a:t>
            </a:r>
            <a:endParaRPr lang="en-US" sz="1200" dirty="0"/>
          </a:p>
        </p:txBody>
      </p:sp>
      <p:sp>
        <p:nvSpPr>
          <p:cNvPr id="9" name="o267"/>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신규 입사자 1명의 교육, 작성부터 승인까지 한 화면에서</a:t>
            </a:r>
            <a:endParaRPr lang="en-US" sz="2600" dirty="0"/>
          </a:p>
        </p:txBody>
      </p:sp>
      <p:sp>
        <p:nvSpPr>
          <p:cNvPr id="10" name="o268"/>
          <p:cNvSpPr/>
          <p:nvPr/>
        </p:nvSpPr>
        <p:spPr>
          <a:xfrm>
            <a:off x="609600" y="6324600"/>
            <a:ext cx="10972800" cy="0"/>
          </a:xfrm>
          <a:prstGeom prst="line">
            <a:avLst/>
          </a:prstGeom>
          <a:noFill/>
          <a:ln w="9525">
            <a:solidFill>
              <a:srgbClr val="E0E0E0"/>
            </a:solidFill>
            <a:prstDash val="solid"/>
          </a:ln>
        </p:spPr>
      </p:sp>
      <p:sp>
        <p:nvSpPr>
          <p:cNvPr id="11" name="o269"/>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270"/>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08</a:t>
            </a:r>
            <a:endParaRPr lang="en-US" sz="900" dirty="0"/>
          </a:p>
        </p:txBody>
      </p:sp>
      <p:sp>
        <p:nvSpPr>
          <p:cNvPr id="13" name="o271"/>
          <p:cNvSpPr/>
          <p:nvPr/>
        </p:nvSpPr>
        <p:spPr>
          <a:xfrm>
            <a:off x="609600" y="1866900"/>
            <a:ext cx="7467600" cy="4200525"/>
          </a:xfrm>
          <a:prstGeom prst="rect">
            <a:avLst/>
          </a:prstGeom>
          <a:solidFill>
            <a:srgbClr val="F4F4F4"/>
          </a:solidFill>
          <a:ln/>
        </p:spPr>
      </p:sp>
      <p:sp>
        <p:nvSpPr>
          <p:cNvPr id="14" name="o272"/>
          <p:cNvSpPr txBox="1"/>
          <p:nvPr/>
        </p:nvSpPr>
        <p:spPr>
          <a:xfrm>
            <a:off x="609600" y="1866900"/>
            <a:ext cx="7467600" cy="4200525"/>
          </a:xfrm>
          <a:prstGeom prst="rect">
            <a:avLst/>
          </a:prstGeom>
          <a:noFill/>
          <a:ln/>
        </p:spPr>
        <p:txBody>
          <a:bodyPr wrap="square" lIns="0" tIns="0" rIns="0" bIns="0" rtlCol="0" anchor="ctr"/>
          <a:lstStyle/>
          <a:p>
            <a:pPr algn="ctr" indent="0" marL="0">
              <a:buNone/>
            </a:pPr>
            <a:r>
              <a:rPr lang="en-US" sz="1600" dirty="0">
                <a:solidFill>
                  <a:srgbClr val="6F6F6F"/>
                </a:solidFill>
                <a:latin typeface="IBM Plex Sans KR" pitchFamily="34" charset="0"/>
                <a:ea typeface="IBM Plex Sans KR" pitchFamily="34" charset="-122"/>
                <a:cs typeface="IBM Plex Sans KR" pitchFamily="34" charset="-120"/>
              </a:rPr>
              <a:t>시연 영상 (16:9)</a:t>
            </a:r>
            <a:endParaRPr lang="en-US" sz="1600" dirty="0"/>
          </a:p>
        </p:txBody>
      </p:sp>
      <p:sp>
        <p:nvSpPr>
          <p:cNvPr id="15" name="o273"/>
          <p:cNvSpPr/>
          <p:nvPr/>
        </p:nvSpPr>
        <p:spPr>
          <a:xfrm>
            <a:off x="8458200" y="1866900"/>
            <a:ext cx="3124200" cy="0"/>
          </a:xfrm>
          <a:prstGeom prst="line">
            <a:avLst/>
          </a:prstGeom>
          <a:noFill/>
          <a:ln w="9525">
            <a:solidFill>
              <a:srgbClr val="E0E0E0"/>
            </a:solidFill>
            <a:prstDash val="solid"/>
          </a:ln>
        </p:spPr>
      </p:sp>
      <p:sp>
        <p:nvSpPr>
          <p:cNvPr id="16" name="o274"/>
          <p:cNvSpPr txBox="1"/>
          <p:nvPr/>
        </p:nvSpPr>
        <p:spPr>
          <a:xfrm>
            <a:off x="8458200" y="2000250"/>
            <a:ext cx="1143000" cy="285750"/>
          </a:xfrm>
          <a:prstGeom prst="rect">
            <a:avLst/>
          </a:prstGeom>
          <a:noFill/>
          <a:ln/>
        </p:spPr>
        <p:txBody>
          <a:bodyPr wrap="square" lIns="0" tIns="0" rIns="0" bIns="0" rtlCol="0" anchor="t"/>
          <a:lstStyle/>
          <a:p>
            <a:pPr indent="0" marL="0">
              <a:buNone/>
            </a:pPr>
            <a:r>
              <a:rPr lang="en-US" sz="2200" dirty="0">
                <a:solidFill>
                  <a:srgbClr val="161616"/>
                </a:solidFill>
                <a:latin typeface="IBM Plex Sans KR" pitchFamily="34" charset="0"/>
                <a:ea typeface="IBM Plex Sans KR" pitchFamily="34" charset="-122"/>
                <a:cs typeface="IBM Plex Sans KR" pitchFamily="34" charset="-120"/>
              </a:rPr>
              <a:t>0:00</a:t>
            </a:r>
            <a:endParaRPr lang="en-US" sz="2200" dirty="0"/>
          </a:p>
        </p:txBody>
      </p:sp>
      <p:sp>
        <p:nvSpPr>
          <p:cNvPr id="17" name="o275"/>
          <p:cNvSpPr txBox="1"/>
          <p:nvPr/>
        </p:nvSpPr>
        <p:spPr>
          <a:xfrm>
            <a:off x="8458200" y="2343150"/>
            <a:ext cx="31242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MSDS 라이브러리 조회</a:t>
            </a:r>
            <a:endParaRPr lang="en-US" sz="1400" dirty="0"/>
          </a:p>
        </p:txBody>
      </p:sp>
      <p:sp>
        <p:nvSpPr>
          <p:cNvPr id="18" name="o276"/>
          <p:cNvSpPr/>
          <p:nvPr/>
        </p:nvSpPr>
        <p:spPr>
          <a:xfrm>
            <a:off x="8458200" y="2743200"/>
            <a:ext cx="3124200" cy="0"/>
          </a:xfrm>
          <a:prstGeom prst="line">
            <a:avLst/>
          </a:prstGeom>
          <a:noFill/>
          <a:ln w="9525">
            <a:solidFill>
              <a:srgbClr val="E0E0E0"/>
            </a:solidFill>
            <a:prstDash val="solid"/>
          </a:ln>
        </p:spPr>
      </p:sp>
      <p:sp>
        <p:nvSpPr>
          <p:cNvPr id="19" name="o277"/>
          <p:cNvSpPr txBox="1"/>
          <p:nvPr/>
        </p:nvSpPr>
        <p:spPr>
          <a:xfrm>
            <a:off x="8458200" y="2876550"/>
            <a:ext cx="1143000" cy="285750"/>
          </a:xfrm>
          <a:prstGeom prst="rect">
            <a:avLst/>
          </a:prstGeom>
          <a:noFill/>
          <a:ln/>
        </p:spPr>
        <p:txBody>
          <a:bodyPr wrap="square" lIns="0" tIns="0" rIns="0" bIns="0" rtlCol="0" anchor="t"/>
          <a:lstStyle/>
          <a:p>
            <a:pPr indent="0" marL="0">
              <a:buNone/>
            </a:pPr>
            <a:r>
              <a:rPr lang="en-US" sz="2200" dirty="0">
                <a:solidFill>
                  <a:srgbClr val="161616"/>
                </a:solidFill>
                <a:latin typeface="IBM Plex Sans KR" pitchFamily="34" charset="0"/>
                <a:ea typeface="IBM Plex Sans KR" pitchFamily="34" charset="-122"/>
                <a:cs typeface="IBM Plex Sans KR" pitchFamily="34" charset="-120"/>
              </a:rPr>
              <a:t>0:20</a:t>
            </a:r>
            <a:endParaRPr lang="en-US" sz="2200" dirty="0"/>
          </a:p>
        </p:txBody>
      </p:sp>
      <p:sp>
        <p:nvSpPr>
          <p:cNvPr id="20" name="o278"/>
          <p:cNvSpPr txBox="1"/>
          <p:nvPr/>
        </p:nvSpPr>
        <p:spPr>
          <a:xfrm>
            <a:off x="8458200" y="3219450"/>
            <a:ext cx="31242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교육일지 작성 · 전자서명</a:t>
            </a:r>
            <a:endParaRPr lang="en-US" sz="1400" dirty="0"/>
          </a:p>
        </p:txBody>
      </p:sp>
      <p:sp>
        <p:nvSpPr>
          <p:cNvPr id="21" name="o279"/>
          <p:cNvSpPr/>
          <p:nvPr/>
        </p:nvSpPr>
        <p:spPr>
          <a:xfrm>
            <a:off x="8458200" y="3619500"/>
            <a:ext cx="3124200" cy="0"/>
          </a:xfrm>
          <a:prstGeom prst="line">
            <a:avLst/>
          </a:prstGeom>
          <a:noFill/>
          <a:ln w="9525">
            <a:solidFill>
              <a:srgbClr val="E0E0E0"/>
            </a:solidFill>
            <a:prstDash val="solid"/>
          </a:ln>
        </p:spPr>
      </p:sp>
      <p:sp>
        <p:nvSpPr>
          <p:cNvPr id="22" name="o280"/>
          <p:cNvSpPr txBox="1"/>
          <p:nvPr/>
        </p:nvSpPr>
        <p:spPr>
          <a:xfrm>
            <a:off x="8458200" y="3752850"/>
            <a:ext cx="1143000" cy="285750"/>
          </a:xfrm>
          <a:prstGeom prst="rect">
            <a:avLst/>
          </a:prstGeom>
          <a:noFill/>
          <a:ln/>
        </p:spPr>
        <p:txBody>
          <a:bodyPr wrap="square" lIns="0" tIns="0" rIns="0" bIns="0" rtlCol="0" anchor="t"/>
          <a:lstStyle/>
          <a:p>
            <a:pPr indent="0" marL="0">
              <a:buNone/>
            </a:pPr>
            <a:r>
              <a:rPr lang="en-US" sz="2200" dirty="0">
                <a:solidFill>
                  <a:srgbClr val="0F62FE"/>
                </a:solidFill>
                <a:latin typeface="IBM Plex Sans KR" pitchFamily="34" charset="0"/>
                <a:ea typeface="IBM Plex Sans KR" pitchFamily="34" charset="-122"/>
                <a:cs typeface="IBM Plex Sans KR" pitchFamily="34" charset="-120"/>
              </a:rPr>
              <a:t>0:50</a:t>
            </a:r>
            <a:endParaRPr lang="en-US" sz="2200" dirty="0"/>
          </a:p>
        </p:txBody>
      </p:sp>
      <p:sp>
        <p:nvSpPr>
          <p:cNvPr id="23" name="o281"/>
          <p:cNvSpPr txBox="1"/>
          <p:nvPr/>
        </p:nvSpPr>
        <p:spPr>
          <a:xfrm>
            <a:off x="8458200" y="4095750"/>
            <a:ext cx="3124200" cy="209550"/>
          </a:xfrm>
          <a:prstGeom prst="rect">
            <a:avLst/>
          </a:prstGeom>
          <a:noFill/>
          <a:ln/>
        </p:spPr>
        <p:txBody>
          <a:bodyPr wrap="square" lIns="0" tIns="0" rIns="0" bIns="0" rtlCol="0" anchor="t"/>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관리자 알림 · 비대면 승인</a:t>
            </a:r>
            <a:endParaRPr lang="en-US" sz="1400" dirty="0"/>
          </a:p>
        </p:txBody>
      </p:sp>
      <p:sp>
        <p:nvSpPr>
          <p:cNvPr id="24" name="o282"/>
          <p:cNvSpPr/>
          <p:nvPr/>
        </p:nvSpPr>
        <p:spPr>
          <a:xfrm>
            <a:off x="8458200" y="4495800"/>
            <a:ext cx="3124200" cy="0"/>
          </a:xfrm>
          <a:prstGeom prst="line">
            <a:avLst/>
          </a:prstGeom>
          <a:noFill/>
          <a:ln w="9525">
            <a:solidFill>
              <a:srgbClr val="E0E0E0"/>
            </a:solidFill>
            <a:prstDash val="solid"/>
          </a:ln>
        </p:spPr>
      </p:sp>
      <p:sp>
        <p:nvSpPr>
          <p:cNvPr id="25" name="o283"/>
          <p:cNvSpPr txBox="1"/>
          <p:nvPr/>
        </p:nvSpPr>
        <p:spPr>
          <a:xfrm>
            <a:off x="8458200" y="4629150"/>
            <a:ext cx="1143000" cy="285750"/>
          </a:xfrm>
          <a:prstGeom prst="rect">
            <a:avLst/>
          </a:prstGeom>
          <a:noFill/>
          <a:ln/>
        </p:spPr>
        <p:txBody>
          <a:bodyPr wrap="square" lIns="0" tIns="0" rIns="0" bIns="0" rtlCol="0" anchor="t"/>
          <a:lstStyle/>
          <a:p>
            <a:pPr indent="0" marL="0">
              <a:buNone/>
            </a:pPr>
            <a:r>
              <a:rPr lang="en-US" sz="2200" dirty="0">
                <a:solidFill>
                  <a:srgbClr val="161616"/>
                </a:solidFill>
                <a:latin typeface="IBM Plex Sans KR" pitchFamily="34" charset="0"/>
                <a:ea typeface="IBM Plex Sans KR" pitchFamily="34" charset="-122"/>
                <a:cs typeface="IBM Plex Sans KR" pitchFamily="34" charset="-120"/>
              </a:rPr>
              <a:t>1:10</a:t>
            </a:r>
            <a:endParaRPr lang="en-US" sz="2200" dirty="0"/>
          </a:p>
        </p:txBody>
      </p:sp>
      <p:sp>
        <p:nvSpPr>
          <p:cNvPr id="26" name="o284"/>
          <p:cNvSpPr txBox="1"/>
          <p:nvPr/>
        </p:nvSpPr>
        <p:spPr>
          <a:xfrm>
            <a:off x="8458200" y="4972050"/>
            <a:ext cx="31242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대시보드 · AI 위험성평가</a:t>
            </a:r>
            <a:endParaRPr lang="en-US" sz="1400" dirty="0"/>
          </a:p>
        </p:txBody>
      </p:sp>
      <p:sp>
        <p:nvSpPr>
          <p:cNvPr id="27" name="o285"/>
          <p:cNvSpPr/>
          <p:nvPr/>
        </p:nvSpPr>
        <p:spPr>
          <a:xfrm>
            <a:off x="8458200" y="5410200"/>
            <a:ext cx="38100" cy="657225"/>
          </a:xfrm>
          <a:prstGeom prst="rect">
            <a:avLst/>
          </a:prstGeom>
          <a:solidFill>
            <a:srgbClr val="0F62FE"/>
          </a:solidFill>
          <a:ln/>
        </p:spPr>
      </p:sp>
      <p:sp>
        <p:nvSpPr>
          <p:cNvPr id="28" name="o286"/>
          <p:cNvSpPr txBox="1"/>
          <p:nvPr/>
        </p:nvSpPr>
        <p:spPr>
          <a:xfrm>
            <a:off x="8648700" y="5410200"/>
            <a:ext cx="2933700" cy="657225"/>
          </a:xfrm>
          <a:prstGeom prst="rect">
            <a:avLst/>
          </a:prstGeom>
          <a:noFill/>
          <a:ln/>
        </p:spPr>
        <p:txBody>
          <a:bodyPr wrap="square" lIns="0" tIns="0" rIns="0" bIns="0" rtlCol="0" anchor="ctr"/>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"이 1분이 예전의</a:t>
            </a:r>
            <a:endParaRPr lang="en-US" sz="1500" dirty="0"/>
          </a:p>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19분 24초입니다"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o287"/>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288"/>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Do</a:t>
            </a:r>
            <a:endParaRPr lang="en-US" sz="900" dirty="0"/>
          </a:p>
        </p:txBody>
      </p:sp>
      <p:sp>
        <p:nvSpPr>
          <p:cNvPr id="5" name="o289"/>
          <p:cNvSpPr/>
          <p:nvPr/>
        </p:nvSpPr>
        <p:spPr>
          <a:xfrm>
            <a:off x="1295400" y="514350"/>
            <a:ext cx="381000" cy="19050"/>
          </a:xfrm>
          <a:prstGeom prst="rect">
            <a:avLst/>
          </a:prstGeom>
          <a:solidFill>
            <a:srgbClr val="0F62FE"/>
          </a:solidFill>
          <a:ln/>
        </p:spPr>
      </p:sp>
      <p:sp>
        <p:nvSpPr>
          <p:cNvPr id="6" name="o290"/>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7" name="o291"/>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292"/>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05+  AI 적용  ·  AI 수시 위험성평가 — 근로자 참여형 · 2026.05–07 시범 운영</a:t>
            </a:r>
            <a:endParaRPr lang="en-US" sz="1200" dirty="0"/>
          </a:p>
        </p:txBody>
      </p:sp>
      <p:sp>
        <p:nvSpPr>
          <p:cNvPr id="9" name="o293"/>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AI는 초안을 만들고, 최종 판단은 사람이 합니다</a:t>
            </a:r>
            <a:endParaRPr lang="en-US" sz="2600" dirty="0"/>
          </a:p>
        </p:txBody>
      </p:sp>
      <p:sp>
        <p:nvSpPr>
          <p:cNvPr id="10" name="o294"/>
          <p:cNvSpPr/>
          <p:nvPr/>
        </p:nvSpPr>
        <p:spPr>
          <a:xfrm>
            <a:off x="609600" y="6324600"/>
            <a:ext cx="10972800" cy="0"/>
          </a:xfrm>
          <a:prstGeom prst="line">
            <a:avLst/>
          </a:prstGeom>
          <a:noFill/>
          <a:ln w="9525">
            <a:solidFill>
              <a:srgbClr val="E0E0E0"/>
            </a:solidFill>
            <a:prstDash val="solid"/>
          </a:ln>
        </p:spPr>
      </p:sp>
      <p:sp>
        <p:nvSpPr>
          <p:cNvPr id="11" name="o295"/>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296"/>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09</a:t>
            </a:r>
            <a:endParaRPr lang="en-US" sz="900" dirty="0"/>
          </a:p>
        </p:txBody>
      </p:sp>
      <p:sp>
        <p:nvSpPr>
          <p:cNvPr id="13" name="o297"/>
          <p:cNvSpPr/>
          <p:nvPr/>
        </p:nvSpPr>
        <p:spPr>
          <a:xfrm>
            <a:off x="609600" y="1866900"/>
            <a:ext cx="6096000" cy="3429000"/>
          </a:xfrm>
          <a:prstGeom prst="rect">
            <a:avLst/>
          </a:prstGeom>
          <a:solidFill>
            <a:srgbClr val="F4F4F4"/>
          </a:solidFill>
          <a:ln/>
        </p:spPr>
      </p:sp>
      <p:sp>
        <p:nvSpPr>
          <p:cNvPr id="14" name="o298"/>
          <p:cNvSpPr txBox="1"/>
          <p:nvPr/>
        </p:nvSpPr>
        <p:spPr>
          <a:xfrm>
            <a:off x="609600" y="1866900"/>
            <a:ext cx="6096000" cy="3429000"/>
          </a:xfrm>
          <a:prstGeom prst="rect">
            <a:avLst/>
          </a:prstGeom>
          <a:noFill/>
          <a:ln/>
        </p:spPr>
        <p:txBody>
          <a:bodyPr wrap="square" lIns="0" tIns="0" rIns="0" bIns="0" rtlCol="0" anchor="ctr"/>
          <a:lstStyle/>
          <a:p>
            <a:pPr algn="ctr" indent="0" marL="0">
              <a:lnSpc>
                <a:spcPct val="150000"/>
              </a:lnSpc>
              <a:buNone/>
            </a:pPr>
            <a:r>
              <a:rPr lang="en-US" sz="1400" dirty="0">
                <a:solidFill>
                  <a:srgbClr val="6F6F6F"/>
                </a:solidFill>
                <a:latin typeface="IBM Plex Sans KR" pitchFamily="34" charset="0"/>
                <a:ea typeface="IBM Plex Sans KR" pitchFamily="34" charset="-122"/>
                <a:cs typeface="IBM Plex Sans KR" pitchFamily="34" charset="-120"/>
              </a:rPr>
              <a:t>AI 위험성평가 결과 화면 캡처</a:t>
            </a:r>
            <a:endParaRPr lang="en-US" sz="1400" dirty="0"/>
          </a:p>
          <a:p>
            <a:pPr algn="ctr" indent="0" marL="0">
              <a:lnSpc>
                <a:spcPct val="150000"/>
              </a:lnSpc>
              <a:buNone/>
            </a:pPr>
            <a:r>
              <a:rPr lang="en-US" sz="1400" dirty="0">
                <a:solidFill>
                  <a:srgbClr val="6F6F6F"/>
                </a:solidFill>
                <a:latin typeface="IBM Plex Sans KR" pitchFamily="34" charset="0"/>
                <a:ea typeface="IBM Plex Sans KR" pitchFamily="34" charset="-122"/>
                <a:cs typeface="IBM Plex Sans KR" pitchFamily="34" charset="-120"/>
              </a:rPr>
              <a:t>현장 사진 → 위험요인 → 위험도(5×4) → 개선대책</a:t>
            </a:r>
            <a:endParaRPr lang="en-US" sz="1400" dirty="0"/>
          </a:p>
        </p:txBody>
      </p:sp>
      <p:sp>
        <p:nvSpPr>
          <p:cNvPr id="15" name="o299"/>
          <p:cNvSpPr/>
          <p:nvPr/>
        </p:nvSpPr>
        <p:spPr>
          <a:xfrm>
            <a:off x="7239000" y="1866900"/>
            <a:ext cx="4343400" cy="0"/>
          </a:xfrm>
          <a:prstGeom prst="line">
            <a:avLst/>
          </a:prstGeom>
          <a:noFill/>
          <a:ln w="9525">
            <a:solidFill>
              <a:srgbClr val="E0E0E0"/>
            </a:solidFill>
            <a:prstDash val="solid"/>
          </a:ln>
        </p:spPr>
      </p:sp>
      <p:sp>
        <p:nvSpPr>
          <p:cNvPr id="16" name="o300"/>
          <p:cNvSpPr txBox="1"/>
          <p:nvPr/>
        </p:nvSpPr>
        <p:spPr>
          <a:xfrm>
            <a:off x="7239000" y="20002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AI 수시 위험성평가 · 운영 실적</a:t>
            </a:r>
            <a:endParaRPr lang="en-US" sz="1200" dirty="0"/>
          </a:p>
        </p:txBody>
      </p:sp>
      <p:sp>
        <p:nvSpPr>
          <p:cNvPr id="17" name="o301"/>
          <p:cNvSpPr txBox="1"/>
          <p:nvPr/>
        </p:nvSpPr>
        <p:spPr>
          <a:xfrm>
            <a:off x="7239000" y="2228850"/>
            <a:ext cx="4343400" cy="419100"/>
          </a:xfrm>
          <a:prstGeom prst="rect">
            <a:avLst/>
          </a:prstGeom>
          <a:noFill/>
          <a:ln/>
        </p:spPr>
        <p:txBody>
          <a:bodyPr wrap="square" lIns="0" tIns="0" rIns="0" bIns="0" rtlCol="0" anchor="t"/>
          <a:lstStyle/>
          <a:p>
            <a:pPr indent="0" marL="0">
              <a:buNone/>
            </a:pPr>
            <a:r>
              <a:rPr lang="en-US" sz="2400" b="1" dirty="0">
                <a:solidFill>
                  <a:srgbClr val="0F62FE"/>
                </a:solidFill>
                <a:latin typeface="IBM Plex Sans KR" pitchFamily="34" charset="0"/>
                <a:ea typeface="IBM Plex Sans KR" pitchFamily="34" charset="-122"/>
                <a:cs typeface="IBM Plex Sans KR" pitchFamily="34" charset="-120"/>
              </a:rPr>
              <a:t>[실적]건</a:t>
            </a:r>
            <a:endParaRPr lang="en-US" sz="2400" dirty="0"/>
          </a:p>
        </p:txBody>
      </p:sp>
      <p:sp>
        <p:nvSpPr>
          <p:cNvPr id="18" name="o302"/>
          <p:cNvSpPr txBox="1"/>
          <p:nvPr/>
        </p:nvSpPr>
        <p:spPr>
          <a:xfrm>
            <a:off x="7239000" y="26670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사진 한 장 → 위험요인 · 위험도 · 개선대책 초안</a:t>
            </a:r>
            <a:endParaRPr lang="en-US" sz="1100" dirty="0"/>
          </a:p>
        </p:txBody>
      </p:sp>
      <p:sp>
        <p:nvSpPr>
          <p:cNvPr id="19" name="o303"/>
          <p:cNvSpPr/>
          <p:nvPr/>
        </p:nvSpPr>
        <p:spPr>
          <a:xfrm>
            <a:off x="7239000" y="2971800"/>
            <a:ext cx="4343400" cy="0"/>
          </a:xfrm>
          <a:prstGeom prst="line">
            <a:avLst/>
          </a:prstGeom>
          <a:noFill/>
          <a:ln w="9525">
            <a:solidFill>
              <a:srgbClr val="E0E0E0"/>
            </a:solidFill>
            <a:prstDash val="solid"/>
          </a:ln>
        </p:spPr>
      </p:sp>
      <p:sp>
        <p:nvSpPr>
          <p:cNvPr id="20" name="o304"/>
          <p:cNvSpPr txBox="1"/>
          <p:nvPr/>
        </p:nvSpPr>
        <p:spPr>
          <a:xfrm>
            <a:off x="7239000" y="31051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AI MSDS 검토</a:t>
            </a:r>
            <a:endParaRPr lang="en-US" sz="1200" dirty="0"/>
          </a:p>
        </p:txBody>
      </p:sp>
      <p:sp>
        <p:nvSpPr>
          <p:cNvPr id="21" name="o305"/>
          <p:cNvSpPr txBox="1"/>
          <p:nvPr/>
        </p:nvSpPr>
        <p:spPr>
          <a:xfrm>
            <a:off x="7239000" y="33337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규제 항목 제안</a:t>
            </a:r>
            <a:endParaRPr lang="en-US" sz="2400" dirty="0"/>
          </a:p>
        </p:txBody>
      </p:sp>
      <p:sp>
        <p:nvSpPr>
          <p:cNvPr id="22" name="o306"/>
          <p:cNvSpPr txBox="1"/>
          <p:nvPr/>
        </p:nvSpPr>
        <p:spPr>
          <a:xfrm>
            <a:off x="7239000" y="37719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관리자 승인 후 반영</a:t>
            </a:r>
            <a:endParaRPr lang="en-US" sz="1100" dirty="0"/>
          </a:p>
        </p:txBody>
      </p:sp>
      <p:sp>
        <p:nvSpPr>
          <p:cNvPr id="23" name="o307"/>
          <p:cNvSpPr/>
          <p:nvPr/>
        </p:nvSpPr>
        <p:spPr>
          <a:xfrm>
            <a:off x="7239000" y="4076700"/>
            <a:ext cx="4343400" cy="0"/>
          </a:xfrm>
          <a:prstGeom prst="line">
            <a:avLst/>
          </a:prstGeom>
          <a:noFill/>
          <a:ln w="9525">
            <a:solidFill>
              <a:srgbClr val="E0E0E0"/>
            </a:solidFill>
            <a:prstDash val="solid"/>
          </a:ln>
        </p:spPr>
      </p:sp>
      <p:sp>
        <p:nvSpPr>
          <p:cNvPr id="24" name="o308"/>
          <p:cNvSpPr txBox="1"/>
          <p:nvPr/>
        </p:nvSpPr>
        <p:spPr>
          <a:xfrm>
            <a:off x="7239000" y="42100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AI 도우미</a:t>
            </a:r>
            <a:endParaRPr lang="en-US" sz="1200" dirty="0"/>
          </a:p>
        </p:txBody>
      </p:sp>
      <p:sp>
        <p:nvSpPr>
          <p:cNvPr id="25" name="o309"/>
          <p:cNvSpPr txBox="1"/>
          <p:nvPr/>
        </p:nvSpPr>
        <p:spPr>
          <a:xfrm>
            <a:off x="7239000" y="44386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출처와 함께 답변</a:t>
            </a:r>
            <a:endParaRPr lang="en-US" sz="2400" dirty="0"/>
          </a:p>
        </p:txBody>
      </p:sp>
      <p:sp>
        <p:nvSpPr>
          <p:cNvPr id="26" name="o310"/>
          <p:cNvSpPr txBox="1"/>
          <p:nvPr/>
        </p:nvSpPr>
        <p:spPr>
          <a:xfrm>
            <a:off x="7239000" y="48768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법령 · 지침 질의 응답</a:t>
            </a:r>
            <a:endParaRPr lang="en-US" sz="1100" dirty="0"/>
          </a:p>
        </p:txBody>
      </p:sp>
      <p:sp>
        <p:nvSpPr>
          <p:cNvPr id="27" name="o311"/>
          <p:cNvSpPr/>
          <p:nvPr/>
        </p:nvSpPr>
        <p:spPr>
          <a:xfrm>
            <a:off x="609600" y="5448300"/>
            <a:ext cx="10972800" cy="723900"/>
          </a:xfrm>
          <a:prstGeom prst="rect">
            <a:avLst/>
          </a:prstGeom>
          <a:solidFill>
            <a:srgbClr val="F4F4F4"/>
          </a:solidFill>
          <a:ln/>
        </p:spPr>
      </p:sp>
      <p:sp>
        <p:nvSpPr>
          <p:cNvPr id="28" name="o312"/>
          <p:cNvSpPr/>
          <p:nvPr/>
        </p:nvSpPr>
        <p:spPr>
          <a:xfrm>
            <a:off x="609600" y="5448300"/>
            <a:ext cx="38100" cy="723900"/>
          </a:xfrm>
          <a:prstGeom prst="rect">
            <a:avLst/>
          </a:prstGeom>
          <a:solidFill>
            <a:srgbClr val="0F62FE"/>
          </a:solidFill>
          <a:ln/>
        </p:spPr>
      </p:sp>
      <p:sp>
        <p:nvSpPr>
          <p:cNvPr id="29" name="o313"/>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30" name="o314"/>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AI는 초안, 확정은 사람 — 점수 · 등급은 서버가 다시 계산하고 법령 조문을 대조합니다</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o315"/>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316"/>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5" name="o317"/>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Check</a:t>
            </a:r>
            <a:endParaRPr lang="en-US" sz="900" dirty="0"/>
          </a:p>
        </p:txBody>
      </p:sp>
      <p:sp>
        <p:nvSpPr>
          <p:cNvPr id="6" name="o318"/>
          <p:cNvSpPr/>
          <p:nvPr/>
        </p:nvSpPr>
        <p:spPr>
          <a:xfrm>
            <a:off x="1981200" y="514350"/>
            <a:ext cx="381000" cy="19050"/>
          </a:xfrm>
          <a:prstGeom prst="rect">
            <a:avLst/>
          </a:prstGeom>
          <a:solidFill>
            <a:srgbClr val="0F62FE"/>
          </a:solidFill>
          <a:ln/>
        </p:spPr>
      </p:sp>
      <p:sp>
        <p:nvSpPr>
          <p:cNvPr id="7" name="o319"/>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320"/>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06  개선 전후 비교  ·  특별안전보건교육 1건 · 세부 행동 단위 실측</a:t>
            </a:r>
            <a:endParaRPr lang="en-US" sz="1200" dirty="0"/>
          </a:p>
        </p:txBody>
      </p:sp>
      <p:sp>
        <p:nvSpPr>
          <p:cNvPr id="9" name="o321"/>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같은 교육, 행정 시간은 93% 줄었습니다</a:t>
            </a:r>
            <a:endParaRPr lang="en-US" sz="2600" dirty="0"/>
          </a:p>
        </p:txBody>
      </p:sp>
      <p:sp>
        <p:nvSpPr>
          <p:cNvPr id="10" name="o322"/>
          <p:cNvSpPr/>
          <p:nvPr/>
        </p:nvSpPr>
        <p:spPr>
          <a:xfrm>
            <a:off x="609600" y="6324600"/>
            <a:ext cx="10972800" cy="0"/>
          </a:xfrm>
          <a:prstGeom prst="line">
            <a:avLst/>
          </a:prstGeom>
          <a:noFill/>
          <a:ln w="9525">
            <a:solidFill>
              <a:srgbClr val="E0E0E0"/>
            </a:solidFill>
            <a:prstDash val="solid"/>
          </a:ln>
        </p:spPr>
      </p:sp>
      <p:sp>
        <p:nvSpPr>
          <p:cNvPr id="11" name="o323"/>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324"/>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10</a:t>
            </a:r>
            <a:endParaRPr lang="en-US" sz="900" dirty="0"/>
          </a:p>
        </p:txBody>
      </p:sp>
      <p:sp>
        <p:nvSpPr>
          <p:cNvPr id="13" name="o325"/>
          <p:cNvSpPr txBox="1"/>
          <p:nvPr/>
        </p:nvSpPr>
        <p:spPr>
          <a:xfrm>
            <a:off x="609600" y="1866900"/>
            <a:ext cx="53340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행정시간 단축</a:t>
            </a:r>
            <a:endParaRPr lang="en-US" sz="1400" dirty="0"/>
          </a:p>
        </p:txBody>
      </p:sp>
      <p:sp>
        <p:nvSpPr>
          <p:cNvPr id="14" name="o326"/>
          <p:cNvSpPr txBox="1"/>
          <p:nvPr/>
        </p:nvSpPr>
        <p:spPr>
          <a:xfrm>
            <a:off x="552450" y="2095500"/>
            <a:ext cx="6286500" cy="1809750"/>
          </a:xfrm>
          <a:prstGeom prst="rect">
            <a:avLst/>
          </a:prstGeom>
          <a:noFill/>
          <a:ln/>
        </p:spPr>
        <p:txBody>
          <a:bodyPr wrap="square" lIns="0" tIns="0" rIns="0" bIns="0" rtlCol="0" anchor="t"/>
          <a:lstStyle/>
          <a:p>
            <a:pPr indent="0" marL="0">
              <a:buNone/>
            </a:pPr>
            <a:r>
              <a:rPr lang="en-US" sz="14000" dirty="0">
                <a:solidFill>
                  <a:srgbClr val="0F62FE"/>
                </a:solidFill>
                <a:latin typeface="IBM Plex Sans KR" pitchFamily="34" charset="0"/>
                <a:ea typeface="IBM Plex Sans KR" pitchFamily="34" charset="-122"/>
                <a:cs typeface="IBM Plex Sans KR" pitchFamily="34" charset="-120"/>
              </a:rPr>
              <a:t>−93%</a:t>
            </a:r>
            <a:endParaRPr lang="en-US" sz="14000" dirty="0"/>
          </a:p>
        </p:txBody>
      </p:sp>
      <p:sp>
        <p:nvSpPr>
          <p:cNvPr id="15" name="o327"/>
          <p:cNvSpPr txBox="1"/>
          <p:nvPr/>
        </p:nvSpPr>
        <p:spPr>
          <a:xfrm>
            <a:off x="609600" y="4000500"/>
            <a:ext cx="6096000" cy="209550"/>
          </a:xfrm>
          <a:prstGeom prst="rect">
            <a:avLst/>
          </a:prstGeom>
          <a:noFill/>
          <a:ln/>
        </p:spPr>
        <p:txBody>
          <a:bodyPr wrap="square" lIns="0" tIns="0" rIns="0" bIns="0" rtlCol="0" anchor="t"/>
          <a:lstStyle/>
          <a:p>
            <a:pPr indent="0" marL="0">
              <a:buNone/>
            </a:pPr>
            <a:r>
              <a:rPr lang="en-US" sz="1400" dirty="0">
                <a:solidFill>
                  <a:srgbClr val="393939"/>
                </a:solidFill>
                <a:latin typeface="IBM Plex Sans KR" pitchFamily="34" charset="0"/>
                <a:ea typeface="IBM Plex Sans KR" pitchFamily="34" charset="-122"/>
                <a:cs typeface="IBM Plex Sans KR" pitchFamily="34" charset="-120"/>
              </a:rPr>
              <a:t>목표 70% 초과 달성  ·  MSDS 교육도 −81% (4분 18초 → 49초)</a:t>
            </a:r>
            <a:endParaRPr lang="en-US" sz="1400" dirty="0"/>
          </a:p>
        </p:txBody>
      </p:sp>
      <p:sp>
        <p:nvSpPr>
          <p:cNvPr id="16" name="o328"/>
          <p:cNvSpPr txBox="1"/>
          <p:nvPr/>
        </p:nvSpPr>
        <p:spPr>
          <a:xfrm>
            <a:off x="609600" y="4476750"/>
            <a:ext cx="9525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개선 전</a:t>
            </a:r>
            <a:endParaRPr lang="en-US" sz="1100" dirty="0"/>
          </a:p>
        </p:txBody>
      </p:sp>
      <p:sp>
        <p:nvSpPr>
          <p:cNvPr id="17" name="o329"/>
          <p:cNvSpPr/>
          <p:nvPr/>
        </p:nvSpPr>
        <p:spPr>
          <a:xfrm>
            <a:off x="1333500" y="4495800"/>
            <a:ext cx="4572000" cy="133350"/>
          </a:xfrm>
          <a:prstGeom prst="rect">
            <a:avLst/>
          </a:prstGeom>
          <a:solidFill>
            <a:srgbClr val="C6C6C6"/>
          </a:solidFill>
          <a:ln/>
        </p:spPr>
      </p:sp>
      <p:sp>
        <p:nvSpPr>
          <p:cNvPr id="18" name="o330"/>
          <p:cNvSpPr txBox="1"/>
          <p:nvPr/>
        </p:nvSpPr>
        <p:spPr>
          <a:xfrm>
            <a:off x="5981700" y="4457700"/>
            <a:ext cx="1143000" cy="190500"/>
          </a:xfrm>
          <a:prstGeom prst="rect">
            <a:avLst/>
          </a:prstGeom>
          <a:noFill/>
          <a:ln/>
        </p:spPr>
        <p:txBody>
          <a:bodyPr wrap="square" lIns="0" tIns="0" rIns="0" bIns="0" rtlCol="0" anchor="t"/>
          <a:lstStyle/>
          <a:p>
            <a:pPr indent="0" marL="0">
              <a:buNone/>
            </a:pPr>
            <a:r>
              <a:rPr lang="en-US" sz="1200" b="1" dirty="0">
                <a:solidFill>
                  <a:srgbClr val="525252"/>
                </a:solidFill>
                <a:latin typeface="IBM Plex Sans KR" pitchFamily="34" charset="0"/>
                <a:ea typeface="IBM Plex Sans KR" pitchFamily="34" charset="-122"/>
                <a:cs typeface="IBM Plex Sans KR" pitchFamily="34" charset="-120"/>
              </a:rPr>
              <a:t>33분 48초</a:t>
            </a:r>
            <a:endParaRPr lang="en-US" sz="1200" dirty="0"/>
          </a:p>
        </p:txBody>
      </p:sp>
      <p:sp>
        <p:nvSpPr>
          <p:cNvPr id="19" name="o331"/>
          <p:cNvSpPr txBox="1"/>
          <p:nvPr/>
        </p:nvSpPr>
        <p:spPr>
          <a:xfrm>
            <a:off x="609600" y="4762500"/>
            <a:ext cx="9525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개선 후</a:t>
            </a:r>
            <a:endParaRPr lang="en-US" sz="1100" dirty="0"/>
          </a:p>
        </p:txBody>
      </p:sp>
      <p:sp>
        <p:nvSpPr>
          <p:cNvPr id="20" name="o332"/>
          <p:cNvSpPr/>
          <p:nvPr/>
        </p:nvSpPr>
        <p:spPr>
          <a:xfrm>
            <a:off x="1333500" y="4781550"/>
            <a:ext cx="320130" cy="133350"/>
          </a:xfrm>
          <a:prstGeom prst="rect">
            <a:avLst/>
          </a:prstGeom>
          <a:solidFill>
            <a:srgbClr val="0F62FE"/>
          </a:solidFill>
          <a:ln/>
        </p:spPr>
      </p:sp>
      <p:sp>
        <p:nvSpPr>
          <p:cNvPr id="21" name="o333"/>
          <p:cNvSpPr txBox="1"/>
          <p:nvPr/>
        </p:nvSpPr>
        <p:spPr>
          <a:xfrm>
            <a:off x="1809750" y="4743450"/>
            <a:ext cx="11430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2분 22초</a:t>
            </a:r>
            <a:endParaRPr lang="en-US" sz="1200" dirty="0"/>
          </a:p>
        </p:txBody>
      </p:sp>
      <p:sp>
        <p:nvSpPr>
          <p:cNvPr id="22" name="o334"/>
          <p:cNvSpPr/>
          <p:nvPr/>
        </p:nvSpPr>
        <p:spPr>
          <a:xfrm>
            <a:off x="7239000" y="1866900"/>
            <a:ext cx="4343400" cy="0"/>
          </a:xfrm>
          <a:prstGeom prst="line">
            <a:avLst/>
          </a:prstGeom>
          <a:noFill/>
          <a:ln w="9525">
            <a:solidFill>
              <a:srgbClr val="E0E0E0"/>
            </a:solidFill>
            <a:prstDash val="solid"/>
          </a:ln>
        </p:spPr>
      </p:sp>
      <p:sp>
        <p:nvSpPr>
          <p:cNvPr id="23" name="o335"/>
          <p:cNvSpPr txBox="1"/>
          <p:nvPr/>
        </p:nvSpPr>
        <p:spPr>
          <a:xfrm>
            <a:off x="7239000" y="20002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내부 결재</a:t>
            </a:r>
            <a:endParaRPr lang="en-US" sz="1200" dirty="0"/>
          </a:p>
        </p:txBody>
      </p:sp>
      <p:sp>
        <p:nvSpPr>
          <p:cNvPr id="24" name="o336"/>
          <p:cNvSpPr txBox="1"/>
          <p:nvPr/>
        </p:nvSpPr>
        <p:spPr>
          <a:xfrm>
            <a:off x="7239000" y="22288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19분 24초 → 1분</a:t>
            </a:r>
            <a:endParaRPr lang="en-US" sz="2400" dirty="0"/>
          </a:p>
        </p:txBody>
      </p:sp>
      <p:sp>
        <p:nvSpPr>
          <p:cNvPr id="25" name="o337"/>
          <p:cNvSpPr txBox="1"/>
          <p:nvPr/>
        </p:nvSpPr>
        <p:spPr>
          <a:xfrm>
            <a:off x="7239000" y="26670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비대면 전자결재</a:t>
            </a:r>
            <a:endParaRPr lang="en-US" sz="1100" dirty="0"/>
          </a:p>
        </p:txBody>
      </p:sp>
      <p:sp>
        <p:nvSpPr>
          <p:cNvPr id="26" name="o338"/>
          <p:cNvSpPr/>
          <p:nvPr/>
        </p:nvSpPr>
        <p:spPr>
          <a:xfrm>
            <a:off x="7239000" y="2971800"/>
            <a:ext cx="4343400" cy="0"/>
          </a:xfrm>
          <a:prstGeom prst="line">
            <a:avLst/>
          </a:prstGeom>
          <a:noFill/>
          <a:ln w="9525">
            <a:solidFill>
              <a:srgbClr val="E0E0E0"/>
            </a:solidFill>
            <a:prstDash val="solid"/>
          </a:ln>
        </p:spPr>
      </p:sp>
      <p:sp>
        <p:nvSpPr>
          <p:cNvPr id="27" name="o339"/>
          <p:cNvSpPr txBox="1"/>
          <p:nvPr/>
        </p:nvSpPr>
        <p:spPr>
          <a:xfrm>
            <a:off x="7239000" y="31051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보건관리실 직접 제출</a:t>
            </a:r>
            <a:endParaRPr lang="en-US" sz="1200" dirty="0"/>
          </a:p>
        </p:txBody>
      </p:sp>
      <p:sp>
        <p:nvSpPr>
          <p:cNvPr id="28" name="o340"/>
          <p:cNvSpPr txBox="1"/>
          <p:nvPr/>
        </p:nvSpPr>
        <p:spPr>
          <a:xfrm>
            <a:off x="7239000" y="33337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7분 → 단계 삭제</a:t>
            </a:r>
            <a:endParaRPr lang="en-US" sz="2400" dirty="0"/>
          </a:p>
        </p:txBody>
      </p:sp>
      <p:sp>
        <p:nvSpPr>
          <p:cNvPr id="29" name="o341"/>
          <p:cNvSpPr txBox="1"/>
          <p:nvPr/>
        </p:nvSpPr>
        <p:spPr>
          <a:xfrm>
            <a:off x="7239000" y="37719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모바일 제출</a:t>
            </a:r>
            <a:endParaRPr lang="en-US" sz="1100" dirty="0"/>
          </a:p>
        </p:txBody>
      </p:sp>
      <p:sp>
        <p:nvSpPr>
          <p:cNvPr id="30" name="o342"/>
          <p:cNvSpPr/>
          <p:nvPr/>
        </p:nvSpPr>
        <p:spPr>
          <a:xfrm>
            <a:off x="7239000" y="4076700"/>
            <a:ext cx="4343400" cy="0"/>
          </a:xfrm>
          <a:prstGeom prst="line">
            <a:avLst/>
          </a:prstGeom>
          <a:noFill/>
          <a:ln w="9525">
            <a:solidFill>
              <a:srgbClr val="E0E0E0"/>
            </a:solidFill>
            <a:prstDash val="solid"/>
          </a:ln>
        </p:spPr>
      </p:sp>
      <p:sp>
        <p:nvSpPr>
          <p:cNvPr id="31" name="o343"/>
          <p:cNvSpPr txBox="1"/>
          <p:nvPr/>
        </p:nvSpPr>
        <p:spPr>
          <a:xfrm>
            <a:off x="7239000" y="4210050"/>
            <a:ext cx="4343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취합 · 인쇄 · 파일링</a:t>
            </a:r>
            <a:endParaRPr lang="en-US" sz="1200" dirty="0"/>
          </a:p>
        </p:txBody>
      </p:sp>
      <p:sp>
        <p:nvSpPr>
          <p:cNvPr id="32" name="o344"/>
          <p:cNvSpPr txBox="1"/>
          <p:nvPr/>
        </p:nvSpPr>
        <p:spPr>
          <a:xfrm>
            <a:off x="7239000" y="4438650"/>
            <a:ext cx="4343400" cy="419100"/>
          </a:xfrm>
          <a:prstGeom prst="rect">
            <a:avLst/>
          </a:prstGeom>
          <a:noFill/>
          <a:ln/>
        </p:spPr>
        <p:txBody>
          <a:bodyPr wrap="square" lIns="0" tIns="0" rIns="0" bIns="0" rtlCol="0" anchor="t"/>
          <a:lstStyle/>
          <a:p>
            <a:pPr indent="0" marL="0">
              <a:buNone/>
            </a:pPr>
            <a:r>
              <a:rPr lang="en-US" sz="2400" b="1" dirty="0">
                <a:solidFill>
                  <a:srgbClr val="161616"/>
                </a:solidFill>
                <a:latin typeface="IBM Plex Sans KR" pitchFamily="34" charset="0"/>
                <a:ea typeface="IBM Plex Sans KR" pitchFamily="34" charset="-122"/>
                <a:cs typeface="IBM Plex Sans KR" pitchFamily="34" charset="-120"/>
              </a:rPr>
              <a:t>2분 06초 → 단계 삭제</a:t>
            </a:r>
            <a:endParaRPr lang="en-US" sz="2400" dirty="0"/>
          </a:p>
        </p:txBody>
      </p:sp>
      <p:sp>
        <p:nvSpPr>
          <p:cNvPr id="33" name="o345"/>
          <p:cNvSpPr txBox="1"/>
          <p:nvPr/>
        </p:nvSpPr>
        <p:spPr>
          <a:xfrm>
            <a:off x="7239000" y="4876800"/>
            <a:ext cx="4343400" cy="17145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자동 보관</a:t>
            </a:r>
            <a:endParaRPr lang="en-US" sz="1100" dirty="0"/>
          </a:p>
        </p:txBody>
      </p:sp>
      <p:sp>
        <p:nvSpPr>
          <p:cNvPr id="34" name="o346"/>
          <p:cNvSpPr/>
          <p:nvPr/>
        </p:nvSpPr>
        <p:spPr>
          <a:xfrm>
            <a:off x="609600" y="5448300"/>
            <a:ext cx="10972800" cy="723900"/>
          </a:xfrm>
          <a:prstGeom prst="rect">
            <a:avLst/>
          </a:prstGeom>
          <a:solidFill>
            <a:srgbClr val="F4F4F4"/>
          </a:solidFill>
          <a:ln/>
        </p:spPr>
      </p:sp>
      <p:sp>
        <p:nvSpPr>
          <p:cNvPr id="35" name="o347"/>
          <p:cNvSpPr/>
          <p:nvPr/>
        </p:nvSpPr>
        <p:spPr>
          <a:xfrm>
            <a:off x="609600" y="5448300"/>
            <a:ext cx="38100" cy="723900"/>
          </a:xfrm>
          <a:prstGeom prst="rect">
            <a:avLst/>
          </a:prstGeom>
          <a:solidFill>
            <a:srgbClr val="0F62FE"/>
          </a:solidFill>
          <a:ln/>
        </p:spPr>
      </p:sp>
      <p:sp>
        <p:nvSpPr>
          <p:cNvPr id="36" name="o348"/>
          <p:cNvSpPr txBox="1"/>
          <p:nvPr/>
        </p:nvSpPr>
        <p:spPr>
          <a:xfrm>
            <a:off x="876300" y="54483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37" name="o349"/>
          <p:cNvSpPr txBox="1"/>
          <p:nvPr/>
        </p:nvSpPr>
        <p:spPr>
          <a:xfrm>
            <a:off x="2019300" y="54483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가장 긴 두 단계(결재 · 제출)를 없애 33분 48초가 2분 22초가 되었습니다</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o350"/>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351"/>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5" name="o352"/>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Check</a:t>
            </a:r>
            <a:endParaRPr lang="en-US" sz="900" dirty="0"/>
          </a:p>
        </p:txBody>
      </p:sp>
      <p:sp>
        <p:nvSpPr>
          <p:cNvPr id="6" name="o353"/>
          <p:cNvSpPr/>
          <p:nvPr/>
        </p:nvSpPr>
        <p:spPr>
          <a:xfrm>
            <a:off x="1981200" y="514350"/>
            <a:ext cx="381000" cy="19050"/>
          </a:xfrm>
          <a:prstGeom prst="rect">
            <a:avLst/>
          </a:prstGeom>
          <a:solidFill>
            <a:srgbClr val="0F62FE"/>
          </a:solidFill>
          <a:ln/>
        </p:spPr>
      </p:sp>
      <p:sp>
        <p:nvSpPr>
          <p:cNvPr id="7" name="o354"/>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Act</a:t>
            </a:r>
            <a:endParaRPr lang="en-US" sz="900" dirty="0"/>
          </a:p>
        </p:txBody>
      </p:sp>
      <p:sp>
        <p:nvSpPr>
          <p:cNvPr id="8" name="o355"/>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07  성과  ·  개선 전 2025 → 개선 후 2026.05–07</a:t>
            </a:r>
            <a:endParaRPr lang="en-US" sz="1200" dirty="0"/>
          </a:p>
        </p:txBody>
      </p:sp>
      <p:sp>
        <p:nvSpPr>
          <p:cNvPr id="9" name="o356"/>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4개 지표 모두 목표를 달성했습니다</a:t>
            </a:r>
            <a:endParaRPr lang="en-US" sz="2600" dirty="0"/>
          </a:p>
        </p:txBody>
      </p:sp>
      <p:sp>
        <p:nvSpPr>
          <p:cNvPr id="10" name="o357"/>
          <p:cNvSpPr/>
          <p:nvPr/>
        </p:nvSpPr>
        <p:spPr>
          <a:xfrm>
            <a:off x="609600" y="6324600"/>
            <a:ext cx="10972800" cy="0"/>
          </a:xfrm>
          <a:prstGeom prst="line">
            <a:avLst/>
          </a:prstGeom>
          <a:noFill/>
          <a:ln w="9525">
            <a:solidFill>
              <a:srgbClr val="E0E0E0"/>
            </a:solidFill>
            <a:prstDash val="solid"/>
          </a:ln>
        </p:spPr>
      </p:sp>
      <p:sp>
        <p:nvSpPr>
          <p:cNvPr id="11" name="o358"/>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359"/>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11</a:t>
            </a:r>
            <a:endParaRPr lang="en-US" sz="900" dirty="0"/>
          </a:p>
        </p:txBody>
      </p:sp>
      <p:sp>
        <p:nvSpPr>
          <p:cNvPr id="13" name="o360"/>
          <p:cNvSpPr/>
          <p:nvPr/>
        </p:nvSpPr>
        <p:spPr>
          <a:xfrm>
            <a:off x="609600" y="1866900"/>
            <a:ext cx="2628900" cy="3143250"/>
          </a:xfrm>
          <a:prstGeom prst="rect">
            <a:avLst/>
          </a:prstGeom>
          <a:solidFill>
            <a:srgbClr val="F4F4F4"/>
          </a:solidFill>
          <a:ln/>
        </p:spPr>
      </p:sp>
      <p:sp>
        <p:nvSpPr>
          <p:cNvPr id="14" name="o361"/>
          <p:cNvSpPr txBox="1"/>
          <p:nvPr/>
        </p:nvSpPr>
        <p:spPr>
          <a:xfrm>
            <a:off x="838200" y="2095500"/>
            <a:ext cx="21717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법정교육 누락</a:t>
            </a:r>
            <a:endParaRPr lang="en-US" sz="1400" dirty="0"/>
          </a:p>
        </p:txBody>
      </p:sp>
      <p:sp>
        <p:nvSpPr>
          <p:cNvPr id="15" name="o362"/>
          <p:cNvSpPr txBox="1"/>
          <p:nvPr/>
        </p:nvSpPr>
        <p:spPr>
          <a:xfrm>
            <a:off x="800100" y="2495550"/>
            <a:ext cx="2343150" cy="95250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0건</a:t>
            </a:r>
            <a:endParaRPr lang="en-US" sz="6000" dirty="0"/>
          </a:p>
        </p:txBody>
      </p:sp>
      <p:sp>
        <p:nvSpPr>
          <p:cNvPr id="16" name="o363"/>
          <p:cNvSpPr txBox="1"/>
          <p:nvPr/>
        </p:nvSpPr>
        <p:spPr>
          <a:xfrm>
            <a:off x="838200" y="3810000"/>
            <a:ext cx="2247900" cy="381000"/>
          </a:xfrm>
          <a:prstGeom prst="rect">
            <a:avLst/>
          </a:prstGeom>
          <a:noFill/>
          <a:ln/>
        </p:spPr>
        <p:txBody>
          <a:bodyPr wrap="square" lIns="0" tIns="0" rIns="0" bIns="0" rtlCol="0" anchor="t"/>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18건 → 0건</a:t>
            </a:r>
            <a:endParaRPr lang="en-US" sz="1200" dirty="0"/>
          </a:p>
        </p:txBody>
      </p:sp>
      <p:sp>
        <p:nvSpPr>
          <p:cNvPr id="17" name="o364"/>
          <p:cNvSpPr txBox="1"/>
          <p:nvPr/>
        </p:nvSpPr>
        <p:spPr>
          <a:xfrm>
            <a:off x="838200" y="4476750"/>
            <a:ext cx="21717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목표 0건</a:t>
            </a:r>
            <a:endParaRPr lang="en-US" sz="1200" dirty="0"/>
          </a:p>
        </p:txBody>
      </p:sp>
      <p:sp>
        <p:nvSpPr>
          <p:cNvPr id="18" name="o365"/>
          <p:cNvSpPr/>
          <p:nvPr/>
        </p:nvSpPr>
        <p:spPr>
          <a:xfrm>
            <a:off x="3390900" y="1866900"/>
            <a:ext cx="2628900" cy="3143250"/>
          </a:xfrm>
          <a:prstGeom prst="rect">
            <a:avLst/>
          </a:prstGeom>
          <a:solidFill>
            <a:srgbClr val="0F62FE"/>
          </a:solidFill>
          <a:ln/>
        </p:spPr>
      </p:sp>
      <p:sp>
        <p:nvSpPr>
          <p:cNvPr id="19" name="o366"/>
          <p:cNvSpPr txBox="1"/>
          <p:nvPr/>
        </p:nvSpPr>
        <p:spPr>
          <a:xfrm>
            <a:off x="3619500" y="2095500"/>
            <a:ext cx="2171700" cy="190500"/>
          </a:xfrm>
          <a:prstGeom prst="rect">
            <a:avLst/>
          </a:prstGeom>
          <a:noFill/>
          <a:ln/>
        </p:spPr>
        <p:txBody>
          <a:bodyPr wrap="square" lIns="0" tIns="0" rIns="0" bIns="0" rtlCol="0" anchor="t"/>
          <a:lstStyle/>
          <a:p>
            <a:pPr indent="0" marL="0">
              <a:buNone/>
            </a:pPr>
            <a:r>
              <a:rPr lang="en-US" sz="1400" dirty="0">
                <a:solidFill>
                  <a:srgbClr val="FFFFFF"/>
                </a:solidFill>
                <a:latin typeface="IBM Plex Sans KR" pitchFamily="34" charset="0"/>
                <a:ea typeface="IBM Plex Sans KR" pitchFamily="34" charset="-122"/>
                <a:cs typeface="IBM Plex Sans KR" pitchFamily="34" charset="-120"/>
              </a:rPr>
              <a:t>행정시간 단축</a:t>
            </a:r>
            <a:endParaRPr lang="en-US" sz="1400" dirty="0"/>
          </a:p>
        </p:txBody>
      </p:sp>
      <p:sp>
        <p:nvSpPr>
          <p:cNvPr id="20" name="o367"/>
          <p:cNvSpPr txBox="1"/>
          <p:nvPr/>
        </p:nvSpPr>
        <p:spPr>
          <a:xfrm>
            <a:off x="3581400" y="2495550"/>
            <a:ext cx="2343150" cy="952500"/>
          </a:xfrm>
          <a:prstGeom prst="rect">
            <a:avLst/>
          </a:prstGeom>
          <a:noFill/>
          <a:ln/>
        </p:spPr>
        <p:txBody>
          <a:bodyPr wrap="square" lIns="0" tIns="0" rIns="0" bIns="0" rtlCol="0" anchor="t"/>
          <a:lstStyle/>
          <a:p>
            <a:pPr indent="0" marL="0">
              <a:buNone/>
            </a:pPr>
            <a:r>
              <a:rPr lang="en-US" sz="6000" dirty="0">
                <a:solidFill>
                  <a:srgbClr val="FFFFFF"/>
                </a:solidFill>
                <a:latin typeface="IBM Plex Sans KR" pitchFamily="34" charset="0"/>
                <a:ea typeface="IBM Plex Sans KR" pitchFamily="34" charset="-122"/>
                <a:cs typeface="IBM Plex Sans KR" pitchFamily="34" charset="-120"/>
              </a:rPr>
              <a:t>93%</a:t>
            </a:r>
            <a:endParaRPr lang="en-US" sz="6000" dirty="0"/>
          </a:p>
        </p:txBody>
      </p:sp>
      <p:sp>
        <p:nvSpPr>
          <p:cNvPr id="21" name="o368"/>
          <p:cNvSpPr txBox="1"/>
          <p:nvPr/>
        </p:nvSpPr>
        <p:spPr>
          <a:xfrm>
            <a:off x="3619500" y="3810000"/>
            <a:ext cx="2247900" cy="381000"/>
          </a:xfrm>
          <a:prstGeom prst="rect">
            <a:avLst/>
          </a:prstGeom>
          <a:noFill/>
          <a:ln/>
        </p:spPr>
        <p:txBody>
          <a:bodyPr wrap="square" lIns="0" tIns="0" rIns="0" bIns="0" rtlCol="0" anchor="t"/>
          <a:lstStyle/>
          <a:p>
            <a:pPr indent="0" marL="0">
              <a:buNone/>
            </a:pPr>
            <a:r>
              <a:rPr lang="en-US" sz="1200" b="1" dirty="0">
                <a:solidFill>
                  <a:srgbClr val="FFFFFF"/>
                </a:solidFill>
                <a:latin typeface="IBM Plex Sans KR" pitchFamily="34" charset="0"/>
                <a:ea typeface="IBM Plex Sans KR" pitchFamily="34" charset="-122"/>
                <a:cs typeface="IBM Plex Sans KR" pitchFamily="34" charset="-120"/>
              </a:rPr>
              <a:t>33분 48초 → 2분 22초</a:t>
            </a:r>
            <a:endParaRPr lang="en-US" sz="1200" dirty="0"/>
          </a:p>
        </p:txBody>
      </p:sp>
      <p:sp>
        <p:nvSpPr>
          <p:cNvPr id="22" name="o369"/>
          <p:cNvSpPr txBox="1"/>
          <p:nvPr/>
        </p:nvSpPr>
        <p:spPr>
          <a:xfrm>
            <a:off x="3619500" y="4476750"/>
            <a:ext cx="2171700" cy="190500"/>
          </a:xfrm>
          <a:prstGeom prst="rect">
            <a:avLst/>
          </a:prstGeom>
          <a:noFill/>
          <a:ln/>
        </p:spPr>
        <p:txBody>
          <a:bodyPr wrap="square" lIns="0" tIns="0" rIns="0" bIns="0" rtlCol="0" anchor="t"/>
          <a:lstStyle/>
          <a:p>
            <a:pPr indent="0" marL="0">
              <a:buNone/>
            </a:pPr>
            <a:r>
              <a:rPr lang="en-US" sz="1200" dirty="0">
                <a:solidFill>
                  <a:srgbClr val="FFFFFF"/>
                </a:solidFill>
                <a:latin typeface="IBM Plex Sans KR" pitchFamily="34" charset="0"/>
                <a:ea typeface="IBM Plex Sans KR" pitchFamily="34" charset="-122"/>
                <a:cs typeface="IBM Plex Sans KR" pitchFamily="34" charset="-120"/>
              </a:rPr>
              <a:t>목표 70%↑</a:t>
            </a:r>
            <a:endParaRPr lang="en-US" sz="1200" dirty="0"/>
          </a:p>
        </p:txBody>
      </p:sp>
      <p:sp>
        <p:nvSpPr>
          <p:cNvPr id="23" name="o370"/>
          <p:cNvSpPr/>
          <p:nvPr/>
        </p:nvSpPr>
        <p:spPr>
          <a:xfrm>
            <a:off x="6172200" y="1866900"/>
            <a:ext cx="2628900" cy="3143250"/>
          </a:xfrm>
          <a:prstGeom prst="rect">
            <a:avLst/>
          </a:prstGeom>
          <a:solidFill>
            <a:srgbClr val="F4F4F4"/>
          </a:solidFill>
          <a:ln/>
        </p:spPr>
      </p:sp>
      <p:sp>
        <p:nvSpPr>
          <p:cNvPr id="24" name="o371"/>
          <p:cNvSpPr txBox="1"/>
          <p:nvPr/>
        </p:nvSpPr>
        <p:spPr>
          <a:xfrm>
            <a:off x="6400800" y="2095500"/>
            <a:ext cx="21717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페이퍼리스 전환</a:t>
            </a:r>
            <a:endParaRPr lang="en-US" sz="1400" dirty="0"/>
          </a:p>
        </p:txBody>
      </p:sp>
      <p:sp>
        <p:nvSpPr>
          <p:cNvPr id="25" name="o372"/>
          <p:cNvSpPr txBox="1"/>
          <p:nvPr/>
        </p:nvSpPr>
        <p:spPr>
          <a:xfrm>
            <a:off x="6362700" y="2495550"/>
            <a:ext cx="2343150" cy="95250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100%</a:t>
            </a:r>
            <a:endParaRPr lang="en-US" sz="6000" dirty="0"/>
          </a:p>
        </p:txBody>
      </p:sp>
      <p:sp>
        <p:nvSpPr>
          <p:cNvPr id="26" name="o373"/>
          <p:cNvSpPr txBox="1"/>
          <p:nvPr/>
        </p:nvSpPr>
        <p:spPr>
          <a:xfrm>
            <a:off x="6400800" y="3810000"/>
            <a:ext cx="2247900" cy="381000"/>
          </a:xfrm>
          <a:prstGeom prst="rect">
            <a:avLst/>
          </a:prstGeom>
          <a:noFill/>
          <a:ln/>
        </p:spPr>
        <p:txBody>
          <a:bodyPr wrap="square" lIns="0" tIns="0" rIns="0" bIns="0" rtlCol="0" anchor="t"/>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월 17.3건 전량 디지털</a:t>
            </a:r>
            <a:endParaRPr lang="en-US" sz="1200" dirty="0"/>
          </a:p>
        </p:txBody>
      </p:sp>
      <p:sp>
        <p:nvSpPr>
          <p:cNvPr id="27" name="o374"/>
          <p:cNvSpPr txBox="1"/>
          <p:nvPr/>
        </p:nvSpPr>
        <p:spPr>
          <a:xfrm>
            <a:off x="6400800" y="4476750"/>
            <a:ext cx="21717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목표 100%</a:t>
            </a:r>
            <a:endParaRPr lang="en-US" sz="1200" dirty="0"/>
          </a:p>
        </p:txBody>
      </p:sp>
      <p:sp>
        <p:nvSpPr>
          <p:cNvPr id="28" name="o375"/>
          <p:cNvSpPr/>
          <p:nvPr/>
        </p:nvSpPr>
        <p:spPr>
          <a:xfrm>
            <a:off x="8953500" y="1866900"/>
            <a:ext cx="2628900" cy="3143250"/>
          </a:xfrm>
          <a:prstGeom prst="rect">
            <a:avLst/>
          </a:prstGeom>
          <a:solidFill>
            <a:srgbClr val="F4F4F4"/>
          </a:solidFill>
          <a:ln/>
        </p:spPr>
      </p:sp>
      <p:sp>
        <p:nvSpPr>
          <p:cNvPr id="29" name="o376"/>
          <p:cNvSpPr txBox="1"/>
          <p:nvPr/>
        </p:nvSpPr>
        <p:spPr>
          <a:xfrm>
            <a:off x="9182100" y="2095500"/>
            <a:ext cx="2171700" cy="190500"/>
          </a:xfrm>
          <a:prstGeom prst="rect">
            <a:avLst/>
          </a:prstGeom>
          <a:noFill/>
          <a:ln/>
        </p:spPr>
        <p:txBody>
          <a:bodyPr wrap="square" lIns="0" tIns="0" rIns="0" bIns="0" rtlCol="0" anchor="t"/>
          <a:lstStyle/>
          <a:p>
            <a:pPr indent="0" marL="0">
              <a:buNone/>
            </a:pPr>
            <a:r>
              <a:rPr lang="en-US" sz="1400" dirty="0">
                <a:solidFill>
                  <a:srgbClr val="525252"/>
                </a:solidFill>
                <a:latin typeface="IBM Plex Sans KR" pitchFamily="34" charset="0"/>
                <a:ea typeface="IBM Plex Sans KR" pitchFamily="34" charset="-122"/>
                <a:cs typeface="IBM Plex Sans KR" pitchFamily="34" charset="-120"/>
              </a:rPr>
              <a:t>플랫폼 구축</a:t>
            </a:r>
            <a:endParaRPr lang="en-US" sz="1400" dirty="0"/>
          </a:p>
        </p:txBody>
      </p:sp>
      <p:sp>
        <p:nvSpPr>
          <p:cNvPr id="30" name="o377"/>
          <p:cNvSpPr txBox="1"/>
          <p:nvPr/>
        </p:nvSpPr>
        <p:spPr>
          <a:xfrm>
            <a:off x="9144000" y="2495550"/>
            <a:ext cx="2343150" cy="952500"/>
          </a:xfrm>
          <a:prstGeom prst="rect">
            <a:avLst/>
          </a:prstGeom>
          <a:noFill/>
          <a:ln/>
        </p:spPr>
        <p:txBody>
          <a:bodyPr wrap="square" lIns="0" tIns="0" rIns="0" bIns="0" rtlCol="0" anchor="t"/>
          <a:lstStyle/>
          <a:p>
            <a:pPr indent="0" marL="0">
              <a:buNone/>
            </a:pPr>
            <a:r>
              <a:rPr lang="en-US" sz="6000" dirty="0">
                <a:solidFill>
                  <a:srgbClr val="161616"/>
                </a:solidFill>
                <a:latin typeface="IBM Plex Sans KR" pitchFamily="34" charset="0"/>
                <a:ea typeface="IBM Plex Sans KR" pitchFamily="34" charset="-122"/>
                <a:cs typeface="IBM Plex Sans KR" pitchFamily="34" charset="-120"/>
              </a:rPr>
              <a:t>6/6</a:t>
            </a:r>
            <a:endParaRPr lang="en-US" sz="6000" dirty="0"/>
          </a:p>
        </p:txBody>
      </p:sp>
      <p:sp>
        <p:nvSpPr>
          <p:cNvPr id="31" name="o378"/>
          <p:cNvSpPr txBox="1"/>
          <p:nvPr/>
        </p:nvSpPr>
        <p:spPr>
          <a:xfrm>
            <a:off x="9182100" y="3810000"/>
            <a:ext cx="2247900" cy="381000"/>
          </a:xfrm>
          <a:prstGeom prst="rect">
            <a:avLst/>
          </a:prstGeom>
          <a:noFill/>
          <a:ln/>
        </p:spPr>
        <p:txBody>
          <a:bodyPr wrap="square" lIns="0" tIns="0" rIns="0" bIns="0" rtlCol="0" anchor="t"/>
          <a:lstStyle/>
          <a:p>
            <a:pPr indent="0" marL="0">
              <a:buNone/>
            </a:pPr>
            <a:r>
              <a:rPr lang="en-US" sz="1200" b="1" dirty="0">
                <a:solidFill>
                  <a:srgbClr val="161616"/>
                </a:solidFill>
                <a:latin typeface="IBM Plex Sans KR" pitchFamily="34" charset="0"/>
                <a:ea typeface="IBM Plex Sans KR" pitchFamily="34" charset="-122"/>
                <a:cs typeface="IBM Plex Sans KR" pitchFamily="34" charset="-120"/>
              </a:rPr>
              <a:t>핵심 모듈 100% 가동</a:t>
            </a:r>
            <a:endParaRPr lang="en-US" sz="1200" dirty="0"/>
          </a:p>
        </p:txBody>
      </p:sp>
      <p:sp>
        <p:nvSpPr>
          <p:cNvPr id="32" name="o379"/>
          <p:cNvSpPr txBox="1"/>
          <p:nvPr/>
        </p:nvSpPr>
        <p:spPr>
          <a:xfrm>
            <a:off x="9182100" y="4476750"/>
            <a:ext cx="21717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목표 6/6</a:t>
            </a:r>
            <a:endParaRPr lang="en-US" sz="1200" dirty="0"/>
          </a:p>
        </p:txBody>
      </p:sp>
      <p:sp>
        <p:nvSpPr>
          <p:cNvPr id="33" name="o380"/>
          <p:cNvSpPr/>
          <p:nvPr/>
        </p:nvSpPr>
        <p:spPr>
          <a:xfrm>
            <a:off x="609600" y="5219700"/>
            <a:ext cx="10972800" cy="723900"/>
          </a:xfrm>
          <a:prstGeom prst="rect">
            <a:avLst/>
          </a:prstGeom>
          <a:solidFill>
            <a:srgbClr val="F4F4F4"/>
          </a:solidFill>
          <a:ln/>
        </p:spPr>
      </p:sp>
      <p:sp>
        <p:nvSpPr>
          <p:cNvPr id="34" name="o381"/>
          <p:cNvSpPr/>
          <p:nvPr/>
        </p:nvSpPr>
        <p:spPr>
          <a:xfrm>
            <a:off x="609600" y="5219700"/>
            <a:ext cx="38100" cy="723900"/>
          </a:xfrm>
          <a:prstGeom prst="rect">
            <a:avLst/>
          </a:prstGeom>
          <a:solidFill>
            <a:srgbClr val="0F62FE"/>
          </a:solidFill>
          <a:ln/>
        </p:spPr>
      </p:sp>
      <p:sp>
        <p:nvSpPr>
          <p:cNvPr id="35" name="o382"/>
          <p:cNvSpPr txBox="1"/>
          <p:nvPr/>
        </p:nvSpPr>
        <p:spPr>
          <a:xfrm>
            <a:off x="876300" y="5219700"/>
            <a:ext cx="1143000" cy="723900"/>
          </a:xfrm>
          <a:prstGeom prst="rect">
            <a:avLst/>
          </a:prstGeom>
          <a:noFill/>
          <a:ln/>
        </p:spPr>
        <p:txBody>
          <a:bodyPr wrap="square" lIns="0" tIns="0" rIns="0" bIns="0" rtlCol="0" anchor="ctr"/>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핵심 요약</a:t>
            </a:r>
            <a:endParaRPr lang="en-US" sz="1200" dirty="0"/>
          </a:p>
        </p:txBody>
      </p:sp>
      <p:sp>
        <p:nvSpPr>
          <p:cNvPr id="36" name="o383"/>
          <p:cNvSpPr txBox="1"/>
          <p:nvPr/>
        </p:nvSpPr>
        <p:spPr>
          <a:xfrm>
            <a:off x="2019300" y="5219700"/>
            <a:ext cx="9429750" cy="723900"/>
          </a:xfrm>
          <a:prstGeom prst="rect">
            <a:avLst/>
          </a:prstGeom>
          <a:noFill/>
          <a:ln/>
        </p:spPr>
        <p:txBody>
          <a:bodyPr wrap="square" lIns="0" tIns="0" rIns="0" bIns="0" rtlCol="0" anchor="ctr"/>
          <a:lstStyle/>
          <a:p>
            <a:pPr indent="0" marL="0">
              <a:buNone/>
            </a:pPr>
            <a:r>
              <a:rPr lang="en-US" sz="1700" dirty="0">
                <a:solidFill>
                  <a:srgbClr val="161616"/>
                </a:solidFill>
                <a:latin typeface="IBM Plex Sans KR" pitchFamily="34" charset="0"/>
                <a:ea typeface="IBM Plex Sans KR" pitchFamily="34" charset="-122"/>
                <a:cs typeface="IBM Plex Sans KR" pitchFamily="34" charset="-120"/>
              </a:rPr>
              <a:t>E 종이 0건 · S 교육 누락 0건 · G 법적 증빙 무결성 — 효율을 넘어 ESG 성과로</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o384"/>
          <p:cNvSpPr txBox="1"/>
          <p:nvPr/>
        </p:nvSpPr>
        <p:spPr>
          <a:xfrm>
            <a:off x="6096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Plan</a:t>
            </a:r>
            <a:endParaRPr lang="en-US" sz="900" dirty="0"/>
          </a:p>
        </p:txBody>
      </p:sp>
      <p:sp>
        <p:nvSpPr>
          <p:cNvPr id="4" name="o385"/>
          <p:cNvSpPr txBox="1"/>
          <p:nvPr/>
        </p:nvSpPr>
        <p:spPr>
          <a:xfrm>
            <a:off x="12954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Do</a:t>
            </a:r>
            <a:endParaRPr lang="en-US" sz="900" dirty="0"/>
          </a:p>
        </p:txBody>
      </p:sp>
      <p:sp>
        <p:nvSpPr>
          <p:cNvPr id="5" name="o386"/>
          <p:cNvSpPr txBox="1"/>
          <p:nvPr/>
        </p:nvSpPr>
        <p:spPr>
          <a:xfrm>
            <a:off x="1981200" y="342900"/>
            <a:ext cx="609600" cy="15240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Check</a:t>
            </a:r>
            <a:endParaRPr lang="en-US" sz="900" dirty="0"/>
          </a:p>
        </p:txBody>
      </p:sp>
      <p:sp>
        <p:nvSpPr>
          <p:cNvPr id="6" name="o387"/>
          <p:cNvSpPr txBox="1"/>
          <p:nvPr/>
        </p:nvSpPr>
        <p:spPr>
          <a:xfrm>
            <a:off x="2667000" y="342900"/>
            <a:ext cx="609600" cy="152400"/>
          </a:xfrm>
          <a:prstGeom prst="rect">
            <a:avLst/>
          </a:prstGeom>
          <a:noFill/>
          <a:ln/>
        </p:spPr>
        <p:txBody>
          <a:bodyPr wrap="square" lIns="0" tIns="0" rIns="0" bIns="0" rtlCol="0" anchor="t"/>
          <a:lstStyle/>
          <a:p>
            <a:pPr indent="0" marL="0">
              <a:buNone/>
            </a:pPr>
            <a:r>
              <a:rPr lang="en-US" sz="900" b="1" dirty="0">
                <a:solidFill>
                  <a:srgbClr val="0F62FE"/>
                </a:solidFill>
                <a:latin typeface="IBM Plex Sans KR" pitchFamily="34" charset="0"/>
                <a:ea typeface="IBM Plex Sans KR" pitchFamily="34" charset="-122"/>
                <a:cs typeface="IBM Plex Sans KR" pitchFamily="34" charset="-120"/>
              </a:rPr>
              <a:t>Act</a:t>
            </a:r>
            <a:endParaRPr lang="en-US" sz="900" dirty="0"/>
          </a:p>
        </p:txBody>
      </p:sp>
      <p:sp>
        <p:nvSpPr>
          <p:cNvPr id="7" name="o388"/>
          <p:cNvSpPr/>
          <p:nvPr/>
        </p:nvSpPr>
        <p:spPr>
          <a:xfrm>
            <a:off x="2667000" y="514350"/>
            <a:ext cx="381000" cy="19050"/>
          </a:xfrm>
          <a:prstGeom prst="rect">
            <a:avLst/>
          </a:prstGeom>
          <a:solidFill>
            <a:srgbClr val="0F62FE"/>
          </a:solidFill>
          <a:ln/>
        </p:spPr>
      </p:sp>
      <p:sp>
        <p:nvSpPr>
          <p:cNvPr id="8" name="o389"/>
          <p:cNvSpPr txBox="1"/>
          <p:nvPr/>
        </p:nvSpPr>
        <p:spPr>
          <a:xfrm>
            <a:off x="609600" y="800100"/>
            <a:ext cx="85725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08  NEXT  ·  표준화 · 지속 관리 · 고도화 · 제언</a:t>
            </a:r>
            <a:endParaRPr lang="en-US" sz="1200" dirty="0"/>
          </a:p>
        </p:txBody>
      </p:sp>
      <p:sp>
        <p:nvSpPr>
          <p:cNvPr id="9" name="o390"/>
          <p:cNvSpPr txBox="1"/>
          <p:nvPr/>
        </p:nvSpPr>
        <p:spPr>
          <a:xfrm>
            <a:off x="609600" y="1028700"/>
            <a:ext cx="10972800" cy="47625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검증된 프로세스를 병원의 표준으로</a:t>
            </a:r>
            <a:endParaRPr lang="en-US" sz="2600" dirty="0"/>
          </a:p>
        </p:txBody>
      </p:sp>
      <p:sp>
        <p:nvSpPr>
          <p:cNvPr id="10" name="o391"/>
          <p:cNvSpPr/>
          <p:nvPr/>
        </p:nvSpPr>
        <p:spPr>
          <a:xfrm>
            <a:off x="609600" y="6324600"/>
            <a:ext cx="10972800" cy="0"/>
          </a:xfrm>
          <a:prstGeom prst="line">
            <a:avLst/>
          </a:prstGeom>
          <a:noFill/>
          <a:ln w="9525">
            <a:solidFill>
              <a:srgbClr val="E0E0E0"/>
            </a:solidFill>
            <a:prstDash val="solid"/>
          </a:ln>
        </p:spPr>
      </p:sp>
      <p:sp>
        <p:nvSpPr>
          <p:cNvPr id="11" name="o392"/>
          <p:cNvSpPr txBox="1"/>
          <p:nvPr/>
        </p:nvSpPr>
        <p:spPr>
          <a:xfrm>
            <a:off x="609600" y="6400800"/>
            <a:ext cx="6667500" cy="171450"/>
          </a:xfrm>
          <a:prstGeom prst="rect">
            <a:avLst/>
          </a:prstGeom>
          <a:noFill/>
          <a:ln/>
        </p:spPr>
        <p:txBody>
          <a:bodyPr wrap="square" lIns="0" tIns="0" rIns="0" bIns="0" rtlCol="0" anchor="t"/>
          <a:lstStyle/>
          <a:p>
            <a:pPr indent="0" marL="0">
              <a:buNone/>
            </a:pPr>
            <a:r>
              <a:rPr lang="en-US" sz="900" dirty="0">
                <a:solidFill>
                  <a:srgbClr val="6F6F6F"/>
                </a:solidFill>
                <a:latin typeface="IBM Plex Sans KR" pitchFamily="34" charset="0"/>
                <a:ea typeface="IBM Plex Sans KR" pitchFamily="34" charset="-122"/>
                <a:cs typeface="IBM Plex Sans KR" pitchFamily="34" charset="-120"/>
              </a:rPr>
              <a:t>부산부민병원 총무-안전보건팀  ·  2026 QI 경진대회</a:t>
            </a:r>
            <a:endParaRPr lang="en-US" sz="900" dirty="0"/>
          </a:p>
        </p:txBody>
      </p:sp>
      <p:sp>
        <p:nvSpPr>
          <p:cNvPr id="12" name="o393"/>
          <p:cNvSpPr txBox="1"/>
          <p:nvPr/>
        </p:nvSpPr>
        <p:spPr>
          <a:xfrm>
            <a:off x="10629900" y="6400800"/>
            <a:ext cx="952500" cy="171450"/>
          </a:xfrm>
          <a:prstGeom prst="rect">
            <a:avLst/>
          </a:prstGeom>
          <a:noFill/>
          <a:ln/>
        </p:spPr>
        <p:txBody>
          <a:bodyPr wrap="square" lIns="0" tIns="0" rIns="0" bIns="0" rtlCol="0" anchor="t"/>
          <a:lstStyle/>
          <a:p>
            <a:pPr algn="r" indent="0" marL="0">
              <a:buNone/>
            </a:pPr>
            <a:r>
              <a:rPr lang="en-US" sz="900" dirty="0">
                <a:solidFill>
                  <a:srgbClr val="6F6F6F"/>
                </a:solidFill>
                <a:latin typeface="IBM Plex Sans KR" pitchFamily="34" charset="0"/>
                <a:ea typeface="IBM Plex Sans KR" pitchFamily="34" charset="-122"/>
                <a:cs typeface="IBM Plex Sans KR" pitchFamily="34" charset="-120"/>
              </a:rPr>
              <a:t>12</a:t>
            </a:r>
            <a:endParaRPr lang="en-US" sz="900" dirty="0"/>
          </a:p>
        </p:txBody>
      </p:sp>
      <p:sp>
        <p:nvSpPr>
          <p:cNvPr id="13" name="o394"/>
          <p:cNvSpPr/>
          <p:nvPr/>
        </p:nvSpPr>
        <p:spPr>
          <a:xfrm>
            <a:off x="609600" y="1866900"/>
            <a:ext cx="6248400" cy="0"/>
          </a:xfrm>
          <a:prstGeom prst="line">
            <a:avLst/>
          </a:prstGeom>
          <a:noFill/>
          <a:ln w="9525">
            <a:solidFill>
              <a:srgbClr val="E0E0E0"/>
            </a:solidFill>
            <a:prstDash val="solid"/>
          </a:ln>
        </p:spPr>
      </p:sp>
      <p:sp>
        <p:nvSpPr>
          <p:cNvPr id="14" name="o395"/>
          <p:cNvSpPr txBox="1"/>
          <p:nvPr/>
        </p:nvSpPr>
        <p:spPr>
          <a:xfrm>
            <a:off x="609600" y="2019300"/>
            <a:ext cx="1333500" cy="209550"/>
          </a:xfrm>
          <a:prstGeom prst="rect">
            <a:avLst/>
          </a:prstGeom>
          <a:noFill/>
          <a:ln/>
        </p:spPr>
        <p:txBody>
          <a:bodyPr wrap="square" lIns="0" tIns="0" rIns="0" bIns="0" rtlCol="0" anchor="t"/>
          <a:lstStyle/>
          <a:p>
            <a:pPr indent="0" marL="0">
              <a:buNone/>
            </a:pPr>
            <a:r>
              <a:rPr lang="en-US" sz="1300" b="1" dirty="0">
                <a:solidFill>
                  <a:srgbClr val="525252"/>
                </a:solidFill>
                <a:latin typeface="IBM Plex Sans KR" pitchFamily="34" charset="0"/>
                <a:ea typeface="IBM Plex Sans KR" pitchFamily="34" charset="-122"/>
                <a:cs typeface="IBM Plex Sans KR" pitchFamily="34" charset="-120"/>
              </a:rPr>
              <a:t>표준화</a:t>
            </a:r>
            <a:endParaRPr lang="en-US" sz="1300" dirty="0"/>
          </a:p>
        </p:txBody>
      </p:sp>
      <p:sp>
        <p:nvSpPr>
          <p:cNvPr id="15" name="o396"/>
          <p:cNvSpPr txBox="1"/>
          <p:nvPr/>
        </p:nvSpPr>
        <p:spPr>
          <a:xfrm>
            <a:off x="5905500" y="2019300"/>
            <a:ext cx="952500" cy="209550"/>
          </a:xfrm>
          <a:prstGeom prst="rect">
            <a:avLst/>
          </a:prstGeom>
          <a:noFill/>
          <a:ln/>
        </p:spPr>
        <p:txBody>
          <a:bodyPr wrap="square" lIns="0" tIns="0" rIns="0" bIns="0" rtlCol="0" anchor="t"/>
          <a:lstStyle/>
          <a:p>
            <a:pPr algn="r" indent="0" marL="0">
              <a:buNone/>
            </a:pPr>
            <a:r>
              <a:rPr lang="en-US" sz="1300" b="1" dirty="0">
                <a:solidFill>
                  <a:srgbClr val="161616"/>
                </a:solidFill>
                <a:latin typeface="IBM Plex Sans KR" pitchFamily="34" charset="0"/>
                <a:ea typeface="IBM Plex Sans KR" pitchFamily="34" charset="-122"/>
                <a:cs typeface="IBM Plex Sans KR" pitchFamily="34" charset="-120"/>
              </a:rPr>
              <a:t>완료</a:t>
            </a:r>
            <a:endParaRPr lang="en-US" sz="1300" dirty="0"/>
          </a:p>
        </p:txBody>
      </p:sp>
      <p:sp>
        <p:nvSpPr>
          <p:cNvPr id="16" name="o397"/>
          <p:cNvSpPr txBox="1"/>
          <p:nvPr/>
        </p:nvSpPr>
        <p:spPr>
          <a:xfrm>
            <a:off x="609600" y="2286000"/>
            <a:ext cx="6248400" cy="285750"/>
          </a:xfrm>
          <a:prstGeom prst="rect">
            <a:avLst/>
          </a:prstGeom>
          <a:noFill/>
          <a:ln/>
        </p:spPr>
        <p:txBody>
          <a:bodyPr wrap="square" lIns="0" tIns="0" rIns="0" bIns="0" rtlCol="0" anchor="t"/>
          <a:lstStyle/>
          <a:p>
            <a:pPr indent="0" marL="0">
              <a:buNone/>
            </a:pPr>
            <a:r>
              <a:rPr lang="en-US" sz="1900" b="1" dirty="0">
                <a:solidFill>
                  <a:srgbClr val="161616"/>
                </a:solidFill>
                <a:latin typeface="IBM Plex Sans KR" pitchFamily="34" charset="0"/>
                <a:ea typeface="IBM Plex Sans KR" pitchFamily="34" charset="-122"/>
                <a:cs typeface="IBM Plex Sans KR" pitchFamily="34" charset="-120"/>
              </a:rPr>
              <a:t>법정 안전보건 관리 표준 업무지침</a:t>
            </a:r>
            <a:endParaRPr lang="en-US" sz="1900" dirty="0"/>
          </a:p>
        </p:txBody>
      </p:sp>
      <p:sp>
        <p:nvSpPr>
          <p:cNvPr id="17" name="o398"/>
          <p:cNvSpPr txBox="1"/>
          <p:nvPr/>
        </p:nvSpPr>
        <p:spPr>
          <a:xfrm>
            <a:off x="609600" y="2609850"/>
            <a:ext cx="62484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시범사업을 정식 업무로 전환</a:t>
            </a:r>
            <a:endParaRPr lang="en-US" sz="1200" dirty="0"/>
          </a:p>
        </p:txBody>
      </p:sp>
      <p:sp>
        <p:nvSpPr>
          <p:cNvPr id="18" name="o399"/>
          <p:cNvSpPr/>
          <p:nvPr/>
        </p:nvSpPr>
        <p:spPr>
          <a:xfrm>
            <a:off x="609600" y="2933700"/>
            <a:ext cx="6248400" cy="0"/>
          </a:xfrm>
          <a:prstGeom prst="line">
            <a:avLst/>
          </a:prstGeom>
          <a:noFill/>
          <a:ln w="9525">
            <a:solidFill>
              <a:srgbClr val="E0E0E0"/>
            </a:solidFill>
            <a:prstDash val="solid"/>
          </a:ln>
        </p:spPr>
      </p:sp>
      <p:sp>
        <p:nvSpPr>
          <p:cNvPr id="19" name="o400"/>
          <p:cNvSpPr txBox="1"/>
          <p:nvPr/>
        </p:nvSpPr>
        <p:spPr>
          <a:xfrm>
            <a:off x="609600" y="3086100"/>
            <a:ext cx="1333500" cy="209550"/>
          </a:xfrm>
          <a:prstGeom prst="rect">
            <a:avLst/>
          </a:prstGeom>
          <a:noFill/>
          <a:ln/>
        </p:spPr>
        <p:txBody>
          <a:bodyPr wrap="square" lIns="0" tIns="0" rIns="0" bIns="0" rtlCol="0" anchor="t"/>
          <a:lstStyle/>
          <a:p>
            <a:pPr indent="0" marL="0">
              <a:buNone/>
            </a:pPr>
            <a:r>
              <a:rPr lang="en-US" sz="1300" b="1" dirty="0">
                <a:solidFill>
                  <a:srgbClr val="525252"/>
                </a:solidFill>
                <a:latin typeface="IBM Plex Sans KR" pitchFamily="34" charset="0"/>
                <a:ea typeface="IBM Plex Sans KR" pitchFamily="34" charset="-122"/>
                <a:cs typeface="IBM Plex Sans KR" pitchFamily="34" charset="-120"/>
              </a:rPr>
              <a:t>지속 관리</a:t>
            </a:r>
            <a:endParaRPr lang="en-US" sz="1300" dirty="0"/>
          </a:p>
        </p:txBody>
      </p:sp>
      <p:sp>
        <p:nvSpPr>
          <p:cNvPr id="20" name="o401"/>
          <p:cNvSpPr txBox="1"/>
          <p:nvPr/>
        </p:nvSpPr>
        <p:spPr>
          <a:xfrm>
            <a:off x="5905500" y="3086100"/>
            <a:ext cx="952500" cy="209550"/>
          </a:xfrm>
          <a:prstGeom prst="rect">
            <a:avLst/>
          </a:prstGeom>
          <a:noFill/>
          <a:ln/>
        </p:spPr>
        <p:txBody>
          <a:bodyPr wrap="square" lIns="0" tIns="0" rIns="0" bIns="0" rtlCol="0" anchor="t"/>
          <a:lstStyle/>
          <a:p>
            <a:pPr algn="r" indent="0" marL="0">
              <a:buNone/>
            </a:pPr>
            <a:r>
              <a:rPr lang="en-US" sz="1300" b="1" dirty="0">
                <a:solidFill>
                  <a:srgbClr val="161616"/>
                </a:solidFill>
                <a:latin typeface="IBM Plex Sans KR" pitchFamily="34" charset="0"/>
                <a:ea typeface="IBM Plex Sans KR" pitchFamily="34" charset="-122"/>
                <a:cs typeface="IBM Plex Sans KR" pitchFamily="34" charset="-120"/>
              </a:rPr>
              <a:t>운영</a:t>
            </a:r>
            <a:endParaRPr lang="en-US" sz="1300" dirty="0"/>
          </a:p>
        </p:txBody>
      </p:sp>
      <p:sp>
        <p:nvSpPr>
          <p:cNvPr id="21" name="o402"/>
          <p:cNvSpPr txBox="1"/>
          <p:nvPr/>
        </p:nvSpPr>
        <p:spPr>
          <a:xfrm>
            <a:off x="609600" y="3352800"/>
            <a:ext cx="6248400" cy="285750"/>
          </a:xfrm>
          <a:prstGeom prst="rect">
            <a:avLst/>
          </a:prstGeom>
          <a:noFill/>
          <a:ln/>
        </p:spPr>
        <p:txBody>
          <a:bodyPr wrap="square" lIns="0" tIns="0" rIns="0" bIns="0" rtlCol="0" anchor="t"/>
          <a:lstStyle/>
          <a:p>
            <a:pPr indent="0" marL="0">
              <a:buNone/>
            </a:pPr>
            <a:r>
              <a:rPr lang="en-US" sz="1900" b="1" dirty="0">
                <a:solidFill>
                  <a:srgbClr val="161616"/>
                </a:solidFill>
                <a:latin typeface="IBM Plex Sans KR" pitchFamily="34" charset="0"/>
                <a:ea typeface="IBM Plex Sans KR" pitchFamily="34" charset="-122"/>
                <a:cs typeface="IBM Plex Sans KR" pitchFamily="34" charset="-120"/>
              </a:rPr>
              <a:t>대시보드 실시간 점검 · CQI 연계</a:t>
            </a:r>
            <a:endParaRPr lang="en-US" sz="1900" dirty="0"/>
          </a:p>
        </p:txBody>
      </p:sp>
      <p:sp>
        <p:nvSpPr>
          <p:cNvPr id="22" name="o403"/>
          <p:cNvSpPr txBox="1"/>
          <p:nvPr/>
        </p:nvSpPr>
        <p:spPr>
          <a:xfrm>
            <a:off x="609600" y="3676650"/>
            <a:ext cx="62484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신규 입사자 이수 현황 · 현장 피드백</a:t>
            </a:r>
            <a:endParaRPr lang="en-US" sz="1200" dirty="0"/>
          </a:p>
        </p:txBody>
      </p:sp>
      <p:sp>
        <p:nvSpPr>
          <p:cNvPr id="23" name="o404"/>
          <p:cNvSpPr/>
          <p:nvPr/>
        </p:nvSpPr>
        <p:spPr>
          <a:xfrm>
            <a:off x="609600" y="4000500"/>
            <a:ext cx="6248400" cy="0"/>
          </a:xfrm>
          <a:prstGeom prst="line">
            <a:avLst/>
          </a:prstGeom>
          <a:noFill/>
          <a:ln w="9525">
            <a:solidFill>
              <a:srgbClr val="E0E0E0"/>
            </a:solidFill>
            <a:prstDash val="solid"/>
          </a:ln>
        </p:spPr>
      </p:sp>
      <p:sp>
        <p:nvSpPr>
          <p:cNvPr id="24" name="o405"/>
          <p:cNvSpPr txBox="1"/>
          <p:nvPr/>
        </p:nvSpPr>
        <p:spPr>
          <a:xfrm>
            <a:off x="609600" y="4152900"/>
            <a:ext cx="1333500" cy="209550"/>
          </a:xfrm>
          <a:prstGeom prst="rect">
            <a:avLst/>
          </a:prstGeom>
          <a:noFill/>
          <a:ln/>
        </p:spPr>
        <p:txBody>
          <a:bodyPr wrap="square" lIns="0" tIns="0" rIns="0" bIns="0" rtlCol="0" anchor="t"/>
          <a:lstStyle/>
          <a:p>
            <a:pPr indent="0" marL="0">
              <a:buNone/>
            </a:pPr>
            <a:r>
              <a:rPr lang="en-US" sz="1300" b="1" dirty="0">
                <a:solidFill>
                  <a:srgbClr val="525252"/>
                </a:solidFill>
                <a:latin typeface="IBM Plex Sans KR" pitchFamily="34" charset="0"/>
                <a:ea typeface="IBM Plex Sans KR" pitchFamily="34" charset="-122"/>
                <a:cs typeface="IBM Plex Sans KR" pitchFamily="34" charset="-120"/>
              </a:rPr>
              <a:t>고도화</a:t>
            </a:r>
            <a:endParaRPr lang="en-US" sz="1300" dirty="0"/>
          </a:p>
        </p:txBody>
      </p:sp>
      <p:sp>
        <p:nvSpPr>
          <p:cNvPr id="25" name="o406"/>
          <p:cNvSpPr txBox="1"/>
          <p:nvPr/>
        </p:nvSpPr>
        <p:spPr>
          <a:xfrm>
            <a:off x="5905500" y="4152900"/>
            <a:ext cx="952500" cy="209550"/>
          </a:xfrm>
          <a:prstGeom prst="rect">
            <a:avLst/>
          </a:prstGeom>
          <a:noFill/>
          <a:ln/>
        </p:spPr>
        <p:txBody>
          <a:bodyPr wrap="square" lIns="0" tIns="0" rIns="0" bIns="0" rtlCol="0" anchor="t"/>
          <a:lstStyle/>
          <a:p>
            <a:pPr algn="r" indent="0" marL="0">
              <a:buNone/>
            </a:pPr>
            <a:r>
              <a:rPr lang="en-US" sz="1300" b="1" dirty="0">
                <a:solidFill>
                  <a:srgbClr val="161616"/>
                </a:solidFill>
                <a:latin typeface="IBM Plex Sans KR" pitchFamily="34" charset="0"/>
                <a:ea typeface="IBM Plex Sans KR" pitchFamily="34" charset="-122"/>
                <a:cs typeface="IBM Plex Sans KR" pitchFamily="34" charset="-120"/>
              </a:rPr>
              <a:t>완료</a:t>
            </a:r>
            <a:endParaRPr lang="en-US" sz="1300" dirty="0"/>
          </a:p>
        </p:txBody>
      </p:sp>
      <p:sp>
        <p:nvSpPr>
          <p:cNvPr id="26" name="o407"/>
          <p:cNvSpPr txBox="1"/>
          <p:nvPr/>
        </p:nvSpPr>
        <p:spPr>
          <a:xfrm>
            <a:off x="609600" y="4419600"/>
            <a:ext cx="6248400" cy="285750"/>
          </a:xfrm>
          <a:prstGeom prst="rect">
            <a:avLst/>
          </a:prstGeom>
          <a:noFill/>
          <a:ln/>
        </p:spPr>
        <p:txBody>
          <a:bodyPr wrap="square" lIns="0" tIns="0" rIns="0" bIns="0" rtlCol="0" anchor="t"/>
          <a:lstStyle/>
          <a:p>
            <a:pPr indent="0" marL="0">
              <a:buNone/>
            </a:pPr>
            <a:r>
              <a:rPr lang="en-US" sz="1900" b="1" dirty="0">
                <a:solidFill>
                  <a:srgbClr val="161616"/>
                </a:solidFill>
                <a:latin typeface="IBM Plex Sans KR" pitchFamily="34" charset="0"/>
                <a:ea typeface="IBM Plex Sans KR" pitchFamily="34" charset="-122"/>
                <a:cs typeface="IBM Plex Sans KR" pitchFamily="34" charset="-120"/>
              </a:rPr>
              <a:t>미이수자 부서장 자동 알림 · AI 2종</a:t>
            </a:r>
            <a:endParaRPr lang="en-US" sz="1900" dirty="0"/>
          </a:p>
        </p:txBody>
      </p:sp>
      <p:sp>
        <p:nvSpPr>
          <p:cNvPr id="27" name="o408"/>
          <p:cNvSpPr txBox="1"/>
          <p:nvPr/>
        </p:nvSpPr>
        <p:spPr>
          <a:xfrm>
            <a:off x="609600" y="4743450"/>
            <a:ext cx="62484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AI MSDS 검토 · AI 도우미 (2026.08–10)</a:t>
            </a:r>
            <a:endParaRPr lang="en-US" sz="1200" dirty="0"/>
          </a:p>
        </p:txBody>
      </p:sp>
      <p:sp>
        <p:nvSpPr>
          <p:cNvPr id="28" name="o409"/>
          <p:cNvSpPr/>
          <p:nvPr/>
        </p:nvSpPr>
        <p:spPr>
          <a:xfrm>
            <a:off x="609600" y="5067300"/>
            <a:ext cx="6248400" cy="0"/>
          </a:xfrm>
          <a:prstGeom prst="line">
            <a:avLst/>
          </a:prstGeom>
          <a:noFill/>
          <a:ln w="9525">
            <a:solidFill>
              <a:srgbClr val="E0E0E0"/>
            </a:solidFill>
            <a:prstDash val="solid"/>
          </a:ln>
        </p:spPr>
      </p:sp>
      <p:sp>
        <p:nvSpPr>
          <p:cNvPr id="29" name="o410"/>
          <p:cNvSpPr txBox="1"/>
          <p:nvPr/>
        </p:nvSpPr>
        <p:spPr>
          <a:xfrm>
            <a:off x="609600" y="5219700"/>
            <a:ext cx="1333500" cy="209550"/>
          </a:xfrm>
          <a:prstGeom prst="rect">
            <a:avLst/>
          </a:prstGeom>
          <a:noFill/>
          <a:ln/>
        </p:spPr>
        <p:txBody>
          <a:bodyPr wrap="square" lIns="0" tIns="0" rIns="0" bIns="0" rtlCol="0" anchor="t"/>
          <a:lstStyle/>
          <a:p>
            <a:pPr indent="0" marL="0">
              <a:buNone/>
            </a:pPr>
            <a:r>
              <a:rPr lang="en-US" sz="1300" b="1" dirty="0">
                <a:solidFill>
                  <a:srgbClr val="525252"/>
                </a:solidFill>
                <a:latin typeface="IBM Plex Sans KR" pitchFamily="34" charset="0"/>
                <a:ea typeface="IBM Plex Sans KR" pitchFamily="34" charset="-122"/>
                <a:cs typeface="IBM Plex Sans KR" pitchFamily="34" charset="-120"/>
              </a:rPr>
              <a:t>확장</a:t>
            </a:r>
            <a:endParaRPr lang="en-US" sz="1300" dirty="0"/>
          </a:p>
        </p:txBody>
      </p:sp>
      <p:sp>
        <p:nvSpPr>
          <p:cNvPr id="30" name="o411"/>
          <p:cNvSpPr txBox="1"/>
          <p:nvPr/>
        </p:nvSpPr>
        <p:spPr>
          <a:xfrm>
            <a:off x="5905500" y="5219700"/>
            <a:ext cx="952500" cy="209550"/>
          </a:xfrm>
          <a:prstGeom prst="rect">
            <a:avLst/>
          </a:prstGeom>
          <a:noFill/>
          <a:ln/>
        </p:spPr>
        <p:txBody>
          <a:bodyPr wrap="square" lIns="0" tIns="0" rIns="0" bIns="0" rtlCol="0" anchor="t"/>
          <a:lstStyle/>
          <a:p>
            <a:pPr algn="r" indent="0" marL="0">
              <a:buNone/>
            </a:pPr>
            <a:r>
              <a:rPr lang="en-US" sz="1300" b="1" dirty="0">
                <a:solidFill>
                  <a:srgbClr val="0F62FE"/>
                </a:solidFill>
                <a:latin typeface="IBM Plex Sans KR" pitchFamily="34" charset="0"/>
                <a:ea typeface="IBM Plex Sans KR" pitchFamily="34" charset="-122"/>
                <a:cs typeface="IBM Plex Sans KR" pitchFamily="34" charset="-120"/>
              </a:rPr>
              <a:t>제언</a:t>
            </a:r>
            <a:endParaRPr lang="en-US" sz="1300" dirty="0"/>
          </a:p>
        </p:txBody>
      </p:sp>
      <p:sp>
        <p:nvSpPr>
          <p:cNvPr id="31" name="o412"/>
          <p:cNvSpPr txBox="1"/>
          <p:nvPr/>
        </p:nvSpPr>
        <p:spPr>
          <a:xfrm>
            <a:off x="609600" y="5486400"/>
            <a:ext cx="6248400" cy="285750"/>
          </a:xfrm>
          <a:prstGeom prst="rect">
            <a:avLst/>
          </a:prstGeom>
          <a:noFill/>
          <a:ln/>
        </p:spPr>
        <p:txBody>
          <a:bodyPr wrap="square" lIns="0" tIns="0" rIns="0" bIns="0" rtlCol="0" anchor="t"/>
          <a:lstStyle/>
          <a:p>
            <a:pPr indent="0" marL="0">
              <a:buNone/>
            </a:pPr>
            <a:r>
              <a:rPr lang="en-US" sz="1900" b="1" dirty="0">
                <a:solidFill>
                  <a:srgbClr val="0F62FE"/>
                </a:solidFill>
                <a:latin typeface="IBM Plex Sans KR" pitchFamily="34" charset="0"/>
                <a:ea typeface="IBM Plex Sans KR" pitchFamily="34" charset="-122"/>
                <a:cs typeface="IBM Plex Sans KR" pitchFamily="34" charset="-120"/>
              </a:rPr>
              <a:t>건강상담 연 819건 · 기타 안전보건 서류</a:t>
            </a:r>
            <a:endParaRPr lang="en-US" sz="1900" dirty="0"/>
          </a:p>
        </p:txBody>
      </p:sp>
      <p:sp>
        <p:nvSpPr>
          <p:cNvPr id="32" name="o413"/>
          <p:cNvSpPr txBox="1"/>
          <p:nvPr/>
        </p:nvSpPr>
        <p:spPr>
          <a:xfrm>
            <a:off x="609600" y="5810250"/>
            <a:ext cx="6248400" cy="190500"/>
          </a:xfrm>
          <a:prstGeom prst="rect">
            <a:avLst/>
          </a:prstGeom>
          <a:noFill/>
          <a:ln/>
        </p:spPr>
        <p:txBody>
          <a:bodyPr wrap="square" lIns="0" tIns="0" rIns="0" bIns="0" rtlCol="0" anchor="t"/>
          <a:lstStyle/>
          <a:p>
            <a:pPr indent="0" marL="0">
              <a:buNone/>
            </a:pPr>
            <a:r>
              <a:rPr lang="en-US" sz="1200" dirty="0">
                <a:solidFill>
                  <a:srgbClr val="6F6F6F"/>
                </a:solidFill>
                <a:latin typeface="IBM Plex Sans KR" pitchFamily="34" charset="0"/>
                <a:ea typeface="IBM Plex Sans KR" pitchFamily="34" charset="-122"/>
                <a:cs typeface="IBM Plex Sans KR" pitchFamily="34" charset="-120"/>
              </a:rPr>
              <a:t>AI 위험성평가 참여 확대</a:t>
            </a:r>
            <a:endParaRPr lang="en-US" sz="1200" dirty="0"/>
          </a:p>
        </p:txBody>
      </p:sp>
      <p:sp>
        <p:nvSpPr>
          <p:cNvPr id="33" name="o414"/>
          <p:cNvSpPr/>
          <p:nvPr/>
        </p:nvSpPr>
        <p:spPr>
          <a:xfrm>
            <a:off x="7239000" y="1866900"/>
            <a:ext cx="4343400" cy="4229100"/>
          </a:xfrm>
          <a:prstGeom prst="rect">
            <a:avLst/>
          </a:prstGeom>
          <a:solidFill>
            <a:srgbClr val="F4F4F4"/>
          </a:solidFill>
          <a:ln/>
        </p:spPr>
      </p:sp>
      <p:sp>
        <p:nvSpPr>
          <p:cNvPr id="34" name="o415"/>
          <p:cNvSpPr/>
          <p:nvPr/>
        </p:nvSpPr>
        <p:spPr>
          <a:xfrm>
            <a:off x="7239000" y="1866900"/>
            <a:ext cx="4343400" cy="38100"/>
          </a:xfrm>
          <a:prstGeom prst="rect">
            <a:avLst/>
          </a:prstGeom>
          <a:solidFill>
            <a:srgbClr val="0F62FE"/>
          </a:solidFill>
          <a:ln/>
        </p:spPr>
      </p:sp>
      <p:sp>
        <p:nvSpPr>
          <p:cNvPr id="35" name="o416"/>
          <p:cNvSpPr txBox="1"/>
          <p:nvPr/>
        </p:nvSpPr>
        <p:spPr>
          <a:xfrm>
            <a:off x="7543800" y="2171700"/>
            <a:ext cx="2857500" cy="19050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맺음말</a:t>
            </a:r>
            <a:endParaRPr lang="en-US" sz="1300" dirty="0"/>
          </a:p>
        </p:txBody>
      </p:sp>
      <p:sp>
        <p:nvSpPr>
          <p:cNvPr id="36" name="o417"/>
          <p:cNvSpPr txBox="1"/>
          <p:nvPr/>
        </p:nvSpPr>
        <p:spPr>
          <a:xfrm>
            <a:off x="7543800" y="2476500"/>
            <a:ext cx="3810000" cy="1047750"/>
          </a:xfrm>
          <a:prstGeom prst="rect">
            <a:avLst/>
          </a:prstGeom>
          <a:noFill/>
          <a:ln/>
        </p:spPr>
        <p:txBody>
          <a:bodyPr wrap="square" lIns="0" tIns="0" rIns="0" bIns="0" rtlCol="0" anchor="t"/>
          <a:lstStyle/>
          <a:p>
            <a:pPr indent="0" marL="0">
              <a:lnSpc>
                <a:spcPct val="120000"/>
              </a:lnSpc>
              <a:buNone/>
            </a:pPr>
            <a:r>
              <a:rPr lang="en-US" sz="3000" dirty="0">
                <a:solidFill>
                  <a:srgbClr val="161616"/>
                </a:solidFill>
                <a:latin typeface="IBM Plex Sans KR" pitchFamily="34" charset="0"/>
                <a:ea typeface="IBM Plex Sans KR" pitchFamily="34" charset="-122"/>
                <a:cs typeface="IBM Plex Sans KR" pitchFamily="34" charset="-120"/>
              </a:rPr>
              <a:t>기다리지 않는 행정,</a:t>
            </a:r>
            <a:endParaRPr lang="en-US" sz="3000" dirty="0"/>
          </a:p>
          <a:p>
            <a:pPr indent="0" marL="0">
              <a:lnSpc>
                <a:spcPct val="120000"/>
              </a:lnSpc>
              <a:buNone/>
            </a:pPr>
            <a:r>
              <a:rPr lang="en-US" sz="3000" dirty="0">
                <a:solidFill>
                  <a:srgbClr val="161616"/>
                </a:solidFill>
                <a:latin typeface="IBM Plex Sans KR" pitchFamily="34" charset="0"/>
                <a:ea typeface="IBM Plex Sans KR" pitchFamily="34" charset="-122"/>
                <a:cs typeface="IBM Plex Sans KR" pitchFamily="34" charset="-120"/>
              </a:rPr>
              <a:t>누락 없는 안전.</a:t>
            </a:r>
            <a:endParaRPr lang="en-US" sz="3000" dirty="0"/>
          </a:p>
        </p:txBody>
      </p:sp>
      <p:sp>
        <p:nvSpPr>
          <p:cNvPr id="37" name="o418"/>
          <p:cNvSpPr txBox="1"/>
          <p:nvPr/>
        </p:nvSpPr>
        <p:spPr>
          <a:xfrm>
            <a:off x="7543800" y="3714750"/>
            <a:ext cx="3810000" cy="571500"/>
          </a:xfrm>
          <a:prstGeom prst="rect">
            <a:avLst/>
          </a:prstGeom>
          <a:noFill/>
          <a:ln/>
        </p:spPr>
        <p:txBody>
          <a:bodyPr wrap="square" lIns="0" tIns="0" rIns="0" bIns="0" rtlCol="0" anchor="t"/>
          <a:lstStyle/>
          <a:p>
            <a:pPr indent="0" marL="0">
              <a:lnSpc>
                <a:spcPct val="145000"/>
              </a:lnSpc>
              <a:buNone/>
            </a:pPr>
            <a:r>
              <a:rPr lang="en-US" sz="1400" dirty="0">
                <a:solidFill>
                  <a:srgbClr val="393939"/>
                </a:solidFill>
                <a:latin typeface="IBM Plex Sans KR" pitchFamily="34" charset="0"/>
                <a:ea typeface="IBM Plex Sans KR" pitchFamily="34" charset="-122"/>
                <a:cs typeface="IBM Plex Sans KR" pitchFamily="34" charset="-120"/>
              </a:rPr>
              <a:t>안전보건 데이터가 실시간으로 흐를 때,</a:t>
            </a:r>
            <a:endParaRPr lang="en-US" sz="1400" dirty="0"/>
          </a:p>
          <a:p>
            <a:pPr indent="0" marL="0">
              <a:lnSpc>
                <a:spcPct val="145000"/>
              </a:lnSpc>
              <a:buNone/>
            </a:pPr>
            <a:r>
              <a:rPr lang="en-US" sz="1400" dirty="0">
                <a:solidFill>
                  <a:srgbClr val="393939"/>
                </a:solidFill>
                <a:latin typeface="IBM Plex Sans KR" pitchFamily="34" charset="0"/>
                <a:ea typeface="IBM Plex Sans KR" pitchFamily="34" charset="-122"/>
                <a:cs typeface="IBM Plex Sans KR" pitchFamily="34" charset="-120"/>
              </a:rPr>
              <a:t>관리자는 서류가 아닌 현장에 집중합니다.</a:t>
            </a:r>
            <a:endParaRPr lang="en-US" sz="1400" dirty="0"/>
          </a:p>
        </p:txBody>
      </p:sp>
      <p:sp>
        <p:nvSpPr>
          <p:cNvPr id="38" name="o419"/>
          <p:cNvSpPr/>
          <p:nvPr/>
        </p:nvSpPr>
        <p:spPr>
          <a:xfrm>
            <a:off x="7543800" y="4953000"/>
            <a:ext cx="3733800" cy="0"/>
          </a:xfrm>
          <a:prstGeom prst="line">
            <a:avLst/>
          </a:prstGeom>
          <a:noFill/>
          <a:ln w="9525">
            <a:solidFill>
              <a:srgbClr val="C6C6C6"/>
            </a:solidFill>
            <a:prstDash val="solid"/>
          </a:ln>
        </p:spPr>
      </p:sp>
      <p:sp>
        <p:nvSpPr>
          <p:cNvPr id="39" name="o420"/>
          <p:cNvSpPr txBox="1"/>
          <p:nvPr/>
        </p:nvSpPr>
        <p:spPr>
          <a:xfrm>
            <a:off x="7543800" y="5143500"/>
            <a:ext cx="3733800" cy="457200"/>
          </a:xfrm>
          <a:prstGeom prst="rect">
            <a:avLst/>
          </a:prstGeom>
          <a:noFill/>
          <a:ln/>
        </p:spPr>
        <p:txBody>
          <a:bodyPr wrap="square" lIns="0" tIns="0" rIns="0" bIns="0" rtlCol="0" anchor="t"/>
          <a:lstStyle/>
          <a:p>
            <a:pPr indent="0" marL="0">
              <a:buNone/>
            </a:pPr>
            <a:r>
              <a:rPr lang="en-US" sz="3200" b="1" dirty="0">
                <a:solidFill>
                  <a:srgbClr val="0F62FE"/>
                </a:solidFill>
                <a:latin typeface="IBM Plex Sans KR" pitchFamily="34" charset="0"/>
                <a:ea typeface="IBM Plex Sans KR" pitchFamily="34" charset="-122"/>
                <a:cs typeface="IBM Plex Sans KR" pitchFamily="34" charset="-120"/>
              </a:rPr>
              <a:t>감사합니다</a:t>
            </a:r>
            <a:endParaRPr lang="en-US" sz="3200" dirty="0"/>
          </a:p>
        </p:txBody>
      </p:sp>
      <p:sp>
        <p:nvSpPr>
          <p:cNvPr id="40" name="o421"/>
          <p:cNvSpPr txBox="1"/>
          <p:nvPr/>
        </p:nvSpPr>
        <p:spPr>
          <a:xfrm>
            <a:off x="7543800" y="5676900"/>
            <a:ext cx="3733800" cy="190500"/>
          </a:xfrm>
          <a:prstGeom prst="rect">
            <a:avLst/>
          </a:prstGeom>
          <a:noFill/>
          <a:ln/>
        </p:spPr>
        <p:txBody>
          <a:bodyPr wrap="square" lIns="0" tIns="0" rIns="0" bIns="0" rtlCol="0" anchor="t"/>
          <a:lstStyle/>
          <a:p>
            <a:pPr indent="0" marL="0">
              <a:buNone/>
            </a:pPr>
            <a:r>
              <a:rPr lang="en-US" sz="1100" dirty="0">
                <a:solidFill>
                  <a:srgbClr val="6F6F6F"/>
                </a:solidFill>
                <a:latin typeface="IBM Plex Sans KR" pitchFamily="34" charset="0"/>
                <a:ea typeface="IBM Plex Sans KR" pitchFamily="34" charset="-122"/>
                <a:cs typeface="IBM Plex Sans KR" pitchFamily="34" charset="-120"/>
              </a:rPr>
              <a:t>보건관리실 내선 3293 · 3034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2026-10-29T09:58:32Z</dcterms:created>
  <dcterms:modified xsi:type="dcterms:W3CDTF">2026-10-29T09:58:32Z</dcterms:modified>
</cp:coreProperties>
</file>