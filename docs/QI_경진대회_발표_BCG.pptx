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17db192-1ada-7350-da64-c2493d450fd4}">
          <p14:sldIdLst>
            <p14:sldId id="256"/>
            <p14:sldId id="257"/>
            <p14:sldId id="258"/>
          </p14:sldIdLst>
        </p14:section>
        <p14:section name="Plan" id="{148ef8de-fe41-ecb7-53a6-b24ca6c87987}">
          <p14:sldIdLst>
            <p14:sldId id="259"/>
            <p14:sldId id="260"/>
            <p14:sldId id="261"/>
            <p14:sldId id="262"/>
          </p14:sldIdLst>
        </p14:section>
        <p14:section name="Do" id="{71fcdf03-52b2-11cf-f80b-bfdd03e340fc}">
          <p14:sldIdLst>
            <p14:sldId id="263"/>
          </p14:sldIdLst>
        </p14:section>
        <p14:section name="Check" id="{40f2c2cc-034e-d99f-8ad2-8a8dad40b2fc}">
          <p14:sldIdLst>
            <p14:sldId id="264"/>
            <p14:sldId id="265"/>
          </p14:sldIdLst>
        </p14:section>
        <p14:section name="Act" id="{5a03f199-5a43-5ce7-2c87-b7e112948cab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이행</c:v>
                </c:pt>
              </c:strCache>
            </c:strRef>
          </c:tx>
          <c:spPr>
            <a:solidFill>
              <a:srgbClr val="9CA3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8</c:v>
                </c:pt>
                <c:pt idx="2">
                  <c:v>16</c:v>
                </c:pt>
                <c:pt idx="3">
                  <c:v>7</c:v>
                </c:pt>
                <c:pt idx="4">
                  <c:v>6</c:v>
                </c:pt>
                <c:pt idx="5">
                  <c:v>9</c:v>
                </c:pt>
                <c:pt idx="6">
                  <c:v>11</c:v>
                </c:pt>
                <c:pt idx="7">
                  <c:v>6</c:v>
                </c:pt>
                <c:pt idx="8">
                  <c:v>4</c:v>
                </c:pt>
                <c:pt idx="9">
                  <c:v>1</c:v>
                </c:pt>
                <c:pt idx="10">
                  <c:v>10</c:v>
                </c:pt>
                <c:pt idx="1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누락</c:v>
                </c:pt>
              </c:strCache>
            </c:strRef>
          </c:tx>
          <c:spPr>
            <a:solidFill>
              <a:srgbClr val="177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7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7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B636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3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D6DA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3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준수율</c:v>
                </c:pt>
              </c:strCache>
            </c:strRef>
          </c:tx>
          <c:spPr>
            <a:solidFill>
              <a:srgbClr val="9CA3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36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CA3A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77B57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77B57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77B57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25.1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26.5</c:v>
                  </c:pt>
                  <c:pt idx="13">
                    <c:v>6</c:v>
                  </c:pt>
                  <c:pt idx="14">
                    <c:v>7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63</c:v>
                </c:pt>
                <c:pt idx="1">
                  <c:v>89</c:v>
                </c:pt>
                <c:pt idx="2">
                  <c:v>89</c:v>
                </c:pt>
                <c:pt idx="3">
                  <c:v>100</c:v>
                </c:pt>
                <c:pt idx="4">
                  <c:v>86</c:v>
                </c:pt>
                <c:pt idx="5">
                  <c:v>100</c:v>
                </c:pt>
                <c:pt idx="6">
                  <c:v>85</c:v>
                </c:pt>
                <c:pt idx="7">
                  <c:v>100</c:v>
                </c:pt>
                <c:pt idx="8">
                  <c:v>80</c:v>
                </c:pt>
                <c:pt idx="9">
                  <c:v>50</c:v>
                </c:pt>
                <c:pt idx="10">
                  <c:v>59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B636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B636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3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6DA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3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[도입부 30초]
- "작년 11월, 신규 입사자가 한꺼번에 17명 들어왔습니다. 그달 교육일지 7건이 누락됐습니다."
- "종이로는 누가 빠졌는지 볼 방법이 없었기 때문입니다."
- "올해 6월, 그보다 많은 24건이 몰렸지만 누락은 0건이었습니다. 무엇이 달라졌는지 말씀드리겠습니다."
- 오른쪽 수치는 읽지 말고 손으로만 가리키기 — 근거는 9 · 10장에서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"PDCA 순서로 말씀드리겠습니다." (5초, 바로 넘김)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김광현: 총괄 / 장은선(보건관리자): 플랫폼 기획 · 직접 코딩 / 장종문(안전관리자): MSDS · AI 위험성평가
- 4월 1주 프로토타입 → 고위험 부서 우선 → 전 부서 확대
- 8~10월 표준화 이후 AI 고도화 (Slide 11)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교육 미이행 시 과태료, 중대재해 시 교육 이행 기록이 핵심 증빙
- 인증 조사 때 바인더를 넘기며 누락자를 찾던 경험
- 근거: 산안법 제29조, 인증기준 10.7 · 11.3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- 1월 · 10월 · 11월 이행률 63 · 50 · 59%
- 매체가 세 번 바뀌어 부서장 · 보건관리자 양쪽이 시간을 씀
- 이동 7분 + 결재 대기 19분 24초 = 26분 24초 (78%)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행정시간은 실제 교육 시간 제외, 문서 작성 · 서명 · 취합 · 결재만 포함
- 70% 목표: 33:48 → 10분 이내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업무 흐름도에서 CF1~CF7 도출 → 효과 × 실행 난이도로 분류
- 효과 높고 쉬운 반복 수기 · 이동 · 모니터링을 먼저 해결
- 외부 개발 · 별도 예산 없이 보건관리자가 직접 개발 (Google Sheets · AppSheet · Apps Script · GitHub)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영상 전: "보시는 과정이 기존에는 33분 걸리던 일입니다."
- 영상 후: "시범 운영 피드백으로 신규입사 알림과 현장 사진 기능을 추가했습니다."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대시보드에서 미이수자가 바로 보이기 때문. 제출 기한(입사일 3일 이내)도 지켜짐
- 통계: 누락 18/106 vs 0/33, Fisher p=0.007 — 관찰 기간 차이는 한계로 함께 언급
- ESG: 연 94건 출력물 · 바인더 → 0건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④ 이동과 ⑥ 파일링이 사라지고, ⑦ 결재가 19:24 → 1:00
- 인프라 지표: 계획 6개 모듈 6/6 정상 작동 (100%)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"Check 단계에서 남은 과제는 누가 빠질지 미리 아는 것이었습니다."
- 신규입사 알림은 AI가 아닌 인사 DB 자동 대조 — 정확히 말할 것
- AI MSDS 검토: 승인하면 해당 부서에 교육 대상 자동 생성
- 효과 수치는 아직 없음 → "적용 중, 하반기 측정 예정"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관리자 대시보드로 월별 준수율 · 페이퍼리스 유지 여부 상시 확인
- 마무리: "이 활동은 새로운 장비가 아니라, 현장 업무를 시간 단위로 들여다본 데서 시작했습니다."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[예상 질문]
- AI는 어디에? → MSDS 검토 · 도우미 · 위험성평가 3곳, 신규입사 알림은 자동화
- AI가 틀리면? → 승인분만 등록, 점수 서버 재계산 · 조문 대조
- 개인정보? → PIN · 비밀번호 · 감사 로그, AI에 개인정보 미전송
- 비용? → 외주 없음, AI는 Gemini API (요금 확인 후 답변)
- 관찰 3개월? → 하반기까지 추적, 업무 최다 6월에도 누락 0건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HIBI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"/>
          <p:cNvSpPr txBox="1"/>
          <p:nvPr/>
        </p:nvSpPr>
        <p:spPr>
          <a:xfrm>
            <a:off x="609600" y="57150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BUMIN · QI EXHIBIT DECK</a:t>
            </a:r>
            <a:endParaRPr lang="en-US" sz="1100" dirty="0"/>
          </a:p>
        </p:txBody>
      </p:sp>
      <p:sp>
        <p:nvSpPr>
          <p:cNvPr id="3" name="o2"/>
          <p:cNvSpPr txBox="1"/>
          <p:nvPr/>
        </p:nvSpPr>
        <p:spPr>
          <a:xfrm>
            <a:off x="609600" y="22860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통합 안전보건 플랫폼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구축을 통한 업무 효율성 증가</a:t>
            </a:r>
            <a:endParaRPr lang="en-US" sz="3600" dirty="0"/>
          </a:p>
        </p:txBody>
      </p:sp>
      <p:sp>
        <p:nvSpPr>
          <p:cNvPr id="4" name="o3"/>
          <p:cNvSpPr txBox="1"/>
          <p:nvPr/>
        </p:nvSpPr>
        <p:spPr>
          <a:xfrm>
            <a:off x="609600" y="37338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 of an AI-integrated occupational safety and health platform for improved work efficiency</a:t>
            </a:r>
            <a:endParaRPr lang="en-US" sz="1300" dirty="0"/>
          </a:p>
        </p:txBody>
      </p:sp>
      <p:sp>
        <p:nvSpPr>
          <p:cNvPr id="5" name="o4"/>
          <p:cNvSpPr txBox="1"/>
          <p:nvPr/>
        </p:nvSpPr>
        <p:spPr>
          <a:xfrm>
            <a:off x="609600" y="4953000"/>
            <a:ext cx="666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총무-안전보건팀 (Safety First)</a:t>
            </a:r>
            <a:endParaRPr lang="en-US" sz="1500" dirty="0"/>
          </a:p>
        </p:txBody>
      </p:sp>
      <p:sp>
        <p:nvSpPr>
          <p:cNvPr id="6" name="o5"/>
          <p:cNvSpPr txBox="1"/>
          <p:nvPr/>
        </p:nvSpPr>
        <p:spPr>
          <a:xfrm>
            <a:off x="609600" y="5257800"/>
            <a:ext cx="666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장은선  ·  팀장 김광현  ·  팀원 장종문</a:t>
            </a:r>
            <a:endParaRPr lang="en-US" sz="1500" dirty="0"/>
          </a:p>
        </p:txBody>
      </p:sp>
      <p:sp>
        <p:nvSpPr>
          <p:cNvPr id="7" name="o6"/>
          <p:cNvSpPr/>
          <p:nvPr/>
        </p:nvSpPr>
        <p:spPr>
          <a:xfrm>
            <a:off x="609600" y="6076950"/>
            <a:ext cx="70104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8" name="o7"/>
          <p:cNvSpPr txBox="1"/>
          <p:nvPr/>
        </p:nvSpPr>
        <p:spPr>
          <a:xfrm>
            <a:off x="609600" y="6143625"/>
            <a:ext cx="571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인당의료재단 부민병원</a:t>
            </a:r>
            <a:endParaRPr lang="en-US" sz="800" dirty="0"/>
          </a:p>
        </p:txBody>
      </p:sp>
      <p:sp>
        <p:nvSpPr>
          <p:cNvPr id="9" name="o8"/>
          <p:cNvSpPr/>
          <p:nvPr/>
        </p:nvSpPr>
        <p:spPr>
          <a:xfrm>
            <a:off x="8001000" y="0"/>
            <a:ext cx="4191000" cy="6858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o9"/>
          <p:cNvSpPr txBox="1"/>
          <p:nvPr/>
        </p:nvSpPr>
        <p:spPr>
          <a:xfrm>
            <a:off x="8382000" y="5715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RESULTS AT A GLANCE</a:t>
            </a:r>
            <a:endParaRPr lang="en-US" sz="900" dirty="0"/>
          </a:p>
        </p:txBody>
      </p:sp>
      <p:sp>
        <p:nvSpPr>
          <p:cNvPr id="11" name="o10"/>
          <p:cNvSpPr txBox="1"/>
          <p:nvPr/>
        </p:nvSpPr>
        <p:spPr>
          <a:xfrm>
            <a:off x="8382000" y="7620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전(2025) → 개선 후(2026.05–07)</a:t>
            </a:r>
            <a:endParaRPr lang="en-US" sz="1200" dirty="0"/>
          </a:p>
        </p:txBody>
      </p:sp>
      <p:sp>
        <p:nvSpPr>
          <p:cNvPr id="12" name="o11"/>
          <p:cNvSpPr/>
          <p:nvPr/>
        </p:nvSpPr>
        <p:spPr>
          <a:xfrm>
            <a:off x="8382000" y="1333500"/>
            <a:ext cx="34290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13" name="o12"/>
          <p:cNvSpPr/>
          <p:nvPr/>
        </p:nvSpPr>
        <p:spPr>
          <a:xfrm>
            <a:off x="8382000" y="1485900"/>
            <a:ext cx="91440" cy="10668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14" name="o13"/>
          <p:cNvSpPr txBox="1"/>
          <p:nvPr/>
        </p:nvSpPr>
        <p:spPr>
          <a:xfrm>
            <a:off x="8629650" y="14859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특별교육 행정시간</a:t>
            </a:r>
            <a:endParaRPr lang="en-US" sz="1200" dirty="0"/>
          </a:p>
        </p:txBody>
      </p:sp>
      <p:sp>
        <p:nvSpPr>
          <p:cNvPr id="15" name="o14"/>
          <p:cNvSpPr txBox="1"/>
          <p:nvPr/>
        </p:nvSpPr>
        <p:spPr>
          <a:xfrm>
            <a:off x="8629650" y="17145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−93%</a:t>
            </a:r>
            <a:endParaRPr lang="en-US" sz="4000" dirty="0"/>
          </a:p>
        </p:txBody>
      </p:sp>
      <p:sp>
        <p:nvSpPr>
          <p:cNvPr id="16" name="o15"/>
          <p:cNvSpPr txBox="1"/>
          <p:nvPr/>
        </p:nvSpPr>
        <p:spPr>
          <a:xfrm>
            <a:off x="8629650" y="2343150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33:48 → 2:22 (분:초)</a:t>
            </a:r>
            <a:endParaRPr lang="en-US" sz="900" dirty="0"/>
          </a:p>
        </p:txBody>
      </p:sp>
      <p:sp>
        <p:nvSpPr>
          <p:cNvPr id="17" name="o16"/>
          <p:cNvSpPr/>
          <p:nvPr/>
        </p:nvSpPr>
        <p:spPr>
          <a:xfrm>
            <a:off x="8382000" y="2857500"/>
            <a:ext cx="34290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18" name="o17"/>
          <p:cNvSpPr txBox="1"/>
          <p:nvPr/>
        </p:nvSpPr>
        <p:spPr>
          <a:xfrm>
            <a:off x="8382000" y="30099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법정교육 누락</a:t>
            </a:r>
            <a:endParaRPr lang="en-US" sz="1200" dirty="0"/>
          </a:p>
        </p:txBody>
      </p:sp>
      <p:sp>
        <p:nvSpPr>
          <p:cNvPr id="19" name="o18"/>
          <p:cNvSpPr txBox="1"/>
          <p:nvPr/>
        </p:nvSpPr>
        <p:spPr>
          <a:xfrm>
            <a:off x="8382000" y="32385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→ 0건</a:t>
            </a:r>
            <a:endParaRPr lang="en-US" sz="4000" dirty="0"/>
          </a:p>
        </p:txBody>
      </p:sp>
      <p:sp>
        <p:nvSpPr>
          <p:cNvPr id="20" name="o19"/>
          <p:cNvSpPr txBox="1"/>
          <p:nvPr/>
        </p:nvSpPr>
        <p:spPr>
          <a:xfrm>
            <a:off x="8382000" y="3867150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준수율 83% → 100%</a:t>
            </a:r>
            <a:endParaRPr lang="en-US" sz="900" dirty="0"/>
          </a:p>
        </p:txBody>
      </p:sp>
      <p:sp>
        <p:nvSpPr>
          <p:cNvPr id="21" name="o20"/>
          <p:cNvSpPr/>
          <p:nvPr/>
        </p:nvSpPr>
        <p:spPr>
          <a:xfrm>
            <a:off x="8382000" y="4381500"/>
            <a:ext cx="34290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22" name="o21"/>
          <p:cNvSpPr txBox="1"/>
          <p:nvPr/>
        </p:nvSpPr>
        <p:spPr>
          <a:xfrm>
            <a:off x="8382000" y="45339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출력</a:t>
            </a:r>
            <a:endParaRPr lang="en-US" sz="1200" dirty="0"/>
          </a:p>
        </p:txBody>
      </p:sp>
      <p:sp>
        <p:nvSpPr>
          <p:cNvPr id="23" name="o22"/>
          <p:cNvSpPr txBox="1"/>
          <p:nvPr/>
        </p:nvSpPr>
        <p:spPr>
          <a:xfrm>
            <a:off x="8382000" y="47625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94 → 0건</a:t>
            </a:r>
            <a:endParaRPr lang="en-US" sz="4000" dirty="0"/>
          </a:p>
        </p:txBody>
      </p:sp>
      <p:sp>
        <p:nvSpPr>
          <p:cNvPr id="24" name="o23"/>
          <p:cNvSpPr txBox="1"/>
          <p:nvPr/>
        </p:nvSpPr>
        <p:spPr>
          <a:xfrm>
            <a:off x="8382000" y="5391150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페이퍼리스 0% → 100%</a:t>
            </a:r>
            <a:endParaRPr lang="en-US" sz="900" dirty="0"/>
          </a:p>
        </p:txBody>
      </p:sp>
      <p:sp>
        <p:nvSpPr>
          <p:cNvPr id="25" name="o24"/>
          <p:cNvSpPr/>
          <p:nvPr/>
        </p:nvSpPr>
        <p:spPr>
          <a:xfrm>
            <a:off x="8382000" y="5905500"/>
            <a:ext cx="34290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25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0.1</a:t>
            </a:r>
            <a:endParaRPr lang="en-US" sz="1100" dirty="0"/>
          </a:p>
        </p:txBody>
      </p:sp>
      <p:sp>
        <p:nvSpPr>
          <p:cNvPr id="3" name="o26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o27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PDCA 4단계 순서로 말씀드립니다</a:t>
            </a:r>
            <a:endParaRPr lang="en-US" sz="1400" dirty="0"/>
          </a:p>
        </p:txBody>
      </p:sp>
      <p:sp>
        <p:nvSpPr>
          <p:cNvPr id="5" name="o28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29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2026 QI 활동 최종보고서</a:t>
            </a:r>
            <a:endParaRPr lang="en-US" sz="800" dirty="0"/>
          </a:p>
        </p:txBody>
      </p:sp>
      <p:sp>
        <p:nvSpPr>
          <p:cNvPr id="7" name="o30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o31"/>
          <p:cNvSpPr/>
          <p:nvPr/>
        </p:nvSpPr>
        <p:spPr>
          <a:xfrm>
            <a:off x="609600" y="2171700"/>
            <a:ext cx="2606040" cy="37719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9" name="o32"/>
          <p:cNvSpPr/>
          <p:nvPr/>
        </p:nvSpPr>
        <p:spPr>
          <a:xfrm>
            <a:off x="609600" y="2171700"/>
            <a:ext cx="2606040" cy="5715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10" name="o33"/>
          <p:cNvSpPr txBox="1"/>
          <p:nvPr/>
        </p:nvSpPr>
        <p:spPr>
          <a:xfrm>
            <a:off x="876300" y="241935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</a:t>
            </a:r>
            <a:endParaRPr lang="en-US" sz="6400" dirty="0"/>
          </a:p>
        </p:txBody>
      </p:sp>
      <p:sp>
        <p:nvSpPr>
          <p:cNvPr id="11" name="o34"/>
          <p:cNvSpPr txBox="1"/>
          <p:nvPr/>
        </p:nvSpPr>
        <p:spPr>
          <a:xfrm>
            <a:off x="895350" y="3238500"/>
            <a:ext cx="2034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</a:t>
            </a:r>
            <a:endParaRPr lang="en-US" sz="1100" dirty="0"/>
          </a:p>
        </p:txBody>
      </p:sp>
      <p:sp>
        <p:nvSpPr>
          <p:cNvPr id="12" name="o35"/>
          <p:cNvSpPr/>
          <p:nvPr/>
        </p:nvSpPr>
        <p:spPr>
          <a:xfrm>
            <a:off x="876300" y="3505200"/>
            <a:ext cx="20726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13" name="o36"/>
          <p:cNvSpPr txBox="1"/>
          <p:nvPr/>
        </p:nvSpPr>
        <p:spPr>
          <a:xfrm>
            <a:off x="876300" y="3657600"/>
            <a:ext cx="207264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 배경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 분석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정의 · 목표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분석 · 개선 전략</a:t>
            </a:r>
            <a:endParaRPr lang="en-US" sz="1600" dirty="0"/>
          </a:p>
        </p:txBody>
      </p:sp>
      <p:sp>
        <p:nvSpPr>
          <p:cNvPr id="14" name="o37"/>
          <p:cNvSpPr txBox="1"/>
          <p:nvPr/>
        </p:nvSpPr>
        <p:spPr>
          <a:xfrm>
            <a:off x="876300" y="5619750"/>
            <a:ext cx="2072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04 – 07</a:t>
            </a:r>
            <a:endParaRPr lang="en-US" sz="900" dirty="0"/>
          </a:p>
        </p:txBody>
      </p:sp>
      <p:sp>
        <p:nvSpPr>
          <p:cNvPr id="15" name="o38"/>
          <p:cNvSpPr/>
          <p:nvPr/>
        </p:nvSpPr>
        <p:spPr>
          <a:xfrm>
            <a:off x="3398520" y="2171700"/>
            <a:ext cx="2606040" cy="37719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6" name="o39"/>
          <p:cNvSpPr/>
          <p:nvPr/>
        </p:nvSpPr>
        <p:spPr>
          <a:xfrm>
            <a:off x="3398520" y="2171700"/>
            <a:ext cx="2606040" cy="5715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17" name="o40"/>
          <p:cNvSpPr txBox="1"/>
          <p:nvPr/>
        </p:nvSpPr>
        <p:spPr>
          <a:xfrm>
            <a:off x="3665220" y="241935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6400" dirty="0"/>
          </a:p>
        </p:txBody>
      </p:sp>
      <p:sp>
        <p:nvSpPr>
          <p:cNvPr id="18" name="o41"/>
          <p:cNvSpPr txBox="1"/>
          <p:nvPr/>
        </p:nvSpPr>
        <p:spPr>
          <a:xfrm>
            <a:off x="3684270" y="3238500"/>
            <a:ext cx="2034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</a:t>
            </a:r>
            <a:endParaRPr lang="en-US" sz="1100" dirty="0"/>
          </a:p>
        </p:txBody>
      </p:sp>
      <p:sp>
        <p:nvSpPr>
          <p:cNvPr id="19" name="o42"/>
          <p:cNvSpPr/>
          <p:nvPr/>
        </p:nvSpPr>
        <p:spPr>
          <a:xfrm>
            <a:off x="3665220" y="3505200"/>
            <a:ext cx="20726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0" name="o43"/>
          <p:cNvSpPr txBox="1"/>
          <p:nvPr/>
        </p:nvSpPr>
        <p:spPr>
          <a:xfrm>
            <a:off x="3665220" y="3657600"/>
            <a:ext cx="207264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6대 모듈 구축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시연</a:t>
            </a:r>
            <a:endParaRPr lang="en-US" sz="1600" dirty="0"/>
          </a:p>
        </p:txBody>
      </p:sp>
      <p:sp>
        <p:nvSpPr>
          <p:cNvPr id="21" name="o44"/>
          <p:cNvSpPr txBox="1"/>
          <p:nvPr/>
        </p:nvSpPr>
        <p:spPr>
          <a:xfrm>
            <a:off x="3665220" y="5619750"/>
            <a:ext cx="2072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08</a:t>
            </a:r>
            <a:endParaRPr lang="en-US" sz="900" dirty="0"/>
          </a:p>
        </p:txBody>
      </p:sp>
      <p:sp>
        <p:nvSpPr>
          <p:cNvPr id="22" name="o45"/>
          <p:cNvSpPr/>
          <p:nvPr/>
        </p:nvSpPr>
        <p:spPr>
          <a:xfrm>
            <a:off x="6187440" y="2171700"/>
            <a:ext cx="2606040" cy="37719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3" name="o46"/>
          <p:cNvSpPr/>
          <p:nvPr/>
        </p:nvSpPr>
        <p:spPr>
          <a:xfrm>
            <a:off x="6187440" y="2171700"/>
            <a:ext cx="2606040" cy="5715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24" name="o47"/>
          <p:cNvSpPr txBox="1"/>
          <p:nvPr/>
        </p:nvSpPr>
        <p:spPr>
          <a:xfrm>
            <a:off x="6454140" y="241935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6400" dirty="0"/>
          </a:p>
        </p:txBody>
      </p:sp>
      <p:sp>
        <p:nvSpPr>
          <p:cNvPr id="25" name="o48"/>
          <p:cNvSpPr txBox="1"/>
          <p:nvPr/>
        </p:nvSpPr>
        <p:spPr>
          <a:xfrm>
            <a:off x="6473190" y="3238500"/>
            <a:ext cx="2034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</a:t>
            </a:r>
            <a:endParaRPr lang="en-US" sz="1100" dirty="0"/>
          </a:p>
        </p:txBody>
      </p:sp>
      <p:sp>
        <p:nvSpPr>
          <p:cNvPr id="26" name="o49"/>
          <p:cNvSpPr/>
          <p:nvPr/>
        </p:nvSpPr>
        <p:spPr>
          <a:xfrm>
            <a:off x="6454140" y="3505200"/>
            <a:ext cx="20726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7" name="o50"/>
          <p:cNvSpPr txBox="1"/>
          <p:nvPr/>
        </p:nvSpPr>
        <p:spPr>
          <a:xfrm>
            <a:off x="6454140" y="3657600"/>
            <a:ext cx="207264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법정교육 준수율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페이퍼리스 전환율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 소요시간</a:t>
            </a:r>
            <a:endParaRPr lang="en-US" sz="1600" dirty="0"/>
          </a:p>
        </p:txBody>
      </p:sp>
      <p:sp>
        <p:nvSpPr>
          <p:cNvPr id="28" name="o51"/>
          <p:cNvSpPr txBox="1"/>
          <p:nvPr/>
        </p:nvSpPr>
        <p:spPr>
          <a:xfrm>
            <a:off x="6454140" y="5619750"/>
            <a:ext cx="2072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09 – 10</a:t>
            </a:r>
            <a:endParaRPr lang="en-US" sz="900" dirty="0"/>
          </a:p>
        </p:txBody>
      </p:sp>
      <p:sp>
        <p:nvSpPr>
          <p:cNvPr id="29" name="o52"/>
          <p:cNvSpPr/>
          <p:nvPr/>
        </p:nvSpPr>
        <p:spPr>
          <a:xfrm>
            <a:off x="8976360" y="2171700"/>
            <a:ext cx="2606040" cy="37719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0" name="o53"/>
          <p:cNvSpPr/>
          <p:nvPr/>
        </p:nvSpPr>
        <p:spPr>
          <a:xfrm>
            <a:off x="8976360" y="2171700"/>
            <a:ext cx="2606040" cy="5715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31" name="o54"/>
          <p:cNvSpPr txBox="1"/>
          <p:nvPr/>
        </p:nvSpPr>
        <p:spPr>
          <a:xfrm>
            <a:off x="9243060" y="241935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6400" dirty="0"/>
          </a:p>
        </p:txBody>
      </p:sp>
      <p:sp>
        <p:nvSpPr>
          <p:cNvPr id="32" name="o55"/>
          <p:cNvSpPr txBox="1"/>
          <p:nvPr/>
        </p:nvSpPr>
        <p:spPr>
          <a:xfrm>
            <a:off x="9262110" y="3238500"/>
            <a:ext cx="2034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</a:t>
            </a:r>
            <a:endParaRPr lang="en-US" sz="1100" dirty="0"/>
          </a:p>
        </p:txBody>
      </p:sp>
      <p:sp>
        <p:nvSpPr>
          <p:cNvPr id="33" name="o56"/>
          <p:cNvSpPr/>
          <p:nvPr/>
        </p:nvSpPr>
        <p:spPr>
          <a:xfrm>
            <a:off x="9243060" y="3505200"/>
            <a:ext cx="20726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4" name="o57"/>
          <p:cNvSpPr txBox="1"/>
          <p:nvPr/>
        </p:nvSpPr>
        <p:spPr>
          <a:xfrm>
            <a:off x="9243060" y="3657600"/>
            <a:ext cx="207264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통합 플랫폼 고도화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및 제언</a:t>
            </a:r>
            <a:endParaRPr lang="en-US" sz="1600" dirty="0"/>
          </a:p>
        </p:txBody>
      </p:sp>
      <p:sp>
        <p:nvSpPr>
          <p:cNvPr id="35" name="o58"/>
          <p:cNvSpPr txBox="1"/>
          <p:nvPr/>
        </p:nvSpPr>
        <p:spPr>
          <a:xfrm>
            <a:off x="9243060" y="5619750"/>
            <a:ext cx="2072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11 –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59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0.2</a:t>
            </a:r>
            <a:endParaRPr lang="en-US" sz="1100" dirty="0"/>
          </a:p>
        </p:txBody>
      </p:sp>
      <p:sp>
        <p:nvSpPr>
          <p:cNvPr id="3" name="o60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3명의 팀이 외부 개발 없이 기획부터 표준화까지 직접 수행했다</a:t>
            </a:r>
            <a:endParaRPr lang="en-US" sz="2800" dirty="0"/>
          </a:p>
        </p:txBody>
      </p:sp>
      <p:sp>
        <p:nvSpPr>
          <p:cNvPr id="4" name="o61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· 1–10월 활동 일정</a:t>
            </a:r>
            <a:endParaRPr lang="en-US" sz="1400" dirty="0"/>
          </a:p>
        </p:txBody>
      </p:sp>
      <p:sp>
        <p:nvSpPr>
          <p:cNvPr id="5" name="o62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63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QI 활동 계획서(2026.05) · Do/Check/Act 보고서(2026.07)</a:t>
            </a:r>
            <a:endParaRPr lang="en-US" sz="800" dirty="0"/>
          </a:p>
        </p:txBody>
      </p:sp>
      <p:sp>
        <p:nvSpPr>
          <p:cNvPr id="7" name="o64"/>
          <p:cNvSpPr txBox="1"/>
          <p:nvPr/>
        </p:nvSpPr>
        <p:spPr>
          <a:xfrm>
            <a:off x="7943850" y="6143625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Note: 역할은 활동 보고서 기준</a:t>
            </a:r>
            <a:endParaRPr lang="en-US" sz="800" dirty="0"/>
          </a:p>
        </p:txBody>
      </p:sp>
      <p:sp>
        <p:nvSpPr>
          <p:cNvPr id="8" name="o65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o66"/>
          <p:cNvSpPr/>
          <p:nvPr/>
        </p:nvSpPr>
        <p:spPr>
          <a:xfrm>
            <a:off x="609600" y="2057400"/>
            <a:ext cx="353568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10" name="o67"/>
          <p:cNvSpPr/>
          <p:nvPr/>
        </p:nvSpPr>
        <p:spPr>
          <a:xfrm>
            <a:off x="819150" y="2266950"/>
            <a:ext cx="533400" cy="533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11" name="o68"/>
          <p:cNvSpPr txBox="1"/>
          <p:nvPr/>
        </p:nvSpPr>
        <p:spPr>
          <a:xfrm>
            <a:off x="819150" y="226695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</a:t>
            </a:r>
            <a:endParaRPr lang="en-US" sz="1800" dirty="0"/>
          </a:p>
        </p:txBody>
      </p:sp>
      <p:sp>
        <p:nvSpPr>
          <p:cNvPr id="12" name="o69"/>
          <p:cNvSpPr txBox="1"/>
          <p:nvPr/>
        </p:nvSpPr>
        <p:spPr>
          <a:xfrm>
            <a:off x="1524000" y="2247900"/>
            <a:ext cx="2430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김광현</a:t>
            </a:r>
            <a:endParaRPr lang="en-US" sz="1700" dirty="0"/>
          </a:p>
        </p:txBody>
      </p:sp>
      <p:sp>
        <p:nvSpPr>
          <p:cNvPr id="13" name="o70"/>
          <p:cNvSpPr txBox="1"/>
          <p:nvPr/>
        </p:nvSpPr>
        <p:spPr>
          <a:xfrm>
            <a:off x="1524000" y="2495550"/>
            <a:ext cx="2430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</a:t>
            </a:r>
            <a:endParaRPr lang="en-US" sz="1100" dirty="0"/>
          </a:p>
        </p:txBody>
      </p:sp>
      <p:sp>
        <p:nvSpPr>
          <p:cNvPr id="14" name="o71"/>
          <p:cNvSpPr txBox="1"/>
          <p:nvPr/>
        </p:nvSpPr>
        <p:spPr>
          <a:xfrm>
            <a:off x="1524000" y="2686050"/>
            <a:ext cx="2430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총괄</a:t>
            </a:r>
            <a:endParaRPr lang="en-US" sz="1100" dirty="0"/>
          </a:p>
        </p:txBody>
      </p:sp>
      <p:sp>
        <p:nvSpPr>
          <p:cNvPr id="15" name="o72"/>
          <p:cNvSpPr/>
          <p:nvPr/>
        </p:nvSpPr>
        <p:spPr>
          <a:xfrm>
            <a:off x="4328160" y="2057400"/>
            <a:ext cx="353568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16" name="o73"/>
          <p:cNvSpPr/>
          <p:nvPr/>
        </p:nvSpPr>
        <p:spPr>
          <a:xfrm>
            <a:off x="4537710" y="2266950"/>
            <a:ext cx="533400" cy="533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17" name="o74"/>
          <p:cNvSpPr txBox="1"/>
          <p:nvPr/>
        </p:nvSpPr>
        <p:spPr>
          <a:xfrm>
            <a:off x="4537710" y="226695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</a:t>
            </a:r>
            <a:endParaRPr lang="en-US" sz="1800" dirty="0"/>
          </a:p>
        </p:txBody>
      </p:sp>
      <p:sp>
        <p:nvSpPr>
          <p:cNvPr id="18" name="o75"/>
          <p:cNvSpPr txBox="1"/>
          <p:nvPr/>
        </p:nvSpPr>
        <p:spPr>
          <a:xfrm>
            <a:off x="5242560" y="2247900"/>
            <a:ext cx="2430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장은선</a:t>
            </a:r>
            <a:endParaRPr lang="en-US" sz="1700" dirty="0"/>
          </a:p>
        </p:txBody>
      </p:sp>
      <p:sp>
        <p:nvSpPr>
          <p:cNvPr id="19" name="o76"/>
          <p:cNvSpPr txBox="1"/>
          <p:nvPr/>
        </p:nvSpPr>
        <p:spPr>
          <a:xfrm>
            <a:off x="5242560" y="2495550"/>
            <a:ext cx="2430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· 보건관리자</a:t>
            </a:r>
            <a:endParaRPr lang="en-US" sz="1100" dirty="0"/>
          </a:p>
        </p:txBody>
      </p:sp>
      <p:sp>
        <p:nvSpPr>
          <p:cNvPr id="20" name="o77"/>
          <p:cNvSpPr txBox="1"/>
          <p:nvPr/>
        </p:nvSpPr>
        <p:spPr>
          <a:xfrm>
            <a:off x="5242560" y="2686050"/>
            <a:ext cx="2430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기획 · 직접 개발</a:t>
            </a:r>
            <a:endParaRPr lang="en-US" sz="1100" dirty="0"/>
          </a:p>
        </p:txBody>
      </p:sp>
      <p:sp>
        <p:nvSpPr>
          <p:cNvPr id="21" name="o78"/>
          <p:cNvSpPr/>
          <p:nvPr/>
        </p:nvSpPr>
        <p:spPr>
          <a:xfrm>
            <a:off x="8046720" y="2057400"/>
            <a:ext cx="353568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22" name="o79"/>
          <p:cNvSpPr/>
          <p:nvPr/>
        </p:nvSpPr>
        <p:spPr>
          <a:xfrm>
            <a:off x="8256270" y="2266950"/>
            <a:ext cx="533400" cy="533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23" name="o80"/>
          <p:cNvSpPr txBox="1"/>
          <p:nvPr/>
        </p:nvSpPr>
        <p:spPr>
          <a:xfrm>
            <a:off x="8256270" y="226695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</a:t>
            </a:r>
            <a:endParaRPr lang="en-US" sz="1800" dirty="0"/>
          </a:p>
        </p:txBody>
      </p:sp>
      <p:sp>
        <p:nvSpPr>
          <p:cNvPr id="24" name="o81"/>
          <p:cNvSpPr txBox="1"/>
          <p:nvPr/>
        </p:nvSpPr>
        <p:spPr>
          <a:xfrm>
            <a:off x="8961120" y="2247900"/>
            <a:ext cx="2430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장종문</a:t>
            </a:r>
            <a:endParaRPr lang="en-US" sz="1700" dirty="0"/>
          </a:p>
        </p:txBody>
      </p:sp>
      <p:sp>
        <p:nvSpPr>
          <p:cNvPr id="25" name="o82"/>
          <p:cNvSpPr txBox="1"/>
          <p:nvPr/>
        </p:nvSpPr>
        <p:spPr>
          <a:xfrm>
            <a:off x="8961120" y="2495550"/>
            <a:ext cx="2430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· 안전관리자</a:t>
            </a:r>
            <a:endParaRPr lang="en-US" sz="1100" dirty="0"/>
          </a:p>
        </p:txBody>
      </p:sp>
      <p:sp>
        <p:nvSpPr>
          <p:cNvPr id="26" name="o83"/>
          <p:cNvSpPr txBox="1"/>
          <p:nvPr/>
        </p:nvSpPr>
        <p:spPr>
          <a:xfrm>
            <a:off x="8961120" y="2686050"/>
            <a:ext cx="2430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MSDS · AI 위험성평가</a:t>
            </a:r>
            <a:endParaRPr lang="en-US" sz="1100" dirty="0"/>
          </a:p>
        </p:txBody>
      </p:sp>
      <p:sp>
        <p:nvSpPr>
          <p:cNvPr id="27" name="o84"/>
          <p:cNvSpPr/>
          <p:nvPr/>
        </p:nvSpPr>
        <p:spPr>
          <a:xfrm>
            <a:off x="609600" y="3200400"/>
            <a:ext cx="10972800" cy="27432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8" name="o85"/>
          <p:cNvSpPr txBox="1"/>
          <p:nvPr/>
        </p:nvSpPr>
        <p:spPr>
          <a:xfrm>
            <a:off x="2990850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1월</a:t>
            </a:r>
            <a:endParaRPr lang="en-US" sz="900" dirty="0"/>
          </a:p>
        </p:txBody>
      </p:sp>
      <p:sp>
        <p:nvSpPr>
          <p:cNvPr id="29" name="o86"/>
          <p:cNvSpPr/>
          <p:nvPr/>
        </p:nvSpPr>
        <p:spPr>
          <a:xfrm>
            <a:off x="2990850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30" name="o87"/>
          <p:cNvSpPr txBox="1"/>
          <p:nvPr/>
        </p:nvSpPr>
        <p:spPr>
          <a:xfrm>
            <a:off x="3827145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2월</a:t>
            </a:r>
            <a:endParaRPr lang="en-US" sz="900" dirty="0"/>
          </a:p>
        </p:txBody>
      </p:sp>
      <p:sp>
        <p:nvSpPr>
          <p:cNvPr id="31" name="o88"/>
          <p:cNvSpPr/>
          <p:nvPr/>
        </p:nvSpPr>
        <p:spPr>
          <a:xfrm>
            <a:off x="3827145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32" name="o89"/>
          <p:cNvSpPr txBox="1"/>
          <p:nvPr/>
        </p:nvSpPr>
        <p:spPr>
          <a:xfrm>
            <a:off x="4663440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3월</a:t>
            </a:r>
            <a:endParaRPr lang="en-US" sz="900" dirty="0"/>
          </a:p>
        </p:txBody>
      </p:sp>
      <p:sp>
        <p:nvSpPr>
          <p:cNvPr id="33" name="o90"/>
          <p:cNvSpPr/>
          <p:nvPr/>
        </p:nvSpPr>
        <p:spPr>
          <a:xfrm>
            <a:off x="4663440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34" name="o91"/>
          <p:cNvSpPr txBox="1"/>
          <p:nvPr/>
        </p:nvSpPr>
        <p:spPr>
          <a:xfrm>
            <a:off x="5499735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4월</a:t>
            </a:r>
            <a:endParaRPr lang="en-US" sz="900" dirty="0"/>
          </a:p>
        </p:txBody>
      </p:sp>
      <p:sp>
        <p:nvSpPr>
          <p:cNvPr id="35" name="o92"/>
          <p:cNvSpPr/>
          <p:nvPr/>
        </p:nvSpPr>
        <p:spPr>
          <a:xfrm>
            <a:off x="5499735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36" name="o93"/>
          <p:cNvSpPr txBox="1"/>
          <p:nvPr/>
        </p:nvSpPr>
        <p:spPr>
          <a:xfrm>
            <a:off x="6336030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5월</a:t>
            </a:r>
            <a:endParaRPr lang="en-US" sz="900" dirty="0"/>
          </a:p>
        </p:txBody>
      </p:sp>
      <p:sp>
        <p:nvSpPr>
          <p:cNvPr id="37" name="o94"/>
          <p:cNvSpPr/>
          <p:nvPr/>
        </p:nvSpPr>
        <p:spPr>
          <a:xfrm>
            <a:off x="6336030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38" name="o95"/>
          <p:cNvSpPr txBox="1"/>
          <p:nvPr/>
        </p:nvSpPr>
        <p:spPr>
          <a:xfrm>
            <a:off x="7172325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6월</a:t>
            </a:r>
            <a:endParaRPr lang="en-US" sz="900" dirty="0"/>
          </a:p>
        </p:txBody>
      </p:sp>
      <p:sp>
        <p:nvSpPr>
          <p:cNvPr id="39" name="o96"/>
          <p:cNvSpPr/>
          <p:nvPr/>
        </p:nvSpPr>
        <p:spPr>
          <a:xfrm>
            <a:off x="7172325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40" name="o97"/>
          <p:cNvSpPr txBox="1"/>
          <p:nvPr/>
        </p:nvSpPr>
        <p:spPr>
          <a:xfrm>
            <a:off x="8008620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7월</a:t>
            </a:r>
            <a:endParaRPr lang="en-US" sz="900" dirty="0"/>
          </a:p>
        </p:txBody>
      </p:sp>
      <p:sp>
        <p:nvSpPr>
          <p:cNvPr id="41" name="o98"/>
          <p:cNvSpPr/>
          <p:nvPr/>
        </p:nvSpPr>
        <p:spPr>
          <a:xfrm>
            <a:off x="8008620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42" name="o99"/>
          <p:cNvSpPr txBox="1"/>
          <p:nvPr/>
        </p:nvSpPr>
        <p:spPr>
          <a:xfrm>
            <a:off x="8844915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8월</a:t>
            </a:r>
            <a:endParaRPr lang="en-US" sz="900" dirty="0"/>
          </a:p>
        </p:txBody>
      </p:sp>
      <p:sp>
        <p:nvSpPr>
          <p:cNvPr id="43" name="o100"/>
          <p:cNvSpPr/>
          <p:nvPr/>
        </p:nvSpPr>
        <p:spPr>
          <a:xfrm>
            <a:off x="8844915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44" name="o101"/>
          <p:cNvSpPr txBox="1"/>
          <p:nvPr/>
        </p:nvSpPr>
        <p:spPr>
          <a:xfrm>
            <a:off x="9681210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9월</a:t>
            </a:r>
            <a:endParaRPr lang="en-US" sz="900" dirty="0"/>
          </a:p>
        </p:txBody>
      </p:sp>
      <p:sp>
        <p:nvSpPr>
          <p:cNvPr id="45" name="o102"/>
          <p:cNvSpPr/>
          <p:nvPr/>
        </p:nvSpPr>
        <p:spPr>
          <a:xfrm>
            <a:off x="9681210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46" name="o103"/>
          <p:cNvSpPr txBox="1"/>
          <p:nvPr/>
        </p:nvSpPr>
        <p:spPr>
          <a:xfrm>
            <a:off x="10517505" y="3352800"/>
            <a:ext cx="8362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10월</a:t>
            </a:r>
            <a:endParaRPr lang="en-US" sz="900" dirty="0"/>
          </a:p>
        </p:txBody>
      </p:sp>
      <p:sp>
        <p:nvSpPr>
          <p:cNvPr id="47" name="o104"/>
          <p:cNvSpPr/>
          <p:nvPr/>
        </p:nvSpPr>
        <p:spPr>
          <a:xfrm>
            <a:off x="10517505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48" name="o105"/>
          <p:cNvSpPr/>
          <p:nvPr/>
        </p:nvSpPr>
        <p:spPr>
          <a:xfrm>
            <a:off x="11353800" y="3581400"/>
            <a:ext cx="0" cy="2247900"/>
          </a:xfrm>
          <a:prstGeom prst="line">
            <a:avLst/>
          </a:prstGeom>
          <a:noFill/>
          <a:ln w="6350">
            <a:solidFill>
              <a:srgbClr val="D6DAD8"/>
            </a:solidFill>
            <a:prstDash val="solid"/>
          </a:ln>
        </p:spPr>
      </p:sp>
      <p:sp>
        <p:nvSpPr>
          <p:cNvPr id="49" name="o106"/>
          <p:cNvSpPr/>
          <p:nvPr/>
        </p:nvSpPr>
        <p:spPr>
          <a:xfrm>
            <a:off x="838200" y="3581400"/>
            <a:ext cx="10515600" cy="0"/>
          </a:xfrm>
          <a:prstGeom prst="line">
            <a:avLst/>
          </a:prstGeom>
          <a:noFill/>
          <a:ln w="9525">
            <a:solidFill>
              <a:srgbClr val="5B636E"/>
            </a:solidFill>
            <a:prstDash val="solid"/>
          </a:ln>
        </p:spPr>
      </p:sp>
      <p:sp>
        <p:nvSpPr>
          <p:cNvPr id="50" name="o107"/>
          <p:cNvSpPr txBox="1"/>
          <p:nvPr/>
        </p:nvSpPr>
        <p:spPr>
          <a:xfrm>
            <a:off x="838200" y="36957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</a:t>
            </a:r>
            <a:endParaRPr lang="en-US" sz="900" dirty="0"/>
          </a:p>
        </p:txBody>
      </p:sp>
      <p:sp>
        <p:nvSpPr>
          <p:cNvPr id="51" name="o108"/>
          <p:cNvSpPr txBox="1"/>
          <p:nvPr/>
        </p:nvSpPr>
        <p:spPr>
          <a:xfrm>
            <a:off x="1390650" y="36957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 · 원인 분석</a:t>
            </a:r>
            <a:endParaRPr lang="en-US" sz="1200" dirty="0"/>
          </a:p>
        </p:txBody>
      </p:sp>
      <p:sp>
        <p:nvSpPr>
          <p:cNvPr id="52" name="o109"/>
          <p:cNvSpPr/>
          <p:nvPr/>
        </p:nvSpPr>
        <p:spPr>
          <a:xfrm>
            <a:off x="3028950" y="3733800"/>
            <a:ext cx="2432685" cy="152400"/>
          </a:xfrm>
          <a:prstGeom prst="rect">
            <a:avLst/>
          </a:prstGeom>
          <a:solidFill>
            <a:srgbClr val="9CA3AC"/>
          </a:solidFill>
          <a:ln/>
        </p:spPr>
      </p:sp>
      <p:sp>
        <p:nvSpPr>
          <p:cNvPr id="53" name="o110"/>
          <p:cNvSpPr txBox="1"/>
          <p:nvPr/>
        </p:nvSpPr>
        <p:spPr>
          <a:xfrm>
            <a:off x="838200" y="405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</a:t>
            </a:r>
            <a:endParaRPr lang="en-US" sz="900" dirty="0"/>
          </a:p>
        </p:txBody>
      </p:sp>
      <p:sp>
        <p:nvSpPr>
          <p:cNvPr id="54" name="o111"/>
          <p:cNvSpPr txBox="1"/>
          <p:nvPr/>
        </p:nvSpPr>
        <p:spPr>
          <a:xfrm>
            <a:off x="1390650" y="40576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개발</a:t>
            </a:r>
            <a:endParaRPr lang="en-US" sz="1200" dirty="0"/>
          </a:p>
        </p:txBody>
      </p:sp>
      <p:sp>
        <p:nvSpPr>
          <p:cNvPr id="55" name="o112"/>
          <p:cNvSpPr/>
          <p:nvPr/>
        </p:nvSpPr>
        <p:spPr>
          <a:xfrm>
            <a:off x="4701540" y="4095750"/>
            <a:ext cx="1596390" cy="152400"/>
          </a:xfrm>
          <a:prstGeom prst="rect">
            <a:avLst/>
          </a:prstGeom>
          <a:solidFill>
            <a:srgbClr val="5B636E"/>
          </a:solidFill>
          <a:ln/>
        </p:spPr>
      </p:sp>
      <p:sp>
        <p:nvSpPr>
          <p:cNvPr id="56" name="o113"/>
          <p:cNvSpPr txBox="1"/>
          <p:nvPr/>
        </p:nvSpPr>
        <p:spPr>
          <a:xfrm>
            <a:off x="838200" y="44196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</a:t>
            </a:r>
            <a:endParaRPr lang="en-US" sz="900" dirty="0"/>
          </a:p>
        </p:txBody>
      </p:sp>
      <p:sp>
        <p:nvSpPr>
          <p:cNvPr id="57" name="o114"/>
          <p:cNvSpPr txBox="1"/>
          <p:nvPr/>
        </p:nvSpPr>
        <p:spPr>
          <a:xfrm>
            <a:off x="1390650" y="44196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시범 적용</a:t>
            </a:r>
            <a:endParaRPr lang="en-US" sz="1200" dirty="0"/>
          </a:p>
        </p:txBody>
      </p:sp>
      <p:sp>
        <p:nvSpPr>
          <p:cNvPr id="58" name="o115"/>
          <p:cNvSpPr/>
          <p:nvPr/>
        </p:nvSpPr>
        <p:spPr>
          <a:xfrm>
            <a:off x="6374130" y="4457700"/>
            <a:ext cx="2432685" cy="152400"/>
          </a:xfrm>
          <a:prstGeom prst="rect">
            <a:avLst/>
          </a:prstGeom>
          <a:solidFill>
            <a:srgbClr val="5B636E"/>
          </a:solidFill>
          <a:ln/>
        </p:spPr>
      </p:sp>
      <p:sp>
        <p:nvSpPr>
          <p:cNvPr id="59" name="o116"/>
          <p:cNvSpPr txBox="1"/>
          <p:nvPr/>
        </p:nvSpPr>
        <p:spPr>
          <a:xfrm>
            <a:off x="838200" y="47815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</a:t>
            </a:r>
            <a:endParaRPr lang="en-US" sz="900" dirty="0"/>
          </a:p>
        </p:txBody>
      </p:sp>
      <p:sp>
        <p:nvSpPr>
          <p:cNvPr id="60" name="o117"/>
          <p:cNvSpPr txBox="1"/>
          <p:nvPr/>
        </p:nvSpPr>
        <p:spPr>
          <a:xfrm>
            <a:off x="1390650" y="47815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확인</a:t>
            </a:r>
            <a:endParaRPr lang="en-US" sz="1200" dirty="0"/>
          </a:p>
        </p:txBody>
      </p:sp>
      <p:sp>
        <p:nvSpPr>
          <p:cNvPr id="61" name="o118"/>
          <p:cNvSpPr/>
          <p:nvPr/>
        </p:nvSpPr>
        <p:spPr>
          <a:xfrm>
            <a:off x="8046720" y="4819650"/>
            <a:ext cx="760095" cy="152400"/>
          </a:xfrm>
          <a:prstGeom prst="rect">
            <a:avLst/>
          </a:prstGeom>
          <a:solidFill>
            <a:srgbClr val="3A4048"/>
          </a:solidFill>
          <a:ln/>
        </p:spPr>
      </p:sp>
      <p:sp>
        <p:nvSpPr>
          <p:cNvPr id="62" name="o119"/>
          <p:cNvSpPr txBox="1"/>
          <p:nvPr/>
        </p:nvSpPr>
        <p:spPr>
          <a:xfrm>
            <a:off x="838200" y="51435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</a:t>
            </a:r>
            <a:endParaRPr lang="en-US" sz="900" dirty="0"/>
          </a:p>
        </p:txBody>
      </p:sp>
      <p:sp>
        <p:nvSpPr>
          <p:cNvPr id="63" name="o120"/>
          <p:cNvSpPr txBox="1"/>
          <p:nvPr/>
        </p:nvSpPr>
        <p:spPr>
          <a:xfrm>
            <a:off x="1390650" y="51435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 · AI 고도화</a:t>
            </a:r>
            <a:endParaRPr lang="en-US" sz="1200" dirty="0"/>
          </a:p>
        </p:txBody>
      </p:sp>
      <p:sp>
        <p:nvSpPr>
          <p:cNvPr id="64" name="o121"/>
          <p:cNvSpPr/>
          <p:nvPr/>
        </p:nvSpPr>
        <p:spPr>
          <a:xfrm>
            <a:off x="8883015" y="5181600"/>
            <a:ext cx="2432685" cy="1524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65" name="o122"/>
          <p:cNvSpPr txBox="1"/>
          <p:nvPr/>
        </p:nvSpPr>
        <p:spPr>
          <a:xfrm>
            <a:off x="838200" y="55054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6" name="o123"/>
          <p:cNvSpPr txBox="1"/>
          <p:nvPr/>
        </p:nvSpPr>
        <p:spPr>
          <a:xfrm>
            <a:off x="1390650" y="55054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QI 경진대회</a:t>
            </a:r>
            <a:endParaRPr lang="en-US" sz="1200" dirty="0"/>
          </a:p>
        </p:txBody>
      </p:sp>
      <p:sp>
        <p:nvSpPr>
          <p:cNvPr id="67" name="o124"/>
          <p:cNvSpPr/>
          <p:nvPr/>
        </p:nvSpPr>
        <p:spPr>
          <a:xfrm>
            <a:off x="9719310" y="5543550"/>
            <a:ext cx="760095" cy="152400"/>
          </a:xfrm>
          <a:prstGeom prst="rect">
            <a:avLst/>
          </a:prstGeom>
          <a:solidFill>
            <a:srgbClr val="3A404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25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1.1</a:t>
            </a:r>
            <a:endParaRPr lang="en-US" sz="1100" dirty="0"/>
          </a:p>
        </p:txBody>
      </p:sp>
      <p:sp>
        <p:nvSpPr>
          <p:cNvPr id="3" name="o126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법은 실시간 증빙을 요구했지만, 안전보건 기록은 100% 종이였다</a:t>
            </a:r>
            <a:endParaRPr lang="en-US" sz="2800" dirty="0"/>
          </a:p>
        </p:txBody>
      </p:sp>
      <p:sp>
        <p:nvSpPr>
          <p:cNvPr id="4" name="o127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 배경 — 법 · 현장 · 경영 세 측면</a:t>
            </a:r>
            <a:endParaRPr lang="en-US" sz="1400" dirty="0"/>
          </a:p>
        </p:txBody>
      </p:sp>
      <p:sp>
        <p:nvSpPr>
          <p:cNvPr id="5" name="o128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129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산업안전보건법 제29조 · 중대재해처벌법 · 의료기관 인증기준 10.7/11.3 · 2025 업무 현황</a:t>
            </a:r>
            <a:endParaRPr lang="en-US" sz="800" dirty="0"/>
          </a:p>
        </p:txBody>
      </p:sp>
      <p:sp>
        <p:nvSpPr>
          <p:cNvPr id="7" name="o130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o131"/>
          <p:cNvSpPr txBox="1"/>
          <p:nvPr/>
        </p:nvSpPr>
        <p:spPr>
          <a:xfrm>
            <a:off x="609600" y="20574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o132"/>
          <p:cNvSpPr txBox="1"/>
          <p:nvPr/>
        </p:nvSpPr>
        <p:spPr>
          <a:xfrm>
            <a:off x="609600" y="2247900"/>
            <a:ext cx="353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 · 인증</a:t>
            </a:r>
            <a:endParaRPr lang="en-US" sz="1500" dirty="0"/>
          </a:p>
        </p:txBody>
      </p:sp>
      <p:sp>
        <p:nvSpPr>
          <p:cNvPr id="10" name="o133"/>
          <p:cNvSpPr txBox="1"/>
          <p:nvPr/>
        </p:nvSpPr>
        <p:spPr>
          <a:xfrm>
            <a:off x="609600" y="2533650"/>
            <a:ext cx="3535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산업안전보건법 제29조 안전보건교육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중대재해 시 교육 이행이 핵심 증빙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인증기준 10.7 · 11.3 무결성 요구</a:t>
            </a:r>
            <a:endParaRPr lang="en-US" sz="1200" dirty="0"/>
          </a:p>
        </p:txBody>
      </p:sp>
      <p:sp>
        <p:nvSpPr>
          <p:cNvPr id="11" name="o134"/>
          <p:cNvSpPr/>
          <p:nvPr/>
        </p:nvSpPr>
        <p:spPr>
          <a:xfrm>
            <a:off x="609600" y="3390900"/>
            <a:ext cx="353568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12" name="o135"/>
          <p:cNvSpPr txBox="1"/>
          <p:nvPr/>
        </p:nvSpPr>
        <p:spPr>
          <a:xfrm>
            <a:off x="609600" y="3448050"/>
            <a:ext cx="133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2개</a:t>
            </a:r>
            <a:endParaRPr lang="en-US" sz="2200" dirty="0"/>
          </a:p>
        </p:txBody>
      </p:sp>
      <p:sp>
        <p:nvSpPr>
          <p:cNvPr id="13" name="o136"/>
          <p:cNvSpPr txBox="1"/>
          <p:nvPr/>
        </p:nvSpPr>
        <p:spPr>
          <a:xfrm>
            <a:off x="1943100" y="3543300"/>
            <a:ext cx="22021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조사 항목</a:t>
            </a:r>
            <a:endParaRPr lang="en-US" sz="1100" dirty="0"/>
          </a:p>
        </p:txBody>
      </p:sp>
      <p:sp>
        <p:nvSpPr>
          <p:cNvPr id="14" name="o137"/>
          <p:cNvSpPr txBox="1"/>
          <p:nvPr/>
        </p:nvSpPr>
        <p:spPr>
          <a:xfrm>
            <a:off x="4328160" y="20574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o138"/>
          <p:cNvSpPr txBox="1"/>
          <p:nvPr/>
        </p:nvSpPr>
        <p:spPr>
          <a:xfrm>
            <a:off x="4328160" y="2247900"/>
            <a:ext cx="353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</a:t>
            </a:r>
            <a:endParaRPr lang="en-US" sz="1500" dirty="0"/>
          </a:p>
        </p:txBody>
      </p:sp>
      <p:sp>
        <p:nvSpPr>
          <p:cNvPr id="16" name="o139"/>
          <p:cNvSpPr txBox="1"/>
          <p:nvPr/>
        </p:nvSpPr>
        <p:spPr>
          <a:xfrm>
            <a:off x="4328160" y="2533650"/>
            <a:ext cx="3535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교육일지 수기 작성 · 대면 서명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보건실 방문 제출 · 오프라인 결재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바인더 편철 — 검색 · 통계 불가</a:t>
            </a:r>
            <a:endParaRPr lang="en-US" sz="1200" dirty="0"/>
          </a:p>
        </p:txBody>
      </p:sp>
      <p:sp>
        <p:nvSpPr>
          <p:cNvPr id="17" name="o140"/>
          <p:cNvSpPr/>
          <p:nvPr/>
        </p:nvSpPr>
        <p:spPr>
          <a:xfrm>
            <a:off x="4328160" y="3390900"/>
            <a:ext cx="353568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18" name="o141"/>
          <p:cNvSpPr txBox="1"/>
          <p:nvPr/>
        </p:nvSpPr>
        <p:spPr>
          <a:xfrm>
            <a:off x="4328160" y="3448050"/>
            <a:ext cx="133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o142"/>
          <p:cNvSpPr txBox="1"/>
          <p:nvPr/>
        </p:nvSpPr>
        <p:spPr>
          <a:xfrm>
            <a:off x="5661660" y="3543300"/>
            <a:ext cx="22021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처리 비율</a:t>
            </a:r>
            <a:endParaRPr lang="en-US" sz="1100" dirty="0"/>
          </a:p>
        </p:txBody>
      </p:sp>
      <p:sp>
        <p:nvSpPr>
          <p:cNvPr id="20" name="o143"/>
          <p:cNvSpPr txBox="1"/>
          <p:nvPr/>
        </p:nvSpPr>
        <p:spPr>
          <a:xfrm>
            <a:off x="8046720" y="20574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o144"/>
          <p:cNvSpPr txBox="1"/>
          <p:nvPr/>
        </p:nvSpPr>
        <p:spPr>
          <a:xfrm>
            <a:off x="8046720" y="2247900"/>
            <a:ext cx="353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 (ESG)</a:t>
            </a:r>
            <a:endParaRPr lang="en-US" sz="1500" dirty="0"/>
          </a:p>
        </p:txBody>
      </p:sp>
      <p:sp>
        <p:nvSpPr>
          <p:cNvPr id="22" name="o145"/>
          <p:cNvSpPr txBox="1"/>
          <p:nvPr/>
        </p:nvSpPr>
        <p:spPr>
          <a:xfrm>
            <a:off x="8046720" y="2533650"/>
            <a:ext cx="3535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출력 · 운반 · 보관의 자원 낭비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친환경 경영 방향과 불일치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MSDS 개정본 비치 확인 어려움</a:t>
            </a:r>
            <a:endParaRPr lang="en-US" sz="1200" dirty="0"/>
          </a:p>
        </p:txBody>
      </p:sp>
      <p:sp>
        <p:nvSpPr>
          <p:cNvPr id="23" name="o146"/>
          <p:cNvSpPr/>
          <p:nvPr/>
        </p:nvSpPr>
        <p:spPr>
          <a:xfrm>
            <a:off x="8046720" y="3390900"/>
            <a:ext cx="353568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4" name="o147"/>
          <p:cNvSpPr txBox="1"/>
          <p:nvPr/>
        </p:nvSpPr>
        <p:spPr>
          <a:xfrm>
            <a:off x="8046720" y="3448050"/>
            <a:ext cx="133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94건</a:t>
            </a:r>
            <a:endParaRPr lang="en-US" sz="2200" dirty="0"/>
          </a:p>
        </p:txBody>
      </p:sp>
      <p:sp>
        <p:nvSpPr>
          <p:cNvPr id="25" name="o148"/>
          <p:cNvSpPr txBox="1"/>
          <p:nvPr/>
        </p:nvSpPr>
        <p:spPr>
          <a:xfrm>
            <a:off x="9380220" y="3543300"/>
            <a:ext cx="22021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종이 출력</a:t>
            </a:r>
            <a:endParaRPr lang="en-US" sz="1100" dirty="0"/>
          </a:p>
        </p:txBody>
      </p:sp>
      <p:sp>
        <p:nvSpPr>
          <p:cNvPr id="26" name="o149"/>
          <p:cNvSpPr txBox="1"/>
          <p:nvPr/>
        </p:nvSpPr>
        <p:spPr>
          <a:xfrm>
            <a:off x="609600" y="4000500"/>
            <a:ext cx="6324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 전환 경로 — 한 건의 교육일지</a:t>
            </a:r>
            <a:endParaRPr lang="en-US" sz="1200" dirty="0"/>
          </a:p>
        </p:txBody>
      </p:sp>
      <p:sp>
        <p:nvSpPr>
          <p:cNvPr id="27" name="o150"/>
          <p:cNvSpPr/>
          <p:nvPr/>
        </p:nvSpPr>
        <p:spPr>
          <a:xfrm>
            <a:off x="609600" y="4229100"/>
            <a:ext cx="6324600" cy="32385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8" name="o151"/>
          <p:cNvSpPr txBox="1"/>
          <p:nvPr/>
        </p:nvSpPr>
        <p:spPr>
          <a:xfrm>
            <a:off x="704850" y="4229100"/>
            <a:ext cx="13274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100" dirty="0"/>
          </a:p>
        </p:txBody>
      </p:sp>
      <p:sp>
        <p:nvSpPr>
          <p:cNvPr id="29" name="o152"/>
          <p:cNvSpPr txBox="1"/>
          <p:nvPr/>
        </p:nvSpPr>
        <p:spPr>
          <a:xfrm>
            <a:off x="2222754" y="4229100"/>
            <a:ext cx="19598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매체</a:t>
            </a:r>
            <a:endParaRPr lang="en-US" sz="1100" dirty="0"/>
          </a:p>
        </p:txBody>
      </p:sp>
      <p:sp>
        <p:nvSpPr>
          <p:cNvPr id="30" name="o153"/>
          <p:cNvSpPr txBox="1"/>
          <p:nvPr/>
        </p:nvSpPr>
        <p:spPr>
          <a:xfrm>
            <a:off x="4373118" y="4229100"/>
            <a:ext cx="24658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100" dirty="0"/>
          </a:p>
        </p:txBody>
      </p:sp>
      <p:sp>
        <p:nvSpPr>
          <p:cNvPr id="31" name="o154"/>
          <p:cNvSpPr/>
          <p:nvPr/>
        </p:nvSpPr>
        <p:spPr>
          <a:xfrm>
            <a:off x="609600" y="455295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2" name="o155"/>
          <p:cNvSpPr txBox="1"/>
          <p:nvPr/>
        </p:nvSpPr>
        <p:spPr>
          <a:xfrm>
            <a:off x="704850" y="4552950"/>
            <a:ext cx="13274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· 전송</a:t>
            </a:r>
            <a:endParaRPr lang="en-US" sz="1200" dirty="0"/>
          </a:p>
        </p:txBody>
      </p:sp>
      <p:sp>
        <p:nvSpPr>
          <p:cNvPr id="33" name="o156"/>
          <p:cNvSpPr txBox="1"/>
          <p:nvPr/>
        </p:nvSpPr>
        <p:spPr>
          <a:xfrm>
            <a:off x="2222754" y="4552950"/>
            <a:ext cx="19598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(PC · 메신저)</a:t>
            </a:r>
            <a:endParaRPr lang="en-US" sz="1200" dirty="0"/>
          </a:p>
        </p:txBody>
      </p:sp>
      <p:sp>
        <p:nvSpPr>
          <p:cNvPr id="34" name="o157"/>
          <p:cNvSpPr txBox="1"/>
          <p:nvPr/>
        </p:nvSpPr>
        <p:spPr>
          <a:xfrm>
            <a:off x="4373118" y="4552950"/>
            <a:ext cx="24658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양식 반복 작성</a:t>
            </a:r>
            <a:endParaRPr lang="en-US" sz="1200" dirty="0"/>
          </a:p>
        </p:txBody>
      </p:sp>
      <p:sp>
        <p:nvSpPr>
          <p:cNvPr id="35" name="o158"/>
          <p:cNvSpPr/>
          <p:nvPr/>
        </p:nvSpPr>
        <p:spPr>
          <a:xfrm>
            <a:off x="609600" y="48768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6" name="o159"/>
          <p:cNvSpPr txBox="1"/>
          <p:nvPr/>
        </p:nvSpPr>
        <p:spPr>
          <a:xfrm>
            <a:off x="704850" y="4876800"/>
            <a:ext cx="13274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서명 · 제출</a:t>
            </a:r>
            <a:endParaRPr lang="en-US" sz="1200" dirty="0"/>
          </a:p>
        </p:txBody>
      </p:sp>
      <p:sp>
        <p:nvSpPr>
          <p:cNvPr id="37" name="o160"/>
          <p:cNvSpPr txBox="1"/>
          <p:nvPr/>
        </p:nvSpPr>
        <p:spPr>
          <a:xfrm>
            <a:off x="2222754" y="4876800"/>
            <a:ext cx="19598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· 직접 방문</a:t>
            </a:r>
            <a:endParaRPr lang="en-US" sz="1200" dirty="0"/>
          </a:p>
        </p:txBody>
      </p:sp>
      <p:sp>
        <p:nvSpPr>
          <p:cNvPr id="38" name="o161"/>
          <p:cNvSpPr txBox="1"/>
          <p:nvPr/>
        </p:nvSpPr>
        <p:spPr>
          <a:xfrm>
            <a:off x="4373118" y="4876800"/>
            <a:ext cx="24658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7분 · 채널 이원화</a:t>
            </a:r>
            <a:endParaRPr lang="en-US" sz="1200" dirty="0"/>
          </a:p>
        </p:txBody>
      </p:sp>
      <p:sp>
        <p:nvSpPr>
          <p:cNvPr id="39" name="o162"/>
          <p:cNvSpPr/>
          <p:nvPr/>
        </p:nvSpPr>
        <p:spPr>
          <a:xfrm>
            <a:off x="609600" y="520065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0" name="o163"/>
          <p:cNvSpPr txBox="1"/>
          <p:nvPr/>
        </p:nvSpPr>
        <p:spPr>
          <a:xfrm>
            <a:off x="704850" y="5200650"/>
            <a:ext cx="13274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결재 · 보관</a:t>
            </a:r>
            <a:endParaRPr lang="en-US" sz="1200" dirty="0"/>
          </a:p>
        </p:txBody>
      </p:sp>
      <p:sp>
        <p:nvSpPr>
          <p:cNvPr id="41" name="o164"/>
          <p:cNvSpPr txBox="1"/>
          <p:nvPr/>
        </p:nvSpPr>
        <p:spPr>
          <a:xfrm>
            <a:off x="2222754" y="5200650"/>
            <a:ext cx="19598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· 바인더</a:t>
            </a:r>
            <a:endParaRPr lang="en-US" sz="1200" dirty="0"/>
          </a:p>
        </p:txBody>
      </p:sp>
      <p:sp>
        <p:nvSpPr>
          <p:cNvPr id="42" name="o165"/>
          <p:cNvSpPr txBox="1"/>
          <p:nvPr/>
        </p:nvSpPr>
        <p:spPr>
          <a:xfrm>
            <a:off x="4373118" y="5200650"/>
            <a:ext cx="24658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 19분 24초 · 검색 불가</a:t>
            </a:r>
            <a:endParaRPr lang="en-US" sz="1200" dirty="0"/>
          </a:p>
        </p:txBody>
      </p:sp>
      <p:sp>
        <p:nvSpPr>
          <p:cNvPr id="43" name="o166"/>
          <p:cNvSpPr/>
          <p:nvPr/>
        </p:nvSpPr>
        <p:spPr>
          <a:xfrm>
            <a:off x="609600" y="55245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4" name="o167"/>
          <p:cNvSpPr txBox="1"/>
          <p:nvPr/>
        </p:nvSpPr>
        <p:spPr>
          <a:xfrm>
            <a:off x="704850" y="5524500"/>
            <a:ext cx="13274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 확인</a:t>
            </a:r>
            <a:endParaRPr lang="en-US" sz="1200" dirty="0"/>
          </a:p>
        </p:txBody>
      </p:sp>
      <p:sp>
        <p:nvSpPr>
          <p:cNvPr id="45" name="o168"/>
          <p:cNvSpPr txBox="1"/>
          <p:nvPr/>
        </p:nvSpPr>
        <p:spPr>
          <a:xfrm>
            <a:off x="2222754" y="5524500"/>
            <a:ext cx="19598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 (수작업 대조)</a:t>
            </a:r>
            <a:endParaRPr lang="en-US" sz="1200" dirty="0"/>
          </a:p>
        </p:txBody>
      </p:sp>
      <p:sp>
        <p:nvSpPr>
          <p:cNvPr id="46" name="o169"/>
          <p:cNvSpPr txBox="1"/>
          <p:nvPr/>
        </p:nvSpPr>
        <p:spPr>
          <a:xfrm>
            <a:off x="4373118" y="5524500"/>
            <a:ext cx="24658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누락 확인 불가</a:t>
            </a:r>
            <a:endParaRPr lang="en-US" sz="1200" dirty="0"/>
          </a:p>
        </p:txBody>
      </p:sp>
      <p:sp>
        <p:nvSpPr>
          <p:cNvPr id="47" name="o170"/>
          <p:cNvSpPr/>
          <p:nvPr/>
        </p:nvSpPr>
        <p:spPr>
          <a:xfrm>
            <a:off x="609600" y="584835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8" name="o171"/>
          <p:cNvSpPr/>
          <p:nvPr/>
        </p:nvSpPr>
        <p:spPr>
          <a:xfrm>
            <a:off x="609600" y="42291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9" name="o172"/>
          <p:cNvSpPr/>
          <p:nvPr/>
        </p:nvSpPr>
        <p:spPr>
          <a:xfrm>
            <a:off x="7117080" y="4229100"/>
            <a:ext cx="4465320" cy="161925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50" name="o173"/>
          <p:cNvSpPr/>
          <p:nvPr/>
        </p:nvSpPr>
        <p:spPr>
          <a:xfrm>
            <a:off x="7117080" y="4229100"/>
            <a:ext cx="91440" cy="161925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51" name="o174"/>
          <p:cNvSpPr txBox="1"/>
          <p:nvPr/>
        </p:nvSpPr>
        <p:spPr>
          <a:xfrm>
            <a:off x="7351395" y="4371975"/>
            <a:ext cx="408813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→ 종이 → 디지털로 매체가 세 번 바뀌는 구조가 누락과 대기의 공통 원인이었다.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모바일 기반 통합 체계를 목표로 잡았다.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175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1.2</a:t>
            </a:r>
            <a:endParaRPr lang="en-US" sz="1100" dirty="0"/>
          </a:p>
        </p:txBody>
      </p:sp>
      <p:sp>
        <p:nvSpPr>
          <p:cNvPr id="3" name="o176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행정시간의 78%가 이동 · 대기였고, 그 사이 신규 입사자 교육 6건 중 1건이 누락됐다</a:t>
            </a:r>
            <a:endParaRPr lang="en-US" sz="2800" dirty="0"/>
          </a:p>
        </p:txBody>
      </p:sp>
      <p:sp>
        <p:nvSpPr>
          <p:cNvPr id="4" name="o177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법정교육 이행 현황(좌)과 특별안전보건교육 1건의 행정시간 구성(우)</a:t>
            </a:r>
            <a:endParaRPr lang="en-US" sz="1400" dirty="0"/>
          </a:p>
        </p:txBody>
      </p:sp>
      <p:sp>
        <p:nvSpPr>
          <p:cNvPr id="5" name="o178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179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2025.01–12 입사자 명단 ↔ 교육일지 대조 전수조사(n=106) · Time Study 2025.01</a:t>
            </a:r>
            <a:endParaRPr lang="en-US" sz="800" dirty="0"/>
          </a:p>
        </p:txBody>
      </p:sp>
      <p:sp>
        <p:nvSpPr>
          <p:cNvPr id="7" name="o180"/>
          <p:cNvSpPr txBox="1"/>
          <p:nvPr/>
        </p:nvSpPr>
        <p:spPr>
          <a:xfrm>
            <a:off x="7943850" y="6143625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Note: 비부가가치 = 직접 제출 7:00 + 결재 19:24</a:t>
            </a:r>
            <a:endParaRPr lang="en-US" sz="800" dirty="0"/>
          </a:p>
        </p:txBody>
      </p:sp>
      <p:sp>
        <p:nvSpPr>
          <p:cNvPr id="8" name="o181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o182"/>
          <p:cNvSpPr txBox="1"/>
          <p:nvPr/>
        </p:nvSpPr>
        <p:spPr>
          <a:xfrm>
            <a:off x="609600" y="2057400"/>
            <a:ext cx="6324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신규 입사자 교육 건수 (건)</a:t>
            </a:r>
            <a:endParaRPr lang="en-US" sz="1200" dirty="0"/>
          </a:p>
        </p:txBody>
      </p:sp>
      <p:graphicFrame>
        <p:nvGraphicFramePr>
          <p:cNvPr id="10" name="o183" descr=""/>
          <p:cNvGraphicFramePr/>
          <p:nvPr/>
        </p:nvGraphicFramePr>
        <p:xfrm>
          <a:off x="552450" y="2247900"/>
          <a:ext cx="6381750" cy="2571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o184"/>
          <p:cNvSpPr txBox="1"/>
          <p:nvPr/>
        </p:nvSpPr>
        <p:spPr>
          <a:xfrm>
            <a:off x="6172200" y="22860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/>
          </a:p>
        </p:txBody>
      </p:sp>
      <p:sp>
        <p:nvSpPr>
          <p:cNvPr id="12" name="o185"/>
          <p:cNvSpPr txBox="1"/>
          <p:nvPr/>
        </p:nvSpPr>
        <p:spPr>
          <a:xfrm>
            <a:off x="6172200" y="245745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이행</a:t>
            </a:r>
            <a:endParaRPr lang="en-US" sz="1100" dirty="0"/>
          </a:p>
        </p:txBody>
      </p:sp>
      <p:sp>
        <p:nvSpPr>
          <p:cNvPr id="13" name="o186"/>
          <p:cNvSpPr/>
          <p:nvPr/>
        </p:nvSpPr>
        <p:spPr>
          <a:xfrm>
            <a:off x="609600" y="4953000"/>
            <a:ext cx="6324600" cy="32385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4" name="o187"/>
          <p:cNvSpPr txBox="1"/>
          <p:nvPr/>
        </p:nvSpPr>
        <p:spPr>
          <a:xfrm>
            <a:off x="704850" y="4953000"/>
            <a:ext cx="18333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100" dirty="0"/>
          </a:p>
        </p:txBody>
      </p:sp>
      <p:sp>
        <p:nvSpPr>
          <p:cNvPr id="15" name="o188"/>
          <p:cNvSpPr txBox="1"/>
          <p:nvPr/>
        </p:nvSpPr>
        <p:spPr>
          <a:xfrm>
            <a:off x="2728722" y="495300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100" dirty="0"/>
          </a:p>
        </p:txBody>
      </p:sp>
      <p:sp>
        <p:nvSpPr>
          <p:cNvPr id="16" name="o189"/>
          <p:cNvSpPr txBox="1"/>
          <p:nvPr/>
        </p:nvSpPr>
        <p:spPr>
          <a:xfrm>
            <a:off x="3803904" y="495300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이행</a:t>
            </a:r>
            <a:endParaRPr lang="en-US" sz="1100" dirty="0"/>
          </a:p>
        </p:txBody>
      </p:sp>
      <p:sp>
        <p:nvSpPr>
          <p:cNvPr id="17" name="o190"/>
          <p:cNvSpPr txBox="1"/>
          <p:nvPr/>
        </p:nvSpPr>
        <p:spPr>
          <a:xfrm>
            <a:off x="4879086" y="495300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/>
          </a:p>
        </p:txBody>
      </p:sp>
      <p:sp>
        <p:nvSpPr>
          <p:cNvPr id="18" name="o191"/>
          <p:cNvSpPr txBox="1"/>
          <p:nvPr/>
        </p:nvSpPr>
        <p:spPr>
          <a:xfrm>
            <a:off x="5954268" y="495300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이행률</a:t>
            </a:r>
            <a:endParaRPr lang="en-US" sz="1100" dirty="0"/>
          </a:p>
        </p:txBody>
      </p:sp>
      <p:sp>
        <p:nvSpPr>
          <p:cNvPr id="19" name="o192"/>
          <p:cNvSpPr/>
          <p:nvPr/>
        </p:nvSpPr>
        <p:spPr>
          <a:xfrm>
            <a:off x="609600" y="527685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0" name="o193"/>
          <p:cNvSpPr txBox="1"/>
          <p:nvPr/>
        </p:nvSpPr>
        <p:spPr>
          <a:xfrm>
            <a:off x="704850" y="5276850"/>
            <a:ext cx="18333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 연간</a:t>
            </a:r>
            <a:endParaRPr lang="en-US" sz="1200" dirty="0"/>
          </a:p>
        </p:txBody>
      </p:sp>
      <p:sp>
        <p:nvSpPr>
          <p:cNvPr id="21" name="o194"/>
          <p:cNvSpPr txBox="1"/>
          <p:nvPr/>
        </p:nvSpPr>
        <p:spPr>
          <a:xfrm>
            <a:off x="2728722" y="527685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106</a:t>
            </a:r>
            <a:endParaRPr lang="en-US" sz="1200" dirty="0"/>
          </a:p>
        </p:txBody>
      </p:sp>
      <p:sp>
        <p:nvSpPr>
          <p:cNvPr id="22" name="o195"/>
          <p:cNvSpPr txBox="1"/>
          <p:nvPr/>
        </p:nvSpPr>
        <p:spPr>
          <a:xfrm>
            <a:off x="3803904" y="527685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88</a:t>
            </a:r>
            <a:endParaRPr lang="en-US" sz="1200" dirty="0"/>
          </a:p>
        </p:txBody>
      </p:sp>
      <p:sp>
        <p:nvSpPr>
          <p:cNvPr id="23" name="o196"/>
          <p:cNvSpPr txBox="1"/>
          <p:nvPr/>
        </p:nvSpPr>
        <p:spPr>
          <a:xfrm>
            <a:off x="4879086" y="527685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  <p:sp>
        <p:nvSpPr>
          <p:cNvPr id="24" name="o197"/>
          <p:cNvSpPr txBox="1"/>
          <p:nvPr/>
        </p:nvSpPr>
        <p:spPr>
          <a:xfrm>
            <a:off x="5954268" y="527685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83%</a:t>
            </a:r>
            <a:endParaRPr lang="en-US" sz="1200" dirty="0"/>
          </a:p>
        </p:txBody>
      </p:sp>
      <p:sp>
        <p:nvSpPr>
          <p:cNvPr id="25" name="o198"/>
          <p:cNvSpPr/>
          <p:nvPr/>
        </p:nvSpPr>
        <p:spPr>
          <a:xfrm>
            <a:off x="609600" y="56007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6" name="o199"/>
          <p:cNvSpPr txBox="1"/>
          <p:nvPr/>
        </p:nvSpPr>
        <p:spPr>
          <a:xfrm>
            <a:off x="704850" y="5600700"/>
            <a:ext cx="18333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11월 (최저)</a:t>
            </a:r>
            <a:endParaRPr lang="en-US" sz="1200" dirty="0"/>
          </a:p>
        </p:txBody>
      </p:sp>
      <p:sp>
        <p:nvSpPr>
          <p:cNvPr id="27" name="o200"/>
          <p:cNvSpPr txBox="1"/>
          <p:nvPr/>
        </p:nvSpPr>
        <p:spPr>
          <a:xfrm>
            <a:off x="2728722" y="560070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  <p:sp>
        <p:nvSpPr>
          <p:cNvPr id="28" name="o201"/>
          <p:cNvSpPr txBox="1"/>
          <p:nvPr/>
        </p:nvSpPr>
        <p:spPr>
          <a:xfrm>
            <a:off x="3803904" y="560070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  <p:sp>
        <p:nvSpPr>
          <p:cNvPr id="29" name="o202"/>
          <p:cNvSpPr txBox="1"/>
          <p:nvPr/>
        </p:nvSpPr>
        <p:spPr>
          <a:xfrm>
            <a:off x="4879086" y="560070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o203"/>
          <p:cNvSpPr txBox="1"/>
          <p:nvPr/>
        </p:nvSpPr>
        <p:spPr>
          <a:xfrm>
            <a:off x="5954268" y="5600700"/>
            <a:ext cx="884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59%</a:t>
            </a:r>
            <a:endParaRPr lang="en-US" sz="1200" dirty="0"/>
          </a:p>
        </p:txBody>
      </p:sp>
      <p:sp>
        <p:nvSpPr>
          <p:cNvPr id="31" name="o204"/>
          <p:cNvSpPr/>
          <p:nvPr/>
        </p:nvSpPr>
        <p:spPr>
          <a:xfrm>
            <a:off x="609600" y="592455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2" name="o205"/>
          <p:cNvSpPr/>
          <p:nvPr/>
        </p:nvSpPr>
        <p:spPr>
          <a:xfrm>
            <a:off x="609600" y="49530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3" name="o206"/>
          <p:cNvSpPr txBox="1"/>
          <p:nvPr/>
        </p:nvSpPr>
        <p:spPr>
          <a:xfrm>
            <a:off x="7117080" y="2057400"/>
            <a:ext cx="4465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특별안전보건교육 1건 행정시간 (분:초)</a:t>
            </a:r>
            <a:endParaRPr lang="en-US" sz="1200" dirty="0"/>
          </a:p>
        </p:txBody>
      </p:sp>
      <p:sp>
        <p:nvSpPr>
          <p:cNvPr id="34" name="o207"/>
          <p:cNvSpPr/>
          <p:nvPr/>
        </p:nvSpPr>
        <p:spPr>
          <a:xfrm>
            <a:off x="7228713" y="3896796"/>
            <a:ext cx="334899" cy="103704"/>
          </a:xfrm>
          <a:prstGeom prst="rect">
            <a:avLst/>
          </a:prstGeom>
          <a:solidFill>
            <a:srgbClr val="9CA3AC"/>
          </a:solidFill>
          <a:ln/>
        </p:spPr>
      </p:sp>
      <p:sp>
        <p:nvSpPr>
          <p:cNvPr id="35" name="o208"/>
          <p:cNvSpPr txBox="1"/>
          <p:nvPr/>
        </p:nvSpPr>
        <p:spPr>
          <a:xfrm>
            <a:off x="7133463" y="3744396"/>
            <a:ext cx="525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2:18</a:t>
            </a:r>
            <a:endParaRPr lang="en-US" sz="900" dirty="0"/>
          </a:p>
        </p:txBody>
      </p:sp>
      <p:sp>
        <p:nvSpPr>
          <p:cNvPr id="36" name="o209"/>
          <p:cNvSpPr txBox="1"/>
          <p:nvPr/>
        </p:nvSpPr>
        <p:spPr>
          <a:xfrm>
            <a:off x="7228713" y="4038600"/>
            <a:ext cx="334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000" dirty="0"/>
          </a:p>
        </p:txBody>
      </p:sp>
      <p:sp>
        <p:nvSpPr>
          <p:cNvPr id="37" name="o210"/>
          <p:cNvSpPr/>
          <p:nvPr/>
        </p:nvSpPr>
        <p:spPr>
          <a:xfrm>
            <a:off x="7563612" y="3896796"/>
            <a:ext cx="223266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38" name="o211"/>
          <p:cNvSpPr/>
          <p:nvPr/>
        </p:nvSpPr>
        <p:spPr>
          <a:xfrm>
            <a:off x="7786878" y="3851707"/>
            <a:ext cx="334899" cy="45089"/>
          </a:xfrm>
          <a:prstGeom prst="rect">
            <a:avLst/>
          </a:prstGeom>
          <a:solidFill>
            <a:srgbClr val="9CA3AC"/>
          </a:solidFill>
          <a:ln/>
        </p:spPr>
      </p:sp>
      <p:sp>
        <p:nvSpPr>
          <p:cNvPr id="39" name="o212"/>
          <p:cNvSpPr txBox="1"/>
          <p:nvPr/>
        </p:nvSpPr>
        <p:spPr>
          <a:xfrm>
            <a:off x="7691628" y="3699307"/>
            <a:ext cx="525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1:00</a:t>
            </a:r>
            <a:endParaRPr lang="en-US" sz="900" dirty="0"/>
          </a:p>
        </p:txBody>
      </p:sp>
      <p:sp>
        <p:nvSpPr>
          <p:cNvPr id="40" name="o213"/>
          <p:cNvSpPr txBox="1"/>
          <p:nvPr/>
        </p:nvSpPr>
        <p:spPr>
          <a:xfrm>
            <a:off x="7786878" y="4038600"/>
            <a:ext cx="334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000" dirty="0"/>
          </a:p>
        </p:txBody>
      </p:sp>
      <p:sp>
        <p:nvSpPr>
          <p:cNvPr id="41" name="o214"/>
          <p:cNvSpPr/>
          <p:nvPr/>
        </p:nvSpPr>
        <p:spPr>
          <a:xfrm>
            <a:off x="8121777" y="3851707"/>
            <a:ext cx="223266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42" name="o215"/>
          <p:cNvSpPr/>
          <p:nvPr/>
        </p:nvSpPr>
        <p:spPr>
          <a:xfrm>
            <a:off x="8345043" y="3784074"/>
            <a:ext cx="334899" cy="67633"/>
          </a:xfrm>
          <a:prstGeom prst="rect">
            <a:avLst/>
          </a:prstGeom>
          <a:solidFill>
            <a:srgbClr val="9CA3AC"/>
          </a:solidFill>
          <a:ln/>
        </p:spPr>
      </p:sp>
      <p:sp>
        <p:nvSpPr>
          <p:cNvPr id="43" name="o216"/>
          <p:cNvSpPr txBox="1"/>
          <p:nvPr/>
        </p:nvSpPr>
        <p:spPr>
          <a:xfrm>
            <a:off x="8249793" y="3631674"/>
            <a:ext cx="525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1:30</a:t>
            </a:r>
            <a:endParaRPr lang="en-US" sz="900" dirty="0"/>
          </a:p>
        </p:txBody>
      </p:sp>
      <p:sp>
        <p:nvSpPr>
          <p:cNvPr id="44" name="o217"/>
          <p:cNvSpPr txBox="1"/>
          <p:nvPr/>
        </p:nvSpPr>
        <p:spPr>
          <a:xfrm>
            <a:off x="8345043" y="4038600"/>
            <a:ext cx="334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000" dirty="0"/>
          </a:p>
        </p:txBody>
      </p:sp>
      <p:sp>
        <p:nvSpPr>
          <p:cNvPr id="45" name="o218"/>
          <p:cNvSpPr/>
          <p:nvPr/>
        </p:nvSpPr>
        <p:spPr>
          <a:xfrm>
            <a:off x="8679942" y="3784074"/>
            <a:ext cx="223266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46" name="o219"/>
          <p:cNvSpPr/>
          <p:nvPr/>
        </p:nvSpPr>
        <p:spPr>
          <a:xfrm>
            <a:off x="8903208" y="3468453"/>
            <a:ext cx="334899" cy="315621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47" name="o220"/>
          <p:cNvSpPr txBox="1"/>
          <p:nvPr/>
        </p:nvSpPr>
        <p:spPr>
          <a:xfrm>
            <a:off x="8807958" y="3316053"/>
            <a:ext cx="525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7:00</a:t>
            </a:r>
            <a:endParaRPr lang="en-US" sz="900" dirty="0"/>
          </a:p>
        </p:txBody>
      </p:sp>
      <p:sp>
        <p:nvSpPr>
          <p:cNvPr id="48" name="o221"/>
          <p:cNvSpPr txBox="1"/>
          <p:nvPr/>
        </p:nvSpPr>
        <p:spPr>
          <a:xfrm>
            <a:off x="8903208" y="4038600"/>
            <a:ext cx="334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000" dirty="0"/>
          </a:p>
        </p:txBody>
      </p:sp>
      <p:sp>
        <p:nvSpPr>
          <p:cNvPr id="49" name="o222"/>
          <p:cNvSpPr/>
          <p:nvPr/>
        </p:nvSpPr>
        <p:spPr>
          <a:xfrm>
            <a:off x="9238107" y="3468453"/>
            <a:ext cx="223266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50" name="o223"/>
          <p:cNvSpPr/>
          <p:nvPr/>
        </p:nvSpPr>
        <p:spPr>
          <a:xfrm>
            <a:off x="9461373" y="3445908"/>
            <a:ext cx="334899" cy="22544"/>
          </a:xfrm>
          <a:prstGeom prst="rect">
            <a:avLst/>
          </a:prstGeom>
          <a:solidFill>
            <a:srgbClr val="9CA3AC"/>
          </a:solidFill>
          <a:ln/>
        </p:spPr>
      </p:sp>
      <p:sp>
        <p:nvSpPr>
          <p:cNvPr id="51" name="o224"/>
          <p:cNvSpPr txBox="1"/>
          <p:nvPr/>
        </p:nvSpPr>
        <p:spPr>
          <a:xfrm>
            <a:off x="9366123" y="3293508"/>
            <a:ext cx="525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0:30</a:t>
            </a:r>
            <a:endParaRPr lang="en-US" sz="900" dirty="0"/>
          </a:p>
        </p:txBody>
      </p:sp>
      <p:sp>
        <p:nvSpPr>
          <p:cNvPr id="52" name="o225"/>
          <p:cNvSpPr txBox="1"/>
          <p:nvPr/>
        </p:nvSpPr>
        <p:spPr>
          <a:xfrm>
            <a:off x="9461373" y="4038600"/>
            <a:ext cx="334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000" dirty="0"/>
          </a:p>
        </p:txBody>
      </p:sp>
      <p:sp>
        <p:nvSpPr>
          <p:cNvPr id="53" name="o226"/>
          <p:cNvSpPr/>
          <p:nvPr/>
        </p:nvSpPr>
        <p:spPr>
          <a:xfrm>
            <a:off x="9796272" y="3445908"/>
            <a:ext cx="223266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54" name="o227"/>
          <p:cNvSpPr/>
          <p:nvPr/>
        </p:nvSpPr>
        <p:spPr>
          <a:xfrm>
            <a:off x="10019538" y="3351222"/>
            <a:ext cx="334899" cy="94686"/>
          </a:xfrm>
          <a:prstGeom prst="rect">
            <a:avLst/>
          </a:prstGeom>
          <a:solidFill>
            <a:srgbClr val="9CA3AC"/>
          </a:solidFill>
          <a:ln/>
        </p:spPr>
      </p:sp>
      <p:sp>
        <p:nvSpPr>
          <p:cNvPr id="55" name="o228"/>
          <p:cNvSpPr txBox="1"/>
          <p:nvPr/>
        </p:nvSpPr>
        <p:spPr>
          <a:xfrm>
            <a:off x="9924288" y="3198822"/>
            <a:ext cx="525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2:06</a:t>
            </a:r>
            <a:endParaRPr lang="en-US" sz="900" dirty="0"/>
          </a:p>
        </p:txBody>
      </p:sp>
      <p:sp>
        <p:nvSpPr>
          <p:cNvPr id="56" name="o229"/>
          <p:cNvSpPr txBox="1"/>
          <p:nvPr/>
        </p:nvSpPr>
        <p:spPr>
          <a:xfrm>
            <a:off x="10019538" y="4038600"/>
            <a:ext cx="334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000" dirty="0"/>
          </a:p>
        </p:txBody>
      </p:sp>
      <p:sp>
        <p:nvSpPr>
          <p:cNvPr id="57" name="o230"/>
          <p:cNvSpPr/>
          <p:nvPr/>
        </p:nvSpPr>
        <p:spPr>
          <a:xfrm>
            <a:off x="10354437" y="3351222"/>
            <a:ext cx="223266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58" name="o231"/>
          <p:cNvSpPr/>
          <p:nvPr/>
        </p:nvSpPr>
        <p:spPr>
          <a:xfrm>
            <a:off x="10577703" y="2476500"/>
            <a:ext cx="334899" cy="874722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59" name="o232"/>
          <p:cNvSpPr txBox="1"/>
          <p:nvPr/>
        </p:nvSpPr>
        <p:spPr>
          <a:xfrm>
            <a:off x="10482453" y="2324100"/>
            <a:ext cx="525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19:24</a:t>
            </a:r>
            <a:endParaRPr lang="en-US" sz="900" dirty="0"/>
          </a:p>
        </p:txBody>
      </p:sp>
      <p:sp>
        <p:nvSpPr>
          <p:cNvPr id="60" name="o233"/>
          <p:cNvSpPr txBox="1"/>
          <p:nvPr/>
        </p:nvSpPr>
        <p:spPr>
          <a:xfrm>
            <a:off x="10577703" y="4038600"/>
            <a:ext cx="334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</a:t>
            </a:r>
            <a:endParaRPr lang="en-US" sz="1000" dirty="0"/>
          </a:p>
        </p:txBody>
      </p:sp>
      <p:sp>
        <p:nvSpPr>
          <p:cNvPr id="61" name="o234"/>
          <p:cNvSpPr/>
          <p:nvPr/>
        </p:nvSpPr>
        <p:spPr>
          <a:xfrm>
            <a:off x="11135868" y="2476500"/>
            <a:ext cx="334899" cy="1524000"/>
          </a:xfrm>
          <a:prstGeom prst="rect">
            <a:avLst/>
          </a:prstGeom>
          <a:solidFill>
            <a:srgbClr val="5B636E"/>
          </a:solidFill>
          <a:ln/>
        </p:spPr>
      </p:sp>
      <p:sp>
        <p:nvSpPr>
          <p:cNvPr id="62" name="o235"/>
          <p:cNvSpPr txBox="1"/>
          <p:nvPr/>
        </p:nvSpPr>
        <p:spPr>
          <a:xfrm>
            <a:off x="11021568" y="2324100"/>
            <a:ext cx="563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33:48</a:t>
            </a:r>
            <a:endParaRPr lang="en-US" sz="900" dirty="0"/>
          </a:p>
        </p:txBody>
      </p:sp>
      <p:sp>
        <p:nvSpPr>
          <p:cNvPr id="63" name="o236"/>
          <p:cNvSpPr txBox="1"/>
          <p:nvPr/>
        </p:nvSpPr>
        <p:spPr>
          <a:xfrm>
            <a:off x="11135868" y="4038600"/>
            <a:ext cx="334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000" dirty="0"/>
          </a:p>
        </p:txBody>
      </p:sp>
      <p:sp>
        <p:nvSpPr>
          <p:cNvPr id="64" name="o237"/>
          <p:cNvSpPr/>
          <p:nvPr/>
        </p:nvSpPr>
        <p:spPr>
          <a:xfrm>
            <a:off x="7117080" y="4000500"/>
            <a:ext cx="4465320" cy="0"/>
          </a:xfrm>
          <a:prstGeom prst="line">
            <a:avLst/>
          </a:prstGeom>
          <a:noFill/>
          <a:ln w="9525">
            <a:solidFill>
              <a:srgbClr val="5B636E"/>
            </a:solidFill>
            <a:prstDash val="solid"/>
          </a:ln>
        </p:spPr>
      </p:sp>
      <p:sp>
        <p:nvSpPr>
          <p:cNvPr id="65" name="o238"/>
          <p:cNvSpPr txBox="1"/>
          <p:nvPr/>
        </p:nvSpPr>
        <p:spPr>
          <a:xfrm>
            <a:off x="7117080" y="4210050"/>
            <a:ext cx="4465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초안 ② 전송 ③ 출력·서명 ④ 직접 제출 ⑤ 사진 ⑥ 파일링 ⑦ 결재</a:t>
            </a:r>
            <a:endParaRPr lang="en-US" sz="900" dirty="0"/>
          </a:p>
        </p:txBody>
      </p:sp>
      <p:sp>
        <p:nvSpPr>
          <p:cNvPr id="66" name="o239"/>
          <p:cNvSpPr/>
          <p:nvPr/>
        </p:nvSpPr>
        <p:spPr>
          <a:xfrm>
            <a:off x="7117080" y="4476750"/>
            <a:ext cx="136652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67" name="o240"/>
          <p:cNvSpPr txBox="1"/>
          <p:nvPr/>
        </p:nvSpPr>
        <p:spPr>
          <a:xfrm>
            <a:off x="7212330" y="4552950"/>
            <a:ext cx="11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누락률</a:t>
            </a:r>
            <a:endParaRPr lang="en-US" sz="900" dirty="0"/>
          </a:p>
        </p:txBody>
      </p:sp>
      <p:sp>
        <p:nvSpPr>
          <p:cNvPr id="68" name="o241"/>
          <p:cNvSpPr txBox="1"/>
          <p:nvPr/>
        </p:nvSpPr>
        <p:spPr>
          <a:xfrm>
            <a:off x="7212330" y="4705350"/>
            <a:ext cx="11760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17%</a:t>
            </a:r>
            <a:endParaRPr lang="en-US" sz="2000" dirty="0"/>
          </a:p>
        </p:txBody>
      </p:sp>
      <p:sp>
        <p:nvSpPr>
          <p:cNvPr id="69" name="o242"/>
          <p:cNvSpPr txBox="1"/>
          <p:nvPr/>
        </p:nvSpPr>
        <p:spPr>
          <a:xfrm>
            <a:off x="7212330" y="4953000"/>
            <a:ext cx="11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/ 106건</a:t>
            </a:r>
            <a:endParaRPr lang="en-US" sz="900" dirty="0"/>
          </a:p>
        </p:txBody>
      </p:sp>
      <p:sp>
        <p:nvSpPr>
          <p:cNvPr id="70" name="o243"/>
          <p:cNvSpPr/>
          <p:nvPr/>
        </p:nvSpPr>
        <p:spPr>
          <a:xfrm>
            <a:off x="8666480" y="4476750"/>
            <a:ext cx="136652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71" name="o244"/>
          <p:cNvSpPr txBox="1"/>
          <p:nvPr/>
        </p:nvSpPr>
        <p:spPr>
          <a:xfrm>
            <a:off x="8761730" y="4552950"/>
            <a:ext cx="11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비부가가치</a:t>
            </a:r>
            <a:endParaRPr lang="en-US" sz="900" dirty="0"/>
          </a:p>
        </p:txBody>
      </p:sp>
      <p:sp>
        <p:nvSpPr>
          <p:cNvPr id="72" name="o245"/>
          <p:cNvSpPr txBox="1"/>
          <p:nvPr/>
        </p:nvSpPr>
        <p:spPr>
          <a:xfrm>
            <a:off x="8761730" y="4705350"/>
            <a:ext cx="11760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78%</a:t>
            </a:r>
            <a:endParaRPr lang="en-US" sz="2000" dirty="0"/>
          </a:p>
        </p:txBody>
      </p:sp>
      <p:sp>
        <p:nvSpPr>
          <p:cNvPr id="73" name="o246"/>
          <p:cNvSpPr txBox="1"/>
          <p:nvPr/>
        </p:nvSpPr>
        <p:spPr>
          <a:xfrm>
            <a:off x="8761730" y="4953000"/>
            <a:ext cx="11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26:24 / 33:48</a:t>
            </a:r>
            <a:endParaRPr lang="en-US" sz="900" dirty="0"/>
          </a:p>
        </p:txBody>
      </p:sp>
      <p:sp>
        <p:nvSpPr>
          <p:cNvPr id="74" name="o247"/>
          <p:cNvSpPr/>
          <p:nvPr/>
        </p:nvSpPr>
        <p:spPr>
          <a:xfrm>
            <a:off x="10215880" y="4476750"/>
            <a:ext cx="136652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75" name="o248"/>
          <p:cNvSpPr txBox="1"/>
          <p:nvPr/>
        </p:nvSpPr>
        <p:spPr>
          <a:xfrm>
            <a:off x="10311130" y="4552950"/>
            <a:ext cx="11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MSDS 교육</a:t>
            </a:r>
            <a:endParaRPr lang="en-US" sz="900" dirty="0"/>
          </a:p>
        </p:txBody>
      </p:sp>
      <p:sp>
        <p:nvSpPr>
          <p:cNvPr id="76" name="o249"/>
          <p:cNvSpPr txBox="1"/>
          <p:nvPr/>
        </p:nvSpPr>
        <p:spPr>
          <a:xfrm>
            <a:off x="10311130" y="4705350"/>
            <a:ext cx="11760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4:18</a:t>
            </a:r>
            <a:endParaRPr lang="en-US" sz="2000" dirty="0"/>
          </a:p>
        </p:txBody>
      </p:sp>
      <p:sp>
        <p:nvSpPr>
          <p:cNvPr id="77" name="o250"/>
          <p:cNvSpPr txBox="1"/>
          <p:nvPr/>
        </p:nvSpPr>
        <p:spPr>
          <a:xfrm>
            <a:off x="10311130" y="4953000"/>
            <a:ext cx="11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1건 행정시간</a:t>
            </a:r>
            <a:endParaRPr lang="en-US" sz="900" dirty="0"/>
          </a:p>
        </p:txBody>
      </p:sp>
      <p:sp>
        <p:nvSpPr>
          <p:cNvPr id="78" name="o251"/>
          <p:cNvSpPr/>
          <p:nvPr/>
        </p:nvSpPr>
        <p:spPr>
          <a:xfrm>
            <a:off x="7117080" y="5257800"/>
            <a:ext cx="4465320" cy="6858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79" name="o252"/>
          <p:cNvSpPr/>
          <p:nvPr/>
        </p:nvSpPr>
        <p:spPr>
          <a:xfrm>
            <a:off x="7117080" y="5257800"/>
            <a:ext cx="91440" cy="6858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80" name="o253"/>
          <p:cNvSpPr txBox="1"/>
          <p:nvPr/>
        </p:nvSpPr>
        <p:spPr>
          <a:xfrm>
            <a:off x="7351395" y="5400675"/>
            <a:ext cx="40881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사람이 아니라 확인 체계 — 누가 아직 안 했는지 볼 수 없었다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254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1.3</a:t>
            </a:r>
            <a:endParaRPr lang="en-US" sz="1100" dirty="0"/>
          </a:p>
        </p:txBody>
      </p:sp>
      <p:sp>
        <p:nvSpPr>
          <p:cNvPr id="3" name="o255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지표로 법적 준수 · 효율 · 환경 · 인프라를 동시에 측정했다</a:t>
            </a:r>
            <a:endParaRPr lang="en-US" sz="2800" dirty="0"/>
          </a:p>
        </p:txBody>
      </p:sp>
      <p:sp>
        <p:nvSpPr>
          <p:cNvPr id="4" name="o256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정의, 산출식, 개선 전 기준값과 목표</a:t>
            </a:r>
            <a:endParaRPr lang="en-US" sz="1400" dirty="0"/>
          </a:p>
        </p:txBody>
      </p:sp>
      <p:sp>
        <p:nvSpPr>
          <p:cNvPr id="5" name="o257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258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2026 QI 활동 계획서(2026.05) · 대조 전수조사 · Time Study</a:t>
            </a:r>
            <a:endParaRPr lang="en-US" sz="800" dirty="0"/>
          </a:p>
        </p:txBody>
      </p:sp>
      <p:sp>
        <p:nvSpPr>
          <p:cNvPr id="7" name="o259"/>
          <p:cNvSpPr txBox="1"/>
          <p:nvPr/>
        </p:nvSpPr>
        <p:spPr>
          <a:xfrm>
            <a:off x="7943850" y="6143625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Note: 행정시간은 실제 교육 시간 제외</a:t>
            </a:r>
            <a:endParaRPr lang="en-US" sz="800" dirty="0"/>
          </a:p>
        </p:txBody>
      </p:sp>
      <p:sp>
        <p:nvSpPr>
          <p:cNvPr id="8" name="o260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o261"/>
          <p:cNvSpPr/>
          <p:nvPr/>
        </p:nvSpPr>
        <p:spPr>
          <a:xfrm>
            <a:off x="609600" y="2057400"/>
            <a:ext cx="10972800" cy="43815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o262"/>
          <p:cNvSpPr txBox="1"/>
          <p:nvPr/>
        </p:nvSpPr>
        <p:spPr>
          <a:xfrm>
            <a:off x="704850" y="2057400"/>
            <a:ext cx="79705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100" dirty="0"/>
          </a:p>
        </p:txBody>
      </p:sp>
      <p:sp>
        <p:nvSpPr>
          <p:cNvPr id="11" name="o263"/>
          <p:cNvSpPr txBox="1"/>
          <p:nvPr/>
        </p:nvSpPr>
        <p:spPr>
          <a:xfrm>
            <a:off x="1692402" y="2057400"/>
            <a:ext cx="20040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지표명</a:t>
            </a:r>
            <a:endParaRPr lang="en-US" sz="1100" dirty="0"/>
          </a:p>
        </p:txBody>
      </p:sp>
      <p:sp>
        <p:nvSpPr>
          <p:cNvPr id="12" name="o264"/>
          <p:cNvSpPr txBox="1"/>
          <p:nvPr/>
        </p:nvSpPr>
        <p:spPr>
          <a:xfrm>
            <a:off x="3886962" y="2057400"/>
            <a:ext cx="452780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산출식</a:t>
            </a:r>
            <a:endParaRPr lang="en-US" sz="1100" dirty="0"/>
          </a:p>
        </p:txBody>
      </p:sp>
      <p:sp>
        <p:nvSpPr>
          <p:cNvPr id="13" name="o265"/>
          <p:cNvSpPr txBox="1"/>
          <p:nvPr/>
        </p:nvSpPr>
        <p:spPr>
          <a:xfrm>
            <a:off x="8605266" y="2057400"/>
            <a:ext cx="11262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전</a:t>
            </a:r>
            <a:endParaRPr lang="en-US" sz="1100" dirty="0"/>
          </a:p>
        </p:txBody>
      </p:sp>
      <p:sp>
        <p:nvSpPr>
          <p:cNvPr id="14" name="o266"/>
          <p:cNvSpPr txBox="1"/>
          <p:nvPr/>
        </p:nvSpPr>
        <p:spPr>
          <a:xfrm>
            <a:off x="9922002" y="2057400"/>
            <a:ext cx="156514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100" dirty="0"/>
          </a:p>
        </p:txBody>
      </p:sp>
      <p:sp>
        <p:nvSpPr>
          <p:cNvPr id="15" name="o267"/>
          <p:cNvSpPr/>
          <p:nvPr/>
        </p:nvSpPr>
        <p:spPr>
          <a:xfrm>
            <a:off x="609600" y="2495550"/>
            <a:ext cx="109728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16" name="o268"/>
          <p:cNvSpPr txBox="1"/>
          <p:nvPr/>
        </p:nvSpPr>
        <p:spPr>
          <a:xfrm>
            <a:off x="704850" y="2495550"/>
            <a:ext cx="79705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</a:t>
            </a:r>
            <a:endParaRPr lang="en-US" sz="1300" dirty="0"/>
          </a:p>
        </p:txBody>
      </p:sp>
      <p:sp>
        <p:nvSpPr>
          <p:cNvPr id="17" name="o269"/>
          <p:cNvSpPr txBox="1"/>
          <p:nvPr/>
        </p:nvSpPr>
        <p:spPr>
          <a:xfrm>
            <a:off x="1692402" y="2495550"/>
            <a:ext cx="20040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의무교육 준수율</a:t>
            </a:r>
            <a:endParaRPr lang="en-US" sz="1300" dirty="0"/>
          </a:p>
        </p:txBody>
      </p:sp>
      <p:sp>
        <p:nvSpPr>
          <p:cNvPr id="18" name="o270"/>
          <p:cNvSpPr txBox="1"/>
          <p:nvPr/>
        </p:nvSpPr>
        <p:spPr>
          <a:xfrm>
            <a:off x="3886962" y="2495550"/>
            <a:ext cx="452780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 내 이행 완료 건수 ÷ 법정 교육 대상 건수</a:t>
            </a:r>
            <a:endParaRPr lang="en-US" sz="1300" dirty="0"/>
          </a:p>
        </p:txBody>
      </p:sp>
      <p:sp>
        <p:nvSpPr>
          <p:cNvPr id="19" name="o271"/>
          <p:cNvSpPr txBox="1"/>
          <p:nvPr/>
        </p:nvSpPr>
        <p:spPr>
          <a:xfrm>
            <a:off x="8605266" y="2495550"/>
            <a:ext cx="11262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83%</a:t>
            </a:r>
            <a:endParaRPr lang="en-US" sz="1300" dirty="0"/>
          </a:p>
        </p:txBody>
      </p:sp>
      <p:sp>
        <p:nvSpPr>
          <p:cNvPr id="20" name="o272"/>
          <p:cNvSpPr txBox="1"/>
          <p:nvPr/>
        </p:nvSpPr>
        <p:spPr>
          <a:xfrm>
            <a:off x="9922002" y="2495550"/>
            <a:ext cx="156514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(누락 0건)</a:t>
            </a:r>
            <a:endParaRPr lang="en-US" sz="1300" dirty="0"/>
          </a:p>
        </p:txBody>
      </p:sp>
      <p:sp>
        <p:nvSpPr>
          <p:cNvPr id="21" name="o273"/>
          <p:cNvSpPr/>
          <p:nvPr/>
        </p:nvSpPr>
        <p:spPr>
          <a:xfrm>
            <a:off x="609600" y="2933700"/>
            <a:ext cx="109728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2" name="o274"/>
          <p:cNvSpPr txBox="1"/>
          <p:nvPr/>
        </p:nvSpPr>
        <p:spPr>
          <a:xfrm>
            <a:off x="704850" y="2933700"/>
            <a:ext cx="79705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</a:t>
            </a:r>
            <a:endParaRPr lang="en-US" sz="1300" dirty="0"/>
          </a:p>
        </p:txBody>
      </p:sp>
      <p:sp>
        <p:nvSpPr>
          <p:cNvPr id="23" name="o275"/>
          <p:cNvSpPr txBox="1"/>
          <p:nvPr/>
        </p:nvSpPr>
        <p:spPr>
          <a:xfrm>
            <a:off x="1692402" y="2933700"/>
            <a:ext cx="20040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 소요시간 단축률</a:t>
            </a:r>
            <a:endParaRPr lang="en-US" sz="1300" dirty="0"/>
          </a:p>
        </p:txBody>
      </p:sp>
      <p:sp>
        <p:nvSpPr>
          <p:cNvPr id="24" name="o276"/>
          <p:cNvSpPr txBox="1"/>
          <p:nvPr/>
        </p:nvSpPr>
        <p:spPr>
          <a:xfrm>
            <a:off x="3886962" y="2933700"/>
            <a:ext cx="452780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(수기 평균 시간 − 플랫폼 평균 시간) ÷ 수기 평균 시간</a:t>
            </a:r>
            <a:endParaRPr lang="en-US" sz="1300" dirty="0"/>
          </a:p>
        </p:txBody>
      </p:sp>
      <p:sp>
        <p:nvSpPr>
          <p:cNvPr id="25" name="o277"/>
          <p:cNvSpPr txBox="1"/>
          <p:nvPr/>
        </p:nvSpPr>
        <p:spPr>
          <a:xfrm>
            <a:off x="8605266" y="2933700"/>
            <a:ext cx="11262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33:48</a:t>
            </a:r>
            <a:endParaRPr lang="en-US" sz="1300" dirty="0"/>
          </a:p>
        </p:txBody>
      </p:sp>
      <p:sp>
        <p:nvSpPr>
          <p:cNvPr id="26" name="o278"/>
          <p:cNvSpPr txBox="1"/>
          <p:nvPr/>
        </p:nvSpPr>
        <p:spPr>
          <a:xfrm>
            <a:off x="9922002" y="2933700"/>
            <a:ext cx="156514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 이상 단축</a:t>
            </a:r>
            <a:endParaRPr lang="en-US" sz="1300" dirty="0"/>
          </a:p>
        </p:txBody>
      </p:sp>
      <p:sp>
        <p:nvSpPr>
          <p:cNvPr id="27" name="o279"/>
          <p:cNvSpPr/>
          <p:nvPr/>
        </p:nvSpPr>
        <p:spPr>
          <a:xfrm>
            <a:off x="609600" y="3371850"/>
            <a:ext cx="109728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8" name="o280"/>
          <p:cNvSpPr txBox="1"/>
          <p:nvPr/>
        </p:nvSpPr>
        <p:spPr>
          <a:xfrm>
            <a:off x="704850" y="3371850"/>
            <a:ext cx="79705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300" dirty="0"/>
          </a:p>
        </p:txBody>
      </p:sp>
      <p:sp>
        <p:nvSpPr>
          <p:cNvPr id="29" name="o281"/>
          <p:cNvSpPr txBox="1"/>
          <p:nvPr/>
        </p:nvSpPr>
        <p:spPr>
          <a:xfrm>
            <a:off x="1692402" y="3371850"/>
            <a:ext cx="20040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페이퍼리스 전환율</a:t>
            </a:r>
            <a:endParaRPr lang="en-US" sz="1300" dirty="0"/>
          </a:p>
        </p:txBody>
      </p:sp>
      <p:sp>
        <p:nvSpPr>
          <p:cNvPr id="30" name="o282"/>
          <p:cNvSpPr txBox="1"/>
          <p:nvPr/>
        </p:nvSpPr>
        <p:spPr>
          <a:xfrm>
            <a:off x="3886962" y="3371850"/>
            <a:ext cx="452780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없이 DB 저장 완결 건수 ÷ 대상 업무 건수</a:t>
            </a:r>
            <a:endParaRPr lang="en-US" sz="1300" dirty="0"/>
          </a:p>
        </p:txBody>
      </p:sp>
      <p:sp>
        <p:nvSpPr>
          <p:cNvPr id="31" name="o283"/>
          <p:cNvSpPr txBox="1"/>
          <p:nvPr/>
        </p:nvSpPr>
        <p:spPr>
          <a:xfrm>
            <a:off x="8605266" y="3371850"/>
            <a:ext cx="11262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0%</a:t>
            </a:r>
            <a:endParaRPr lang="en-US" sz="1300" dirty="0"/>
          </a:p>
        </p:txBody>
      </p:sp>
      <p:sp>
        <p:nvSpPr>
          <p:cNvPr id="32" name="o284"/>
          <p:cNvSpPr txBox="1"/>
          <p:nvPr/>
        </p:nvSpPr>
        <p:spPr>
          <a:xfrm>
            <a:off x="9922002" y="3371850"/>
            <a:ext cx="156514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1300" dirty="0"/>
          </a:p>
        </p:txBody>
      </p:sp>
      <p:sp>
        <p:nvSpPr>
          <p:cNvPr id="33" name="o285"/>
          <p:cNvSpPr/>
          <p:nvPr/>
        </p:nvSpPr>
        <p:spPr>
          <a:xfrm>
            <a:off x="609600" y="3810000"/>
            <a:ext cx="109728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4" name="o286"/>
          <p:cNvSpPr txBox="1"/>
          <p:nvPr/>
        </p:nvSpPr>
        <p:spPr>
          <a:xfrm>
            <a:off x="704850" y="3810000"/>
            <a:ext cx="79705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</a:t>
            </a:r>
            <a:endParaRPr lang="en-US" sz="1300" dirty="0"/>
          </a:p>
        </p:txBody>
      </p:sp>
      <p:sp>
        <p:nvSpPr>
          <p:cNvPr id="35" name="o287"/>
          <p:cNvSpPr txBox="1"/>
          <p:nvPr/>
        </p:nvSpPr>
        <p:spPr>
          <a:xfrm>
            <a:off x="1692402" y="3810000"/>
            <a:ext cx="20040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구축 완성도</a:t>
            </a:r>
            <a:endParaRPr lang="en-US" sz="1300" dirty="0"/>
          </a:p>
        </p:txBody>
      </p:sp>
      <p:sp>
        <p:nvSpPr>
          <p:cNvPr id="36" name="o288"/>
          <p:cNvSpPr txBox="1"/>
          <p:nvPr/>
        </p:nvSpPr>
        <p:spPr>
          <a:xfrm>
            <a:off x="3886962" y="3810000"/>
            <a:ext cx="452780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작동 기능 수 ÷ 계획 기능 수</a:t>
            </a:r>
            <a:endParaRPr lang="en-US" sz="1300" dirty="0"/>
          </a:p>
        </p:txBody>
      </p:sp>
      <p:sp>
        <p:nvSpPr>
          <p:cNvPr id="37" name="o289"/>
          <p:cNvSpPr txBox="1"/>
          <p:nvPr/>
        </p:nvSpPr>
        <p:spPr>
          <a:xfrm>
            <a:off x="8605266" y="3810000"/>
            <a:ext cx="11262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/ 6</a:t>
            </a:r>
            <a:endParaRPr lang="en-US" sz="1300" dirty="0"/>
          </a:p>
        </p:txBody>
      </p:sp>
      <p:sp>
        <p:nvSpPr>
          <p:cNvPr id="38" name="o290"/>
          <p:cNvSpPr txBox="1"/>
          <p:nvPr/>
        </p:nvSpPr>
        <p:spPr>
          <a:xfrm>
            <a:off x="9922002" y="3810000"/>
            <a:ext cx="156514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6 (100%)</a:t>
            </a:r>
            <a:endParaRPr lang="en-US" sz="1300" dirty="0"/>
          </a:p>
        </p:txBody>
      </p:sp>
      <p:sp>
        <p:nvSpPr>
          <p:cNvPr id="39" name="o291"/>
          <p:cNvSpPr/>
          <p:nvPr/>
        </p:nvSpPr>
        <p:spPr>
          <a:xfrm>
            <a:off x="609600" y="4248150"/>
            <a:ext cx="109728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0" name="o292"/>
          <p:cNvSpPr/>
          <p:nvPr/>
        </p:nvSpPr>
        <p:spPr>
          <a:xfrm>
            <a:off x="609600" y="2057400"/>
            <a:ext cx="109728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1" name="o293"/>
          <p:cNvSpPr/>
          <p:nvPr/>
        </p:nvSpPr>
        <p:spPr>
          <a:xfrm>
            <a:off x="609600" y="4476750"/>
            <a:ext cx="198628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42" name="o294"/>
          <p:cNvSpPr txBox="1"/>
          <p:nvPr/>
        </p:nvSpPr>
        <p:spPr>
          <a:xfrm>
            <a:off x="742950" y="4610100"/>
            <a:ext cx="1719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전 수집</a:t>
            </a:r>
            <a:endParaRPr lang="en-US" sz="1000" dirty="0"/>
          </a:p>
        </p:txBody>
      </p:sp>
      <p:sp>
        <p:nvSpPr>
          <p:cNvPr id="43" name="o295"/>
          <p:cNvSpPr txBox="1"/>
          <p:nvPr/>
        </p:nvSpPr>
        <p:spPr>
          <a:xfrm>
            <a:off x="742950" y="4838700"/>
            <a:ext cx="17195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2025.01–12</a:t>
            </a:r>
            <a:endParaRPr lang="en-US" sz="2200" dirty="0"/>
          </a:p>
        </p:txBody>
      </p:sp>
      <p:sp>
        <p:nvSpPr>
          <p:cNvPr id="44" name="o296"/>
          <p:cNvSpPr txBox="1"/>
          <p:nvPr/>
        </p:nvSpPr>
        <p:spPr>
          <a:xfrm>
            <a:off x="742950" y="5334000"/>
            <a:ext cx="1719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 전수조사</a:t>
            </a:r>
            <a:endParaRPr lang="en-US" sz="1200" dirty="0"/>
          </a:p>
        </p:txBody>
      </p:sp>
      <p:sp>
        <p:nvSpPr>
          <p:cNvPr id="45" name="o297"/>
          <p:cNvSpPr/>
          <p:nvPr/>
        </p:nvSpPr>
        <p:spPr>
          <a:xfrm>
            <a:off x="2778760" y="4476750"/>
            <a:ext cx="198628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46" name="o298"/>
          <p:cNvSpPr txBox="1"/>
          <p:nvPr/>
        </p:nvSpPr>
        <p:spPr>
          <a:xfrm>
            <a:off x="2912110" y="4610100"/>
            <a:ext cx="1719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측정</a:t>
            </a:r>
            <a:endParaRPr lang="en-US" sz="1000" dirty="0"/>
          </a:p>
        </p:txBody>
      </p:sp>
      <p:sp>
        <p:nvSpPr>
          <p:cNvPr id="47" name="o299"/>
          <p:cNvSpPr txBox="1"/>
          <p:nvPr/>
        </p:nvSpPr>
        <p:spPr>
          <a:xfrm>
            <a:off x="2912110" y="4838700"/>
            <a:ext cx="17195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2025.01</a:t>
            </a:r>
            <a:endParaRPr lang="en-US" sz="2200" dirty="0"/>
          </a:p>
        </p:txBody>
      </p:sp>
      <p:sp>
        <p:nvSpPr>
          <p:cNvPr id="48" name="o300"/>
          <p:cNvSpPr txBox="1"/>
          <p:nvPr/>
        </p:nvSpPr>
        <p:spPr>
          <a:xfrm>
            <a:off x="2912110" y="5334000"/>
            <a:ext cx="1719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관찰 Time Study</a:t>
            </a:r>
            <a:endParaRPr lang="en-US" sz="1200" dirty="0"/>
          </a:p>
        </p:txBody>
      </p:sp>
      <p:sp>
        <p:nvSpPr>
          <p:cNvPr id="49" name="o301"/>
          <p:cNvSpPr/>
          <p:nvPr/>
        </p:nvSpPr>
        <p:spPr>
          <a:xfrm>
            <a:off x="4947920" y="4476750"/>
            <a:ext cx="198628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50" name="o302"/>
          <p:cNvSpPr txBox="1"/>
          <p:nvPr/>
        </p:nvSpPr>
        <p:spPr>
          <a:xfrm>
            <a:off x="5081270" y="4610100"/>
            <a:ext cx="1719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후 수집</a:t>
            </a:r>
            <a:endParaRPr lang="en-US" sz="1000" dirty="0"/>
          </a:p>
        </p:txBody>
      </p:sp>
      <p:sp>
        <p:nvSpPr>
          <p:cNvPr id="51" name="o303"/>
          <p:cNvSpPr txBox="1"/>
          <p:nvPr/>
        </p:nvSpPr>
        <p:spPr>
          <a:xfrm>
            <a:off x="5081270" y="4838700"/>
            <a:ext cx="17195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2026.05–07</a:t>
            </a:r>
            <a:endParaRPr lang="en-US" sz="2200" dirty="0"/>
          </a:p>
        </p:txBody>
      </p:sp>
      <p:sp>
        <p:nvSpPr>
          <p:cNvPr id="52" name="o304"/>
          <p:cNvSpPr txBox="1"/>
          <p:nvPr/>
        </p:nvSpPr>
        <p:spPr>
          <a:xfrm>
            <a:off x="5081270" y="5334000"/>
            <a:ext cx="1719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DB</a:t>
            </a:r>
            <a:endParaRPr lang="en-US" sz="1200" dirty="0"/>
          </a:p>
        </p:txBody>
      </p:sp>
      <p:sp>
        <p:nvSpPr>
          <p:cNvPr id="53" name="o305"/>
          <p:cNvSpPr/>
          <p:nvPr/>
        </p:nvSpPr>
        <p:spPr>
          <a:xfrm>
            <a:off x="7117080" y="4476750"/>
            <a:ext cx="4465320" cy="146685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54" name="o306"/>
          <p:cNvSpPr/>
          <p:nvPr/>
        </p:nvSpPr>
        <p:spPr>
          <a:xfrm>
            <a:off x="7117080" y="4476750"/>
            <a:ext cx="91440" cy="146685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55" name="o307"/>
          <p:cNvSpPr txBox="1"/>
          <p:nvPr/>
        </p:nvSpPr>
        <p:spPr>
          <a:xfrm>
            <a:off x="7351395" y="4619625"/>
            <a:ext cx="408813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 목표의 근거: 직접 제출 7분과 결재 대기 19분 24초만 없애도 행정시간의 78%가 줄어드는 구조였다.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308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1.4</a:t>
            </a:r>
            <a:endParaRPr lang="en-US" sz="1100" dirty="0"/>
          </a:p>
        </p:txBody>
      </p:sp>
      <p:sp>
        <p:nvSpPr>
          <p:cNvPr id="3" name="o309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근본 원인은 종이에 갇힌 정보였고, 원인마다 하나씩 6개 모듈을 설계했다</a:t>
            </a:r>
            <a:endParaRPr lang="en-US" sz="2800" dirty="0"/>
          </a:p>
        </p:txBody>
      </p:sp>
      <p:sp>
        <p:nvSpPr>
          <p:cNvPr id="4" name="o310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피시본 기여요인(CF1–CF7) → 해결 모듈 매핑(좌) · 효과 × 실행 난이도(우)</a:t>
            </a:r>
            <a:endParaRPr lang="en-US" sz="1400" dirty="0"/>
          </a:p>
        </p:txBody>
      </p:sp>
      <p:sp>
        <p:nvSpPr>
          <p:cNvPr id="5" name="o311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312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업무 흐름도 · 피시본 분석(CF1–CF7), 2026.03</a:t>
            </a:r>
            <a:endParaRPr lang="en-US" sz="800" dirty="0"/>
          </a:p>
        </p:txBody>
      </p:sp>
      <p:sp>
        <p:nvSpPr>
          <p:cNvPr id="7" name="o313"/>
          <p:cNvSpPr txBox="1"/>
          <p:nvPr/>
        </p:nvSpPr>
        <p:spPr>
          <a:xfrm>
            <a:off x="7943850" y="6143625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Note: AI 위험성평가는 수시 위험성평가 과제로 추가</a:t>
            </a:r>
            <a:endParaRPr lang="en-US" sz="800" dirty="0"/>
          </a:p>
        </p:txBody>
      </p:sp>
      <p:sp>
        <p:nvSpPr>
          <p:cNvPr id="8" name="o314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o315"/>
          <p:cNvSpPr/>
          <p:nvPr/>
        </p:nvSpPr>
        <p:spPr>
          <a:xfrm>
            <a:off x="609600" y="2057400"/>
            <a:ext cx="6324600" cy="4191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o316"/>
          <p:cNvSpPr txBox="1"/>
          <p:nvPr/>
        </p:nvSpPr>
        <p:spPr>
          <a:xfrm>
            <a:off x="704850" y="2057400"/>
            <a:ext cx="7581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</a:t>
            </a:r>
            <a:endParaRPr lang="en-US" sz="1100" dirty="0"/>
          </a:p>
        </p:txBody>
      </p:sp>
      <p:sp>
        <p:nvSpPr>
          <p:cNvPr id="11" name="o317"/>
          <p:cNvSpPr txBox="1"/>
          <p:nvPr/>
        </p:nvSpPr>
        <p:spPr>
          <a:xfrm>
            <a:off x="1653540" y="2057400"/>
            <a:ext cx="27820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기여요인</a:t>
            </a:r>
            <a:endParaRPr lang="en-US" sz="1100" dirty="0"/>
          </a:p>
        </p:txBody>
      </p:sp>
      <p:sp>
        <p:nvSpPr>
          <p:cNvPr id="12" name="o318"/>
          <p:cNvSpPr txBox="1"/>
          <p:nvPr/>
        </p:nvSpPr>
        <p:spPr>
          <a:xfrm>
            <a:off x="4626102" y="2057400"/>
            <a:ext cx="22128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모듈</a:t>
            </a:r>
            <a:endParaRPr lang="en-US" sz="1100" dirty="0"/>
          </a:p>
        </p:txBody>
      </p:sp>
      <p:sp>
        <p:nvSpPr>
          <p:cNvPr id="13" name="o319"/>
          <p:cNvSpPr/>
          <p:nvPr/>
        </p:nvSpPr>
        <p:spPr>
          <a:xfrm>
            <a:off x="609600" y="24765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14" name="o320"/>
          <p:cNvSpPr txBox="1"/>
          <p:nvPr/>
        </p:nvSpPr>
        <p:spPr>
          <a:xfrm>
            <a:off x="704850" y="2476500"/>
            <a:ext cx="7581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</a:t>
            </a:r>
            <a:endParaRPr lang="en-US" sz="1100" dirty="0"/>
          </a:p>
        </p:txBody>
      </p:sp>
      <p:sp>
        <p:nvSpPr>
          <p:cNvPr id="15" name="o321"/>
          <p:cNvSpPr txBox="1"/>
          <p:nvPr/>
        </p:nvSpPr>
        <p:spPr>
          <a:xfrm>
            <a:off x="1653540" y="2476500"/>
            <a:ext cx="27820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인트라넷 검색 어려움 · 개정본 비치 미흡 (CF1·2)</a:t>
            </a:r>
            <a:endParaRPr lang="en-US" sz="1100" dirty="0"/>
          </a:p>
        </p:txBody>
      </p:sp>
      <p:sp>
        <p:nvSpPr>
          <p:cNvPr id="16" name="o322"/>
          <p:cNvSpPr txBox="1"/>
          <p:nvPr/>
        </p:nvSpPr>
        <p:spPr>
          <a:xfrm>
            <a:off x="4626102" y="2476500"/>
            <a:ext cx="22128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MSDS 디지털 라이브러리</a:t>
            </a:r>
            <a:endParaRPr lang="en-US" sz="1100" dirty="0"/>
          </a:p>
        </p:txBody>
      </p:sp>
      <p:sp>
        <p:nvSpPr>
          <p:cNvPr id="17" name="o323"/>
          <p:cNvSpPr/>
          <p:nvPr/>
        </p:nvSpPr>
        <p:spPr>
          <a:xfrm>
            <a:off x="609600" y="28956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18" name="o324"/>
          <p:cNvSpPr txBox="1"/>
          <p:nvPr/>
        </p:nvSpPr>
        <p:spPr>
          <a:xfrm>
            <a:off x="704850" y="2895600"/>
            <a:ext cx="7581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</a:t>
            </a:r>
            <a:endParaRPr lang="en-US" sz="1100" dirty="0"/>
          </a:p>
        </p:txBody>
      </p:sp>
      <p:sp>
        <p:nvSpPr>
          <p:cNvPr id="19" name="o325"/>
          <p:cNvSpPr txBox="1"/>
          <p:nvPr/>
        </p:nvSpPr>
        <p:spPr>
          <a:xfrm>
            <a:off x="1653540" y="2895600"/>
            <a:ext cx="27820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때마다 같은 양식 반복 수기 작성 (CF2-②)</a:t>
            </a:r>
            <a:endParaRPr lang="en-US" sz="1100" dirty="0"/>
          </a:p>
        </p:txBody>
      </p:sp>
      <p:sp>
        <p:nvSpPr>
          <p:cNvPr id="20" name="o326"/>
          <p:cNvSpPr txBox="1"/>
          <p:nvPr/>
        </p:nvSpPr>
        <p:spPr>
          <a:xfrm>
            <a:off x="4626102" y="2895600"/>
            <a:ext cx="22128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법정 서류 자동 작성</a:t>
            </a:r>
            <a:endParaRPr lang="en-US" sz="1100" dirty="0"/>
          </a:p>
        </p:txBody>
      </p:sp>
      <p:sp>
        <p:nvSpPr>
          <p:cNvPr id="21" name="o327"/>
          <p:cNvSpPr/>
          <p:nvPr/>
        </p:nvSpPr>
        <p:spPr>
          <a:xfrm>
            <a:off x="609600" y="33147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2" name="o328"/>
          <p:cNvSpPr/>
          <p:nvPr/>
        </p:nvSpPr>
        <p:spPr>
          <a:xfrm>
            <a:off x="609600" y="3314700"/>
            <a:ext cx="6324600" cy="4191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3" name="o329"/>
          <p:cNvSpPr/>
          <p:nvPr/>
        </p:nvSpPr>
        <p:spPr>
          <a:xfrm>
            <a:off x="609600" y="3314700"/>
            <a:ext cx="91440" cy="4191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24" name="o330"/>
          <p:cNvSpPr txBox="1"/>
          <p:nvPr/>
        </p:nvSpPr>
        <p:spPr>
          <a:xfrm>
            <a:off x="762000" y="3314700"/>
            <a:ext cx="7581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· 환경</a:t>
            </a:r>
            <a:endParaRPr lang="en-US" sz="1100" dirty="0"/>
          </a:p>
        </p:txBody>
      </p:sp>
      <p:sp>
        <p:nvSpPr>
          <p:cNvPr id="25" name="o331"/>
          <p:cNvSpPr txBox="1"/>
          <p:nvPr/>
        </p:nvSpPr>
        <p:spPr>
          <a:xfrm>
            <a:off x="1653540" y="3314700"/>
            <a:ext cx="27820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 제출 7분 · 아날로그 결재 19분 (CF4·5)</a:t>
            </a:r>
            <a:endParaRPr lang="en-US" sz="1100" dirty="0"/>
          </a:p>
        </p:txBody>
      </p:sp>
      <p:sp>
        <p:nvSpPr>
          <p:cNvPr id="26" name="o332"/>
          <p:cNvSpPr txBox="1"/>
          <p:nvPr/>
        </p:nvSpPr>
        <p:spPr>
          <a:xfrm>
            <a:off x="4626102" y="3314700"/>
            <a:ext cx="22128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모바일 서명 + 비대면 결재</a:t>
            </a:r>
            <a:endParaRPr lang="en-US" sz="1100" dirty="0"/>
          </a:p>
        </p:txBody>
      </p:sp>
      <p:sp>
        <p:nvSpPr>
          <p:cNvPr id="27" name="o333"/>
          <p:cNvSpPr/>
          <p:nvPr/>
        </p:nvSpPr>
        <p:spPr>
          <a:xfrm>
            <a:off x="609600" y="37338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8" name="o334"/>
          <p:cNvSpPr txBox="1"/>
          <p:nvPr/>
        </p:nvSpPr>
        <p:spPr>
          <a:xfrm>
            <a:off x="704850" y="3733800"/>
            <a:ext cx="7581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</a:t>
            </a:r>
            <a:endParaRPr lang="en-US" sz="1100" dirty="0"/>
          </a:p>
        </p:txBody>
      </p:sp>
      <p:sp>
        <p:nvSpPr>
          <p:cNvPr id="29" name="o335"/>
          <p:cNvSpPr txBox="1"/>
          <p:nvPr/>
        </p:nvSpPr>
        <p:spPr>
          <a:xfrm>
            <a:off x="1653540" y="3733800"/>
            <a:ext cx="27820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바인더 · 서류 분산 보관 (CF3·7)</a:t>
            </a:r>
            <a:endParaRPr lang="en-US" sz="1100" dirty="0"/>
          </a:p>
        </p:txBody>
      </p:sp>
      <p:sp>
        <p:nvSpPr>
          <p:cNvPr id="30" name="o336"/>
          <p:cNvSpPr txBox="1"/>
          <p:nvPr/>
        </p:nvSpPr>
        <p:spPr>
          <a:xfrm>
            <a:off x="4626102" y="3733800"/>
            <a:ext cx="22128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전자 문서 보관</a:t>
            </a:r>
            <a:endParaRPr lang="en-US" sz="1100" dirty="0"/>
          </a:p>
        </p:txBody>
      </p:sp>
      <p:sp>
        <p:nvSpPr>
          <p:cNvPr id="31" name="o337"/>
          <p:cNvSpPr/>
          <p:nvPr/>
        </p:nvSpPr>
        <p:spPr>
          <a:xfrm>
            <a:off x="609600" y="41529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2" name="o338"/>
          <p:cNvSpPr txBox="1"/>
          <p:nvPr/>
        </p:nvSpPr>
        <p:spPr>
          <a:xfrm>
            <a:off x="704850" y="4152900"/>
            <a:ext cx="7581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</a:t>
            </a:r>
            <a:endParaRPr lang="en-US" sz="1100" dirty="0"/>
          </a:p>
        </p:txBody>
      </p:sp>
      <p:sp>
        <p:nvSpPr>
          <p:cNvPr id="33" name="o339"/>
          <p:cNvSpPr txBox="1"/>
          <p:nvPr/>
        </p:nvSpPr>
        <p:spPr>
          <a:xfrm>
            <a:off x="1653540" y="4152900"/>
            <a:ext cx="27820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모니터링 불가 (CF6)</a:t>
            </a:r>
            <a:endParaRPr lang="en-US" sz="1100" dirty="0"/>
          </a:p>
        </p:txBody>
      </p:sp>
      <p:sp>
        <p:nvSpPr>
          <p:cNvPr id="34" name="o340"/>
          <p:cNvSpPr txBox="1"/>
          <p:nvPr/>
        </p:nvSpPr>
        <p:spPr>
          <a:xfrm>
            <a:off x="4626102" y="4152900"/>
            <a:ext cx="22128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관리자 대시보드</a:t>
            </a:r>
            <a:endParaRPr lang="en-US" sz="1100" dirty="0"/>
          </a:p>
        </p:txBody>
      </p:sp>
      <p:sp>
        <p:nvSpPr>
          <p:cNvPr id="35" name="o341"/>
          <p:cNvSpPr/>
          <p:nvPr/>
        </p:nvSpPr>
        <p:spPr>
          <a:xfrm>
            <a:off x="609600" y="45720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6" name="o342"/>
          <p:cNvSpPr txBox="1"/>
          <p:nvPr/>
        </p:nvSpPr>
        <p:spPr>
          <a:xfrm>
            <a:off x="704850" y="4572000"/>
            <a:ext cx="7581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과제</a:t>
            </a:r>
            <a:endParaRPr lang="en-US" sz="1100" dirty="0"/>
          </a:p>
        </p:txBody>
      </p:sp>
      <p:sp>
        <p:nvSpPr>
          <p:cNvPr id="37" name="o343"/>
          <p:cNvSpPr txBox="1"/>
          <p:nvPr/>
        </p:nvSpPr>
        <p:spPr>
          <a:xfrm>
            <a:off x="1653540" y="4572000"/>
            <a:ext cx="27820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수시 위험성평가 부담</a:t>
            </a:r>
            <a:endParaRPr lang="en-US" sz="1100" dirty="0"/>
          </a:p>
        </p:txBody>
      </p:sp>
      <p:sp>
        <p:nvSpPr>
          <p:cNvPr id="38" name="o344"/>
          <p:cNvSpPr txBox="1"/>
          <p:nvPr/>
        </p:nvSpPr>
        <p:spPr>
          <a:xfrm>
            <a:off x="4626102" y="4572000"/>
            <a:ext cx="22128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AI 위험성평가</a:t>
            </a:r>
            <a:endParaRPr lang="en-US" sz="1100" dirty="0"/>
          </a:p>
        </p:txBody>
      </p:sp>
      <p:sp>
        <p:nvSpPr>
          <p:cNvPr id="39" name="o345"/>
          <p:cNvSpPr/>
          <p:nvPr/>
        </p:nvSpPr>
        <p:spPr>
          <a:xfrm>
            <a:off x="609600" y="49911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0" name="o346"/>
          <p:cNvSpPr/>
          <p:nvPr/>
        </p:nvSpPr>
        <p:spPr>
          <a:xfrm>
            <a:off x="609600" y="20574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1" name="o347"/>
          <p:cNvSpPr txBox="1"/>
          <p:nvPr/>
        </p:nvSpPr>
        <p:spPr>
          <a:xfrm>
            <a:off x="7117080" y="3390900"/>
            <a:ext cx="22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1000" dirty="0"/>
          </a:p>
        </p:txBody>
      </p:sp>
      <p:sp>
        <p:nvSpPr>
          <p:cNvPr id="42" name="o348"/>
          <p:cNvSpPr/>
          <p:nvPr/>
        </p:nvSpPr>
        <p:spPr>
          <a:xfrm>
            <a:off x="7402830" y="3676650"/>
            <a:ext cx="4179570" cy="0"/>
          </a:xfrm>
          <a:prstGeom prst="line">
            <a:avLst/>
          </a:prstGeom>
          <a:noFill/>
          <a:ln w="9525">
            <a:solidFill>
              <a:srgbClr val="5B636E"/>
            </a:solidFill>
            <a:prstDash val="solid"/>
          </a:ln>
        </p:spPr>
      </p:sp>
      <p:sp>
        <p:nvSpPr>
          <p:cNvPr id="43" name="o349"/>
          <p:cNvSpPr/>
          <p:nvPr/>
        </p:nvSpPr>
        <p:spPr>
          <a:xfrm>
            <a:off x="9492615" y="2247900"/>
            <a:ext cx="0" cy="2857500"/>
          </a:xfrm>
          <a:prstGeom prst="line">
            <a:avLst/>
          </a:prstGeom>
          <a:noFill/>
          <a:ln w="9525">
            <a:solidFill>
              <a:srgbClr val="5B636E"/>
            </a:solidFill>
            <a:prstDash val="solid"/>
          </a:ln>
        </p:spPr>
      </p:sp>
      <p:sp>
        <p:nvSpPr>
          <p:cNvPr id="44" name="o350"/>
          <p:cNvSpPr/>
          <p:nvPr/>
        </p:nvSpPr>
        <p:spPr>
          <a:xfrm>
            <a:off x="7402830" y="2247900"/>
            <a:ext cx="4179570" cy="2857500"/>
          </a:xfrm>
          <a:prstGeom prst="rect">
            <a:avLst/>
          </a:prstGeom>
          <a:ln w="9525">
            <a:solidFill>
              <a:srgbClr val="D6DAD8"/>
            </a:solidFill>
            <a:prstDash val="solid"/>
          </a:ln>
        </p:spPr>
      </p:sp>
      <p:sp>
        <p:nvSpPr>
          <p:cNvPr id="45" name="o351"/>
          <p:cNvSpPr txBox="1"/>
          <p:nvPr/>
        </p:nvSpPr>
        <p:spPr>
          <a:xfrm>
            <a:off x="9587865" y="2324100"/>
            <a:ext cx="1899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· 쉬움 — 우선</a:t>
            </a:r>
            <a:endParaRPr lang="en-US" sz="1100" dirty="0"/>
          </a:p>
        </p:txBody>
      </p:sp>
      <p:sp>
        <p:nvSpPr>
          <p:cNvPr id="46" name="o352"/>
          <p:cNvSpPr txBox="1"/>
          <p:nvPr/>
        </p:nvSpPr>
        <p:spPr>
          <a:xfrm>
            <a:off x="7498080" y="2324100"/>
            <a:ext cx="1899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 · 어려움</a:t>
            </a:r>
            <a:endParaRPr lang="en-US" sz="1100" dirty="0"/>
          </a:p>
        </p:txBody>
      </p:sp>
      <p:sp>
        <p:nvSpPr>
          <p:cNvPr id="47" name="o353"/>
          <p:cNvSpPr txBox="1"/>
          <p:nvPr/>
        </p:nvSpPr>
        <p:spPr>
          <a:xfrm>
            <a:off x="7498080" y="3752850"/>
            <a:ext cx="1899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 · 어려움</a:t>
            </a:r>
            <a:endParaRPr lang="en-US" sz="1100" dirty="0"/>
          </a:p>
        </p:txBody>
      </p:sp>
      <p:sp>
        <p:nvSpPr>
          <p:cNvPr id="48" name="o354"/>
          <p:cNvSpPr txBox="1"/>
          <p:nvPr/>
        </p:nvSpPr>
        <p:spPr>
          <a:xfrm>
            <a:off x="9587865" y="3752850"/>
            <a:ext cx="1899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 · 쉬움</a:t>
            </a:r>
            <a:endParaRPr lang="en-US" sz="1100" dirty="0"/>
          </a:p>
        </p:txBody>
      </p:sp>
      <p:sp>
        <p:nvSpPr>
          <p:cNvPr id="49" name="o355"/>
          <p:cNvSpPr/>
          <p:nvPr/>
        </p:nvSpPr>
        <p:spPr>
          <a:xfrm>
            <a:off x="9683115" y="2628900"/>
            <a:ext cx="209550" cy="209550"/>
          </a:xfrm>
          <a:prstGeom prst="ellipse">
            <a:avLst/>
          </a:prstGeom>
          <a:solidFill>
            <a:srgbClr val="177B57"/>
          </a:solidFill>
          <a:ln w="12700">
            <a:solidFill>
              <a:srgbClr val="177B57"/>
            </a:solidFill>
            <a:prstDash val="solid"/>
          </a:ln>
        </p:spPr>
      </p:sp>
      <p:sp>
        <p:nvSpPr>
          <p:cNvPr id="50" name="o356"/>
          <p:cNvSpPr txBox="1"/>
          <p:nvPr/>
        </p:nvSpPr>
        <p:spPr>
          <a:xfrm>
            <a:off x="9930765" y="265747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수기 작성</a:t>
            </a:r>
            <a:endParaRPr lang="en-US" sz="900" dirty="0"/>
          </a:p>
        </p:txBody>
      </p:sp>
      <p:sp>
        <p:nvSpPr>
          <p:cNvPr id="51" name="o357"/>
          <p:cNvSpPr/>
          <p:nvPr/>
        </p:nvSpPr>
        <p:spPr>
          <a:xfrm>
            <a:off x="9873615" y="2971800"/>
            <a:ext cx="171450" cy="171450"/>
          </a:xfrm>
          <a:prstGeom prst="ellipse">
            <a:avLst/>
          </a:prstGeom>
          <a:solidFill>
            <a:srgbClr val="177B57"/>
          </a:solidFill>
          <a:ln w="12700">
            <a:solidFill>
              <a:srgbClr val="177B57"/>
            </a:solidFill>
            <a:prstDash val="solid"/>
          </a:ln>
        </p:spPr>
      </p:sp>
      <p:sp>
        <p:nvSpPr>
          <p:cNvPr id="52" name="o358"/>
          <p:cNvSpPr txBox="1"/>
          <p:nvPr/>
        </p:nvSpPr>
        <p:spPr>
          <a:xfrm>
            <a:off x="10083165" y="29813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부서↔보건실 이동</a:t>
            </a:r>
            <a:endParaRPr lang="en-US" sz="900" dirty="0"/>
          </a:p>
        </p:txBody>
      </p:sp>
      <p:sp>
        <p:nvSpPr>
          <p:cNvPr id="53" name="o359"/>
          <p:cNvSpPr/>
          <p:nvPr/>
        </p:nvSpPr>
        <p:spPr>
          <a:xfrm>
            <a:off x="9721215" y="3276600"/>
            <a:ext cx="190500" cy="190500"/>
          </a:xfrm>
          <a:prstGeom prst="ellipse">
            <a:avLst/>
          </a:prstGeom>
          <a:solidFill>
            <a:srgbClr val="177B57"/>
          </a:solidFill>
          <a:ln w="12700">
            <a:solidFill>
              <a:srgbClr val="177B57"/>
            </a:solidFill>
            <a:prstDash val="solid"/>
          </a:ln>
        </p:spPr>
      </p:sp>
      <p:sp>
        <p:nvSpPr>
          <p:cNvPr id="54" name="o360"/>
          <p:cNvSpPr txBox="1"/>
          <p:nvPr/>
        </p:nvSpPr>
        <p:spPr>
          <a:xfrm>
            <a:off x="9949815" y="32956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 불가</a:t>
            </a:r>
            <a:endParaRPr lang="en-US" sz="900" dirty="0"/>
          </a:p>
        </p:txBody>
      </p:sp>
      <p:sp>
        <p:nvSpPr>
          <p:cNvPr id="55" name="o361"/>
          <p:cNvSpPr/>
          <p:nvPr/>
        </p:nvSpPr>
        <p:spPr>
          <a:xfrm>
            <a:off x="7593330" y="2667000"/>
            <a:ext cx="171450" cy="171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36E"/>
            </a:solidFill>
            <a:prstDash val="solid"/>
          </a:ln>
        </p:spPr>
      </p:sp>
      <p:sp>
        <p:nvSpPr>
          <p:cNvPr id="56" name="o362"/>
          <p:cNvSpPr txBox="1"/>
          <p:nvPr/>
        </p:nvSpPr>
        <p:spPr>
          <a:xfrm>
            <a:off x="7802880" y="26765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낭비 · 분실</a:t>
            </a:r>
            <a:endParaRPr lang="en-US" sz="900" dirty="0"/>
          </a:p>
        </p:txBody>
      </p:sp>
      <p:sp>
        <p:nvSpPr>
          <p:cNvPr id="57" name="o363"/>
          <p:cNvSpPr/>
          <p:nvPr/>
        </p:nvSpPr>
        <p:spPr>
          <a:xfrm>
            <a:off x="7688580" y="2971800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36E"/>
            </a:solidFill>
            <a:prstDash val="solid"/>
          </a:ln>
        </p:spPr>
      </p:sp>
      <p:sp>
        <p:nvSpPr>
          <p:cNvPr id="58" name="o364"/>
          <p:cNvSpPr txBox="1"/>
          <p:nvPr/>
        </p:nvSpPr>
        <p:spPr>
          <a:xfrm>
            <a:off x="7879080" y="29718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바인더 관리</a:t>
            </a:r>
            <a:endParaRPr lang="en-US" sz="900" dirty="0"/>
          </a:p>
        </p:txBody>
      </p:sp>
      <p:sp>
        <p:nvSpPr>
          <p:cNvPr id="59" name="o365"/>
          <p:cNvSpPr/>
          <p:nvPr/>
        </p:nvSpPr>
        <p:spPr>
          <a:xfrm>
            <a:off x="7612380" y="3238500"/>
            <a:ext cx="190500" cy="190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36E"/>
            </a:solidFill>
            <a:prstDash val="solid"/>
          </a:ln>
        </p:spPr>
      </p:sp>
      <p:sp>
        <p:nvSpPr>
          <p:cNvPr id="60" name="o366"/>
          <p:cNvSpPr txBox="1"/>
          <p:nvPr/>
        </p:nvSpPr>
        <p:spPr>
          <a:xfrm>
            <a:off x="7840980" y="32575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아날로그 결재</a:t>
            </a:r>
            <a:endParaRPr lang="en-US" sz="900" dirty="0"/>
          </a:p>
        </p:txBody>
      </p:sp>
      <p:sp>
        <p:nvSpPr>
          <p:cNvPr id="61" name="o367"/>
          <p:cNvSpPr/>
          <p:nvPr/>
        </p:nvSpPr>
        <p:spPr>
          <a:xfrm>
            <a:off x="7631430" y="40957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36E"/>
            </a:solidFill>
            <a:prstDash val="solid"/>
          </a:ln>
        </p:spPr>
      </p:sp>
      <p:sp>
        <p:nvSpPr>
          <p:cNvPr id="62" name="o368"/>
          <p:cNvSpPr txBox="1"/>
          <p:nvPr/>
        </p:nvSpPr>
        <p:spPr>
          <a:xfrm>
            <a:off x="7802880" y="40862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파편화</a:t>
            </a:r>
            <a:endParaRPr lang="en-US" sz="900" dirty="0"/>
          </a:p>
        </p:txBody>
      </p:sp>
      <p:sp>
        <p:nvSpPr>
          <p:cNvPr id="63" name="o369"/>
          <p:cNvSpPr/>
          <p:nvPr/>
        </p:nvSpPr>
        <p:spPr>
          <a:xfrm>
            <a:off x="9721215" y="409575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36E"/>
            </a:solidFill>
            <a:prstDash val="solid"/>
          </a:ln>
        </p:spPr>
      </p:sp>
      <p:sp>
        <p:nvSpPr>
          <p:cNvPr id="64" name="o370"/>
          <p:cNvSpPr txBox="1"/>
          <p:nvPr/>
        </p:nvSpPr>
        <p:spPr>
          <a:xfrm>
            <a:off x="9892665" y="40862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채널 이원화</a:t>
            </a:r>
            <a:endParaRPr lang="en-US" sz="900" dirty="0"/>
          </a:p>
        </p:txBody>
      </p:sp>
      <p:sp>
        <p:nvSpPr>
          <p:cNvPr id="65" name="o371"/>
          <p:cNvSpPr/>
          <p:nvPr/>
        </p:nvSpPr>
        <p:spPr>
          <a:xfrm>
            <a:off x="9778365" y="440055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36E"/>
            </a:solidFill>
            <a:prstDash val="solid"/>
          </a:ln>
        </p:spPr>
      </p:sp>
      <p:sp>
        <p:nvSpPr>
          <p:cNvPr id="66" name="o372"/>
          <p:cNvSpPr txBox="1"/>
          <p:nvPr/>
        </p:nvSpPr>
        <p:spPr>
          <a:xfrm>
            <a:off x="9930765" y="43815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인트라넷 검색</a:t>
            </a:r>
            <a:endParaRPr lang="en-US" sz="900" dirty="0"/>
          </a:p>
        </p:txBody>
      </p:sp>
      <p:sp>
        <p:nvSpPr>
          <p:cNvPr id="67" name="o373"/>
          <p:cNvSpPr txBox="1"/>
          <p:nvPr/>
        </p:nvSpPr>
        <p:spPr>
          <a:xfrm>
            <a:off x="7402830" y="5162550"/>
            <a:ext cx="4179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어려움  ←  실행 난이도  →  쉬움</a:t>
            </a:r>
            <a:endParaRPr lang="en-US" sz="900" dirty="0"/>
          </a:p>
        </p:txBody>
      </p:sp>
      <p:sp>
        <p:nvSpPr>
          <p:cNvPr id="68" name="o374"/>
          <p:cNvSpPr/>
          <p:nvPr/>
        </p:nvSpPr>
        <p:spPr>
          <a:xfrm>
            <a:off x="7117080" y="5334000"/>
            <a:ext cx="4465320" cy="6096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69" name="o375"/>
          <p:cNvSpPr/>
          <p:nvPr/>
        </p:nvSpPr>
        <p:spPr>
          <a:xfrm>
            <a:off x="7117080" y="5334000"/>
            <a:ext cx="91440" cy="6096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70" name="o376"/>
          <p:cNvSpPr txBox="1"/>
          <p:nvPr/>
        </p:nvSpPr>
        <p:spPr>
          <a:xfrm>
            <a:off x="7351395" y="5476875"/>
            <a:ext cx="40881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· 대기는 노력으로 줄일 수 없다 — 체계를 바꿔야 없어진다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377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2.1</a:t>
            </a:r>
            <a:endParaRPr lang="en-US" sz="1100" dirty="0"/>
          </a:p>
        </p:txBody>
      </p:sp>
      <p:sp>
        <p:nvSpPr>
          <p:cNvPr id="3" name="o378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 한 건이 현장에서 2분 22초 만에 결재 · 보관까지 끝난다</a:t>
            </a:r>
            <a:endParaRPr lang="en-US" sz="2800" dirty="0"/>
          </a:p>
        </p:txBody>
      </p:sp>
      <p:sp>
        <p:nvSpPr>
          <p:cNvPr id="4" name="o379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시연(영상 1:20)과 단계별 as-is → to-be</a:t>
            </a:r>
            <a:endParaRPr lang="en-US" sz="1400" dirty="0"/>
          </a:p>
        </p:txBody>
      </p:sp>
      <p:sp>
        <p:nvSpPr>
          <p:cNvPr id="5" name="o380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381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플랫폼 시연(테스트 계정) · Time Study 2025.01 / 2026.07</a:t>
            </a:r>
            <a:endParaRPr lang="en-US" sz="800" dirty="0"/>
          </a:p>
        </p:txBody>
      </p:sp>
      <p:sp>
        <p:nvSpPr>
          <p:cNvPr id="7" name="o382"/>
          <p:cNvSpPr txBox="1"/>
          <p:nvPr/>
        </p:nvSpPr>
        <p:spPr>
          <a:xfrm>
            <a:off x="7943850" y="6143625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Note: 실제 직원 이름 · 서명 비노출</a:t>
            </a:r>
            <a:endParaRPr lang="en-US" sz="800" dirty="0"/>
          </a:p>
        </p:txBody>
      </p:sp>
      <p:sp>
        <p:nvSpPr>
          <p:cNvPr id="8" name="o383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o384"/>
          <p:cNvSpPr/>
          <p:nvPr/>
        </p:nvSpPr>
        <p:spPr>
          <a:xfrm>
            <a:off x="609600" y="2057400"/>
            <a:ext cx="6324600" cy="22479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0" name="o385"/>
          <p:cNvSpPr txBox="1"/>
          <p:nvPr/>
        </p:nvSpPr>
        <p:spPr>
          <a:xfrm>
            <a:off x="609600" y="2057400"/>
            <a:ext cx="63246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시연 영상 1:20 — 삽입 → 비디오 ]</a:t>
            </a:r>
            <a:endParaRPr lang="en-US" sz="1200" dirty="0"/>
          </a:p>
        </p:txBody>
      </p:sp>
      <p:sp>
        <p:nvSpPr>
          <p:cNvPr id="11" name="o386"/>
          <p:cNvSpPr txBox="1"/>
          <p:nvPr/>
        </p:nvSpPr>
        <p:spPr>
          <a:xfrm>
            <a:off x="7117080" y="2057400"/>
            <a:ext cx="4465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구성</a:t>
            </a:r>
            <a:endParaRPr lang="en-US" sz="1200" dirty="0"/>
          </a:p>
        </p:txBody>
      </p:sp>
      <p:sp>
        <p:nvSpPr>
          <p:cNvPr id="12" name="o387"/>
          <p:cNvSpPr/>
          <p:nvPr/>
        </p:nvSpPr>
        <p:spPr>
          <a:xfrm>
            <a:off x="7183755" y="2324100"/>
            <a:ext cx="0" cy="1866900"/>
          </a:xfrm>
          <a:prstGeom prst="line">
            <a:avLst/>
          </a:prstGeom>
          <a:noFill/>
          <a:ln w="9525">
            <a:solidFill>
              <a:srgbClr val="5B636E"/>
            </a:solidFill>
            <a:prstDash val="solid"/>
          </a:ln>
        </p:spPr>
      </p:sp>
      <p:sp>
        <p:nvSpPr>
          <p:cNvPr id="13" name="o388"/>
          <p:cNvSpPr/>
          <p:nvPr/>
        </p:nvSpPr>
        <p:spPr>
          <a:xfrm>
            <a:off x="7117080" y="2324100"/>
            <a:ext cx="133350" cy="133350"/>
          </a:xfrm>
          <a:prstGeom prst="ellipse">
            <a:avLst/>
          </a:prstGeom>
          <a:solidFill>
            <a:srgbClr val="9CA3AC"/>
          </a:solidFill>
          <a:ln/>
        </p:spPr>
      </p:sp>
      <p:sp>
        <p:nvSpPr>
          <p:cNvPr id="14" name="o389"/>
          <p:cNvSpPr txBox="1"/>
          <p:nvPr/>
        </p:nvSpPr>
        <p:spPr>
          <a:xfrm>
            <a:off x="7364730" y="231457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0:00</a:t>
            </a:r>
            <a:endParaRPr lang="en-US" sz="900" dirty="0"/>
          </a:p>
        </p:txBody>
      </p:sp>
      <p:sp>
        <p:nvSpPr>
          <p:cNvPr id="15" name="o390"/>
          <p:cNvSpPr txBox="1"/>
          <p:nvPr/>
        </p:nvSpPr>
        <p:spPr>
          <a:xfrm>
            <a:off x="7879080" y="229552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MSDS 라이브러리</a:t>
            </a:r>
            <a:endParaRPr lang="en-US" sz="1300" dirty="0"/>
          </a:p>
        </p:txBody>
      </p:sp>
      <p:sp>
        <p:nvSpPr>
          <p:cNvPr id="16" name="o391"/>
          <p:cNvSpPr txBox="1"/>
          <p:nvPr/>
        </p:nvSpPr>
        <p:spPr>
          <a:xfrm>
            <a:off x="7879080" y="2495550"/>
            <a:ext cx="3703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 → 물질 → 원본 PDF</a:t>
            </a:r>
            <a:endParaRPr lang="en-US" sz="1100" dirty="0"/>
          </a:p>
        </p:txBody>
      </p:sp>
      <p:sp>
        <p:nvSpPr>
          <p:cNvPr id="17" name="o392"/>
          <p:cNvSpPr/>
          <p:nvPr/>
        </p:nvSpPr>
        <p:spPr>
          <a:xfrm>
            <a:off x="7117080" y="2838450"/>
            <a:ext cx="133350" cy="133350"/>
          </a:xfrm>
          <a:prstGeom prst="ellipse">
            <a:avLst/>
          </a:prstGeom>
          <a:solidFill>
            <a:srgbClr val="177B57"/>
          </a:solidFill>
          <a:ln/>
        </p:spPr>
      </p:sp>
      <p:sp>
        <p:nvSpPr>
          <p:cNvPr id="18" name="o393"/>
          <p:cNvSpPr txBox="1"/>
          <p:nvPr/>
        </p:nvSpPr>
        <p:spPr>
          <a:xfrm>
            <a:off x="7364730" y="282892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0:15</a:t>
            </a:r>
            <a:endParaRPr lang="en-US" sz="900" dirty="0"/>
          </a:p>
        </p:txBody>
      </p:sp>
      <p:sp>
        <p:nvSpPr>
          <p:cNvPr id="19" name="o394"/>
          <p:cNvSpPr txBox="1"/>
          <p:nvPr/>
        </p:nvSpPr>
        <p:spPr>
          <a:xfrm>
            <a:off x="7879080" y="280987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교육일지 작성</a:t>
            </a:r>
            <a:endParaRPr lang="en-US" sz="1300" dirty="0"/>
          </a:p>
        </p:txBody>
      </p:sp>
      <p:sp>
        <p:nvSpPr>
          <p:cNvPr id="20" name="o395"/>
          <p:cNvSpPr txBox="1"/>
          <p:nvPr/>
        </p:nvSpPr>
        <p:spPr>
          <a:xfrm>
            <a:off x="7879080" y="3009900"/>
            <a:ext cx="3703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검색 → 자동 입력 → 서명</a:t>
            </a:r>
            <a:endParaRPr lang="en-US" sz="1100" dirty="0"/>
          </a:p>
        </p:txBody>
      </p:sp>
      <p:sp>
        <p:nvSpPr>
          <p:cNvPr id="21" name="o396"/>
          <p:cNvSpPr/>
          <p:nvPr/>
        </p:nvSpPr>
        <p:spPr>
          <a:xfrm>
            <a:off x="7117080" y="3352800"/>
            <a:ext cx="133350" cy="133350"/>
          </a:xfrm>
          <a:prstGeom prst="ellipse">
            <a:avLst/>
          </a:prstGeom>
          <a:solidFill>
            <a:srgbClr val="9CA3AC"/>
          </a:solidFill>
          <a:ln/>
        </p:spPr>
      </p:sp>
      <p:sp>
        <p:nvSpPr>
          <p:cNvPr id="22" name="o397"/>
          <p:cNvSpPr txBox="1"/>
          <p:nvPr/>
        </p:nvSpPr>
        <p:spPr>
          <a:xfrm>
            <a:off x="7364730" y="334327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0:50</a:t>
            </a:r>
            <a:endParaRPr lang="en-US" sz="900" dirty="0"/>
          </a:p>
        </p:txBody>
      </p:sp>
      <p:sp>
        <p:nvSpPr>
          <p:cNvPr id="23" name="o398"/>
          <p:cNvSpPr txBox="1"/>
          <p:nvPr/>
        </p:nvSpPr>
        <p:spPr>
          <a:xfrm>
            <a:off x="7879080" y="332422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비대면 결재</a:t>
            </a:r>
            <a:endParaRPr lang="en-US" sz="1300" dirty="0"/>
          </a:p>
        </p:txBody>
      </p:sp>
      <p:sp>
        <p:nvSpPr>
          <p:cNvPr id="24" name="o399"/>
          <p:cNvSpPr txBox="1"/>
          <p:nvPr/>
        </p:nvSpPr>
        <p:spPr>
          <a:xfrm>
            <a:off x="7879080" y="3524250"/>
            <a:ext cx="3703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 알림 → 결재 → 자동 보관</a:t>
            </a:r>
            <a:endParaRPr lang="en-US" sz="1100" dirty="0"/>
          </a:p>
        </p:txBody>
      </p:sp>
      <p:sp>
        <p:nvSpPr>
          <p:cNvPr id="25" name="o400"/>
          <p:cNvSpPr/>
          <p:nvPr/>
        </p:nvSpPr>
        <p:spPr>
          <a:xfrm>
            <a:off x="7117080" y="3867150"/>
            <a:ext cx="133350" cy="133350"/>
          </a:xfrm>
          <a:prstGeom prst="ellipse">
            <a:avLst/>
          </a:prstGeom>
          <a:solidFill>
            <a:srgbClr val="9CA3AC"/>
          </a:solidFill>
          <a:ln/>
        </p:spPr>
      </p:sp>
      <p:sp>
        <p:nvSpPr>
          <p:cNvPr id="26" name="o401"/>
          <p:cNvSpPr txBox="1"/>
          <p:nvPr/>
        </p:nvSpPr>
        <p:spPr>
          <a:xfrm>
            <a:off x="7364730" y="3857625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1:05</a:t>
            </a:r>
            <a:endParaRPr lang="en-US" sz="900" dirty="0"/>
          </a:p>
        </p:txBody>
      </p:sp>
      <p:sp>
        <p:nvSpPr>
          <p:cNvPr id="27" name="o402"/>
          <p:cNvSpPr txBox="1"/>
          <p:nvPr/>
        </p:nvSpPr>
        <p:spPr>
          <a:xfrm>
            <a:off x="7879080" y="383857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대시보드</a:t>
            </a:r>
            <a:endParaRPr lang="en-US" sz="1300" dirty="0"/>
          </a:p>
        </p:txBody>
      </p:sp>
      <p:sp>
        <p:nvSpPr>
          <p:cNvPr id="28" name="o403"/>
          <p:cNvSpPr txBox="1"/>
          <p:nvPr/>
        </p:nvSpPr>
        <p:spPr>
          <a:xfrm>
            <a:off x="7879080" y="4038600"/>
            <a:ext cx="3703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부서별 이수 · 미이수자 확인</a:t>
            </a:r>
            <a:endParaRPr lang="en-US" sz="1100" dirty="0"/>
          </a:p>
        </p:txBody>
      </p:sp>
      <p:sp>
        <p:nvSpPr>
          <p:cNvPr id="29" name="o404"/>
          <p:cNvSpPr txBox="1"/>
          <p:nvPr/>
        </p:nvSpPr>
        <p:spPr>
          <a:xfrm>
            <a:off x="609600" y="4438650"/>
            <a:ext cx="10972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 → to-be (특별안전보건교육 행정 단계)</a:t>
            </a:r>
            <a:endParaRPr lang="en-US" sz="1200" dirty="0"/>
          </a:p>
        </p:txBody>
      </p:sp>
      <p:sp>
        <p:nvSpPr>
          <p:cNvPr id="30" name="o405"/>
          <p:cNvSpPr/>
          <p:nvPr/>
        </p:nvSpPr>
        <p:spPr>
          <a:xfrm>
            <a:off x="609600" y="4686300"/>
            <a:ext cx="1889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31" name="o406"/>
          <p:cNvSpPr/>
          <p:nvPr/>
        </p:nvSpPr>
        <p:spPr>
          <a:xfrm>
            <a:off x="762000" y="480060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32" name="o407"/>
          <p:cNvSpPr txBox="1"/>
          <p:nvPr/>
        </p:nvSpPr>
        <p:spPr>
          <a:xfrm>
            <a:off x="762000" y="48006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o408"/>
          <p:cNvSpPr txBox="1"/>
          <p:nvPr/>
        </p:nvSpPr>
        <p:spPr>
          <a:xfrm>
            <a:off x="1143000" y="4838700"/>
            <a:ext cx="1261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400" dirty="0"/>
          </a:p>
        </p:txBody>
      </p:sp>
      <p:sp>
        <p:nvSpPr>
          <p:cNvPr id="34" name="o409"/>
          <p:cNvSpPr txBox="1"/>
          <p:nvPr/>
        </p:nvSpPr>
        <p:spPr>
          <a:xfrm>
            <a:off x="762000" y="5219700"/>
            <a:ext cx="164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2:18 → 0:18</a:t>
            </a:r>
            <a:endParaRPr lang="en-US" sz="1500" dirty="0"/>
          </a:p>
        </p:txBody>
      </p:sp>
      <p:sp>
        <p:nvSpPr>
          <p:cNvPr id="35" name="o410"/>
          <p:cNvSpPr/>
          <p:nvPr/>
        </p:nvSpPr>
        <p:spPr>
          <a:xfrm>
            <a:off x="2556510" y="5143500"/>
            <a:ext cx="266700" cy="0"/>
          </a:xfrm>
          <a:prstGeom prst="line">
            <a:avLst/>
          </a:prstGeom>
          <a:noFill/>
          <a:ln w="19050">
            <a:solidFill>
              <a:srgbClr val="5B636E"/>
            </a:solidFill>
            <a:prstDash val="solid"/>
            <a:tailEnd type="triangle"/>
          </a:ln>
        </p:spPr>
      </p:sp>
      <p:sp>
        <p:nvSpPr>
          <p:cNvPr id="36" name="o411"/>
          <p:cNvSpPr/>
          <p:nvPr/>
        </p:nvSpPr>
        <p:spPr>
          <a:xfrm>
            <a:off x="2880360" y="4686300"/>
            <a:ext cx="1889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37" name="o412"/>
          <p:cNvSpPr/>
          <p:nvPr/>
        </p:nvSpPr>
        <p:spPr>
          <a:xfrm>
            <a:off x="3032760" y="480060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38" name="o413"/>
          <p:cNvSpPr txBox="1"/>
          <p:nvPr/>
        </p:nvSpPr>
        <p:spPr>
          <a:xfrm>
            <a:off x="3032760" y="48006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o414"/>
          <p:cNvSpPr txBox="1"/>
          <p:nvPr/>
        </p:nvSpPr>
        <p:spPr>
          <a:xfrm>
            <a:off x="3413760" y="4838700"/>
            <a:ext cx="1261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서명</a:t>
            </a:r>
            <a:endParaRPr lang="en-US" sz="1400" dirty="0"/>
          </a:p>
        </p:txBody>
      </p:sp>
      <p:sp>
        <p:nvSpPr>
          <p:cNvPr id="40" name="o415"/>
          <p:cNvSpPr txBox="1"/>
          <p:nvPr/>
        </p:nvSpPr>
        <p:spPr>
          <a:xfrm>
            <a:off x="3032760" y="5219700"/>
            <a:ext cx="164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1:30 → 0:09</a:t>
            </a:r>
            <a:endParaRPr lang="en-US" sz="1500" dirty="0"/>
          </a:p>
        </p:txBody>
      </p:sp>
      <p:sp>
        <p:nvSpPr>
          <p:cNvPr id="41" name="o416"/>
          <p:cNvSpPr/>
          <p:nvPr/>
        </p:nvSpPr>
        <p:spPr>
          <a:xfrm>
            <a:off x="4827270" y="5143500"/>
            <a:ext cx="266700" cy="0"/>
          </a:xfrm>
          <a:prstGeom prst="line">
            <a:avLst/>
          </a:prstGeom>
          <a:noFill/>
          <a:ln w="19050">
            <a:solidFill>
              <a:srgbClr val="5B636E"/>
            </a:solidFill>
            <a:prstDash val="solid"/>
            <a:tailEnd type="triangle"/>
          </a:ln>
        </p:spPr>
      </p:sp>
      <p:sp>
        <p:nvSpPr>
          <p:cNvPr id="42" name="o417"/>
          <p:cNvSpPr/>
          <p:nvPr/>
        </p:nvSpPr>
        <p:spPr>
          <a:xfrm>
            <a:off x="5151120" y="4686300"/>
            <a:ext cx="1889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43" name="o418"/>
          <p:cNvSpPr/>
          <p:nvPr/>
        </p:nvSpPr>
        <p:spPr>
          <a:xfrm>
            <a:off x="5303520" y="480060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44" name="o419"/>
          <p:cNvSpPr txBox="1"/>
          <p:nvPr/>
        </p:nvSpPr>
        <p:spPr>
          <a:xfrm>
            <a:off x="5303520" y="48006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o420"/>
          <p:cNvSpPr txBox="1"/>
          <p:nvPr/>
        </p:nvSpPr>
        <p:spPr>
          <a:xfrm>
            <a:off x="5684520" y="4838700"/>
            <a:ext cx="1261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</a:t>
            </a:r>
            <a:endParaRPr lang="en-US" sz="1400" dirty="0"/>
          </a:p>
        </p:txBody>
      </p:sp>
      <p:sp>
        <p:nvSpPr>
          <p:cNvPr id="46" name="o421"/>
          <p:cNvSpPr txBox="1"/>
          <p:nvPr/>
        </p:nvSpPr>
        <p:spPr>
          <a:xfrm>
            <a:off x="5303520" y="5219700"/>
            <a:ext cx="164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7:00 → 0:00</a:t>
            </a:r>
            <a:endParaRPr lang="en-US" sz="1500" dirty="0"/>
          </a:p>
        </p:txBody>
      </p:sp>
      <p:sp>
        <p:nvSpPr>
          <p:cNvPr id="47" name="o422"/>
          <p:cNvSpPr/>
          <p:nvPr/>
        </p:nvSpPr>
        <p:spPr>
          <a:xfrm>
            <a:off x="7098030" y="5143500"/>
            <a:ext cx="266700" cy="0"/>
          </a:xfrm>
          <a:prstGeom prst="line">
            <a:avLst/>
          </a:prstGeom>
          <a:noFill/>
          <a:ln w="19050">
            <a:solidFill>
              <a:srgbClr val="5B636E"/>
            </a:solidFill>
            <a:prstDash val="solid"/>
            <a:tailEnd type="triangle"/>
          </a:ln>
        </p:spPr>
      </p:sp>
      <p:sp>
        <p:nvSpPr>
          <p:cNvPr id="48" name="o423"/>
          <p:cNvSpPr/>
          <p:nvPr/>
        </p:nvSpPr>
        <p:spPr>
          <a:xfrm>
            <a:off x="7421880" y="4686300"/>
            <a:ext cx="1889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49" name="o424"/>
          <p:cNvSpPr/>
          <p:nvPr/>
        </p:nvSpPr>
        <p:spPr>
          <a:xfrm>
            <a:off x="7421880" y="4686300"/>
            <a:ext cx="91440" cy="9144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50" name="o425"/>
          <p:cNvSpPr/>
          <p:nvPr/>
        </p:nvSpPr>
        <p:spPr>
          <a:xfrm>
            <a:off x="7574280" y="480060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51" name="o426"/>
          <p:cNvSpPr txBox="1"/>
          <p:nvPr/>
        </p:nvSpPr>
        <p:spPr>
          <a:xfrm>
            <a:off x="7574280" y="48006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o427"/>
          <p:cNvSpPr txBox="1"/>
          <p:nvPr/>
        </p:nvSpPr>
        <p:spPr>
          <a:xfrm>
            <a:off x="7955280" y="4838700"/>
            <a:ext cx="1261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결재</a:t>
            </a:r>
            <a:endParaRPr lang="en-US" sz="1400" dirty="0"/>
          </a:p>
        </p:txBody>
      </p:sp>
      <p:sp>
        <p:nvSpPr>
          <p:cNvPr id="53" name="o428"/>
          <p:cNvSpPr txBox="1"/>
          <p:nvPr/>
        </p:nvSpPr>
        <p:spPr>
          <a:xfrm>
            <a:off x="7574280" y="5219700"/>
            <a:ext cx="164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19:24 → 1:00</a:t>
            </a:r>
            <a:endParaRPr lang="en-US" sz="1500" dirty="0"/>
          </a:p>
        </p:txBody>
      </p:sp>
      <p:sp>
        <p:nvSpPr>
          <p:cNvPr id="54" name="o429"/>
          <p:cNvSpPr/>
          <p:nvPr/>
        </p:nvSpPr>
        <p:spPr>
          <a:xfrm>
            <a:off x="9368790" y="5143500"/>
            <a:ext cx="266700" cy="0"/>
          </a:xfrm>
          <a:prstGeom prst="line">
            <a:avLst/>
          </a:prstGeom>
          <a:noFill/>
          <a:ln w="19050">
            <a:solidFill>
              <a:srgbClr val="5B636E"/>
            </a:solidFill>
            <a:prstDash val="solid"/>
            <a:tailEnd type="triangle"/>
          </a:ln>
        </p:spPr>
      </p:sp>
      <p:sp>
        <p:nvSpPr>
          <p:cNvPr id="55" name="o430"/>
          <p:cNvSpPr/>
          <p:nvPr/>
        </p:nvSpPr>
        <p:spPr>
          <a:xfrm>
            <a:off x="9692640" y="4686300"/>
            <a:ext cx="1889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56" name="o431"/>
          <p:cNvSpPr/>
          <p:nvPr/>
        </p:nvSpPr>
        <p:spPr>
          <a:xfrm>
            <a:off x="9845040" y="480060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57" name="o432"/>
          <p:cNvSpPr txBox="1"/>
          <p:nvPr/>
        </p:nvSpPr>
        <p:spPr>
          <a:xfrm>
            <a:off x="9845040" y="48006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o433"/>
          <p:cNvSpPr txBox="1"/>
          <p:nvPr/>
        </p:nvSpPr>
        <p:spPr>
          <a:xfrm>
            <a:off x="10226040" y="4838700"/>
            <a:ext cx="12611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보관</a:t>
            </a:r>
            <a:endParaRPr lang="en-US" sz="1400" dirty="0"/>
          </a:p>
        </p:txBody>
      </p:sp>
      <p:sp>
        <p:nvSpPr>
          <p:cNvPr id="59" name="o434"/>
          <p:cNvSpPr txBox="1"/>
          <p:nvPr/>
        </p:nvSpPr>
        <p:spPr>
          <a:xfrm>
            <a:off x="9845040" y="5219700"/>
            <a:ext cx="1642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2:06 → 0:00</a:t>
            </a:r>
            <a:endParaRPr lang="en-US" sz="1500" dirty="0"/>
          </a:p>
        </p:txBody>
      </p:sp>
      <p:sp>
        <p:nvSpPr>
          <p:cNvPr id="60" name="o435"/>
          <p:cNvSpPr/>
          <p:nvPr/>
        </p:nvSpPr>
        <p:spPr>
          <a:xfrm>
            <a:off x="609600" y="5715000"/>
            <a:ext cx="10972800" cy="28575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61" name="o436"/>
          <p:cNvSpPr/>
          <p:nvPr/>
        </p:nvSpPr>
        <p:spPr>
          <a:xfrm>
            <a:off x="609600" y="5715000"/>
            <a:ext cx="91440" cy="28575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62" name="o437"/>
          <p:cNvSpPr txBox="1"/>
          <p:nvPr/>
        </p:nvSpPr>
        <p:spPr>
          <a:xfrm>
            <a:off x="843915" y="5857875"/>
            <a:ext cx="1059561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제출 · ④ 결재 두 단계가 단축 시간의 대부분을 차지한다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438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3.1</a:t>
            </a:r>
            <a:endParaRPr lang="en-US" sz="1100" dirty="0"/>
          </a:p>
        </p:txBody>
      </p:sp>
      <p:sp>
        <p:nvSpPr>
          <p:cNvPr id="3" name="o439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업무량이 2배로 늘었지만 법정교육 누락과 종이 출력은 모두 0건이 됐다</a:t>
            </a:r>
            <a:endParaRPr lang="en-US" sz="2800" dirty="0"/>
          </a:p>
        </p:txBody>
      </p:sp>
      <p:sp>
        <p:nvSpPr>
          <p:cNvPr id="4" name="o440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의무교육 준수율 추이(좌)와 개선 후 월별 실적(우)</a:t>
            </a:r>
            <a:endParaRPr lang="en-US" sz="1400" dirty="0"/>
          </a:p>
        </p:txBody>
      </p:sp>
      <p:sp>
        <p:nvSpPr>
          <p:cNvPr id="5" name="o441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442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2025 대조 전수조사(n=106) · 플랫폼 교육이수 DB 2026.05–07(n=33)</a:t>
            </a:r>
            <a:endParaRPr lang="en-US" sz="800" dirty="0"/>
          </a:p>
        </p:txBody>
      </p:sp>
      <p:sp>
        <p:nvSpPr>
          <p:cNvPr id="7" name="o443"/>
          <p:cNvSpPr txBox="1"/>
          <p:nvPr/>
        </p:nvSpPr>
        <p:spPr>
          <a:xfrm>
            <a:off x="7943850" y="6143625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Note: Fisher 정확검정 p=0.007, 관찰기간 12 vs 3개월</a:t>
            </a:r>
            <a:endParaRPr lang="en-US" sz="800" dirty="0"/>
          </a:p>
        </p:txBody>
      </p:sp>
      <p:sp>
        <p:nvSpPr>
          <p:cNvPr id="8" name="o444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o445"/>
          <p:cNvSpPr txBox="1"/>
          <p:nvPr/>
        </p:nvSpPr>
        <p:spPr>
          <a:xfrm>
            <a:off x="609600" y="2057400"/>
            <a:ext cx="6324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법정 의무교육 준수율 (%)</a:t>
            </a:r>
            <a:endParaRPr lang="en-US" sz="1200" dirty="0"/>
          </a:p>
        </p:txBody>
      </p:sp>
      <p:graphicFrame>
        <p:nvGraphicFramePr>
          <p:cNvPr id="10" name="o446" descr=""/>
          <p:cNvGraphicFramePr/>
          <p:nvPr/>
        </p:nvGraphicFramePr>
        <p:xfrm>
          <a:off x="552450" y="2247900"/>
          <a:ext cx="6381750" cy="2857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o447"/>
          <p:cNvSpPr txBox="1"/>
          <p:nvPr/>
        </p:nvSpPr>
        <p:spPr>
          <a:xfrm>
            <a:off x="990600" y="518160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 (개선 전)</a:t>
            </a:r>
            <a:endParaRPr lang="en-US" sz="1000" dirty="0"/>
          </a:p>
        </p:txBody>
      </p:sp>
      <p:sp>
        <p:nvSpPr>
          <p:cNvPr id="12" name="o448"/>
          <p:cNvSpPr txBox="1"/>
          <p:nvPr/>
        </p:nvSpPr>
        <p:spPr>
          <a:xfrm>
            <a:off x="5410200" y="518160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(개선 후)</a:t>
            </a:r>
            <a:endParaRPr lang="en-US" sz="1000" dirty="0"/>
          </a:p>
        </p:txBody>
      </p:sp>
      <p:sp>
        <p:nvSpPr>
          <p:cNvPr id="13" name="o449"/>
          <p:cNvSpPr/>
          <p:nvPr/>
        </p:nvSpPr>
        <p:spPr>
          <a:xfrm>
            <a:off x="609600" y="5448300"/>
            <a:ext cx="6324600" cy="4953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14" name="o450"/>
          <p:cNvSpPr/>
          <p:nvPr/>
        </p:nvSpPr>
        <p:spPr>
          <a:xfrm>
            <a:off x="609600" y="5448300"/>
            <a:ext cx="91440" cy="4953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15" name="o451"/>
          <p:cNvSpPr txBox="1"/>
          <p:nvPr/>
        </p:nvSpPr>
        <p:spPr>
          <a:xfrm>
            <a:off x="843915" y="5591175"/>
            <a:ext cx="59474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작년 11월 17건 중 7건 누락 → 올해 6월 24건이 몰려도 누락 0건</a:t>
            </a:r>
            <a:endParaRPr lang="en-US" sz="1200" dirty="0"/>
          </a:p>
        </p:txBody>
      </p:sp>
      <p:sp>
        <p:nvSpPr>
          <p:cNvPr id="16" name="o452"/>
          <p:cNvSpPr/>
          <p:nvPr/>
        </p:nvSpPr>
        <p:spPr>
          <a:xfrm>
            <a:off x="7117080" y="2057400"/>
            <a:ext cx="136652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17" name="o453"/>
          <p:cNvSpPr txBox="1"/>
          <p:nvPr/>
        </p:nvSpPr>
        <p:spPr>
          <a:xfrm>
            <a:off x="7231380" y="2152650"/>
            <a:ext cx="113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준수율</a:t>
            </a:r>
            <a:endParaRPr lang="en-US" sz="1000" dirty="0"/>
          </a:p>
        </p:txBody>
      </p:sp>
      <p:sp>
        <p:nvSpPr>
          <p:cNvPr id="18" name="o454"/>
          <p:cNvSpPr txBox="1"/>
          <p:nvPr/>
        </p:nvSpPr>
        <p:spPr>
          <a:xfrm>
            <a:off x="7231380" y="2324100"/>
            <a:ext cx="1137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o455"/>
          <p:cNvSpPr txBox="1"/>
          <p:nvPr/>
        </p:nvSpPr>
        <p:spPr>
          <a:xfrm>
            <a:off x="7231380" y="2781300"/>
            <a:ext cx="1137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17%p (83%)</a:t>
            </a:r>
            <a:endParaRPr lang="en-US" sz="1000" dirty="0"/>
          </a:p>
        </p:txBody>
      </p:sp>
      <p:sp>
        <p:nvSpPr>
          <p:cNvPr id="20" name="o456"/>
          <p:cNvSpPr/>
          <p:nvPr/>
        </p:nvSpPr>
        <p:spPr>
          <a:xfrm>
            <a:off x="8666480" y="2057400"/>
            <a:ext cx="136652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21" name="o457"/>
          <p:cNvSpPr txBox="1"/>
          <p:nvPr/>
        </p:nvSpPr>
        <p:spPr>
          <a:xfrm>
            <a:off x="8780780" y="2152650"/>
            <a:ext cx="113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000" dirty="0"/>
          </a:p>
        </p:txBody>
      </p:sp>
      <p:sp>
        <p:nvSpPr>
          <p:cNvPr id="22" name="o458"/>
          <p:cNvSpPr txBox="1"/>
          <p:nvPr/>
        </p:nvSpPr>
        <p:spPr>
          <a:xfrm>
            <a:off x="8780780" y="2324100"/>
            <a:ext cx="1137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0건</a:t>
            </a:r>
            <a:endParaRPr lang="en-US" sz="2600" dirty="0"/>
          </a:p>
        </p:txBody>
      </p:sp>
      <p:sp>
        <p:nvSpPr>
          <p:cNvPr id="23" name="o459"/>
          <p:cNvSpPr txBox="1"/>
          <p:nvPr/>
        </p:nvSpPr>
        <p:spPr>
          <a:xfrm>
            <a:off x="8780780" y="2781300"/>
            <a:ext cx="1137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18건 (2025)</a:t>
            </a:r>
            <a:endParaRPr lang="en-US" sz="1000" dirty="0"/>
          </a:p>
        </p:txBody>
      </p:sp>
      <p:sp>
        <p:nvSpPr>
          <p:cNvPr id="24" name="o460"/>
          <p:cNvSpPr/>
          <p:nvPr/>
        </p:nvSpPr>
        <p:spPr>
          <a:xfrm>
            <a:off x="10215880" y="2057400"/>
            <a:ext cx="136652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25" name="o461"/>
          <p:cNvSpPr txBox="1"/>
          <p:nvPr/>
        </p:nvSpPr>
        <p:spPr>
          <a:xfrm>
            <a:off x="10330180" y="2152650"/>
            <a:ext cx="113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페이퍼리스</a:t>
            </a:r>
            <a:endParaRPr lang="en-US" sz="1000" dirty="0"/>
          </a:p>
        </p:txBody>
      </p:sp>
      <p:sp>
        <p:nvSpPr>
          <p:cNvPr id="26" name="o462"/>
          <p:cNvSpPr txBox="1"/>
          <p:nvPr/>
        </p:nvSpPr>
        <p:spPr>
          <a:xfrm>
            <a:off x="10330180" y="2324100"/>
            <a:ext cx="1137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</a:t>
            </a:r>
            <a:endParaRPr lang="en-US" sz="2600" dirty="0"/>
          </a:p>
        </p:txBody>
      </p:sp>
      <p:sp>
        <p:nvSpPr>
          <p:cNvPr id="27" name="o463"/>
          <p:cNvSpPr txBox="1"/>
          <p:nvPr/>
        </p:nvSpPr>
        <p:spPr>
          <a:xfrm>
            <a:off x="10330180" y="2781300"/>
            <a:ext cx="1137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100%p (0%)</a:t>
            </a:r>
            <a:endParaRPr lang="en-US" sz="1000" dirty="0"/>
          </a:p>
        </p:txBody>
      </p:sp>
      <p:sp>
        <p:nvSpPr>
          <p:cNvPr id="28" name="o464"/>
          <p:cNvSpPr txBox="1"/>
          <p:nvPr/>
        </p:nvSpPr>
        <p:spPr>
          <a:xfrm>
            <a:off x="7117080" y="3238500"/>
            <a:ext cx="4465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후 월별 실적 (건)</a:t>
            </a:r>
            <a:endParaRPr lang="en-US" sz="1200" dirty="0"/>
          </a:p>
        </p:txBody>
      </p:sp>
      <p:sp>
        <p:nvSpPr>
          <p:cNvPr id="29" name="o465"/>
          <p:cNvSpPr/>
          <p:nvPr/>
        </p:nvSpPr>
        <p:spPr>
          <a:xfrm>
            <a:off x="7117080" y="3467100"/>
            <a:ext cx="4465320" cy="32385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0" name="o466"/>
          <p:cNvSpPr txBox="1"/>
          <p:nvPr/>
        </p:nvSpPr>
        <p:spPr>
          <a:xfrm>
            <a:off x="7212330" y="34671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</a:t>
            </a:r>
            <a:endParaRPr lang="en-US" sz="1100" dirty="0"/>
          </a:p>
        </p:txBody>
      </p:sp>
      <p:sp>
        <p:nvSpPr>
          <p:cNvPr id="31" name="o467"/>
          <p:cNvSpPr txBox="1"/>
          <p:nvPr/>
        </p:nvSpPr>
        <p:spPr>
          <a:xfrm>
            <a:off x="8194700" y="3467100"/>
            <a:ext cx="7025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대상</a:t>
            </a:r>
            <a:endParaRPr lang="en-US" sz="1100" dirty="0"/>
          </a:p>
        </p:txBody>
      </p:sp>
      <p:sp>
        <p:nvSpPr>
          <p:cNvPr id="32" name="o468"/>
          <p:cNvSpPr txBox="1"/>
          <p:nvPr/>
        </p:nvSpPr>
        <p:spPr>
          <a:xfrm>
            <a:off x="9087764" y="34671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 내 이수</a:t>
            </a:r>
            <a:endParaRPr lang="en-US" sz="1100" dirty="0"/>
          </a:p>
        </p:txBody>
      </p:sp>
      <p:sp>
        <p:nvSpPr>
          <p:cNvPr id="33" name="o469"/>
          <p:cNvSpPr txBox="1"/>
          <p:nvPr/>
        </p:nvSpPr>
        <p:spPr>
          <a:xfrm>
            <a:off x="10070135" y="3467100"/>
            <a:ext cx="4346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/>
          </a:p>
        </p:txBody>
      </p:sp>
      <p:sp>
        <p:nvSpPr>
          <p:cNvPr id="34" name="o470"/>
          <p:cNvSpPr txBox="1"/>
          <p:nvPr/>
        </p:nvSpPr>
        <p:spPr>
          <a:xfrm>
            <a:off x="10695280" y="34671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업무</a:t>
            </a:r>
            <a:endParaRPr lang="en-US" sz="1100" dirty="0"/>
          </a:p>
        </p:txBody>
      </p:sp>
      <p:sp>
        <p:nvSpPr>
          <p:cNvPr id="35" name="o471"/>
          <p:cNvSpPr/>
          <p:nvPr/>
        </p:nvSpPr>
        <p:spPr>
          <a:xfrm>
            <a:off x="7117080" y="379095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6" name="o472"/>
          <p:cNvSpPr txBox="1"/>
          <p:nvPr/>
        </p:nvSpPr>
        <p:spPr>
          <a:xfrm>
            <a:off x="7212330" y="379095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</a:t>
            </a:r>
            <a:endParaRPr lang="en-US" sz="1200" dirty="0"/>
          </a:p>
        </p:txBody>
      </p:sp>
      <p:sp>
        <p:nvSpPr>
          <p:cNvPr id="37" name="o473"/>
          <p:cNvSpPr txBox="1"/>
          <p:nvPr/>
        </p:nvSpPr>
        <p:spPr>
          <a:xfrm>
            <a:off x="8194700" y="3790950"/>
            <a:ext cx="7025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o474"/>
          <p:cNvSpPr txBox="1"/>
          <p:nvPr/>
        </p:nvSpPr>
        <p:spPr>
          <a:xfrm>
            <a:off x="9087764" y="379095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o475"/>
          <p:cNvSpPr txBox="1"/>
          <p:nvPr/>
        </p:nvSpPr>
        <p:spPr>
          <a:xfrm>
            <a:off x="10070135" y="3790950"/>
            <a:ext cx="4346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o476"/>
          <p:cNvSpPr txBox="1"/>
          <p:nvPr/>
        </p:nvSpPr>
        <p:spPr>
          <a:xfrm>
            <a:off x="10695280" y="379095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o477"/>
          <p:cNvSpPr/>
          <p:nvPr/>
        </p:nvSpPr>
        <p:spPr>
          <a:xfrm>
            <a:off x="7117080" y="411480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2" name="o478"/>
          <p:cNvSpPr txBox="1"/>
          <p:nvPr/>
        </p:nvSpPr>
        <p:spPr>
          <a:xfrm>
            <a:off x="7212330" y="41148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</a:t>
            </a:r>
            <a:endParaRPr lang="en-US" sz="1200" dirty="0"/>
          </a:p>
        </p:txBody>
      </p:sp>
      <p:sp>
        <p:nvSpPr>
          <p:cNvPr id="43" name="o479"/>
          <p:cNvSpPr txBox="1"/>
          <p:nvPr/>
        </p:nvSpPr>
        <p:spPr>
          <a:xfrm>
            <a:off x="8194700" y="4114800"/>
            <a:ext cx="7025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  <p:sp>
        <p:nvSpPr>
          <p:cNvPr id="44" name="o480"/>
          <p:cNvSpPr txBox="1"/>
          <p:nvPr/>
        </p:nvSpPr>
        <p:spPr>
          <a:xfrm>
            <a:off x="9087764" y="41148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  <p:sp>
        <p:nvSpPr>
          <p:cNvPr id="45" name="o481"/>
          <p:cNvSpPr txBox="1"/>
          <p:nvPr/>
        </p:nvSpPr>
        <p:spPr>
          <a:xfrm>
            <a:off x="10070135" y="4114800"/>
            <a:ext cx="4346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o482"/>
          <p:cNvSpPr txBox="1"/>
          <p:nvPr/>
        </p:nvSpPr>
        <p:spPr>
          <a:xfrm>
            <a:off x="10695280" y="41148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1200" dirty="0"/>
          </a:p>
        </p:txBody>
      </p:sp>
      <p:sp>
        <p:nvSpPr>
          <p:cNvPr id="47" name="o483"/>
          <p:cNvSpPr/>
          <p:nvPr/>
        </p:nvSpPr>
        <p:spPr>
          <a:xfrm>
            <a:off x="7117080" y="443865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8" name="o484"/>
          <p:cNvSpPr txBox="1"/>
          <p:nvPr/>
        </p:nvSpPr>
        <p:spPr>
          <a:xfrm>
            <a:off x="7212330" y="443865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2026.07</a:t>
            </a:r>
            <a:endParaRPr lang="en-US" sz="1200" dirty="0"/>
          </a:p>
        </p:txBody>
      </p:sp>
      <p:sp>
        <p:nvSpPr>
          <p:cNvPr id="49" name="o485"/>
          <p:cNvSpPr txBox="1"/>
          <p:nvPr/>
        </p:nvSpPr>
        <p:spPr>
          <a:xfrm>
            <a:off x="8194700" y="4438650"/>
            <a:ext cx="7025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  <p:sp>
        <p:nvSpPr>
          <p:cNvPr id="50" name="o486"/>
          <p:cNvSpPr txBox="1"/>
          <p:nvPr/>
        </p:nvSpPr>
        <p:spPr>
          <a:xfrm>
            <a:off x="9087764" y="443865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o487"/>
          <p:cNvSpPr txBox="1"/>
          <p:nvPr/>
        </p:nvSpPr>
        <p:spPr>
          <a:xfrm>
            <a:off x="10070135" y="4438650"/>
            <a:ext cx="4346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o488"/>
          <p:cNvSpPr txBox="1"/>
          <p:nvPr/>
        </p:nvSpPr>
        <p:spPr>
          <a:xfrm>
            <a:off x="10695280" y="443865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  <p:sp>
        <p:nvSpPr>
          <p:cNvPr id="53" name="o489"/>
          <p:cNvSpPr/>
          <p:nvPr/>
        </p:nvSpPr>
        <p:spPr>
          <a:xfrm>
            <a:off x="7117080" y="476250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54" name="o490"/>
          <p:cNvSpPr txBox="1"/>
          <p:nvPr/>
        </p:nvSpPr>
        <p:spPr>
          <a:xfrm>
            <a:off x="7212330" y="47625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200" dirty="0"/>
          </a:p>
        </p:txBody>
      </p:sp>
      <p:sp>
        <p:nvSpPr>
          <p:cNvPr id="55" name="o491"/>
          <p:cNvSpPr txBox="1"/>
          <p:nvPr/>
        </p:nvSpPr>
        <p:spPr>
          <a:xfrm>
            <a:off x="8194700" y="4762500"/>
            <a:ext cx="7025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</a:t>
            </a:r>
            <a:endParaRPr lang="en-US" sz="1200" dirty="0"/>
          </a:p>
        </p:txBody>
      </p:sp>
      <p:sp>
        <p:nvSpPr>
          <p:cNvPr id="56" name="o492"/>
          <p:cNvSpPr txBox="1"/>
          <p:nvPr/>
        </p:nvSpPr>
        <p:spPr>
          <a:xfrm>
            <a:off x="9087764" y="47625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</a:t>
            </a:r>
            <a:endParaRPr lang="en-US" sz="1200" dirty="0"/>
          </a:p>
        </p:txBody>
      </p:sp>
      <p:sp>
        <p:nvSpPr>
          <p:cNvPr id="57" name="o493"/>
          <p:cNvSpPr txBox="1"/>
          <p:nvPr/>
        </p:nvSpPr>
        <p:spPr>
          <a:xfrm>
            <a:off x="10070135" y="4762500"/>
            <a:ext cx="4346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o494"/>
          <p:cNvSpPr txBox="1"/>
          <p:nvPr/>
        </p:nvSpPr>
        <p:spPr>
          <a:xfrm>
            <a:off x="10695280" y="4762500"/>
            <a:ext cx="791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</a:t>
            </a:r>
            <a:endParaRPr lang="en-US" sz="1200" dirty="0"/>
          </a:p>
        </p:txBody>
      </p:sp>
      <p:sp>
        <p:nvSpPr>
          <p:cNvPr id="59" name="o495"/>
          <p:cNvSpPr/>
          <p:nvPr/>
        </p:nvSpPr>
        <p:spPr>
          <a:xfrm>
            <a:off x="7117080" y="508635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60" name="o496"/>
          <p:cNvSpPr/>
          <p:nvPr/>
        </p:nvSpPr>
        <p:spPr>
          <a:xfrm>
            <a:off x="7117080" y="346710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61" name="o497"/>
          <p:cNvSpPr txBox="1"/>
          <p:nvPr/>
        </p:nvSpPr>
        <p:spPr>
          <a:xfrm>
            <a:off x="7117080" y="5181600"/>
            <a:ext cx="4465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출력: 개선 전 월 7.8건 → 개선 후 0건 (월 17.3건 전량 디지털)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498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3.2</a:t>
            </a:r>
            <a:endParaRPr lang="en-US" sz="1100" dirty="0"/>
          </a:p>
        </p:txBody>
      </p:sp>
      <p:sp>
        <p:nvSpPr>
          <p:cNvPr id="3" name="o499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· 대기 26분을 없애 특별안전보건교육 행정시간을 93% 줄였다</a:t>
            </a:r>
            <a:endParaRPr lang="en-US" sz="2800" dirty="0"/>
          </a:p>
        </p:txBody>
      </p:sp>
      <p:sp>
        <p:nvSpPr>
          <p:cNvPr id="4" name="o500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특별안전보건교육 1건 행정시간 브리지(좌) · MSDS 교육 비교(우)</a:t>
            </a:r>
            <a:endParaRPr lang="en-US" sz="1400" dirty="0"/>
          </a:p>
        </p:txBody>
      </p:sp>
      <p:sp>
        <p:nvSpPr>
          <p:cNvPr id="5" name="o501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502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Time Study 2025.01(개선 전) · 2026.07(개선 후)</a:t>
            </a:r>
            <a:endParaRPr lang="en-US" sz="800" dirty="0"/>
          </a:p>
        </p:txBody>
      </p:sp>
      <p:sp>
        <p:nvSpPr>
          <p:cNvPr id="7" name="o503"/>
          <p:cNvSpPr txBox="1"/>
          <p:nvPr/>
        </p:nvSpPr>
        <p:spPr>
          <a:xfrm>
            <a:off x="7943850" y="6143625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Note: 단계 합계 2:23, 보고값 2:22</a:t>
            </a:r>
            <a:endParaRPr lang="en-US" sz="800" dirty="0"/>
          </a:p>
        </p:txBody>
      </p:sp>
      <p:sp>
        <p:nvSpPr>
          <p:cNvPr id="8" name="o504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o505"/>
          <p:cNvSpPr txBox="1"/>
          <p:nvPr/>
        </p:nvSpPr>
        <p:spPr>
          <a:xfrm>
            <a:off x="609600" y="2057400"/>
            <a:ext cx="6324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33:48 → 2:22 (분:초)</a:t>
            </a:r>
            <a:endParaRPr lang="en-US" sz="1200" dirty="0"/>
          </a:p>
        </p:txBody>
      </p:sp>
      <p:sp>
        <p:nvSpPr>
          <p:cNvPr id="10" name="o506"/>
          <p:cNvSpPr/>
          <p:nvPr/>
        </p:nvSpPr>
        <p:spPr>
          <a:xfrm>
            <a:off x="750147" y="2571750"/>
            <a:ext cx="421640" cy="2762250"/>
          </a:xfrm>
          <a:prstGeom prst="rect">
            <a:avLst/>
          </a:prstGeom>
          <a:solidFill>
            <a:srgbClr val="5B636E"/>
          </a:solidFill>
          <a:ln/>
        </p:spPr>
      </p:sp>
      <p:sp>
        <p:nvSpPr>
          <p:cNvPr id="11" name="o507"/>
          <p:cNvSpPr txBox="1"/>
          <p:nvPr/>
        </p:nvSpPr>
        <p:spPr>
          <a:xfrm>
            <a:off x="635847" y="2400300"/>
            <a:ext cx="650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33:48</a:t>
            </a:r>
            <a:endParaRPr lang="en-US" sz="1100" dirty="0"/>
          </a:p>
        </p:txBody>
      </p:sp>
      <p:sp>
        <p:nvSpPr>
          <p:cNvPr id="12" name="o508"/>
          <p:cNvSpPr txBox="1"/>
          <p:nvPr/>
        </p:nvSpPr>
        <p:spPr>
          <a:xfrm>
            <a:off x="673947" y="5391150"/>
            <a:ext cx="574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전</a:t>
            </a:r>
            <a:endParaRPr lang="en-US" sz="1000" dirty="0"/>
          </a:p>
        </p:txBody>
      </p:sp>
      <p:sp>
        <p:nvSpPr>
          <p:cNvPr id="13" name="o509"/>
          <p:cNvSpPr/>
          <p:nvPr/>
        </p:nvSpPr>
        <p:spPr>
          <a:xfrm>
            <a:off x="1171787" y="2571750"/>
            <a:ext cx="281093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14" name="o510"/>
          <p:cNvSpPr/>
          <p:nvPr/>
        </p:nvSpPr>
        <p:spPr>
          <a:xfrm>
            <a:off x="1452880" y="2571750"/>
            <a:ext cx="421640" cy="163447"/>
          </a:xfrm>
          <a:prstGeom prst="rect">
            <a:avLst/>
          </a:prstGeom>
          <a:solidFill>
            <a:srgbClr val="FFFFFF"/>
          </a:solidFill>
          <a:ln w="9525">
            <a:solidFill>
              <a:srgbClr val="5B636E"/>
            </a:solidFill>
            <a:prstDash val="solid"/>
          </a:ln>
        </p:spPr>
      </p:sp>
      <p:sp>
        <p:nvSpPr>
          <p:cNvPr id="15" name="o511"/>
          <p:cNvSpPr txBox="1"/>
          <p:nvPr/>
        </p:nvSpPr>
        <p:spPr>
          <a:xfrm>
            <a:off x="1319530" y="2754247"/>
            <a:ext cx="688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−2:00</a:t>
            </a:r>
            <a:endParaRPr lang="en-US" sz="900" dirty="0"/>
          </a:p>
        </p:txBody>
      </p:sp>
      <p:sp>
        <p:nvSpPr>
          <p:cNvPr id="16" name="o512"/>
          <p:cNvSpPr txBox="1"/>
          <p:nvPr/>
        </p:nvSpPr>
        <p:spPr>
          <a:xfrm>
            <a:off x="1357630" y="5391150"/>
            <a:ext cx="612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①초안</a:t>
            </a:r>
            <a:endParaRPr lang="en-US" sz="900" dirty="0"/>
          </a:p>
        </p:txBody>
      </p:sp>
      <p:sp>
        <p:nvSpPr>
          <p:cNvPr id="17" name="o513"/>
          <p:cNvSpPr/>
          <p:nvPr/>
        </p:nvSpPr>
        <p:spPr>
          <a:xfrm>
            <a:off x="1874520" y="2735197"/>
            <a:ext cx="281093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18" name="o514"/>
          <p:cNvSpPr/>
          <p:nvPr/>
        </p:nvSpPr>
        <p:spPr>
          <a:xfrm>
            <a:off x="2155613" y="2735197"/>
            <a:ext cx="421640" cy="19050"/>
          </a:xfrm>
          <a:prstGeom prst="rect">
            <a:avLst/>
          </a:prstGeom>
          <a:solidFill>
            <a:srgbClr val="FFFFFF"/>
          </a:solidFill>
          <a:ln w="9525">
            <a:solidFill>
              <a:srgbClr val="5B636E"/>
            </a:solidFill>
            <a:prstDash val="solid"/>
          </a:ln>
        </p:spPr>
      </p:sp>
      <p:sp>
        <p:nvSpPr>
          <p:cNvPr id="19" name="o515"/>
          <p:cNvSpPr txBox="1"/>
          <p:nvPr/>
        </p:nvSpPr>
        <p:spPr>
          <a:xfrm>
            <a:off x="2022263" y="2773297"/>
            <a:ext cx="688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−0:10</a:t>
            </a:r>
            <a:endParaRPr lang="en-US" sz="900" dirty="0"/>
          </a:p>
        </p:txBody>
      </p:sp>
      <p:sp>
        <p:nvSpPr>
          <p:cNvPr id="20" name="o516"/>
          <p:cNvSpPr txBox="1"/>
          <p:nvPr/>
        </p:nvSpPr>
        <p:spPr>
          <a:xfrm>
            <a:off x="2060363" y="5391150"/>
            <a:ext cx="612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②전송</a:t>
            </a:r>
            <a:endParaRPr lang="en-US" sz="900" dirty="0"/>
          </a:p>
        </p:txBody>
      </p:sp>
      <p:sp>
        <p:nvSpPr>
          <p:cNvPr id="21" name="o517"/>
          <p:cNvSpPr/>
          <p:nvPr/>
        </p:nvSpPr>
        <p:spPr>
          <a:xfrm>
            <a:off x="2577253" y="2748817"/>
            <a:ext cx="281093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22" name="o518"/>
          <p:cNvSpPr/>
          <p:nvPr/>
        </p:nvSpPr>
        <p:spPr>
          <a:xfrm>
            <a:off x="2858347" y="2748817"/>
            <a:ext cx="421640" cy="110327"/>
          </a:xfrm>
          <a:prstGeom prst="rect">
            <a:avLst/>
          </a:prstGeom>
          <a:solidFill>
            <a:srgbClr val="FFFFFF"/>
          </a:solidFill>
          <a:ln w="9525">
            <a:solidFill>
              <a:srgbClr val="5B636E"/>
            </a:solidFill>
            <a:prstDash val="solid"/>
          </a:ln>
        </p:spPr>
      </p:sp>
      <p:sp>
        <p:nvSpPr>
          <p:cNvPr id="23" name="o519"/>
          <p:cNvSpPr txBox="1"/>
          <p:nvPr/>
        </p:nvSpPr>
        <p:spPr>
          <a:xfrm>
            <a:off x="2724997" y="2878194"/>
            <a:ext cx="688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−1:21</a:t>
            </a:r>
            <a:endParaRPr lang="en-US" sz="900" dirty="0"/>
          </a:p>
        </p:txBody>
      </p:sp>
      <p:sp>
        <p:nvSpPr>
          <p:cNvPr id="24" name="o520"/>
          <p:cNvSpPr txBox="1"/>
          <p:nvPr/>
        </p:nvSpPr>
        <p:spPr>
          <a:xfrm>
            <a:off x="2763097" y="5391150"/>
            <a:ext cx="612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③서명</a:t>
            </a:r>
            <a:endParaRPr lang="en-US" sz="900" dirty="0"/>
          </a:p>
        </p:txBody>
      </p:sp>
      <p:sp>
        <p:nvSpPr>
          <p:cNvPr id="25" name="o521"/>
          <p:cNvSpPr/>
          <p:nvPr/>
        </p:nvSpPr>
        <p:spPr>
          <a:xfrm>
            <a:off x="3279987" y="2859144"/>
            <a:ext cx="281093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26" name="o522"/>
          <p:cNvSpPr/>
          <p:nvPr/>
        </p:nvSpPr>
        <p:spPr>
          <a:xfrm>
            <a:off x="3561080" y="2859144"/>
            <a:ext cx="421640" cy="572064"/>
          </a:xfrm>
          <a:prstGeom prst="rect">
            <a:avLst/>
          </a:prstGeom>
          <a:solidFill>
            <a:srgbClr val="FFFFFF"/>
          </a:solidFill>
          <a:ln w="9525">
            <a:solidFill>
              <a:srgbClr val="5B636E"/>
            </a:solidFill>
            <a:prstDash val="solid"/>
          </a:ln>
        </p:spPr>
      </p:sp>
      <p:sp>
        <p:nvSpPr>
          <p:cNvPr id="27" name="o523"/>
          <p:cNvSpPr txBox="1"/>
          <p:nvPr/>
        </p:nvSpPr>
        <p:spPr>
          <a:xfrm>
            <a:off x="3427730" y="3450257"/>
            <a:ext cx="688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−7:00</a:t>
            </a:r>
            <a:endParaRPr lang="en-US" sz="900" dirty="0"/>
          </a:p>
        </p:txBody>
      </p:sp>
      <p:sp>
        <p:nvSpPr>
          <p:cNvPr id="28" name="o524"/>
          <p:cNvSpPr txBox="1"/>
          <p:nvPr/>
        </p:nvSpPr>
        <p:spPr>
          <a:xfrm>
            <a:off x="3465830" y="5391150"/>
            <a:ext cx="612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④제출</a:t>
            </a:r>
            <a:endParaRPr lang="en-US" sz="900" dirty="0"/>
          </a:p>
        </p:txBody>
      </p:sp>
      <p:sp>
        <p:nvSpPr>
          <p:cNvPr id="29" name="o525"/>
          <p:cNvSpPr/>
          <p:nvPr/>
        </p:nvSpPr>
        <p:spPr>
          <a:xfrm>
            <a:off x="3982720" y="3431207"/>
            <a:ext cx="281093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30" name="o526"/>
          <p:cNvSpPr/>
          <p:nvPr/>
        </p:nvSpPr>
        <p:spPr>
          <a:xfrm>
            <a:off x="4263813" y="3431207"/>
            <a:ext cx="421640" cy="32689"/>
          </a:xfrm>
          <a:prstGeom prst="rect">
            <a:avLst/>
          </a:prstGeom>
          <a:solidFill>
            <a:srgbClr val="FFFFFF"/>
          </a:solidFill>
          <a:ln w="9525">
            <a:solidFill>
              <a:srgbClr val="5B636E"/>
            </a:solidFill>
            <a:prstDash val="solid"/>
          </a:ln>
        </p:spPr>
      </p:sp>
      <p:sp>
        <p:nvSpPr>
          <p:cNvPr id="31" name="o527"/>
          <p:cNvSpPr txBox="1"/>
          <p:nvPr/>
        </p:nvSpPr>
        <p:spPr>
          <a:xfrm>
            <a:off x="4130463" y="3482947"/>
            <a:ext cx="688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−0:24</a:t>
            </a:r>
            <a:endParaRPr lang="en-US" sz="900" dirty="0"/>
          </a:p>
        </p:txBody>
      </p:sp>
      <p:sp>
        <p:nvSpPr>
          <p:cNvPr id="32" name="o528"/>
          <p:cNvSpPr txBox="1"/>
          <p:nvPr/>
        </p:nvSpPr>
        <p:spPr>
          <a:xfrm>
            <a:off x="4168563" y="5391150"/>
            <a:ext cx="612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⑤사진</a:t>
            </a:r>
            <a:endParaRPr lang="en-US" sz="900" dirty="0"/>
          </a:p>
        </p:txBody>
      </p:sp>
      <p:sp>
        <p:nvSpPr>
          <p:cNvPr id="33" name="o529"/>
          <p:cNvSpPr/>
          <p:nvPr/>
        </p:nvSpPr>
        <p:spPr>
          <a:xfrm>
            <a:off x="4685453" y="3463897"/>
            <a:ext cx="281093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34" name="o530"/>
          <p:cNvSpPr/>
          <p:nvPr/>
        </p:nvSpPr>
        <p:spPr>
          <a:xfrm>
            <a:off x="4966547" y="3463897"/>
            <a:ext cx="421640" cy="171619"/>
          </a:xfrm>
          <a:prstGeom prst="rect">
            <a:avLst/>
          </a:prstGeom>
          <a:solidFill>
            <a:srgbClr val="FFFFFF"/>
          </a:solidFill>
          <a:ln w="9525">
            <a:solidFill>
              <a:srgbClr val="5B636E"/>
            </a:solidFill>
            <a:prstDash val="solid"/>
          </a:ln>
        </p:spPr>
      </p:sp>
      <p:sp>
        <p:nvSpPr>
          <p:cNvPr id="35" name="o531"/>
          <p:cNvSpPr txBox="1"/>
          <p:nvPr/>
        </p:nvSpPr>
        <p:spPr>
          <a:xfrm>
            <a:off x="4833197" y="3654566"/>
            <a:ext cx="688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3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−2:06</a:t>
            </a:r>
            <a:endParaRPr lang="en-US" sz="900" dirty="0"/>
          </a:p>
        </p:txBody>
      </p:sp>
      <p:sp>
        <p:nvSpPr>
          <p:cNvPr id="36" name="o532"/>
          <p:cNvSpPr txBox="1"/>
          <p:nvPr/>
        </p:nvSpPr>
        <p:spPr>
          <a:xfrm>
            <a:off x="4871297" y="5391150"/>
            <a:ext cx="612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⑥파일링</a:t>
            </a:r>
            <a:endParaRPr lang="en-US" sz="900" dirty="0"/>
          </a:p>
        </p:txBody>
      </p:sp>
      <p:sp>
        <p:nvSpPr>
          <p:cNvPr id="37" name="o533"/>
          <p:cNvSpPr/>
          <p:nvPr/>
        </p:nvSpPr>
        <p:spPr>
          <a:xfrm>
            <a:off x="5388187" y="3635516"/>
            <a:ext cx="281093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38" name="o534"/>
          <p:cNvSpPr/>
          <p:nvPr/>
        </p:nvSpPr>
        <p:spPr>
          <a:xfrm>
            <a:off x="5669280" y="3635516"/>
            <a:ext cx="421640" cy="150371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39" name="o535"/>
          <p:cNvSpPr txBox="1"/>
          <p:nvPr/>
        </p:nvSpPr>
        <p:spPr>
          <a:xfrm>
            <a:off x="5535930" y="5158276"/>
            <a:ext cx="688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−18:24</a:t>
            </a:r>
            <a:endParaRPr lang="en-US" sz="900" dirty="0"/>
          </a:p>
        </p:txBody>
      </p:sp>
      <p:sp>
        <p:nvSpPr>
          <p:cNvPr id="40" name="o536"/>
          <p:cNvSpPr txBox="1"/>
          <p:nvPr/>
        </p:nvSpPr>
        <p:spPr>
          <a:xfrm>
            <a:off x="5574030" y="5391150"/>
            <a:ext cx="612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⑦결재</a:t>
            </a:r>
            <a:endParaRPr lang="en-US" sz="900" dirty="0"/>
          </a:p>
        </p:txBody>
      </p:sp>
      <p:sp>
        <p:nvSpPr>
          <p:cNvPr id="41" name="o537"/>
          <p:cNvSpPr/>
          <p:nvPr/>
        </p:nvSpPr>
        <p:spPr>
          <a:xfrm>
            <a:off x="6090920" y="5140588"/>
            <a:ext cx="281093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dash"/>
          </a:ln>
        </p:spPr>
      </p:sp>
      <p:sp>
        <p:nvSpPr>
          <p:cNvPr id="42" name="o538"/>
          <p:cNvSpPr/>
          <p:nvPr/>
        </p:nvSpPr>
        <p:spPr>
          <a:xfrm>
            <a:off x="6372013" y="5140588"/>
            <a:ext cx="421640" cy="193412"/>
          </a:xfrm>
          <a:prstGeom prst="rect">
            <a:avLst/>
          </a:prstGeom>
          <a:solidFill>
            <a:srgbClr val="5B636E"/>
          </a:solidFill>
          <a:ln/>
        </p:spPr>
      </p:sp>
      <p:sp>
        <p:nvSpPr>
          <p:cNvPr id="43" name="o539"/>
          <p:cNvSpPr txBox="1"/>
          <p:nvPr/>
        </p:nvSpPr>
        <p:spPr>
          <a:xfrm>
            <a:off x="6257713" y="4969138"/>
            <a:ext cx="650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2:22</a:t>
            </a:r>
            <a:endParaRPr lang="en-US" sz="1100" dirty="0"/>
          </a:p>
        </p:txBody>
      </p:sp>
      <p:sp>
        <p:nvSpPr>
          <p:cNvPr id="44" name="o540"/>
          <p:cNvSpPr txBox="1"/>
          <p:nvPr/>
        </p:nvSpPr>
        <p:spPr>
          <a:xfrm>
            <a:off x="6295813" y="5391150"/>
            <a:ext cx="574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후</a:t>
            </a:r>
            <a:endParaRPr lang="en-US" sz="1000" dirty="0"/>
          </a:p>
        </p:txBody>
      </p:sp>
      <p:sp>
        <p:nvSpPr>
          <p:cNvPr id="45" name="o541"/>
          <p:cNvSpPr/>
          <p:nvPr/>
        </p:nvSpPr>
        <p:spPr>
          <a:xfrm>
            <a:off x="609600" y="5334000"/>
            <a:ext cx="6324600" cy="0"/>
          </a:xfrm>
          <a:prstGeom prst="line">
            <a:avLst/>
          </a:prstGeom>
          <a:noFill/>
          <a:ln w="9525">
            <a:solidFill>
              <a:srgbClr val="5B636E"/>
            </a:solidFill>
            <a:prstDash val="solid"/>
          </a:ln>
        </p:spPr>
      </p:sp>
      <p:sp>
        <p:nvSpPr>
          <p:cNvPr id="46" name="o542"/>
          <p:cNvSpPr/>
          <p:nvPr/>
        </p:nvSpPr>
        <p:spPr>
          <a:xfrm>
            <a:off x="609600" y="5619750"/>
            <a:ext cx="6324600" cy="381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7" name="o543"/>
          <p:cNvSpPr/>
          <p:nvPr/>
        </p:nvSpPr>
        <p:spPr>
          <a:xfrm>
            <a:off x="609600" y="5619750"/>
            <a:ext cx="91440" cy="3810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48" name="o544"/>
          <p:cNvSpPr txBox="1"/>
          <p:nvPr/>
        </p:nvSpPr>
        <p:spPr>
          <a:xfrm>
            <a:off x="843915" y="5762625"/>
            <a:ext cx="59474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결재 −18:24, ④ 제출 −7:00 — 두 단계가 단축분의 95%</a:t>
            </a:r>
            <a:endParaRPr lang="en-US" sz="1100" dirty="0"/>
          </a:p>
        </p:txBody>
      </p:sp>
      <p:sp>
        <p:nvSpPr>
          <p:cNvPr id="49" name="o545"/>
          <p:cNvSpPr/>
          <p:nvPr/>
        </p:nvSpPr>
        <p:spPr>
          <a:xfrm>
            <a:off x="7117080" y="2057400"/>
            <a:ext cx="214122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50" name="o546"/>
          <p:cNvSpPr txBox="1"/>
          <p:nvPr/>
        </p:nvSpPr>
        <p:spPr>
          <a:xfrm>
            <a:off x="7231380" y="2152650"/>
            <a:ext cx="1912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특별안전보건교육 단축률</a:t>
            </a:r>
            <a:endParaRPr lang="en-US" sz="1000" dirty="0"/>
          </a:p>
        </p:txBody>
      </p:sp>
      <p:sp>
        <p:nvSpPr>
          <p:cNvPr id="51" name="o547"/>
          <p:cNvSpPr txBox="1"/>
          <p:nvPr/>
        </p:nvSpPr>
        <p:spPr>
          <a:xfrm>
            <a:off x="7231380" y="2324100"/>
            <a:ext cx="1912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93.0%</a:t>
            </a:r>
            <a:endParaRPr lang="en-US" sz="2800" dirty="0"/>
          </a:p>
        </p:txBody>
      </p:sp>
      <p:sp>
        <p:nvSpPr>
          <p:cNvPr id="52" name="o548"/>
          <p:cNvSpPr txBox="1"/>
          <p:nvPr/>
        </p:nvSpPr>
        <p:spPr>
          <a:xfrm>
            <a:off x="7231380" y="2781300"/>
            <a:ext cx="19126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목표 70% 초과</a:t>
            </a:r>
            <a:endParaRPr lang="en-US" sz="1000" dirty="0"/>
          </a:p>
        </p:txBody>
      </p:sp>
      <p:sp>
        <p:nvSpPr>
          <p:cNvPr id="53" name="o549"/>
          <p:cNvSpPr/>
          <p:nvPr/>
        </p:nvSpPr>
        <p:spPr>
          <a:xfrm>
            <a:off x="9441180" y="2057400"/>
            <a:ext cx="214122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54" name="o550"/>
          <p:cNvSpPr txBox="1"/>
          <p:nvPr/>
        </p:nvSpPr>
        <p:spPr>
          <a:xfrm>
            <a:off x="9555480" y="2152650"/>
            <a:ext cx="1912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MSDS 교육 단축률</a:t>
            </a:r>
            <a:endParaRPr lang="en-US" sz="1000" dirty="0"/>
          </a:p>
        </p:txBody>
      </p:sp>
      <p:sp>
        <p:nvSpPr>
          <p:cNvPr id="55" name="o551"/>
          <p:cNvSpPr txBox="1"/>
          <p:nvPr/>
        </p:nvSpPr>
        <p:spPr>
          <a:xfrm>
            <a:off x="9555480" y="2324100"/>
            <a:ext cx="1912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81.0%</a:t>
            </a:r>
            <a:endParaRPr lang="en-US" sz="2800" dirty="0"/>
          </a:p>
        </p:txBody>
      </p:sp>
      <p:sp>
        <p:nvSpPr>
          <p:cNvPr id="56" name="o552"/>
          <p:cNvSpPr txBox="1"/>
          <p:nvPr/>
        </p:nvSpPr>
        <p:spPr>
          <a:xfrm>
            <a:off x="9555480" y="2781300"/>
            <a:ext cx="19126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목표 70% 초과</a:t>
            </a:r>
            <a:endParaRPr lang="en-US" sz="1000" dirty="0"/>
          </a:p>
        </p:txBody>
      </p:sp>
      <p:sp>
        <p:nvSpPr>
          <p:cNvPr id="57" name="o553"/>
          <p:cNvSpPr txBox="1"/>
          <p:nvPr/>
        </p:nvSpPr>
        <p:spPr>
          <a:xfrm>
            <a:off x="7117080" y="3238500"/>
            <a:ext cx="4465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MSDS 교육 1건 (분:초)</a:t>
            </a:r>
            <a:endParaRPr lang="en-US" sz="1200" dirty="0"/>
          </a:p>
        </p:txBody>
      </p:sp>
      <p:sp>
        <p:nvSpPr>
          <p:cNvPr id="58" name="o554"/>
          <p:cNvSpPr/>
          <p:nvPr/>
        </p:nvSpPr>
        <p:spPr>
          <a:xfrm>
            <a:off x="7117080" y="3467100"/>
            <a:ext cx="4465320" cy="32385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59" name="o555"/>
          <p:cNvSpPr txBox="1"/>
          <p:nvPr/>
        </p:nvSpPr>
        <p:spPr>
          <a:xfrm>
            <a:off x="7212330" y="3467100"/>
            <a:ext cx="18635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100" dirty="0"/>
          </a:p>
        </p:txBody>
      </p:sp>
      <p:sp>
        <p:nvSpPr>
          <p:cNvPr id="60" name="o556"/>
          <p:cNvSpPr txBox="1"/>
          <p:nvPr/>
        </p:nvSpPr>
        <p:spPr>
          <a:xfrm>
            <a:off x="9266377" y="346710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전</a:t>
            </a:r>
            <a:endParaRPr lang="en-US" sz="1100" dirty="0"/>
          </a:p>
        </p:txBody>
      </p:sp>
      <p:sp>
        <p:nvSpPr>
          <p:cNvPr id="61" name="o557"/>
          <p:cNvSpPr txBox="1"/>
          <p:nvPr/>
        </p:nvSpPr>
        <p:spPr>
          <a:xfrm>
            <a:off x="10472014" y="346710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후</a:t>
            </a:r>
            <a:endParaRPr lang="en-US" sz="1100" dirty="0"/>
          </a:p>
        </p:txBody>
      </p:sp>
      <p:sp>
        <p:nvSpPr>
          <p:cNvPr id="62" name="o558"/>
          <p:cNvSpPr/>
          <p:nvPr/>
        </p:nvSpPr>
        <p:spPr>
          <a:xfrm>
            <a:off x="7117080" y="379095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63" name="o559"/>
          <p:cNvSpPr txBox="1"/>
          <p:nvPr/>
        </p:nvSpPr>
        <p:spPr>
          <a:xfrm>
            <a:off x="7212330" y="3790950"/>
            <a:ext cx="18635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검색 · 초안</a:t>
            </a:r>
            <a:endParaRPr lang="en-US" sz="1200" dirty="0"/>
          </a:p>
        </p:txBody>
      </p:sp>
      <p:sp>
        <p:nvSpPr>
          <p:cNvPr id="64" name="o560"/>
          <p:cNvSpPr txBox="1"/>
          <p:nvPr/>
        </p:nvSpPr>
        <p:spPr>
          <a:xfrm>
            <a:off x="9266377" y="379095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2:09</a:t>
            </a:r>
            <a:endParaRPr lang="en-US" sz="1200" dirty="0"/>
          </a:p>
        </p:txBody>
      </p:sp>
      <p:sp>
        <p:nvSpPr>
          <p:cNvPr id="65" name="o561"/>
          <p:cNvSpPr txBox="1"/>
          <p:nvPr/>
        </p:nvSpPr>
        <p:spPr>
          <a:xfrm>
            <a:off x="10472014" y="379095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0:40</a:t>
            </a:r>
            <a:endParaRPr lang="en-US" sz="1200" dirty="0"/>
          </a:p>
        </p:txBody>
      </p:sp>
      <p:sp>
        <p:nvSpPr>
          <p:cNvPr id="66" name="o562"/>
          <p:cNvSpPr/>
          <p:nvPr/>
        </p:nvSpPr>
        <p:spPr>
          <a:xfrm>
            <a:off x="7117080" y="411480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67" name="o563"/>
          <p:cNvSpPr txBox="1"/>
          <p:nvPr/>
        </p:nvSpPr>
        <p:spPr>
          <a:xfrm>
            <a:off x="7212330" y="4114800"/>
            <a:ext cx="18635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픽업</a:t>
            </a:r>
            <a:endParaRPr lang="en-US" sz="1200" dirty="0"/>
          </a:p>
        </p:txBody>
      </p:sp>
      <p:sp>
        <p:nvSpPr>
          <p:cNvPr id="68" name="o564"/>
          <p:cNvSpPr txBox="1"/>
          <p:nvPr/>
        </p:nvSpPr>
        <p:spPr>
          <a:xfrm>
            <a:off x="9266377" y="411480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1:19</a:t>
            </a:r>
            <a:endParaRPr lang="en-US" sz="1200" dirty="0"/>
          </a:p>
        </p:txBody>
      </p:sp>
      <p:sp>
        <p:nvSpPr>
          <p:cNvPr id="69" name="o565"/>
          <p:cNvSpPr txBox="1"/>
          <p:nvPr/>
        </p:nvSpPr>
        <p:spPr>
          <a:xfrm>
            <a:off x="10472014" y="411480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0:00</a:t>
            </a:r>
            <a:endParaRPr lang="en-US" sz="1200" dirty="0"/>
          </a:p>
        </p:txBody>
      </p:sp>
      <p:sp>
        <p:nvSpPr>
          <p:cNvPr id="70" name="o566"/>
          <p:cNvSpPr/>
          <p:nvPr/>
        </p:nvSpPr>
        <p:spPr>
          <a:xfrm>
            <a:off x="7117080" y="443865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71" name="o567"/>
          <p:cNvSpPr txBox="1"/>
          <p:nvPr/>
        </p:nvSpPr>
        <p:spPr>
          <a:xfrm>
            <a:off x="7212330" y="4438650"/>
            <a:ext cx="18635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수기 서명</a:t>
            </a:r>
            <a:endParaRPr lang="en-US" sz="1200" dirty="0"/>
          </a:p>
        </p:txBody>
      </p:sp>
      <p:sp>
        <p:nvSpPr>
          <p:cNvPr id="72" name="o568"/>
          <p:cNvSpPr txBox="1"/>
          <p:nvPr/>
        </p:nvSpPr>
        <p:spPr>
          <a:xfrm>
            <a:off x="9266377" y="443865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0:19</a:t>
            </a:r>
            <a:endParaRPr lang="en-US" sz="1200" dirty="0"/>
          </a:p>
        </p:txBody>
      </p:sp>
      <p:sp>
        <p:nvSpPr>
          <p:cNvPr id="73" name="o569"/>
          <p:cNvSpPr txBox="1"/>
          <p:nvPr/>
        </p:nvSpPr>
        <p:spPr>
          <a:xfrm>
            <a:off x="10472014" y="443865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0:09</a:t>
            </a:r>
            <a:endParaRPr lang="en-US" sz="1200" dirty="0"/>
          </a:p>
        </p:txBody>
      </p:sp>
      <p:sp>
        <p:nvSpPr>
          <p:cNvPr id="74" name="o570"/>
          <p:cNvSpPr/>
          <p:nvPr/>
        </p:nvSpPr>
        <p:spPr>
          <a:xfrm>
            <a:off x="7117080" y="476250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75" name="o571"/>
          <p:cNvSpPr txBox="1"/>
          <p:nvPr/>
        </p:nvSpPr>
        <p:spPr>
          <a:xfrm>
            <a:off x="7212330" y="4762500"/>
            <a:ext cx="18635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바인더 편철</a:t>
            </a:r>
            <a:endParaRPr lang="en-US" sz="1200" dirty="0"/>
          </a:p>
        </p:txBody>
      </p:sp>
      <p:sp>
        <p:nvSpPr>
          <p:cNvPr id="76" name="o572"/>
          <p:cNvSpPr txBox="1"/>
          <p:nvPr/>
        </p:nvSpPr>
        <p:spPr>
          <a:xfrm>
            <a:off x="9266377" y="476250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0:32</a:t>
            </a:r>
            <a:endParaRPr lang="en-US" sz="1200" dirty="0"/>
          </a:p>
        </p:txBody>
      </p:sp>
      <p:sp>
        <p:nvSpPr>
          <p:cNvPr id="77" name="o573"/>
          <p:cNvSpPr txBox="1"/>
          <p:nvPr/>
        </p:nvSpPr>
        <p:spPr>
          <a:xfrm>
            <a:off x="10472014" y="476250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0:00</a:t>
            </a:r>
            <a:endParaRPr lang="en-US" sz="1200" dirty="0"/>
          </a:p>
        </p:txBody>
      </p:sp>
      <p:sp>
        <p:nvSpPr>
          <p:cNvPr id="78" name="o574"/>
          <p:cNvSpPr/>
          <p:nvPr/>
        </p:nvSpPr>
        <p:spPr>
          <a:xfrm>
            <a:off x="7117080" y="508635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79" name="o575"/>
          <p:cNvSpPr txBox="1"/>
          <p:nvPr/>
        </p:nvSpPr>
        <p:spPr>
          <a:xfrm>
            <a:off x="7212330" y="5086350"/>
            <a:ext cx="18635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200" dirty="0"/>
          </a:p>
        </p:txBody>
      </p:sp>
      <p:sp>
        <p:nvSpPr>
          <p:cNvPr id="80" name="o576"/>
          <p:cNvSpPr txBox="1"/>
          <p:nvPr/>
        </p:nvSpPr>
        <p:spPr>
          <a:xfrm>
            <a:off x="9266377" y="508635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4:18</a:t>
            </a:r>
            <a:endParaRPr lang="en-US" sz="1200" dirty="0"/>
          </a:p>
        </p:txBody>
      </p:sp>
      <p:sp>
        <p:nvSpPr>
          <p:cNvPr id="81" name="o577"/>
          <p:cNvSpPr txBox="1"/>
          <p:nvPr/>
        </p:nvSpPr>
        <p:spPr>
          <a:xfrm>
            <a:off x="10472014" y="5086350"/>
            <a:ext cx="10151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0:49</a:t>
            </a:r>
            <a:endParaRPr lang="en-US" sz="1200" dirty="0"/>
          </a:p>
        </p:txBody>
      </p:sp>
      <p:sp>
        <p:nvSpPr>
          <p:cNvPr id="82" name="o578"/>
          <p:cNvSpPr/>
          <p:nvPr/>
        </p:nvSpPr>
        <p:spPr>
          <a:xfrm>
            <a:off x="7117080" y="541020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83" name="o579"/>
          <p:cNvSpPr/>
          <p:nvPr/>
        </p:nvSpPr>
        <p:spPr>
          <a:xfrm>
            <a:off x="7117080" y="3467100"/>
            <a:ext cx="446532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84" name="o580"/>
          <p:cNvSpPr txBox="1"/>
          <p:nvPr/>
        </p:nvSpPr>
        <p:spPr>
          <a:xfrm>
            <a:off x="7117080" y="5505450"/>
            <a:ext cx="44653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절약된 시간은 부서장은 환자 곁으로, 보건관리자는 현장 점검으로 돌아갔다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581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4.1</a:t>
            </a:r>
            <a:endParaRPr lang="en-US" sz="1100" dirty="0"/>
          </a:p>
        </p:txBody>
      </p:sp>
      <p:sp>
        <p:nvSpPr>
          <p:cNvPr id="3" name="o582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업무로 정착시킨 뒤, AI로 먼저 알려 주는 체계로 고도화했다</a:t>
            </a:r>
            <a:endParaRPr lang="en-US" sz="2800" dirty="0"/>
          </a:p>
        </p:txBody>
      </p:sp>
      <p:sp>
        <p:nvSpPr>
          <p:cNvPr id="4" name="o583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표준 프로세스(상) · AI · 자동화 기능 4종(하)</a:t>
            </a:r>
            <a:endParaRPr lang="en-US" sz="1400" dirty="0"/>
          </a:p>
        </p:txBody>
      </p:sp>
      <p:sp>
        <p:nvSpPr>
          <p:cNvPr id="5" name="o584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585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플랫폼 기능 목록 v21.6 (2026.10) · 사업장 위험성평가에 관한 지침</a:t>
            </a:r>
            <a:endParaRPr lang="en-US" sz="800" dirty="0"/>
          </a:p>
        </p:txBody>
      </p:sp>
      <p:sp>
        <p:nvSpPr>
          <p:cNvPr id="7" name="o586"/>
          <p:cNvSpPr txBox="1"/>
          <p:nvPr/>
        </p:nvSpPr>
        <p:spPr>
          <a:xfrm>
            <a:off x="7943850" y="6143625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Note: 고도화 기능 효과는 하반기 측정 예정</a:t>
            </a:r>
            <a:endParaRPr lang="en-US" sz="800" dirty="0"/>
          </a:p>
        </p:txBody>
      </p:sp>
      <p:sp>
        <p:nvSpPr>
          <p:cNvPr id="8" name="o587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o588"/>
          <p:cNvSpPr txBox="1"/>
          <p:nvPr/>
        </p:nvSpPr>
        <p:spPr>
          <a:xfrm>
            <a:off x="609600" y="2019300"/>
            <a:ext cx="1097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사내 표준 업무 프로세스 (2026.08~)</a:t>
            </a:r>
            <a:endParaRPr lang="en-US" sz="900" dirty="0"/>
          </a:p>
        </p:txBody>
      </p:sp>
      <p:sp>
        <p:nvSpPr>
          <p:cNvPr id="10" name="o589"/>
          <p:cNvSpPr/>
          <p:nvPr/>
        </p:nvSpPr>
        <p:spPr>
          <a:xfrm>
            <a:off x="609600" y="2228850"/>
            <a:ext cx="24574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11" name="o590"/>
          <p:cNvSpPr/>
          <p:nvPr/>
        </p:nvSpPr>
        <p:spPr>
          <a:xfrm>
            <a:off x="742950" y="241935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12" name="o591"/>
          <p:cNvSpPr txBox="1"/>
          <p:nvPr/>
        </p:nvSpPr>
        <p:spPr>
          <a:xfrm>
            <a:off x="742950" y="24193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o592"/>
          <p:cNvSpPr txBox="1"/>
          <p:nvPr/>
        </p:nvSpPr>
        <p:spPr>
          <a:xfrm>
            <a:off x="1143000" y="23431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작성</a:t>
            </a:r>
            <a:endParaRPr lang="en-US" sz="1400" dirty="0"/>
          </a:p>
        </p:txBody>
      </p:sp>
      <p:sp>
        <p:nvSpPr>
          <p:cNvPr id="14" name="o593"/>
          <p:cNvSpPr txBox="1"/>
          <p:nvPr/>
        </p:nvSpPr>
        <p:spPr>
          <a:xfrm>
            <a:off x="1143000" y="2590800"/>
            <a:ext cx="182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수기 작성 폐지</a:t>
            </a:r>
            <a:endParaRPr lang="en-US" sz="1100" dirty="0"/>
          </a:p>
        </p:txBody>
      </p:sp>
      <p:sp>
        <p:nvSpPr>
          <p:cNvPr id="15" name="o594"/>
          <p:cNvSpPr/>
          <p:nvPr/>
        </p:nvSpPr>
        <p:spPr>
          <a:xfrm>
            <a:off x="3124200" y="2562225"/>
            <a:ext cx="266700" cy="0"/>
          </a:xfrm>
          <a:prstGeom prst="line">
            <a:avLst/>
          </a:prstGeom>
          <a:noFill/>
          <a:ln w="19050">
            <a:solidFill>
              <a:srgbClr val="5B636E"/>
            </a:solidFill>
            <a:prstDash val="solid"/>
            <a:tailEnd type="triangle"/>
          </a:ln>
        </p:spPr>
      </p:sp>
      <p:sp>
        <p:nvSpPr>
          <p:cNvPr id="16" name="o595"/>
          <p:cNvSpPr/>
          <p:nvPr/>
        </p:nvSpPr>
        <p:spPr>
          <a:xfrm>
            <a:off x="3448050" y="2228850"/>
            <a:ext cx="24574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17" name="o596"/>
          <p:cNvSpPr/>
          <p:nvPr/>
        </p:nvSpPr>
        <p:spPr>
          <a:xfrm>
            <a:off x="3581400" y="241935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18" name="o597"/>
          <p:cNvSpPr txBox="1"/>
          <p:nvPr/>
        </p:nvSpPr>
        <p:spPr>
          <a:xfrm>
            <a:off x="3581400" y="24193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o598"/>
          <p:cNvSpPr txBox="1"/>
          <p:nvPr/>
        </p:nvSpPr>
        <p:spPr>
          <a:xfrm>
            <a:off x="3981450" y="23431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전자서명</a:t>
            </a:r>
            <a:endParaRPr lang="en-US" sz="1400" dirty="0"/>
          </a:p>
        </p:txBody>
      </p:sp>
      <p:sp>
        <p:nvSpPr>
          <p:cNvPr id="20" name="o599"/>
          <p:cNvSpPr txBox="1"/>
          <p:nvPr/>
        </p:nvSpPr>
        <p:spPr>
          <a:xfrm>
            <a:off x="3981450" y="2590800"/>
            <a:ext cx="182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휴대폰</a:t>
            </a:r>
            <a:endParaRPr lang="en-US" sz="1100" dirty="0"/>
          </a:p>
        </p:txBody>
      </p:sp>
      <p:sp>
        <p:nvSpPr>
          <p:cNvPr id="21" name="o600"/>
          <p:cNvSpPr/>
          <p:nvPr/>
        </p:nvSpPr>
        <p:spPr>
          <a:xfrm>
            <a:off x="5962650" y="2562225"/>
            <a:ext cx="266700" cy="0"/>
          </a:xfrm>
          <a:prstGeom prst="line">
            <a:avLst/>
          </a:prstGeom>
          <a:noFill/>
          <a:ln w="19050">
            <a:solidFill>
              <a:srgbClr val="5B636E"/>
            </a:solidFill>
            <a:prstDash val="solid"/>
            <a:tailEnd type="triangle"/>
          </a:ln>
        </p:spPr>
      </p:sp>
      <p:sp>
        <p:nvSpPr>
          <p:cNvPr id="22" name="o601"/>
          <p:cNvSpPr/>
          <p:nvPr/>
        </p:nvSpPr>
        <p:spPr>
          <a:xfrm>
            <a:off x="6286500" y="2228850"/>
            <a:ext cx="24574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23" name="o602"/>
          <p:cNvSpPr/>
          <p:nvPr/>
        </p:nvSpPr>
        <p:spPr>
          <a:xfrm>
            <a:off x="6419850" y="241935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24" name="o603"/>
          <p:cNvSpPr txBox="1"/>
          <p:nvPr/>
        </p:nvSpPr>
        <p:spPr>
          <a:xfrm>
            <a:off x="6419850" y="24193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o604"/>
          <p:cNvSpPr txBox="1"/>
          <p:nvPr/>
        </p:nvSpPr>
        <p:spPr>
          <a:xfrm>
            <a:off x="6819900" y="23431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비대면 승인</a:t>
            </a:r>
            <a:endParaRPr lang="en-US" sz="1400" dirty="0"/>
          </a:p>
        </p:txBody>
      </p:sp>
      <p:sp>
        <p:nvSpPr>
          <p:cNvPr id="26" name="o605"/>
          <p:cNvSpPr txBox="1"/>
          <p:nvPr/>
        </p:nvSpPr>
        <p:spPr>
          <a:xfrm>
            <a:off x="6819900" y="2590800"/>
            <a:ext cx="182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대면 결재 폐지</a:t>
            </a:r>
            <a:endParaRPr lang="en-US" sz="1100" dirty="0"/>
          </a:p>
        </p:txBody>
      </p:sp>
      <p:sp>
        <p:nvSpPr>
          <p:cNvPr id="27" name="o606"/>
          <p:cNvSpPr/>
          <p:nvPr/>
        </p:nvSpPr>
        <p:spPr>
          <a:xfrm>
            <a:off x="8801100" y="2562225"/>
            <a:ext cx="266700" cy="0"/>
          </a:xfrm>
          <a:prstGeom prst="line">
            <a:avLst/>
          </a:prstGeom>
          <a:noFill/>
          <a:ln w="19050">
            <a:solidFill>
              <a:srgbClr val="5B636E"/>
            </a:solidFill>
            <a:prstDash val="solid"/>
            <a:tailEnd type="triangle"/>
          </a:ln>
        </p:spPr>
      </p:sp>
      <p:sp>
        <p:nvSpPr>
          <p:cNvPr id="28" name="o607"/>
          <p:cNvSpPr/>
          <p:nvPr/>
        </p:nvSpPr>
        <p:spPr>
          <a:xfrm>
            <a:off x="9124950" y="2228850"/>
            <a:ext cx="24574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29" name="o608"/>
          <p:cNvSpPr/>
          <p:nvPr/>
        </p:nvSpPr>
        <p:spPr>
          <a:xfrm>
            <a:off x="9258300" y="2419350"/>
            <a:ext cx="285750" cy="2857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7B57"/>
            </a:solidFill>
            <a:prstDash val="solid"/>
          </a:ln>
        </p:spPr>
      </p:sp>
      <p:sp>
        <p:nvSpPr>
          <p:cNvPr id="30" name="o609"/>
          <p:cNvSpPr txBox="1"/>
          <p:nvPr/>
        </p:nvSpPr>
        <p:spPr>
          <a:xfrm>
            <a:off x="9258300" y="24193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o610"/>
          <p:cNvSpPr txBox="1"/>
          <p:nvPr/>
        </p:nvSpPr>
        <p:spPr>
          <a:xfrm>
            <a:off x="9658350" y="23431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MSDS 상시 개정</a:t>
            </a:r>
            <a:endParaRPr lang="en-US" sz="1400" dirty="0"/>
          </a:p>
        </p:txBody>
      </p:sp>
      <p:sp>
        <p:nvSpPr>
          <p:cNvPr id="32" name="o611"/>
          <p:cNvSpPr txBox="1"/>
          <p:nvPr/>
        </p:nvSpPr>
        <p:spPr>
          <a:xfrm>
            <a:off x="9658350" y="2590800"/>
            <a:ext cx="182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바인더 폐지</a:t>
            </a:r>
            <a:endParaRPr lang="en-US" sz="1100" dirty="0"/>
          </a:p>
        </p:txBody>
      </p:sp>
      <p:sp>
        <p:nvSpPr>
          <p:cNvPr id="33" name="o612"/>
          <p:cNvSpPr/>
          <p:nvPr/>
        </p:nvSpPr>
        <p:spPr>
          <a:xfrm>
            <a:off x="609600" y="3105150"/>
            <a:ext cx="7254240" cy="5334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34" name="o613"/>
          <p:cNvSpPr txBox="1"/>
          <p:nvPr/>
        </p:nvSpPr>
        <p:spPr>
          <a:xfrm>
            <a:off x="704850" y="3105150"/>
            <a:ext cx="11878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</a:t>
            </a:r>
            <a:endParaRPr lang="en-US" sz="1100" dirty="0"/>
          </a:p>
        </p:txBody>
      </p:sp>
      <p:sp>
        <p:nvSpPr>
          <p:cNvPr id="35" name="o614"/>
          <p:cNvSpPr txBox="1"/>
          <p:nvPr/>
        </p:nvSpPr>
        <p:spPr>
          <a:xfrm>
            <a:off x="2083156" y="3105150"/>
            <a:ext cx="4623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유형</a:t>
            </a:r>
            <a:endParaRPr lang="en-US" sz="1100" dirty="0"/>
          </a:p>
        </p:txBody>
      </p:sp>
      <p:sp>
        <p:nvSpPr>
          <p:cNvPr id="36" name="o615"/>
          <p:cNvSpPr txBox="1"/>
          <p:nvPr/>
        </p:nvSpPr>
        <p:spPr>
          <a:xfrm>
            <a:off x="2736037" y="3105150"/>
            <a:ext cx="26386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일</a:t>
            </a:r>
            <a:endParaRPr lang="en-US" sz="1100" dirty="0"/>
          </a:p>
        </p:txBody>
      </p:sp>
      <p:sp>
        <p:nvSpPr>
          <p:cNvPr id="37" name="o616"/>
          <p:cNvSpPr txBox="1"/>
          <p:nvPr/>
        </p:nvSpPr>
        <p:spPr>
          <a:xfrm>
            <a:off x="5565191" y="3105150"/>
            <a:ext cx="22033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확인하는 지점</a:t>
            </a:r>
            <a:endParaRPr lang="en-US" sz="1100" dirty="0"/>
          </a:p>
        </p:txBody>
      </p:sp>
      <p:sp>
        <p:nvSpPr>
          <p:cNvPr id="38" name="o617"/>
          <p:cNvSpPr/>
          <p:nvPr/>
        </p:nvSpPr>
        <p:spPr>
          <a:xfrm>
            <a:off x="609600" y="3638550"/>
            <a:ext cx="72542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9" name="o618"/>
          <p:cNvSpPr txBox="1"/>
          <p:nvPr/>
        </p:nvSpPr>
        <p:spPr>
          <a:xfrm>
            <a:off x="704850" y="3638550"/>
            <a:ext cx="11878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MSDS 검토</a:t>
            </a:r>
            <a:endParaRPr lang="en-US" sz="1100" dirty="0"/>
          </a:p>
        </p:txBody>
      </p:sp>
      <p:sp>
        <p:nvSpPr>
          <p:cNvPr id="40" name="o619"/>
          <p:cNvSpPr txBox="1"/>
          <p:nvPr/>
        </p:nvSpPr>
        <p:spPr>
          <a:xfrm>
            <a:off x="2083156" y="3638550"/>
            <a:ext cx="4623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1100" dirty="0"/>
          </a:p>
        </p:txBody>
      </p:sp>
      <p:sp>
        <p:nvSpPr>
          <p:cNvPr id="41" name="o620"/>
          <p:cNvSpPr txBox="1"/>
          <p:nvPr/>
        </p:nvSpPr>
        <p:spPr>
          <a:xfrm>
            <a:off x="2736037" y="3638550"/>
            <a:ext cx="26386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MSDS PDF → 관리대상 · 특별관리 · 특검 · 측정 여부 제안</a:t>
            </a:r>
            <a:endParaRPr lang="en-US" sz="1100" dirty="0"/>
          </a:p>
        </p:txBody>
      </p:sp>
      <p:sp>
        <p:nvSpPr>
          <p:cNvPr id="42" name="o621"/>
          <p:cNvSpPr txBox="1"/>
          <p:nvPr/>
        </p:nvSpPr>
        <p:spPr>
          <a:xfrm>
            <a:off x="5565191" y="3638550"/>
            <a:ext cx="22033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법령대조표 · 기존 판정 비교 후 승인분만 등록</a:t>
            </a:r>
            <a:endParaRPr lang="en-US" sz="1100" dirty="0"/>
          </a:p>
        </p:txBody>
      </p:sp>
      <p:sp>
        <p:nvSpPr>
          <p:cNvPr id="43" name="o622"/>
          <p:cNvSpPr/>
          <p:nvPr/>
        </p:nvSpPr>
        <p:spPr>
          <a:xfrm>
            <a:off x="609600" y="4171950"/>
            <a:ext cx="72542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4" name="o623"/>
          <p:cNvSpPr txBox="1"/>
          <p:nvPr/>
        </p:nvSpPr>
        <p:spPr>
          <a:xfrm>
            <a:off x="704850" y="4171950"/>
            <a:ext cx="11878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도우미</a:t>
            </a:r>
            <a:endParaRPr lang="en-US" sz="1100" dirty="0"/>
          </a:p>
        </p:txBody>
      </p:sp>
      <p:sp>
        <p:nvSpPr>
          <p:cNvPr id="45" name="o624"/>
          <p:cNvSpPr txBox="1"/>
          <p:nvPr/>
        </p:nvSpPr>
        <p:spPr>
          <a:xfrm>
            <a:off x="2083156" y="4171950"/>
            <a:ext cx="4623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1100" dirty="0"/>
          </a:p>
        </p:txBody>
      </p:sp>
      <p:sp>
        <p:nvSpPr>
          <p:cNvPr id="46" name="o625"/>
          <p:cNvSpPr txBox="1"/>
          <p:nvPr/>
        </p:nvSpPr>
        <p:spPr>
          <a:xfrm>
            <a:off x="2736037" y="4171950"/>
            <a:ext cx="26386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사용법 · 교육 기한 · MSDS · 법령 즉시 질문</a:t>
            </a:r>
            <a:endParaRPr lang="en-US" sz="1100" dirty="0"/>
          </a:p>
        </p:txBody>
      </p:sp>
      <p:sp>
        <p:nvSpPr>
          <p:cNvPr id="47" name="o626"/>
          <p:cNvSpPr txBox="1"/>
          <p:nvPr/>
        </p:nvSpPr>
        <p:spPr>
          <a:xfrm>
            <a:off x="5565191" y="4171950"/>
            <a:ext cx="22033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답마다 출처 표시 (FAQ · 법령 · 공단 자료)</a:t>
            </a:r>
            <a:endParaRPr lang="en-US" sz="1100" dirty="0"/>
          </a:p>
        </p:txBody>
      </p:sp>
      <p:sp>
        <p:nvSpPr>
          <p:cNvPr id="48" name="o627"/>
          <p:cNvSpPr/>
          <p:nvPr/>
        </p:nvSpPr>
        <p:spPr>
          <a:xfrm>
            <a:off x="609600" y="4705350"/>
            <a:ext cx="72542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9" name="o628"/>
          <p:cNvSpPr txBox="1"/>
          <p:nvPr/>
        </p:nvSpPr>
        <p:spPr>
          <a:xfrm>
            <a:off x="704850" y="4705350"/>
            <a:ext cx="11878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위험성평가</a:t>
            </a:r>
            <a:endParaRPr lang="en-US" sz="1100" dirty="0"/>
          </a:p>
        </p:txBody>
      </p:sp>
      <p:sp>
        <p:nvSpPr>
          <p:cNvPr id="50" name="o629"/>
          <p:cNvSpPr txBox="1"/>
          <p:nvPr/>
        </p:nvSpPr>
        <p:spPr>
          <a:xfrm>
            <a:off x="2083156" y="4705350"/>
            <a:ext cx="4623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1100" dirty="0"/>
          </a:p>
        </p:txBody>
      </p:sp>
      <p:sp>
        <p:nvSpPr>
          <p:cNvPr id="51" name="o630"/>
          <p:cNvSpPr txBox="1"/>
          <p:nvPr/>
        </p:nvSpPr>
        <p:spPr>
          <a:xfrm>
            <a:off x="2736037" y="4705350"/>
            <a:ext cx="26386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사진 → 위험요인 → 가능성 × 중대성(5×4) → 대책</a:t>
            </a:r>
            <a:endParaRPr lang="en-US" sz="1100" dirty="0"/>
          </a:p>
        </p:txBody>
      </p:sp>
      <p:sp>
        <p:nvSpPr>
          <p:cNvPr id="52" name="o631"/>
          <p:cNvSpPr txBox="1"/>
          <p:nvPr/>
        </p:nvSpPr>
        <p:spPr>
          <a:xfrm>
            <a:off x="5565191" y="4705350"/>
            <a:ext cx="22033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· 등급 서버 재계산, 법령 조문 대조</a:t>
            </a:r>
            <a:endParaRPr lang="en-US" sz="1100" dirty="0"/>
          </a:p>
        </p:txBody>
      </p:sp>
      <p:sp>
        <p:nvSpPr>
          <p:cNvPr id="53" name="o632"/>
          <p:cNvSpPr/>
          <p:nvPr/>
        </p:nvSpPr>
        <p:spPr>
          <a:xfrm>
            <a:off x="609600" y="5238750"/>
            <a:ext cx="72542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54" name="o633"/>
          <p:cNvSpPr txBox="1"/>
          <p:nvPr/>
        </p:nvSpPr>
        <p:spPr>
          <a:xfrm>
            <a:off x="704850" y="5238750"/>
            <a:ext cx="11878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신규입사 자동 알림</a:t>
            </a:r>
            <a:endParaRPr lang="en-US" sz="1100" dirty="0"/>
          </a:p>
        </p:txBody>
      </p:sp>
      <p:sp>
        <p:nvSpPr>
          <p:cNvPr id="55" name="o634"/>
          <p:cNvSpPr txBox="1"/>
          <p:nvPr/>
        </p:nvSpPr>
        <p:spPr>
          <a:xfrm>
            <a:off x="2083156" y="5238750"/>
            <a:ext cx="4623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</a:t>
            </a:r>
            <a:endParaRPr lang="en-US" sz="1100" dirty="0"/>
          </a:p>
        </p:txBody>
      </p:sp>
      <p:sp>
        <p:nvSpPr>
          <p:cNvPr id="56" name="o635"/>
          <p:cNvSpPr txBox="1"/>
          <p:nvPr/>
        </p:nvSpPr>
        <p:spPr>
          <a:xfrm>
            <a:off x="2736037" y="5238750"/>
            <a:ext cx="26386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 DB 매일 대조 → 부서장 메일 (기한 입사 후 3일)</a:t>
            </a:r>
            <a:endParaRPr lang="en-US" sz="1100" dirty="0"/>
          </a:p>
        </p:txBody>
      </p:sp>
      <p:sp>
        <p:nvSpPr>
          <p:cNvPr id="57" name="o636"/>
          <p:cNvSpPr txBox="1"/>
          <p:nvPr/>
        </p:nvSpPr>
        <p:spPr>
          <a:xfrm>
            <a:off x="5565191" y="5238750"/>
            <a:ext cx="22033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미회신 시 3일마다 재알림 (최대 3회)</a:t>
            </a:r>
            <a:endParaRPr lang="en-US" sz="1100" dirty="0"/>
          </a:p>
        </p:txBody>
      </p:sp>
      <p:sp>
        <p:nvSpPr>
          <p:cNvPr id="58" name="o637"/>
          <p:cNvSpPr/>
          <p:nvPr/>
        </p:nvSpPr>
        <p:spPr>
          <a:xfrm>
            <a:off x="609600" y="5772150"/>
            <a:ext cx="72542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59" name="o638"/>
          <p:cNvSpPr/>
          <p:nvPr/>
        </p:nvSpPr>
        <p:spPr>
          <a:xfrm>
            <a:off x="609600" y="3105150"/>
            <a:ext cx="725424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60" name="o639"/>
          <p:cNvSpPr/>
          <p:nvPr/>
        </p:nvSpPr>
        <p:spPr>
          <a:xfrm>
            <a:off x="8046720" y="3105150"/>
            <a:ext cx="353568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61" name="o640"/>
          <p:cNvSpPr txBox="1"/>
          <p:nvPr/>
        </p:nvSpPr>
        <p:spPr>
          <a:xfrm>
            <a:off x="8180070" y="3219450"/>
            <a:ext cx="3268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고도화 기능</a:t>
            </a:r>
            <a:endParaRPr lang="en-US" sz="1000" dirty="0"/>
          </a:p>
        </p:txBody>
      </p:sp>
      <p:sp>
        <p:nvSpPr>
          <p:cNvPr id="62" name="o641"/>
          <p:cNvSpPr txBox="1"/>
          <p:nvPr/>
        </p:nvSpPr>
        <p:spPr>
          <a:xfrm>
            <a:off x="8180070" y="3390900"/>
            <a:ext cx="32689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4종</a:t>
            </a:r>
            <a:endParaRPr lang="en-US" sz="2800" dirty="0"/>
          </a:p>
        </p:txBody>
      </p:sp>
      <p:sp>
        <p:nvSpPr>
          <p:cNvPr id="63" name="o642"/>
          <p:cNvSpPr txBox="1"/>
          <p:nvPr/>
        </p:nvSpPr>
        <p:spPr>
          <a:xfrm>
            <a:off x="8180070" y="3924300"/>
            <a:ext cx="3268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3 · 자동화 1</a:t>
            </a:r>
            <a:endParaRPr lang="en-US" sz="1100" dirty="0"/>
          </a:p>
        </p:txBody>
      </p:sp>
      <p:sp>
        <p:nvSpPr>
          <p:cNvPr id="64" name="o643"/>
          <p:cNvSpPr/>
          <p:nvPr/>
        </p:nvSpPr>
        <p:spPr>
          <a:xfrm>
            <a:off x="8046720" y="4267200"/>
            <a:ext cx="3535680" cy="16764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65" name="o644"/>
          <p:cNvSpPr/>
          <p:nvPr/>
        </p:nvSpPr>
        <p:spPr>
          <a:xfrm>
            <a:off x="8046720" y="4267200"/>
            <a:ext cx="91440" cy="16764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66" name="o645"/>
          <p:cNvSpPr txBox="1"/>
          <p:nvPr/>
        </p:nvSpPr>
        <p:spPr>
          <a:xfrm>
            <a:off x="8281035" y="4410075"/>
            <a:ext cx="315849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세 가지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제안, 결정은 사람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개인정보는 AI에 보내지 않음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근거와 출처를 함께 표시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646"/>
          <p:cNvSpPr txBox="1"/>
          <p:nvPr/>
        </p:nvSpPr>
        <p:spPr>
          <a:xfrm>
            <a:off x="609600" y="5715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Exhibit 5.1</a:t>
            </a:r>
            <a:endParaRPr lang="en-US" sz="1100" dirty="0"/>
          </a:p>
        </p:txBody>
      </p:sp>
      <p:sp>
        <p:nvSpPr>
          <p:cNvPr id="3" name="o647"/>
          <p:cNvSpPr txBox="1"/>
          <p:nvPr/>
        </p:nvSpPr>
        <p:spPr>
          <a:xfrm>
            <a:off x="609600" y="781050"/>
            <a:ext cx="10972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지표 모두 목표를 달성했고, 하반기에는 고도화 효과를 같은 지표로 검증한다</a:t>
            </a:r>
            <a:endParaRPr lang="en-US" sz="2800" dirty="0"/>
          </a:p>
        </p:txBody>
      </p:sp>
      <p:sp>
        <p:nvSpPr>
          <p:cNvPr id="4" name="o648"/>
          <p:cNvSpPr txBox="1"/>
          <p:nvPr/>
        </p:nvSpPr>
        <p:spPr>
          <a:xfrm>
            <a:off x="609600" y="1771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지표별 목표 대비 결과 · 다음 단계</a:t>
            </a:r>
            <a:endParaRPr lang="en-US" sz="1400" dirty="0"/>
          </a:p>
        </p:txBody>
      </p:sp>
      <p:sp>
        <p:nvSpPr>
          <p:cNvPr id="5" name="o649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6" name="o650"/>
          <p:cNvSpPr txBox="1"/>
          <p:nvPr/>
        </p:nvSpPr>
        <p:spPr>
          <a:xfrm>
            <a:off x="609600" y="6143625"/>
            <a:ext cx="7239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Source: 2026 QI 활동 최종보고서 · 플랫폼 DB 2026.05–07</a:t>
            </a:r>
            <a:endParaRPr lang="en-US" sz="800" dirty="0"/>
          </a:p>
        </p:txBody>
      </p:sp>
      <p:sp>
        <p:nvSpPr>
          <p:cNvPr id="7" name="o651"/>
          <p:cNvSpPr txBox="1"/>
          <p:nvPr/>
        </p:nvSpPr>
        <p:spPr>
          <a:xfrm>
            <a:off x="11201400" y="61436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o652"/>
          <p:cNvSpPr/>
          <p:nvPr/>
        </p:nvSpPr>
        <p:spPr>
          <a:xfrm>
            <a:off x="609600" y="2057400"/>
            <a:ext cx="353568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9" name="o653"/>
          <p:cNvSpPr txBox="1"/>
          <p:nvPr/>
        </p:nvSpPr>
        <p:spPr>
          <a:xfrm>
            <a:off x="800100" y="2171700"/>
            <a:ext cx="3154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— 법정교육 누락</a:t>
            </a:r>
            <a:endParaRPr lang="en-US" sz="1100" dirty="0"/>
          </a:p>
        </p:txBody>
      </p:sp>
      <p:sp>
        <p:nvSpPr>
          <p:cNvPr id="10" name="o654"/>
          <p:cNvSpPr txBox="1"/>
          <p:nvPr/>
        </p:nvSpPr>
        <p:spPr>
          <a:xfrm>
            <a:off x="800100" y="2362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0건</a:t>
            </a:r>
            <a:endParaRPr lang="en-US" sz="3400" dirty="0"/>
          </a:p>
        </p:txBody>
      </p:sp>
      <p:sp>
        <p:nvSpPr>
          <p:cNvPr id="11" name="o655"/>
          <p:cNvSpPr txBox="1"/>
          <p:nvPr/>
        </p:nvSpPr>
        <p:spPr>
          <a:xfrm>
            <a:off x="800100" y="2857500"/>
            <a:ext cx="315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18건 (2025)</a:t>
            </a:r>
            <a:endParaRPr lang="en-US" sz="1100" dirty="0"/>
          </a:p>
        </p:txBody>
      </p:sp>
      <p:sp>
        <p:nvSpPr>
          <p:cNvPr id="12" name="o656"/>
          <p:cNvSpPr/>
          <p:nvPr/>
        </p:nvSpPr>
        <p:spPr>
          <a:xfrm>
            <a:off x="4328160" y="2057400"/>
            <a:ext cx="353568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13" name="o657"/>
          <p:cNvSpPr/>
          <p:nvPr/>
        </p:nvSpPr>
        <p:spPr>
          <a:xfrm>
            <a:off x="4328160" y="2057400"/>
            <a:ext cx="91440" cy="10668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14" name="o658"/>
          <p:cNvSpPr txBox="1"/>
          <p:nvPr/>
        </p:nvSpPr>
        <p:spPr>
          <a:xfrm>
            <a:off x="4518660" y="2171700"/>
            <a:ext cx="3154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 — 행정시간 단축</a:t>
            </a:r>
            <a:endParaRPr lang="en-US" sz="1100" dirty="0"/>
          </a:p>
        </p:txBody>
      </p:sp>
      <p:sp>
        <p:nvSpPr>
          <p:cNvPr id="15" name="o659"/>
          <p:cNvSpPr txBox="1"/>
          <p:nvPr/>
        </p:nvSpPr>
        <p:spPr>
          <a:xfrm>
            <a:off x="4518660" y="2362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7B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93%</a:t>
            </a:r>
            <a:endParaRPr lang="en-US" sz="3400" dirty="0"/>
          </a:p>
        </p:txBody>
      </p:sp>
      <p:sp>
        <p:nvSpPr>
          <p:cNvPr id="16" name="o660"/>
          <p:cNvSpPr txBox="1"/>
          <p:nvPr/>
        </p:nvSpPr>
        <p:spPr>
          <a:xfrm>
            <a:off x="4518660" y="2857500"/>
            <a:ext cx="315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33:48 → 2:22</a:t>
            </a:r>
            <a:endParaRPr lang="en-US" sz="1100" dirty="0"/>
          </a:p>
        </p:txBody>
      </p:sp>
      <p:sp>
        <p:nvSpPr>
          <p:cNvPr id="17" name="o661"/>
          <p:cNvSpPr/>
          <p:nvPr/>
        </p:nvSpPr>
        <p:spPr>
          <a:xfrm>
            <a:off x="8046720" y="2057400"/>
            <a:ext cx="353568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D8"/>
            </a:solidFill>
            <a:prstDash val="solid"/>
          </a:ln>
        </p:spPr>
      </p:sp>
      <p:sp>
        <p:nvSpPr>
          <p:cNvPr id="18" name="o662"/>
          <p:cNvSpPr txBox="1"/>
          <p:nvPr/>
        </p:nvSpPr>
        <p:spPr>
          <a:xfrm>
            <a:off x="8237220" y="2171700"/>
            <a:ext cx="3154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— 종이 출력</a:t>
            </a:r>
            <a:endParaRPr lang="en-US" sz="1100" dirty="0"/>
          </a:p>
        </p:txBody>
      </p:sp>
      <p:sp>
        <p:nvSpPr>
          <p:cNvPr id="19" name="o663"/>
          <p:cNvSpPr txBox="1"/>
          <p:nvPr/>
        </p:nvSpPr>
        <p:spPr>
          <a:xfrm>
            <a:off x="8237220" y="2362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0건</a:t>
            </a:r>
            <a:endParaRPr lang="en-US" sz="3400" dirty="0"/>
          </a:p>
        </p:txBody>
      </p:sp>
      <p:sp>
        <p:nvSpPr>
          <p:cNvPr id="20" name="o664"/>
          <p:cNvSpPr txBox="1"/>
          <p:nvPr/>
        </p:nvSpPr>
        <p:spPr>
          <a:xfrm>
            <a:off x="8237220" y="2857500"/>
            <a:ext cx="315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연 94건</a:t>
            </a:r>
            <a:endParaRPr lang="en-US" sz="1100" dirty="0"/>
          </a:p>
        </p:txBody>
      </p:sp>
      <p:sp>
        <p:nvSpPr>
          <p:cNvPr id="21" name="o665"/>
          <p:cNvSpPr/>
          <p:nvPr/>
        </p:nvSpPr>
        <p:spPr>
          <a:xfrm>
            <a:off x="609600" y="3352800"/>
            <a:ext cx="6324600" cy="381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22" name="o666"/>
          <p:cNvSpPr txBox="1"/>
          <p:nvPr/>
        </p:nvSpPr>
        <p:spPr>
          <a:xfrm>
            <a:off x="704850" y="3352800"/>
            <a:ext cx="20863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100" dirty="0"/>
          </a:p>
        </p:txBody>
      </p:sp>
      <p:sp>
        <p:nvSpPr>
          <p:cNvPr id="23" name="o667"/>
          <p:cNvSpPr txBox="1"/>
          <p:nvPr/>
        </p:nvSpPr>
        <p:spPr>
          <a:xfrm>
            <a:off x="2981706" y="3352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100" dirty="0"/>
          </a:p>
        </p:txBody>
      </p:sp>
      <p:sp>
        <p:nvSpPr>
          <p:cNvPr id="24" name="o668"/>
          <p:cNvSpPr txBox="1"/>
          <p:nvPr/>
        </p:nvSpPr>
        <p:spPr>
          <a:xfrm>
            <a:off x="4120134" y="3352800"/>
            <a:ext cx="15803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100" dirty="0"/>
          </a:p>
        </p:txBody>
      </p:sp>
      <p:sp>
        <p:nvSpPr>
          <p:cNvPr id="25" name="o669"/>
          <p:cNvSpPr txBox="1"/>
          <p:nvPr/>
        </p:nvSpPr>
        <p:spPr>
          <a:xfrm>
            <a:off x="5891022" y="3352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1100" dirty="0"/>
          </a:p>
        </p:txBody>
      </p:sp>
      <p:sp>
        <p:nvSpPr>
          <p:cNvPr id="26" name="o670"/>
          <p:cNvSpPr/>
          <p:nvPr/>
        </p:nvSpPr>
        <p:spPr>
          <a:xfrm>
            <a:off x="609600" y="37338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27" name="o671"/>
          <p:cNvSpPr txBox="1"/>
          <p:nvPr/>
        </p:nvSpPr>
        <p:spPr>
          <a:xfrm>
            <a:off x="704850" y="3733800"/>
            <a:ext cx="20863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의무교육 준수율</a:t>
            </a:r>
            <a:endParaRPr lang="en-US" sz="1200" dirty="0"/>
          </a:p>
        </p:txBody>
      </p:sp>
      <p:sp>
        <p:nvSpPr>
          <p:cNvPr id="28" name="o672"/>
          <p:cNvSpPr txBox="1"/>
          <p:nvPr/>
        </p:nvSpPr>
        <p:spPr>
          <a:xfrm>
            <a:off x="2981706" y="3733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</a:t>
            </a:r>
            <a:endParaRPr lang="en-US" sz="1200" dirty="0"/>
          </a:p>
        </p:txBody>
      </p:sp>
      <p:sp>
        <p:nvSpPr>
          <p:cNvPr id="29" name="o673"/>
          <p:cNvSpPr txBox="1"/>
          <p:nvPr/>
        </p:nvSpPr>
        <p:spPr>
          <a:xfrm>
            <a:off x="4120134" y="3733800"/>
            <a:ext cx="15803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(33/33)</a:t>
            </a:r>
            <a:endParaRPr lang="en-US" sz="1200" dirty="0"/>
          </a:p>
        </p:txBody>
      </p:sp>
      <p:sp>
        <p:nvSpPr>
          <p:cNvPr id="30" name="o674"/>
          <p:cNvSpPr txBox="1"/>
          <p:nvPr/>
        </p:nvSpPr>
        <p:spPr>
          <a:xfrm>
            <a:off x="5891022" y="3733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1200" dirty="0"/>
          </a:p>
        </p:txBody>
      </p:sp>
      <p:sp>
        <p:nvSpPr>
          <p:cNvPr id="31" name="o675"/>
          <p:cNvSpPr/>
          <p:nvPr/>
        </p:nvSpPr>
        <p:spPr>
          <a:xfrm>
            <a:off x="609600" y="41148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2" name="o676"/>
          <p:cNvSpPr txBox="1"/>
          <p:nvPr/>
        </p:nvSpPr>
        <p:spPr>
          <a:xfrm>
            <a:off x="704850" y="4114800"/>
            <a:ext cx="20863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행정시간 단축률</a:t>
            </a:r>
            <a:endParaRPr lang="en-US" sz="1200" dirty="0"/>
          </a:p>
        </p:txBody>
      </p:sp>
      <p:sp>
        <p:nvSpPr>
          <p:cNvPr id="33" name="o677"/>
          <p:cNvSpPr txBox="1"/>
          <p:nvPr/>
        </p:nvSpPr>
        <p:spPr>
          <a:xfrm>
            <a:off x="2981706" y="4114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70% 이상</a:t>
            </a:r>
            <a:endParaRPr lang="en-US" sz="1200" dirty="0"/>
          </a:p>
        </p:txBody>
      </p:sp>
      <p:sp>
        <p:nvSpPr>
          <p:cNvPr id="34" name="o678"/>
          <p:cNvSpPr txBox="1"/>
          <p:nvPr/>
        </p:nvSpPr>
        <p:spPr>
          <a:xfrm>
            <a:off x="4120134" y="4114800"/>
            <a:ext cx="15803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93.0% · 81.0%</a:t>
            </a:r>
            <a:endParaRPr lang="en-US" sz="1200" dirty="0"/>
          </a:p>
        </p:txBody>
      </p:sp>
      <p:sp>
        <p:nvSpPr>
          <p:cNvPr id="35" name="o679"/>
          <p:cNvSpPr txBox="1"/>
          <p:nvPr/>
        </p:nvSpPr>
        <p:spPr>
          <a:xfrm>
            <a:off x="5891022" y="4114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초과</a:t>
            </a:r>
            <a:endParaRPr lang="en-US" sz="1200" dirty="0"/>
          </a:p>
        </p:txBody>
      </p:sp>
      <p:sp>
        <p:nvSpPr>
          <p:cNvPr id="36" name="o680"/>
          <p:cNvSpPr/>
          <p:nvPr/>
        </p:nvSpPr>
        <p:spPr>
          <a:xfrm>
            <a:off x="609600" y="44958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37" name="o681"/>
          <p:cNvSpPr txBox="1"/>
          <p:nvPr/>
        </p:nvSpPr>
        <p:spPr>
          <a:xfrm>
            <a:off x="704850" y="4495800"/>
            <a:ext cx="20863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페이퍼리스 전환율</a:t>
            </a:r>
            <a:endParaRPr lang="en-US" sz="1200" dirty="0"/>
          </a:p>
        </p:txBody>
      </p:sp>
      <p:sp>
        <p:nvSpPr>
          <p:cNvPr id="38" name="o682"/>
          <p:cNvSpPr txBox="1"/>
          <p:nvPr/>
        </p:nvSpPr>
        <p:spPr>
          <a:xfrm>
            <a:off x="2981706" y="4495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</a:t>
            </a:r>
            <a:endParaRPr lang="en-US" sz="1200" dirty="0"/>
          </a:p>
        </p:txBody>
      </p:sp>
      <p:sp>
        <p:nvSpPr>
          <p:cNvPr id="39" name="o683"/>
          <p:cNvSpPr txBox="1"/>
          <p:nvPr/>
        </p:nvSpPr>
        <p:spPr>
          <a:xfrm>
            <a:off x="4120134" y="4495800"/>
            <a:ext cx="15803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(52/52)</a:t>
            </a:r>
            <a:endParaRPr lang="en-US" sz="1200" dirty="0"/>
          </a:p>
        </p:txBody>
      </p:sp>
      <p:sp>
        <p:nvSpPr>
          <p:cNvPr id="40" name="o684"/>
          <p:cNvSpPr txBox="1"/>
          <p:nvPr/>
        </p:nvSpPr>
        <p:spPr>
          <a:xfrm>
            <a:off x="5891022" y="4495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1200" dirty="0"/>
          </a:p>
        </p:txBody>
      </p:sp>
      <p:sp>
        <p:nvSpPr>
          <p:cNvPr id="41" name="o685"/>
          <p:cNvSpPr/>
          <p:nvPr/>
        </p:nvSpPr>
        <p:spPr>
          <a:xfrm>
            <a:off x="609600" y="48768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2" name="o686"/>
          <p:cNvSpPr txBox="1"/>
          <p:nvPr/>
        </p:nvSpPr>
        <p:spPr>
          <a:xfrm>
            <a:off x="704850" y="4876800"/>
            <a:ext cx="20863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구축 완성도</a:t>
            </a:r>
            <a:endParaRPr lang="en-US" sz="1200" dirty="0"/>
          </a:p>
        </p:txBody>
      </p:sp>
      <p:sp>
        <p:nvSpPr>
          <p:cNvPr id="43" name="o687"/>
          <p:cNvSpPr txBox="1"/>
          <p:nvPr/>
        </p:nvSpPr>
        <p:spPr>
          <a:xfrm>
            <a:off x="2981706" y="4876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6</a:t>
            </a:r>
            <a:endParaRPr lang="en-US" sz="1200" dirty="0"/>
          </a:p>
        </p:txBody>
      </p:sp>
      <p:sp>
        <p:nvSpPr>
          <p:cNvPr id="44" name="o688"/>
          <p:cNvSpPr txBox="1"/>
          <p:nvPr/>
        </p:nvSpPr>
        <p:spPr>
          <a:xfrm>
            <a:off x="4120134" y="4876800"/>
            <a:ext cx="15803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6</a:t>
            </a:r>
            <a:endParaRPr lang="en-US" sz="1200" dirty="0"/>
          </a:p>
        </p:txBody>
      </p:sp>
      <p:sp>
        <p:nvSpPr>
          <p:cNvPr id="45" name="o689"/>
          <p:cNvSpPr txBox="1"/>
          <p:nvPr/>
        </p:nvSpPr>
        <p:spPr>
          <a:xfrm>
            <a:off x="5891022" y="4876800"/>
            <a:ext cx="947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7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1200" dirty="0"/>
          </a:p>
        </p:txBody>
      </p:sp>
      <p:sp>
        <p:nvSpPr>
          <p:cNvPr id="46" name="o690"/>
          <p:cNvSpPr/>
          <p:nvPr/>
        </p:nvSpPr>
        <p:spPr>
          <a:xfrm>
            <a:off x="609600" y="52578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7" name="o691"/>
          <p:cNvSpPr/>
          <p:nvPr/>
        </p:nvSpPr>
        <p:spPr>
          <a:xfrm>
            <a:off x="609600" y="3352800"/>
            <a:ext cx="632460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48" name="o692"/>
          <p:cNvSpPr/>
          <p:nvPr/>
        </p:nvSpPr>
        <p:spPr>
          <a:xfrm>
            <a:off x="7117080" y="3352800"/>
            <a:ext cx="4465320" cy="1905000"/>
          </a:xfrm>
          <a:prstGeom prst="rect">
            <a:avLst/>
          </a:prstGeom>
          <a:solidFill>
            <a:srgbClr val="F2F4F3"/>
          </a:solidFill>
          <a:ln/>
        </p:spPr>
      </p:sp>
      <p:sp>
        <p:nvSpPr>
          <p:cNvPr id="49" name="o693"/>
          <p:cNvSpPr/>
          <p:nvPr/>
        </p:nvSpPr>
        <p:spPr>
          <a:xfrm>
            <a:off x="7117080" y="3352800"/>
            <a:ext cx="91440" cy="1905000"/>
          </a:xfrm>
          <a:prstGeom prst="rect">
            <a:avLst/>
          </a:prstGeom>
          <a:solidFill>
            <a:srgbClr val="177B57"/>
          </a:solidFill>
          <a:ln/>
        </p:spPr>
      </p:sp>
      <p:sp>
        <p:nvSpPr>
          <p:cNvPr id="50" name="o694"/>
          <p:cNvSpPr txBox="1"/>
          <p:nvPr/>
        </p:nvSpPr>
        <p:spPr>
          <a:xfrm>
            <a:off x="7364730" y="3505200"/>
            <a:ext cx="39890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— 제언</a:t>
            </a:r>
            <a:endParaRPr lang="en-US" sz="900" dirty="0"/>
          </a:p>
        </p:txBody>
      </p:sp>
      <p:sp>
        <p:nvSpPr>
          <p:cNvPr id="51" name="o695"/>
          <p:cNvSpPr txBox="1"/>
          <p:nvPr/>
        </p:nvSpPr>
        <p:spPr>
          <a:xfrm>
            <a:off x="7364730" y="3752850"/>
            <a:ext cx="398907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고도화 기능(AI MSDS 검토 · 신규입사 알림) 효과를 동일 지표로 하반기까지 측정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AI 위험성평가로 근로자 참여형 수시 위험성평가 확대</a:t>
            </a:r>
            <a:endParaRPr lang="en-US" sz="1400" dirty="0"/>
          </a:p>
        </p:txBody>
      </p:sp>
      <p:sp>
        <p:nvSpPr>
          <p:cNvPr id="52" name="o696"/>
          <p:cNvSpPr txBox="1"/>
          <p:nvPr/>
        </p:nvSpPr>
        <p:spPr>
          <a:xfrm>
            <a:off x="7117080" y="5391150"/>
            <a:ext cx="44653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개선 후 관찰 3개월 — 하반기까지 같은 지표로 추적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697"/>
          <p:cNvSpPr txBox="1"/>
          <p:nvPr/>
        </p:nvSpPr>
        <p:spPr>
          <a:xfrm>
            <a:off x="609600" y="57150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BUMIN · QI EXHIBIT DECK</a:t>
            </a:r>
            <a:endParaRPr lang="en-US" sz="1100" dirty="0"/>
          </a:p>
        </p:txBody>
      </p:sp>
      <p:sp>
        <p:nvSpPr>
          <p:cNvPr id="3" name="o698"/>
          <p:cNvSpPr txBox="1"/>
          <p:nvPr/>
        </p:nvSpPr>
        <p:spPr>
          <a:xfrm>
            <a:off x="609600" y="2476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o699"/>
          <p:cNvSpPr txBox="1"/>
          <p:nvPr/>
        </p:nvSpPr>
        <p:spPr>
          <a:xfrm>
            <a:off x="609600" y="3219450"/>
            <a:ext cx="723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질의응답</a:t>
            </a:r>
            <a:endParaRPr lang="en-US" sz="1600" dirty="0"/>
          </a:p>
        </p:txBody>
      </p:sp>
      <p:sp>
        <p:nvSpPr>
          <p:cNvPr id="5" name="o700"/>
          <p:cNvSpPr/>
          <p:nvPr/>
        </p:nvSpPr>
        <p:spPr>
          <a:xfrm>
            <a:off x="8046720" y="2476500"/>
            <a:ext cx="353568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6" name="o701"/>
          <p:cNvSpPr txBox="1"/>
          <p:nvPr/>
        </p:nvSpPr>
        <p:spPr>
          <a:xfrm>
            <a:off x="8046720" y="2552700"/>
            <a:ext cx="3535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800" dirty="0"/>
          </a:p>
        </p:txBody>
      </p:sp>
      <p:sp>
        <p:nvSpPr>
          <p:cNvPr id="7" name="o702"/>
          <p:cNvSpPr txBox="1"/>
          <p:nvPr/>
        </p:nvSpPr>
        <p:spPr>
          <a:xfrm>
            <a:off x="8046720" y="2724150"/>
            <a:ext cx="35356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총무-안전보건팀 (Safety First)</a:t>
            </a:r>
            <a:endParaRPr lang="en-US" sz="1300" dirty="0"/>
          </a:p>
        </p:txBody>
      </p:sp>
      <p:sp>
        <p:nvSpPr>
          <p:cNvPr id="8" name="o703"/>
          <p:cNvSpPr/>
          <p:nvPr/>
        </p:nvSpPr>
        <p:spPr>
          <a:xfrm>
            <a:off x="8046720" y="3009900"/>
            <a:ext cx="353568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9" name="o704"/>
          <p:cNvSpPr txBox="1"/>
          <p:nvPr/>
        </p:nvSpPr>
        <p:spPr>
          <a:xfrm>
            <a:off x="8046720" y="3086100"/>
            <a:ext cx="3535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CONTACT</a:t>
            </a:r>
            <a:endParaRPr lang="en-US" sz="800" dirty="0"/>
          </a:p>
        </p:txBody>
      </p:sp>
      <p:sp>
        <p:nvSpPr>
          <p:cNvPr id="10" name="o705"/>
          <p:cNvSpPr txBox="1"/>
          <p:nvPr/>
        </p:nvSpPr>
        <p:spPr>
          <a:xfrm>
            <a:off x="8046720" y="3257550"/>
            <a:ext cx="35356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보건관리실 내선 3293 · 3034</a:t>
            </a:r>
            <a:endParaRPr lang="en-US" sz="1300" dirty="0"/>
          </a:p>
        </p:txBody>
      </p:sp>
      <p:sp>
        <p:nvSpPr>
          <p:cNvPr id="11" name="o706"/>
          <p:cNvSpPr/>
          <p:nvPr/>
        </p:nvSpPr>
        <p:spPr>
          <a:xfrm>
            <a:off x="8046720" y="3543300"/>
            <a:ext cx="353568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12" name="o707"/>
          <p:cNvSpPr txBox="1"/>
          <p:nvPr/>
        </p:nvSpPr>
        <p:spPr>
          <a:xfrm>
            <a:off x="8046720" y="3619500"/>
            <a:ext cx="3535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77B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PLATFORM</a:t>
            </a:r>
            <a:endParaRPr lang="en-US" sz="800" dirty="0"/>
          </a:p>
        </p:txBody>
      </p:sp>
      <p:sp>
        <p:nvSpPr>
          <p:cNvPr id="13" name="o708"/>
          <p:cNvSpPr txBox="1"/>
          <p:nvPr/>
        </p:nvSpPr>
        <p:spPr>
          <a:xfrm>
            <a:off x="8046720" y="3790950"/>
            <a:ext cx="35356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[플랫폼 접속 주소 / QR]</a:t>
            </a:r>
            <a:endParaRPr lang="en-US" sz="1300" dirty="0"/>
          </a:p>
        </p:txBody>
      </p:sp>
      <p:sp>
        <p:nvSpPr>
          <p:cNvPr id="14" name="o709"/>
          <p:cNvSpPr/>
          <p:nvPr/>
        </p:nvSpPr>
        <p:spPr>
          <a:xfrm>
            <a:off x="8046720" y="4076700"/>
            <a:ext cx="3535680" cy="0"/>
          </a:xfrm>
          <a:prstGeom prst="line">
            <a:avLst/>
          </a:prstGeom>
          <a:noFill/>
          <a:ln w="9525">
            <a:solidFill>
              <a:srgbClr val="D6DAD8"/>
            </a:solidFill>
            <a:prstDash val="solid"/>
          </a:ln>
        </p:spPr>
      </p:sp>
      <p:sp>
        <p:nvSpPr>
          <p:cNvPr id="15" name="o710"/>
          <p:cNvSpPr/>
          <p:nvPr/>
        </p:nvSpPr>
        <p:spPr>
          <a:xfrm>
            <a:off x="609600" y="6076950"/>
            <a:ext cx="10972800" cy="0"/>
          </a:xfrm>
          <a:prstGeom prst="line">
            <a:avLst/>
          </a:prstGeom>
          <a:noFill/>
          <a:ln w="12700">
            <a:solidFill>
              <a:srgbClr val="D6DAD8"/>
            </a:solidFill>
            <a:prstDash val="solid"/>
          </a:ln>
        </p:spPr>
      </p:sp>
      <p:sp>
        <p:nvSpPr>
          <p:cNvPr id="16" name="o711"/>
          <p:cNvSpPr txBox="1"/>
          <p:nvPr/>
        </p:nvSpPr>
        <p:spPr>
          <a:xfrm>
            <a:off x="609600" y="6143625"/>
            <a:ext cx="857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인당의료재단 부민병원  ·  2026  ·  Internal — QI 경진대회 발표용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min Exhibit">
  <a:themeElements>
    <a:clrScheme name="Bumin Exhibit">
      <a:dk1>
        <a:srgbClr val="1A1A1A"/>
      </a:dk1>
      <a:lt1>
        <a:srgbClr val="FFFFFF"/>
      </a:lt1>
      <a:dk2>
        <a:srgbClr val="5B636E"/>
      </a:dk2>
      <a:lt2>
        <a:srgbClr val="F2F4F3"/>
      </a:lt2>
      <a:accent1>
        <a:srgbClr val="177B57"/>
      </a:accent1>
      <a:accent2>
        <a:srgbClr val="5B636E"/>
      </a:accent2>
      <a:accent3>
        <a:srgbClr val="9CA3AC"/>
      </a:accent3>
      <a:accent4>
        <a:srgbClr val="D6DAD8"/>
      </a:accent4>
      <a:accent5>
        <a:srgbClr val="1A1A1A"/>
      </a:accent5>
      <a:accent6>
        <a:srgbClr val="F2F4F3"/>
      </a:accent6>
      <a:hlink>
        <a:srgbClr val="177B57"/>
      </a:hlink>
      <a:folHlink>
        <a:srgbClr val="5B636E"/>
      </a:folHlink>
    </a:clrScheme>
    <a:fontScheme name="Bumin Exhibit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통합 안전보건 플랫폼 구축을 통한 업무 효율성 증가</dc:title>
  <dc:subject>PptxGenJS Presentation</dc:subject>
  <dc:creator>총무-안전보건팀 (Safety First)</dc:creator>
  <cp:lastModifiedBy>총무-안전보건팀 (Safety First)</cp:lastModifiedBy>
  <cp:revision>1</cp:revision>
  <dcterms:created xsi:type="dcterms:W3CDTF">2026-10-27T07:12:28Z</dcterms:created>
  <dcterms:modified xsi:type="dcterms:W3CDTF">2026-10-27T07:12:28Z</dcterms:modified>
</cp:coreProperties>
</file>