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표지
안녕하십니까. 부민병원 총무-안전보건팀 보건관리자 장은선입니다.
(도입) "지금 이 순간, 우리 병원 신규 입사자 중 법정 안전보건교육을 받지 않은 사람이 몇 명인지 바로 답하실 수 있습니까?"
오늘은 이 질문에 바로 답할 수 있게 된 과정, AI 통합 안전보건 플랫폼 활동을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목차 — 말없이 넘겨도 됨
"무엇이 달라졌는지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활동 배경
법은 "했다"가 아니라 "했다는 증거"를 요구합니다. MSDS와 신규·특별안전보건교육, 인증기준 10.7·11.3 모두 실시간 증빙이 필요합니다.
그런데 저희는 출력하고, 서명받고, 들고 오고, 결재를 기다렸습니다.
이 활동은 병원 중점과제 '업무 프로세스 개선', 그리고 ESG 환경 부문과 정확히 맞닿아 있습니다.
전환: "이 활동은 저희 세 명이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[1:05–1:15] 팀 구성 — 10초
"팀장 김광현, 보건관리자인 제가 플랫폼을 직접 개발했고, 안전관리자 장종문이 MSDS와 AI 위험성평가를 맡았습니다."
전환: "먼저 1년치 데이터를 전수조사했습니다."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[1:15–2:00] 현황 파악
2025년 신규 입사자 106명을 전수조사한 결과, 18건(17%)이 누락되어 있었습니다. 특정 시기가 아니라 12개월 중 8개월에서 반복됐습니다.
특별안전보건교육 1건의 서류 처리에 33분 48초. 그중 결재 대기 57%, 걸어서 제출 21% — 78%가 아무 가치도 만들지 않는 시간이었습니다.
전환: "문제는 사람이 아니라 방식이었습니다."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원인과 목표
Fishbone으로 4M 원인을 분류했고, 핵심은 결재 대기 · 방문 제출 · 실시간 모니터링 부재 세 가지였습니다.
현황을 기준값으로 목표를 숫자로 정했습니다: 누락률 0%, 리드타임 70% 이상 단축, 종이 일지 0건, 6대 모듈 100%.
전환: "원인마다 대응 기능을 하나씩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[2:40–3:20] 플랫폼 구성
흐름은 단순합니다: 모바일 작성 → 전자서명 → 비대면 승인 → 자동 보관.
각 카드의 태그는 앞에서 찾은 원인 코드입니다. 원인 하나에 기능 하나.
초록 카드, AI 수시 위험성평가는 사진과 작업 내용만으로 위험도를 산출하고 평가서 초안을 만듭니다.
담당자가 직접 개발했고, 61병동 시범 운영 피드백을 반영해 전 부서로 확대했습니다.
전환: "실제 화면으로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[3:20–4:50] 시연 영상 · 1분 30초
시작: "신규 입사자 한 명이 들어왔을 때를 가정해 보겠습니다."
- MSDS — 부서 선택 → 경고표지·응급조치·원본 PDF
- 교육일지 — 이름 검색 → 자동 입력 → 현장 서명
- 승인 — "이 1분이 예전의 19분 24초입니다."
- 대시보드·AI — 미이수자가 한 화면에
종료 후: "AI는 어디에 쓰였는지 짚고 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[4:50–5:15] AI 적용 — 25초
- "AI는 어디에?" 질문에 대한 답 — 6번 모듈의 실제 사례
- 사진 한 장으로 위험요인 · 위험도 · 개선대책 초안이 나오는 흐름만 짚기
- AI는 초안, 확정은 사람 — 이 문장은 꼭 말하기
- 시범 단계라는 한계를 먼저 밝히기 (AI MSDS 검토 · AI 도우미는 질문이 나오면 답변)
전환: "이 과정이 만든 차이를 숫자로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[5:15–6:05] 개선 전후 비교 · 핵심 장면
왼쪽이 예전, 오른쪽이 지금 — 같은 특별안전보건교육 한 건입니다.
가장 긴 막대, 내부 결재 19분 24초가 1분이 되었습니다.
직접 제출 7분과 취합·파일링은 단계 자체가 사라졌습니다.
합계 33분 48초 → 2분 22초, 93% 단축. 목표 70% 초과, MSDS 교육도 81% 단축.
전환: "시간뿐만 아니라, 네 가지 지표 모두 목표를 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[6:05–6:45] 성과와 ESG
네 개 지표 모두 목표를 달성했습니다.
누락 18건 → 0건 — 효율이 아니라 법적 리스크의 문제입니다.
행정시간 93% 단축, Paperless 100%, 6개 모듈 모두 정상 가동.
ESG로도 이어집니다: E 종이 행정의 데이터화, S 누락 없는 직원 보호, G 언제든 준비된 법적 증빙.
전환: "이 성과를 어떻게 지속하고 넓힐지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[6:45–7:30] 결론과 제언
시범사업에 그치지 않고 표준 업무지침으로 정식 전환했습니다.
대시보드와 현장 피드백 점검을 통해 CQI로 이어 가고 있습니다. 미이수자 부서장 자동 알림과 AI MSDS 검토 · 도우미까지 고도화를 마쳤고, 다음은 연 819건의 건강상담과 다른 안전보건 서류로의 확대입니다.
마무리: "기다리지 않는 행정, 누락 없는 안전.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UMIN">
    <p:bg>
      <p:bgPr>
        <a:solidFill>
          <a:srgbClr val="FAFA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1"/>
          <p:cNvSpPr/>
          <p:nvPr/>
        </p:nvSpPr>
        <p:spPr>
          <a:xfrm>
            <a:off x="0" y="0"/>
            <a:ext cx="12192000" cy="114300"/>
          </a:xfrm>
          <a:prstGeom prst="rect">
            <a:avLst/>
          </a:prstGeom>
          <a:solidFill>
            <a:srgbClr val="23373B"/>
          </a:solidFill>
          <a:ln/>
        </p:spPr>
      </p:sp>
      <p:sp>
        <p:nvSpPr>
          <p:cNvPr id="3" name="o2"/>
          <p:cNvSpPr/>
          <p:nvPr/>
        </p:nvSpPr>
        <p:spPr>
          <a:xfrm>
            <a:off x="0" y="114300"/>
            <a:ext cx="12192000" cy="28575"/>
          </a:xfrm>
          <a:prstGeom prst="rect">
            <a:avLst/>
          </a:prstGeom>
          <a:solidFill>
            <a:srgbClr val="EB811B"/>
          </a:solidFill>
          <a:ln/>
        </p:spPr>
      </p:sp>
      <p:pic>
        <p:nvPicPr>
          <p:cNvPr id="4" name="o3" descr="/tmp/claude-0/-home-user-health/066b9d04-89c1-5e53-a1bb-1693165fc6b6/scratchpad/logo/img0.jpg">    </p:cNvPr>
          <p:cNvPicPr>
            <a:picLocks noChangeAspect="1"/>
          </p:cNvPicPr>
          <p:nvPr/>
        </p:nvPicPr>
        <p:blipFill>
          <a:blip r:embed="rId1"/>
          <a:stretch>
            <a:fillRect/>
          </a:stretch>
        </p:blipFill>
        <p:spPr>
          <a:xfrm>
            <a:off x="609600" y="419100"/>
            <a:ext cx="1485900" cy="381000"/>
          </a:xfrm>
          <a:prstGeom prst="rect">
            <a:avLst/>
          </a:prstGeom>
        </p:spPr>
      </p:pic>
      <p:sp>
        <p:nvSpPr>
          <p:cNvPr id="5" name="o4"/>
          <p:cNvSpPr txBox="1"/>
          <p:nvPr/>
        </p:nvSpPr>
        <p:spPr>
          <a:xfrm>
            <a:off x="609600" y="1428750"/>
            <a:ext cx="6096000" cy="190500"/>
          </a:xfrm>
          <a:prstGeom prst="rect">
            <a:avLst/>
          </a:prstGeom>
          <a:noFill/>
          <a:ln/>
        </p:spPr>
        <p:txBody>
          <a:bodyPr wrap="square" lIns="0" tIns="0" rIns="0" bIns="0" rtlCol="0" anchor="t"/>
          <a:lstStyle/>
          <a:p>
            <a:pPr indent="0" marL="0">
              <a:buNone/>
            </a:pPr>
            <a:r>
              <a:rPr lang="en-US" sz="1200" b="1" spc="100" kern="0" dirty="0">
                <a:solidFill>
                  <a:srgbClr val="23373B"/>
                </a:solidFill>
                <a:latin typeface="Pretendard" pitchFamily="34" charset="0"/>
                <a:ea typeface="Pretendard" pitchFamily="34" charset="-122"/>
                <a:cs typeface="Pretendard" pitchFamily="34" charset="-120"/>
              </a:rPr>
              <a:t>2026 가을 학술대회  ·  QI 경진대회 구연</a:t>
            </a:r>
            <a:endParaRPr lang="en-US" sz="1200" dirty="0"/>
          </a:p>
        </p:txBody>
      </p:sp>
      <p:sp>
        <p:nvSpPr>
          <p:cNvPr id="6" name="o5"/>
          <p:cNvSpPr txBox="1"/>
          <p:nvPr/>
        </p:nvSpPr>
        <p:spPr>
          <a:xfrm>
            <a:off x="609600" y="1752600"/>
            <a:ext cx="6096000" cy="1905000"/>
          </a:xfrm>
          <a:prstGeom prst="rect">
            <a:avLst/>
          </a:prstGeom>
          <a:noFill/>
          <a:ln/>
        </p:spPr>
        <p:txBody>
          <a:bodyPr wrap="square" lIns="0" tIns="0" rIns="0" bIns="0" rtlCol="0" anchor="t"/>
          <a:lstStyle/>
          <a:p>
            <a:pPr indent="0" marL="0">
              <a:lnSpc>
                <a:spcPct val="112000"/>
              </a:lnSpc>
              <a:buNone/>
            </a:pPr>
            <a:r>
              <a:rPr lang="en-US" sz="3600" b="1" dirty="0">
                <a:solidFill>
                  <a:srgbClr val="23373B"/>
                </a:solidFill>
                <a:latin typeface="Pretendard" pitchFamily="34" charset="0"/>
                <a:ea typeface="Pretendard" pitchFamily="34" charset="-122"/>
                <a:cs typeface="Pretendard" pitchFamily="34" charset="-120"/>
              </a:rPr>
              <a:t>AI 통합 안전보건</a:t>
            </a:r>
            <a:endParaRPr lang="en-US" sz="3600" dirty="0"/>
          </a:p>
          <a:p>
            <a:pPr indent="0" marL="0">
              <a:lnSpc>
                <a:spcPct val="112000"/>
              </a:lnSpc>
              <a:buNone/>
            </a:pPr>
            <a:r>
              <a:rPr lang="en-US" sz="3600" b="1" dirty="0">
                <a:solidFill>
                  <a:srgbClr val="23373B"/>
                </a:solidFill>
                <a:latin typeface="Pretendard" pitchFamily="34" charset="0"/>
                <a:ea typeface="Pretendard" pitchFamily="34" charset="-122"/>
                <a:cs typeface="Pretendard" pitchFamily="34" charset="-120"/>
              </a:rPr>
              <a:t>플랫폼 구축을 통한</a:t>
            </a:r>
            <a:endParaRPr lang="en-US" sz="3600" dirty="0"/>
          </a:p>
          <a:p>
            <a:pPr indent="0" marL="0">
              <a:lnSpc>
                <a:spcPct val="112000"/>
              </a:lnSpc>
              <a:buNone/>
            </a:pPr>
            <a:r>
              <a:rPr lang="en-US" sz="3600" b="1" dirty="0">
                <a:solidFill>
                  <a:srgbClr val="23373B"/>
                </a:solidFill>
                <a:latin typeface="Pretendard" pitchFamily="34" charset="0"/>
                <a:ea typeface="Pretendard" pitchFamily="34" charset="-122"/>
                <a:cs typeface="Pretendard" pitchFamily="34" charset="-120"/>
              </a:rPr>
              <a:t>업무 효율성 증가</a:t>
            </a:r>
            <a:endParaRPr lang="en-US" sz="3600" dirty="0"/>
          </a:p>
        </p:txBody>
      </p:sp>
      <p:sp>
        <p:nvSpPr>
          <p:cNvPr id="7" name="o6"/>
          <p:cNvSpPr txBox="1"/>
          <p:nvPr/>
        </p:nvSpPr>
        <p:spPr>
          <a:xfrm>
            <a:off x="609600" y="3905250"/>
            <a:ext cx="6096000" cy="533400"/>
          </a:xfrm>
          <a:prstGeom prst="rect">
            <a:avLst/>
          </a:prstGeom>
          <a:noFill/>
          <a:ln/>
        </p:spPr>
        <p:txBody>
          <a:bodyPr wrap="square" lIns="0" tIns="0" rIns="0" bIns="0" rtlCol="0" anchor="t"/>
          <a:lstStyle/>
          <a:p>
            <a:pPr indent="0" marL="0">
              <a:lnSpc>
                <a:spcPct val="135000"/>
              </a:lnSpc>
              <a:buNone/>
            </a:pPr>
            <a:r>
              <a:rPr lang="en-US" sz="1500" dirty="0">
                <a:solidFill>
                  <a:srgbClr val="3D4F52"/>
                </a:solidFill>
                <a:latin typeface="Pretendard" pitchFamily="34" charset="0"/>
                <a:ea typeface="Pretendard" pitchFamily="34" charset="-122"/>
                <a:cs typeface="Pretendard" pitchFamily="34" charset="-120"/>
              </a:rPr>
              <a:t>종이 · 수기 · 대면 결재에서</a:t>
            </a:r>
            <a:endParaRPr lang="en-US" sz="1500" dirty="0"/>
          </a:p>
          <a:p>
            <a:pPr indent="0" marL="0">
              <a:lnSpc>
                <a:spcPct val="135000"/>
              </a:lnSpc>
              <a:buNone/>
            </a:pPr>
            <a:r>
              <a:rPr lang="en-US" sz="1500" dirty="0">
                <a:solidFill>
                  <a:srgbClr val="3D4F52"/>
                </a:solidFill>
                <a:latin typeface="Pretendard" pitchFamily="34" charset="0"/>
                <a:ea typeface="Pretendard" pitchFamily="34" charset="-122"/>
                <a:cs typeface="Pretendard" pitchFamily="34" charset="-120"/>
              </a:rPr>
              <a:t>모바일 · 전자서명 · 비대면 승인으로</a:t>
            </a:r>
            <a:endParaRPr lang="en-US" sz="1500" dirty="0"/>
          </a:p>
        </p:txBody>
      </p:sp>
      <p:sp>
        <p:nvSpPr>
          <p:cNvPr id="8" name="o7"/>
          <p:cNvSpPr/>
          <p:nvPr/>
        </p:nvSpPr>
        <p:spPr>
          <a:xfrm>
            <a:off x="609600" y="4762500"/>
            <a:ext cx="762000" cy="0"/>
          </a:xfrm>
          <a:prstGeom prst="line">
            <a:avLst/>
          </a:prstGeom>
          <a:noFill/>
          <a:ln w="9525">
            <a:solidFill>
              <a:srgbClr val="EB811B"/>
            </a:solidFill>
            <a:prstDash val="solid"/>
          </a:ln>
        </p:spPr>
      </p:sp>
      <p:sp>
        <p:nvSpPr>
          <p:cNvPr id="9" name="o8"/>
          <p:cNvSpPr txBox="1"/>
          <p:nvPr/>
        </p:nvSpPr>
        <p:spPr>
          <a:xfrm>
            <a:off x="609600" y="4953000"/>
            <a:ext cx="6096000" cy="228600"/>
          </a:xfrm>
          <a:prstGeom prst="rect">
            <a:avLst/>
          </a:prstGeom>
          <a:noFill/>
          <a:ln/>
        </p:spPr>
        <p:txBody>
          <a:bodyPr wrap="square" lIns="0" tIns="0" rIns="0" bIns="0" rtlCol="0" anchor="t"/>
          <a:lstStyle/>
          <a:p>
            <a:pPr indent="0" marL="0">
              <a:buNone/>
            </a:pPr>
            <a:r>
              <a:rPr lang="en-US" sz="1600" b="1" dirty="0">
                <a:solidFill>
                  <a:srgbClr val="23373B"/>
                </a:solidFill>
                <a:latin typeface="Pretendard" pitchFamily="34" charset="0"/>
                <a:ea typeface="Pretendard" pitchFamily="34" charset="-122"/>
                <a:cs typeface="Pretendard" pitchFamily="34" charset="-120"/>
              </a:rPr>
              <a:t>장은선  ·  김광현  ·  장종문</a:t>
            </a:r>
            <a:endParaRPr lang="en-US" sz="1600" dirty="0"/>
          </a:p>
        </p:txBody>
      </p:sp>
      <p:sp>
        <p:nvSpPr>
          <p:cNvPr id="10" name="o9"/>
          <p:cNvSpPr txBox="1"/>
          <p:nvPr/>
        </p:nvSpPr>
        <p:spPr>
          <a:xfrm>
            <a:off x="609600" y="5238750"/>
            <a:ext cx="6096000" cy="19050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인당의료재단 부민병원 총무-안전보건팀 (Safety First)</a:t>
            </a:r>
            <a:endParaRPr lang="en-US" sz="1200" dirty="0"/>
          </a:p>
        </p:txBody>
      </p:sp>
      <p:sp>
        <p:nvSpPr>
          <p:cNvPr id="11" name="o10"/>
          <p:cNvSpPr/>
          <p:nvPr/>
        </p:nvSpPr>
        <p:spPr>
          <a:xfrm>
            <a:off x="7239000" y="685800"/>
            <a:ext cx="4343400" cy="5486400"/>
          </a:xfrm>
          <a:prstGeom prst="rect">
            <a:avLst/>
          </a:prstGeom>
          <a:solidFill>
            <a:srgbClr val="F2F2F2"/>
          </a:solidFill>
          <a:ln w="12700">
            <a:solidFill>
              <a:srgbClr val="E0E0E0"/>
            </a:solidFill>
            <a:prstDash val="solid"/>
          </a:ln>
        </p:spPr>
      </p:sp>
      <p:sp>
        <p:nvSpPr>
          <p:cNvPr id="12" name="o11"/>
          <p:cNvSpPr txBox="1"/>
          <p:nvPr/>
        </p:nvSpPr>
        <p:spPr>
          <a:xfrm>
            <a:off x="7620000" y="1028700"/>
            <a:ext cx="3619500" cy="190500"/>
          </a:xfrm>
          <a:prstGeom prst="rect">
            <a:avLst/>
          </a:prstGeom>
          <a:noFill/>
          <a:ln/>
        </p:spPr>
        <p:txBody>
          <a:bodyPr wrap="square" lIns="0" tIns="0" rIns="0" bIns="0" rtlCol="0" anchor="t"/>
          <a:lstStyle/>
          <a:p>
            <a:pPr indent="0" marL="0">
              <a:buNone/>
            </a:pPr>
            <a:r>
              <a:rPr lang="en-US" sz="1300" b="1" dirty="0">
                <a:solidFill>
                  <a:srgbClr val="23373B"/>
                </a:solidFill>
                <a:latin typeface="Pretendard" pitchFamily="34" charset="0"/>
                <a:ea typeface="Pretendard" pitchFamily="34" charset="-122"/>
                <a:cs typeface="Pretendard" pitchFamily="34" charset="-120"/>
              </a:rPr>
              <a:t>특별안전보건교육 1건당 행정시간</a:t>
            </a:r>
            <a:endParaRPr lang="en-US" sz="1300" dirty="0"/>
          </a:p>
        </p:txBody>
      </p:sp>
      <p:sp>
        <p:nvSpPr>
          <p:cNvPr id="13" name="o12"/>
          <p:cNvSpPr txBox="1"/>
          <p:nvPr/>
        </p:nvSpPr>
        <p:spPr>
          <a:xfrm>
            <a:off x="7620000" y="1314450"/>
            <a:ext cx="3619500" cy="952500"/>
          </a:xfrm>
          <a:prstGeom prst="rect">
            <a:avLst/>
          </a:prstGeom>
          <a:noFill/>
          <a:ln/>
        </p:spPr>
        <p:txBody>
          <a:bodyPr wrap="square" lIns="0" tIns="0" rIns="0" bIns="0" rtlCol="0" anchor="t"/>
          <a:lstStyle/>
          <a:p>
            <a:pPr indent="0" marL="0">
              <a:buNone/>
            </a:pPr>
            <a:r>
              <a:rPr lang="en-US" sz="7200" b="1" dirty="0">
                <a:solidFill>
                  <a:srgbClr val="23373B"/>
                </a:solidFill>
                <a:latin typeface="Pretendard" pitchFamily="34" charset="0"/>
                <a:ea typeface="Pretendard" pitchFamily="34" charset="-122"/>
                <a:cs typeface="Pretendard" pitchFamily="34" charset="-120"/>
              </a:rPr>
              <a:t>−93%</a:t>
            </a:r>
            <a:endParaRPr lang="en-US" sz="7200" dirty="0"/>
          </a:p>
        </p:txBody>
      </p:sp>
      <p:sp>
        <p:nvSpPr>
          <p:cNvPr id="14" name="o13"/>
          <p:cNvSpPr txBox="1"/>
          <p:nvPr/>
        </p:nvSpPr>
        <p:spPr>
          <a:xfrm>
            <a:off x="7620000" y="2362200"/>
            <a:ext cx="3619500" cy="285750"/>
          </a:xfrm>
          <a:prstGeom prst="rect">
            <a:avLst/>
          </a:prstGeom>
          <a:noFill/>
          <a:ln/>
        </p:spPr>
        <p:txBody>
          <a:bodyPr wrap="square" lIns="0" tIns="0" rIns="0" bIns="0" rtlCol="0" anchor="t"/>
          <a:lstStyle/>
          <a:p>
            <a:pPr indent="0" marL="0">
              <a:buNone/>
            </a:pPr>
            <a:r>
              <a:rPr lang="en-US" sz="2000" b="1" dirty="0">
                <a:solidFill>
                  <a:srgbClr val="23373B"/>
                </a:solidFill>
                <a:latin typeface="Pretendard" pitchFamily="34" charset="0"/>
                <a:ea typeface="Pretendard" pitchFamily="34" charset="-122"/>
                <a:cs typeface="Pretendard" pitchFamily="34" charset="-120"/>
              </a:rPr>
              <a:t>33분 48초  →  2분 22초</a:t>
            </a:r>
            <a:endParaRPr lang="en-US" sz="2000" dirty="0"/>
          </a:p>
        </p:txBody>
      </p:sp>
      <p:sp>
        <p:nvSpPr>
          <p:cNvPr id="15" name="o14"/>
          <p:cNvSpPr txBox="1"/>
          <p:nvPr/>
        </p:nvSpPr>
        <p:spPr>
          <a:xfrm>
            <a:off x="7620000" y="2705100"/>
            <a:ext cx="36195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2026.05–07 세부 행동 단위 실측 · 목표 70% 초과 달성</a:t>
            </a:r>
            <a:endParaRPr lang="en-US" sz="1100" dirty="0"/>
          </a:p>
        </p:txBody>
      </p:sp>
      <p:sp>
        <p:nvSpPr>
          <p:cNvPr id="16" name="o15"/>
          <p:cNvSpPr/>
          <p:nvPr/>
        </p:nvSpPr>
        <p:spPr>
          <a:xfrm>
            <a:off x="7620000" y="3429000"/>
            <a:ext cx="3581400" cy="0"/>
          </a:xfrm>
          <a:prstGeom prst="line">
            <a:avLst/>
          </a:prstGeom>
          <a:noFill/>
          <a:ln w="9525">
            <a:solidFill>
              <a:srgbClr val="E0E0E0"/>
            </a:solidFill>
            <a:prstDash val="solid"/>
          </a:ln>
        </p:spPr>
      </p:sp>
      <p:sp>
        <p:nvSpPr>
          <p:cNvPr id="17" name="o16"/>
          <p:cNvSpPr txBox="1"/>
          <p:nvPr/>
        </p:nvSpPr>
        <p:spPr>
          <a:xfrm>
            <a:off x="7620000" y="3619500"/>
            <a:ext cx="3581400" cy="17145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법정교육 누락</a:t>
            </a:r>
            <a:endParaRPr lang="en-US" sz="1200" dirty="0"/>
          </a:p>
        </p:txBody>
      </p:sp>
      <p:sp>
        <p:nvSpPr>
          <p:cNvPr id="18" name="o17"/>
          <p:cNvSpPr txBox="1"/>
          <p:nvPr/>
        </p:nvSpPr>
        <p:spPr>
          <a:xfrm>
            <a:off x="7620000" y="3848100"/>
            <a:ext cx="3581400" cy="419100"/>
          </a:xfrm>
          <a:prstGeom prst="rect">
            <a:avLst/>
          </a:prstGeom>
          <a:noFill/>
          <a:ln/>
        </p:spPr>
        <p:txBody>
          <a:bodyPr wrap="square" lIns="0" tIns="0" rIns="0" bIns="0" rtlCol="0" anchor="t"/>
          <a:lstStyle/>
          <a:p>
            <a:pPr indent="0" marL="0">
              <a:buNone/>
            </a:pPr>
            <a:r>
              <a:rPr lang="en-US" sz="3000" b="1" dirty="0">
                <a:solidFill>
                  <a:srgbClr val="23373B"/>
                </a:solidFill>
                <a:latin typeface="Pretendard" pitchFamily="34" charset="0"/>
                <a:ea typeface="Pretendard" pitchFamily="34" charset="-122"/>
                <a:cs typeface="Pretendard" pitchFamily="34" charset="-120"/>
              </a:rPr>
              <a:t>18건 → 0건</a:t>
            </a:r>
            <a:endParaRPr lang="en-US" sz="3000" dirty="0"/>
          </a:p>
        </p:txBody>
      </p:sp>
      <p:sp>
        <p:nvSpPr>
          <p:cNvPr id="19" name="o18"/>
          <p:cNvSpPr/>
          <p:nvPr/>
        </p:nvSpPr>
        <p:spPr>
          <a:xfrm>
            <a:off x="7620000" y="4572000"/>
            <a:ext cx="3581400" cy="0"/>
          </a:xfrm>
          <a:prstGeom prst="line">
            <a:avLst/>
          </a:prstGeom>
          <a:noFill/>
          <a:ln w="9525">
            <a:solidFill>
              <a:srgbClr val="E0E0E0"/>
            </a:solidFill>
            <a:prstDash val="solid"/>
          </a:ln>
        </p:spPr>
      </p:sp>
      <p:sp>
        <p:nvSpPr>
          <p:cNvPr id="20" name="o19"/>
          <p:cNvSpPr txBox="1"/>
          <p:nvPr/>
        </p:nvSpPr>
        <p:spPr>
          <a:xfrm>
            <a:off x="7620000" y="4762500"/>
            <a:ext cx="3581400" cy="17145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종이 출력</a:t>
            </a:r>
            <a:endParaRPr lang="en-US" sz="1200" dirty="0"/>
          </a:p>
        </p:txBody>
      </p:sp>
      <p:sp>
        <p:nvSpPr>
          <p:cNvPr id="21" name="o20"/>
          <p:cNvSpPr txBox="1"/>
          <p:nvPr/>
        </p:nvSpPr>
        <p:spPr>
          <a:xfrm>
            <a:off x="7620000" y="4991100"/>
            <a:ext cx="3581400" cy="419100"/>
          </a:xfrm>
          <a:prstGeom prst="rect">
            <a:avLst/>
          </a:prstGeom>
          <a:noFill/>
          <a:ln/>
        </p:spPr>
        <p:txBody>
          <a:bodyPr wrap="square" lIns="0" tIns="0" rIns="0" bIns="0" rtlCol="0" anchor="t"/>
          <a:lstStyle/>
          <a:p>
            <a:pPr indent="0" marL="0">
              <a:buNone/>
            </a:pPr>
            <a:r>
              <a:rPr lang="en-US" sz="3000" b="1" dirty="0">
                <a:solidFill>
                  <a:srgbClr val="23373B"/>
                </a:solidFill>
                <a:latin typeface="Pretendard" pitchFamily="34" charset="0"/>
                <a:ea typeface="Pretendard" pitchFamily="34" charset="-122"/>
                <a:cs typeface="Pretendard" pitchFamily="34" charset="-120"/>
              </a:rPr>
              <a:t>연 94건 → 0건</a:t>
            </a:r>
            <a:endParaRPr lang="en-US" sz="3000" dirty="0"/>
          </a:p>
        </p:txBody>
      </p:sp>
      <p:sp>
        <p:nvSpPr>
          <p:cNvPr id="22" name="o21"/>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22"/>
          <p:cNvSpPr/>
          <p:nvPr/>
        </p:nvSpPr>
        <p:spPr>
          <a:xfrm>
            <a:off x="0" y="0"/>
            <a:ext cx="12192000" cy="1104900"/>
          </a:xfrm>
          <a:prstGeom prst="rect">
            <a:avLst/>
          </a:prstGeom>
          <a:solidFill>
            <a:srgbClr val="23373B"/>
          </a:solidFill>
          <a:ln/>
        </p:spPr>
      </p:sp>
      <p:sp>
        <p:nvSpPr>
          <p:cNvPr id="3" name="o23"/>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CONTENTS</a:t>
            </a:r>
            <a:endParaRPr lang="en-US" sz="1100" dirty="0"/>
          </a:p>
        </p:txBody>
      </p:sp>
      <p:sp>
        <p:nvSpPr>
          <p:cNvPr id="4" name="o24"/>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목차</a:t>
            </a:r>
            <a:endParaRPr lang="en-US" sz="2600" dirty="0"/>
          </a:p>
        </p:txBody>
      </p:sp>
      <p:sp>
        <p:nvSpPr>
          <p:cNvPr id="5" name="o25"/>
          <p:cNvSpPr/>
          <p:nvPr/>
        </p:nvSpPr>
        <p:spPr>
          <a:xfrm>
            <a:off x="0" y="1104900"/>
            <a:ext cx="12192000" cy="28575"/>
          </a:xfrm>
          <a:prstGeom prst="rect">
            <a:avLst/>
          </a:prstGeom>
          <a:solidFill>
            <a:srgbClr val="D2D7D8"/>
          </a:solidFill>
          <a:ln/>
        </p:spPr>
      </p:sp>
      <p:sp>
        <p:nvSpPr>
          <p:cNvPr id="6" name="o26"/>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PDCA 4단계 순서로 말씀드립니다</a:t>
            </a:r>
            <a:endParaRPr lang="en-US" sz="1300" dirty="0"/>
          </a:p>
        </p:txBody>
      </p:sp>
      <p:sp>
        <p:nvSpPr>
          <p:cNvPr id="7" name="o27"/>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8" name="o28"/>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02</a:t>
            </a:r>
            <a:endParaRPr lang="en-US" sz="1000" dirty="0"/>
          </a:p>
        </p:txBody>
      </p:sp>
      <p:sp>
        <p:nvSpPr>
          <p:cNvPr id="9" name="o29"/>
          <p:cNvSpPr/>
          <p:nvPr/>
        </p:nvSpPr>
        <p:spPr>
          <a:xfrm>
            <a:off x="609600" y="1600200"/>
            <a:ext cx="2600325" cy="4648200"/>
          </a:xfrm>
          <a:prstGeom prst="rect">
            <a:avLst/>
          </a:prstGeom>
          <a:solidFill>
            <a:srgbClr val="F0F0F0"/>
          </a:solidFill>
          <a:ln/>
        </p:spPr>
      </p:sp>
      <p:sp>
        <p:nvSpPr>
          <p:cNvPr id="10" name="o30"/>
          <p:cNvSpPr/>
          <p:nvPr/>
        </p:nvSpPr>
        <p:spPr>
          <a:xfrm>
            <a:off x="609600" y="1600200"/>
            <a:ext cx="2600325" cy="57150"/>
          </a:xfrm>
          <a:prstGeom prst="rect">
            <a:avLst/>
          </a:prstGeom>
          <a:solidFill>
            <a:srgbClr val="8FA3A6"/>
          </a:solidFill>
          <a:ln/>
        </p:spPr>
      </p:sp>
      <p:sp>
        <p:nvSpPr>
          <p:cNvPr id="11" name="o31"/>
          <p:cNvSpPr txBox="1"/>
          <p:nvPr/>
        </p:nvSpPr>
        <p:spPr>
          <a:xfrm>
            <a:off x="876300" y="1866900"/>
            <a:ext cx="1143000" cy="857250"/>
          </a:xfrm>
          <a:prstGeom prst="rect">
            <a:avLst/>
          </a:prstGeom>
          <a:noFill/>
          <a:ln/>
        </p:spPr>
        <p:txBody>
          <a:bodyPr wrap="square" lIns="0" tIns="0" rIns="0" bIns="0" rtlCol="0" anchor="t"/>
          <a:lstStyle/>
          <a:p>
            <a:pPr indent="0" marL="0">
              <a:buNone/>
            </a:pPr>
            <a:r>
              <a:rPr lang="en-US" sz="6400" b="1" dirty="0">
                <a:solidFill>
                  <a:srgbClr val="23373B"/>
                </a:solidFill>
                <a:latin typeface="Pretendard" pitchFamily="34" charset="0"/>
                <a:ea typeface="Pretendard" pitchFamily="34" charset="-122"/>
                <a:cs typeface="Pretendard" pitchFamily="34" charset="-120"/>
              </a:rPr>
              <a:t>P</a:t>
            </a:r>
            <a:endParaRPr lang="en-US" sz="6400" dirty="0"/>
          </a:p>
        </p:txBody>
      </p:sp>
      <p:sp>
        <p:nvSpPr>
          <p:cNvPr id="12" name="o32"/>
          <p:cNvSpPr txBox="1"/>
          <p:nvPr/>
        </p:nvSpPr>
        <p:spPr>
          <a:xfrm>
            <a:off x="895350" y="2743200"/>
            <a:ext cx="2028825" cy="209550"/>
          </a:xfrm>
          <a:prstGeom prst="rect">
            <a:avLst/>
          </a:prstGeom>
          <a:noFill/>
          <a:ln/>
        </p:spPr>
        <p:txBody>
          <a:bodyPr wrap="square" lIns="0" tIns="0" rIns="0" bIns="0" rtlCol="0" anchor="t"/>
          <a:lstStyle/>
          <a:p>
            <a:pPr indent="0" marL="0">
              <a:buNone/>
            </a:pPr>
            <a:r>
              <a:rPr lang="en-US" sz="1500" b="1" dirty="0">
                <a:solidFill>
                  <a:srgbClr val="6B7B7E"/>
                </a:solidFill>
                <a:latin typeface="Pretendard" pitchFamily="34" charset="0"/>
                <a:ea typeface="Pretendard" pitchFamily="34" charset="-122"/>
                <a:cs typeface="Pretendard" pitchFamily="34" charset="-120"/>
              </a:rPr>
              <a:t>Plan</a:t>
            </a:r>
            <a:endParaRPr lang="en-US" sz="1500" dirty="0"/>
          </a:p>
        </p:txBody>
      </p:sp>
      <p:sp>
        <p:nvSpPr>
          <p:cNvPr id="13" name="o33"/>
          <p:cNvSpPr/>
          <p:nvPr/>
        </p:nvSpPr>
        <p:spPr>
          <a:xfrm>
            <a:off x="876300" y="3067050"/>
            <a:ext cx="2066925" cy="0"/>
          </a:xfrm>
          <a:prstGeom prst="line">
            <a:avLst/>
          </a:prstGeom>
          <a:noFill/>
          <a:ln w="9525">
            <a:solidFill>
              <a:srgbClr val="D8D8D8"/>
            </a:solidFill>
            <a:prstDash val="solid"/>
          </a:ln>
        </p:spPr>
      </p:sp>
      <p:sp>
        <p:nvSpPr>
          <p:cNvPr id="14" name="o34"/>
          <p:cNvSpPr txBox="1"/>
          <p:nvPr/>
        </p:nvSpPr>
        <p:spPr>
          <a:xfrm>
            <a:off x="87630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01  WHY · 활동 배경</a:t>
            </a:r>
            <a:endParaRPr lang="en-US" sz="1400" dirty="0"/>
          </a:p>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팀 구성</a:t>
            </a:r>
            <a:endParaRPr lang="en-US" sz="1400" dirty="0"/>
          </a:p>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02  PROBLEM · 현황</a:t>
            </a:r>
            <a:endParaRPr lang="en-US" sz="1400" dirty="0"/>
          </a:p>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03  원인 · 목표</a:t>
            </a:r>
            <a:endParaRPr lang="en-US" sz="1400" dirty="0"/>
          </a:p>
        </p:txBody>
      </p:sp>
      <p:sp>
        <p:nvSpPr>
          <p:cNvPr id="15" name="o35"/>
          <p:cNvSpPr txBox="1"/>
          <p:nvPr/>
        </p:nvSpPr>
        <p:spPr>
          <a:xfrm>
            <a:off x="876300" y="5829300"/>
            <a:ext cx="2066925" cy="15240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Slide 03 – 06</a:t>
            </a:r>
            <a:endParaRPr lang="en-US" sz="1000" dirty="0"/>
          </a:p>
        </p:txBody>
      </p:sp>
      <p:sp>
        <p:nvSpPr>
          <p:cNvPr id="16" name="o36"/>
          <p:cNvSpPr/>
          <p:nvPr/>
        </p:nvSpPr>
        <p:spPr>
          <a:xfrm>
            <a:off x="3400425" y="1600200"/>
            <a:ext cx="2600325" cy="4648200"/>
          </a:xfrm>
          <a:prstGeom prst="rect">
            <a:avLst/>
          </a:prstGeom>
          <a:solidFill>
            <a:srgbClr val="F0F0F0"/>
          </a:solidFill>
          <a:ln/>
        </p:spPr>
      </p:sp>
      <p:sp>
        <p:nvSpPr>
          <p:cNvPr id="17" name="o37"/>
          <p:cNvSpPr/>
          <p:nvPr/>
        </p:nvSpPr>
        <p:spPr>
          <a:xfrm>
            <a:off x="3400425" y="1600200"/>
            <a:ext cx="2600325" cy="57150"/>
          </a:xfrm>
          <a:prstGeom prst="rect">
            <a:avLst/>
          </a:prstGeom>
          <a:solidFill>
            <a:srgbClr val="5E777B"/>
          </a:solidFill>
          <a:ln/>
        </p:spPr>
      </p:sp>
      <p:sp>
        <p:nvSpPr>
          <p:cNvPr id="18" name="o38"/>
          <p:cNvSpPr txBox="1"/>
          <p:nvPr/>
        </p:nvSpPr>
        <p:spPr>
          <a:xfrm>
            <a:off x="3667125" y="1866900"/>
            <a:ext cx="1143000" cy="857250"/>
          </a:xfrm>
          <a:prstGeom prst="rect">
            <a:avLst/>
          </a:prstGeom>
          <a:noFill/>
          <a:ln/>
        </p:spPr>
        <p:txBody>
          <a:bodyPr wrap="square" lIns="0" tIns="0" rIns="0" bIns="0" rtlCol="0" anchor="t"/>
          <a:lstStyle/>
          <a:p>
            <a:pPr indent="0" marL="0">
              <a:buNone/>
            </a:pPr>
            <a:r>
              <a:rPr lang="en-US" sz="6400" b="1" dirty="0">
                <a:solidFill>
                  <a:srgbClr val="23373B"/>
                </a:solidFill>
                <a:latin typeface="Pretendard" pitchFamily="34" charset="0"/>
                <a:ea typeface="Pretendard" pitchFamily="34" charset="-122"/>
                <a:cs typeface="Pretendard" pitchFamily="34" charset="-120"/>
              </a:rPr>
              <a:t>D</a:t>
            </a:r>
            <a:endParaRPr lang="en-US" sz="6400" dirty="0"/>
          </a:p>
        </p:txBody>
      </p:sp>
      <p:sp>
        <p:nvSpPr>
          <p:cNvPr id="19" name="o39"/>
          <p:cNvSpPr txBox="1"/>
          <p:nvPr/>
        </p:nvSpPr>
        <p:spPr>
          <a:xfrm>
            <a:off x="3686175" y="2743200"/>
            <a:ext cx="2028825" cy="209550"/>
          </a:xfrm>
          <a:prstGeom prst="rect">
            <a:avLst/>
          </a:prstGeom>
          <a:noFill/>
          <a:ln/>
        </p:spPr>
        <p:txBody>
          <a:bodyPr wrap="square" lIns="0" tIns="0" rIns="0" bIns="0" rtlCol="0" anchor="t"/>
          <a:lstStyle/>
          <a:p>
            <a:pPr indent="0" marL="0">
              <a:buNone/>
            </a:pPr>
            <a:r>
              <a:rPr lang="en-US" sz="1500" b="1" dirty="0">
                <a:solidFill>
                  <a:srgbClr val="6B7B7E"/>
                </a:solidFill>
                <a:latin typeface="Pretendard" pitchFamily="34" charset="0"/>
                <a:ea typeface="Pretendard" pitchFamily="34" charset="-122"/>
                <a:cs typeface="Pretendard" pitchFamily="34" charset="-120"/>
              </a:rPr>
              <a:t>Do</a:t>
            </a:r>
            <a:endParaRPr lang="en-US" sz="1500" dirty="0"/>
          </a:p>
        </p:txBody>
      </p:sp>
      <p:sp>
        <p:nvSpPr>
          <p:cNvPr id="20" name="o40"/>
          <p:cNvSpPr/>
          <p:nvPr/>
        </p:nvSpPr>
        <p:spPr>
          <a:xfrm>
            <a:off x="3667125" y="3067050"/>
            <a:ext cx="2066925" cy="0"/>
          </a:xfrm>
          <a:prstGeom prst="line">
            <a:avLst/>
          </a:prstGeom>
          <a:noFill/>
          <a:ln w="9525">
            <a:solidFill>
              <a:srgbClr val="D8D8D8"/>
            </a:solidFill>
            <a:prstDash val="solid"/>
          </a:ln>
        </p:spPr>
      </p:sp>
      <p:sp>
        <p:nvSpPr>
          <p:cNvPr id="21" name="o41"/>
          <p:cNvSpPr txBox="1"/>
          <p:nvPr/>
        </p:nvSpPr>
        <p:spPr>
          <a:xfrm>
            <a:off x="366712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04  SOLUTION · 6대 모듈</a:t>
            </a:r>
            <a:endParaRPr lang="en-US" sz="1400" dirty="0"/>
          </a:p>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05  DEMO · 시연</a:t>
            </a:r>
            <a:endParaRPr lang="en-US" sz="1400" dirty="0"/>
          </a:p>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AI 적용</a:t>
            </a:r>
            <a:endParaRPr lang="en-US" sz="1400" dirty="0"/>
          </a:p>
        </p:txBody>
      </p:sp>
      <p:sp>
        <p:nvSpPr>
          <p:cNvPr id="22" name="o42"/>
          <p:cNvSpPr txBox="1"/>
          <p:nvPr/>
        </p:nvSpPr>
        <p:spPr>
          <a:xfrm>
            <a:off x="3667125" y="5829300"/>
            <a:ext cx="2066925" cy="15240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Slide 07 – 09</a:t>
            </a:r>
            <a:endParaRPr lang="en-US" sz="1000" dirty="0"/>
          </a:p>
        </p:txBody>
      </p:sp>
      <p:sp>
        <p:nvSpPr>
          <p:cNvPr id="23" name="o43"/>
          <p:cNvSpPr/>
          <p:nvPr/>
        </p:nvSpPr>
        <p:spPr>
          <a:xfrm>
            <a:off x="6191250" y="1600200"/>
            <a:ext cx="2600325" cy="4648200"/>
          </a:xfrm>
          <a:prstGeom prst="rect">
            <a:avLst/>
          </a:prstGeom>
          <a:solidFill>
            <a:srgbClr val="F0F0F0"/>
          </a:solidFill>
          <a:ln/>
        </p:spPr>
      </p:sp>
      <p:sp>
        <p:nvSpPr>
          <p:cNvPr id="24" name="o44"/>
          <p:cNvSpPr/>
          <p:nvPr/>
        </p:nvSpPr>
        <p:spPr>
          <a:xfrm>
            <a:off x="6191250" y="1600200"/>
            <a:ext cx="2600325" cy="57150"/>
          </a:xfrm>
          <a:prstGeom prst="rect">
            <a:avLst/>
          </a:prstGeom>
          <a:solidFill>
            <a:srgbClr val="3B5559"/>
          </a:solidFill>
          <a:ln/>
        </p:spPr>
      </p:sp>
      <p:sp>
        <p:nvSpPr>
          <p:cNvPr id="25" name="o45"/>
          <p:cNvSpPr txBox="1"/>
          <p:nvPr/>
        </p:nvSpPr>
        <p:spPr>
          <a:xfrm>
            <a:off x="6457950" y="1866900"/>
            <a:ext cx="1143000" cy="857250"/>
          </a:xfrm>
          <a:prstGeom prst="rect">
            <a:avLst/>
          </a:prstGeom>
          <a:noFill/>
          <a:ln/>
        </p:spPr>
        <p:txBody>
          <a:bodyPr wrap="square" lIns="0" tIns="0" rIns="0" bIns="0" rtlCol="0" anchor="t"/>
          <a:lstStyle/>
          <a:p>
            <a:pPr indent="0" marL="0">
              <a:buNone/>
            </a:pPr>
            <a:r>
              <a:rPr lang="en-US" sz="6400" b="1" dirty="0">
                <a:solidFill>
                  <a:srgbClr val="23373B"/>
                </a:solidFill>
                <a:latin typeface="Pretendard" pitchFamily="34" charset="0"/>
                <a:ea typeface="Pretendard" pitchFamily="34" charset="-122"/>
                <a:cs typeface="Pretendard" pitchFamily="34" charset="-120"/>
              </a:rPr>
              <a:t>C</a:t>
            </a:r>
            <a:endParaRPr lang="en-US" sz="6400" dirty="0"/>
          </a:p>
        </p:txBody>
      </p:sp>
      <p:sp>
        <p:nvSpPr>
          <p:cNvPr id="26" name="o46"/>
          <p:cNvSpPr txBox="1"/>
          <p:nvPr/>
        </p:nvSpPr>
        <p:spPr>
          <a:xfrm>
            <a:off x="6477000" y="2743200"/>
            <a:ext cx="2028825" cy="209550"/>
          </a:xfrm>
          <a:prstGeom prst="rect">
            <a:avLst/>
          </a:prstGeom>
          <a:noFill/>
          <a:ln/>
        </p:spPr>
        <p:txBody>
          <a:bodyPr wrap="square" lIns="0" tIns="0" rIns="0" bIns="0" rtlCol="0" anchor="t"/>
          <a:lstStyle/>
          <a:p>
            <a:pPr indent="0" marL="0">
              <a:buNone/>
            </a:pPr>
            <a:r>
              <a:rPr lang="en-US" sz="1500" b="1" dirty="0">
                <a:solidFill>
                  <a:srgbClr val="6B7B7E"/>
                </a:solidFill>
                <a:latin typeface="Pretendard" pitchFamily="34" charset="0"/>
                <a:ea typeface="Pretendard" pitchFamily="34" charset="-122"/>
                <a:cs typeface="Pretendard" pitchFamily="34" charset="-120"/>
              </a:rPr>
              <a:t>Check</a:t>
            </a:r>
            <a:endParaRPr lang="en-US" sz="1500" dirty="0"/>
          </a:p>
        </p:txBody>
      </p:sp>
      <p:sp>
        <p:nvSpPr>
          <p:cNvPr id="27" name="o47"/>
          <p:cNvSpPr/>
          <p:nvPr/>
        </p:nvSpPr>
        <p:spPr>
          <a:xfrm>
            <a:off x="6457950" y="3067050"/>
            <a:ext cx="2066925" cy="0"/>
          </a:xfrm>
          <a:prstGeom prst="line">
            <a:avLst/>
          </a:prstGeom>
          <a:noFill/>
          <a:ln w="9525">
            <a:solidFill>
              <a:srgbClr val="D8D8D8"/>
            </a:solidFill>
            <a:prstDash val="solid"/>
          </a:ln>
        </p:spPr>
      </p:sp>
      <p:sp>
        <p:nvSpPr>
          <p:cNvPr id="28" name="o48"/>
          <p:cNvSpPr txBox="1"/>
          <p:nvPr/>
        </p:nvSpPr>
        <p:spPr>
          <a:xfrm>
            <a:off x="645795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06  RESULT · 전후 비교</a:t>
            </a:r>
            <a:endParaRPr lang="en-US" sz="1400" dirty="0"/>
          </a:p>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07  IMPACT · 성과 · ESG</a:t>
            </a:r>
            <a:endParaRPr lang="en-US" sz="1400" dirty="0"/>
          </a:p>
        </p:txBody>
      </p:sp>
      <p:sp>
        <p:nvSpPr>
          <p:cNvPr id="29" name="o49"/>
          <p:cNvSpPr txBox="1"/>
          <p:nvPr/>
        </p:nvSpPr>
        <p:spPr>
          <a:xfrm>
            <a:off x="6457950" y="5829300"/>
            <a:ext cx="2066925" cy="15240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Slide 10 – 11</a:t>
            </a:r>
            <a:endParaRPr lang="en-US" sz="1000" dirty="0"/>
          </a:p>
        </p:txBody>
      </p:sp>
      <p:sp>
        <p:nvSpPr>
          <p:cNvPr id="30" name="o50"/>
          <p:cNvSpPr/>
          <p:nvPr/>
        </p:nvSpPr>
        <p:spPr>
          <a:xfrm>
            <a:off x="8982075" y="1600200"/>
            <a:ext cx="2600325" cy="4648200"/>
          </a:xfrm>
          <a:prstGeom prst="rect">
            <a:avLst/>
          </a:prstGeom>
          <a:solidFill>
            <a:srgbClr val="F0F0F0"/>
          </a:solidFill>
          <a:ln/>
        </p:spPr>
      </p:sp>
      <p:sp>
        <p:nvSpPr>
          <p:cNvPr id="31" name="o51"/>
          <p:cNvSpPr/>
          <p:nvPr/>
        </p:nvSpPr>
        <p:spPr>
          <a:xfrm>
            <a:off x="8982075" y="1600200"/>
            <a:ext cx="2600325" cy="57150"/>
          </a:xfrm>
          <a:prstGeom prst="rect">
            <a:avLst/>
          </a:prstGeom>
          <a:solidFill>
            <a:srgbClr val="23373B"/>
          </a:solidFill>
          <a:ln/>
        </p:spPr>
      </p:sp>
      <p:sp>
        <p:nvSpPr>
          <p:cNvPr id="32" name="o52"/>
          <p:cNvSpPr txBox="1"/>
          <p:nvPr/>
        </p:nvSpPr>
        <p:spPr>
          <a:xfrm>
            <a:off x="9248775" y="1866900"/>
            <a:ext cx="1143000" cy="857250"/>
          </a:xfrm>
          <a:prstGeom prst="rect">
            <a:avLst/>
          </a:prstGeom>
          <a:noFill/>
          <a:ln/>
        </p:spPr>
        <p:txBody>
          <a:bodyPr wrap="square" lIns="0" tIns="0" rIns="0" bIns="0" rtlCol="0" anchor="t"/>
          <a:lstStyle/>
          <a:p>
            <a:pPr indent="0" marL="0">
              <a:buNone/>
            </a:pPr>
            <a:r>
              <a:rPr lang="en-US" sz="6400" b="1" dirty="0">
                <a:solidFill>
                  <a:srgbClr val="23373B"/>
                </a:solidFill>
                <a:latin typeface="Pretendard" pitchFamily="34" charset="0"/>
                <a:ea typeface="Pretendard" pitchFamily="34" charset="-122"/>
                <a:cs typeface="Pretendard" pitchFamily="34" charset="-120"/>
              </a:rPr>
              <a:t>A</a:t>
            </a:r>
            <a:endParaRPr lang="en-US" sz="6400" dirty="0"/>
          </a:p>
        </p:txBody>
      </p:sp>
      <p:sp>
        <p:nvSpPr>
          <p:cNvPr id="33" name="o53"/>
          <p:cNvSpPr txBox="1"/>
          <p:nvPr/>
        </p:nvSpPr>
        <p:spPr>
          <a:xfrm>
            <a:off x="9267825" y="2743200"/>
            <a:ext cx="2028825" cy="209550"/>
          </a:xfrm>
          <a:prstGeom prst="rect">
            <a:avLst/>
          </a:prstGeom>
          <a:noFill/>
          <a:ln/>
        </p:spPr>
        <p:txBody>
          <a:bodyPr wrap="square" lIns="0" tIns="0" rIns="0" bIns="0" rtlCol="0" anchor="t"/>
          <a:lstStyle/>
          <a:p>
            <a:pPr indent="0" marL="0">
              <a:buNone/>
            </a:pPr>
            <a:r>
              <a:rPr lang="en-US" sz="1500" b="1" dirty="0">
                <a:solidFill>
                  <a:srgbClr val="6B7B7E"/>
                </a:solidFill>
                <a:latin typeface="Pretendard" pitchFamily="34" charset="0"/>
                <a:ea typeface="Pretendard" pitchFamily="34" charset="-122"/>
                <a:cs typeface="Pretendard" pitchFamily="34" charset="-120"/>
              </a:rPr>
              <a:t>Act</a:t>
            </a:r>
            <a:endParaRPr lang="en-US" sz="1500" dirty="0"/>
          </a:p>
        </p:txBody>
      </p:sp>
      <p:sp>
        <p:nvSpPr>
          <p:cNvPr id="34" name="o54"/>
          <p:cNvSpPr/>
          <p:nvPr/>
        </p:nvSpPr>
        <p:spPr>
          <a:xfrm>
            <a:off x="9248775" y="3067050"/>
            <a:ext cx="2066925" cy="0"/>
          </a:xfrm>
          <a:prstGeom prst="line">
            <a:avLst/>
          </a:prstGeom>
          <a:noFill/>
          <a:ln w="9525">
            <a:solidFill>
              <a:srgbClr val="D8D8D8"/>
            </a:solidFill>
            <a:prstDash val="solid"/>
          </a:ln>
        </p:spPr>
      </p:sp>
      <p:sp>
        <p:nvSpPr>
          <p:cNvPr id="35" name="o55"/>
          <p:cNvSpPr txBox="1"/>
          <p:nvPr/>
        </p:nvSpPr>
        <p:spPr>
          <a:xfrm>
            <a:off x="924877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D4F52"/>
                </a:solidFill>
                <a:latin typeface="Pretendard" pitchFamily="34" charset="0"/>
                <a:ea typeface="Pretendard" pitchFamily="34" charset="-122"/>
                <a:cs typeface="Pretendard" pitchFamily="34" charset="-120"/>
              </a:rPr>
              <a:t>08  NEXT · 표준화</a:t>
            </a:r>
            <a:endParaRPr lang="en-US" sz="1400" dirty="0"/>
          </a:p>
        </p:txBody>
      </p:sp>
      <p:sp>
        <p:nvSpPr>
          <p:cNvPr id="36" name="o56"/>
          <p:cNvSpPr txBox="1"/>
          <p:nvPr/>
        </p:nvSpPr>
        <p:spPr>
          <a:xfrm>
            <a:off x="9248775" y="5829300"/>
            <a:ext cx="2066925" cy="15240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Slide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57"/>
          <p:cNvSpPr/>
          <p:nvPr/>
        </p:nvSpPr>
        <p:spPr>
          <a:xfrm>
            <a:off x="0" y="0"/>
            <a:ext cx="12192000" cy="1104900"/>
          </a:xfrm>
          <a:prstGeom prst="rect">
            <a:avLst/>
          </a:prstGeom>
          <a:solidFill>
            <a:srgbClr val="23373B"/>
          </a:solidFill>
          <a:ln/>
        </p:spPr>
      </p:sp>
      <p:sp>
        <p:nvSpPr>
          <p:cNvPr id="3" name="o58"/>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01   WHY  ·  활동 배경</a:t>
            </a:r>
            <a:endParaRPr lang="en-US" sz="1100" dirty="0"/>
          </a:p>
        </p:txBody>
      </p:sp>
      <p:sp>
        <p:nvSpPr>
          <p:cNvPr id="4" name="o59"/>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법은 실시간 증빙을 요구하는데, 우리는 종이로 일했습니다</a:t>
            </a:r>
            <a:endParaRPr lang="en-US" sz="2600" dirty="0"/>
          </a:p>
        </p:txBody>
      </p:sp>
      <p:sp>
        <p:nvSpPr>
          <p:cNvPr id="5" name="o60"/>
          <p:cNvSpPr/>
          <p:nvPr/>
        </p:nvSpPr>
        <p:spPr>
          <a:xfrm>
            <a:off x="0" y="1104900"/>
            <a:ext cx="12192000" cy="28575"/>
          </a:xfrm>
          <a:prstGeom prst="rect">
            <a:avLst/>
          </a:prstGeom>
          <a:solidFill>
            <a:srgbClr val="D2D7D8"/>
          </a:solidFill>
          <a:ln/>
        </p:spPr>
      </p:sp>
      <p:sp>
        <p:nvSpPr>
          <p:cNvPr id="6" name="o61"/>
          <p:cNvSpPr/>
          <p:nvPr/>
        </p:nvSpPr>
        <p:spPr>
          <a:xfrm>
            <a:off x="0" y="1104900"/>
            <a:ext cx="3048000" cy="28575"/>
          </a:xfrm>
          <a:prstGeom prst="rect">
            <a:avLst/>
          </a:prstGeom>
          <a:solidFill>
            <a:srgbClr val="EB811B"/>
          </a:solidFill>
          <a:ln/>
        </p:spPr>
      </p:sp>
      <p:sp>
        <p:nvSpPr>
          <p:cNvPr id="7" name="o62"/>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주제 선정: 실현가능성 × 파급력 평가(22.5점) 동점 → 병원 중점과제 정합성 검토 후 최종 선정</a:t>
            </a:r>
            <a:endParaRPr lang="en-US" sz="1300" dirty="0"/>
          </a:p>
        </p:txBody>
      </p:sp>
      <p:sp>
        <p:nvSpPr>
          <p:cNvPr id="8" name="o63"/>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64"/>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03</a:t>
            </a:r>
            <a:endParaRPr lang="en-US" sz="1000" dirty="0"/>
          </a:p>
        </p:txBody>
      </p:sp>
      <p:sp>
        <p:nvSpPr>
          <p:cNvPr id="10" name="o65"/>
          <p:cNvSpPr/>
          <p:nvPr/>
        </p:nvSpPr>
        <p:spPr>
          <a:xfrm>
            <a:off x="609600" y="1600200"/>
            <a:ext cx="3530600" cy="3352800"/>
          </a:xfrm>
          <a:prstGeom prst="rect">
            <a:avLst/>
          </a:prstGeom>
          <a:solidFill>
            <a:srgbClr val="FFFFFF"/>
          </a:solidFill>
          <a:ln w="12700">
            <a:solidFill>
              <a:srgbClr val="D8D8D8"/>
            </a:solidFill>
            <a:prstDash val="solid"/>
          </a:ln>
        </p:spPr>
      </p:sp>
      <p:sp>
        <p:nvSpPr>
          <p:cNvPr id="11" name="o66"/>
          <p:cNvSpPr/>
          <p:nvPr/>
        </p:nvSpPr>
        <p:spPr>
          <a:xfrm>
            <a:off x="876300" y="1828800"/>
            <a:ext cx="342900" cy="342900"/>
          </a:xfrm>
          <a:prstGeom prst="ellipse">
            <a:avLst/>
          </a:prstGeom>
          <a:solidFill>
            <a:srgbClr val="EB811B"/>
          </a:solidFill>
          <a:ln/>
        </p:spPr>
      </p:sp>
      <p:sp>
        <p:nvSpPr>
          <p:cNvPr id="12" name="o67"/>
          <p:cNvSpPr txBox="1"/>
          <p:nvPr/>
        </p:nvSpPr>
        <p:spPr>
          <a:xfrm>
            <a:off x="8763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13" name="o68"/>
          <p:cNvSpPr txBox="1"/>
          <p:nvPr/>
        </p:nvSpPr>
        <p:spPr>
          <a:xfrm>
            <a:off x="1333500" y="1828800"/>
            <a:ext cx="2578100" cy="342900"/>
          </a:xfrm>
          <a:prstGeom prst="rect">
            <a:avLst/>
          </a:prstGeom>
          <a:noFill/>
          <a:ln/>
        </p:spPr>
        <p:txBody>
          <a:bodyPr wrap="square" lIns="0" tIns="0" rIns="0" bIns="0" rtlCol="0" anchor="ctr"/>
          <a:lstStyle/>
          <a:p>
            <a:pPr indent="0" marL="0">
              <a:buNone/>
            </a:pPr>
            <a:r>
              <a:rPr lang="en-US" sz="1400" b="1" dirty="0">
                <a:solidFill>
                  <a:srgbClr val="23373B"/>
                </a:solidFill>
                <a:latin typeface="Pretendard" pitchFamily="34" charset="0"/>
                <a:ea typeface="Pretendard" pitchFamily="34" charset="-122"/>
                <a:cs typeface="Pretendard" pitchFamily="34" charset="-120"/>
              </a:rPr>
              <a:t>법 · 제도</a:t>
            </a:r>
            <a:endParaRPr lang="en-US" sz="1400" dirty="0"/>
          </a:p>
        </p:txBody>
      </p:sp>
      <p:sp>
        <p:nvSpPr>
          <p:cNvPr id="14" name="o69"/>
          <p:cNvSpPr txBox="1"/>
          <p:nvPr/>
        </p:nvSpPr>
        <p:spPr>
          <a:xfrm>
            <a:off x="876300" y="2362200"/>
            <a:ext cx="2997200" cy="304800"/>
          </a:xfrm>
          <a:prstGeom prst="rect">
            <a:avLst/>
          </a:prstGeom>
          <a:noFill/>
          <a:ln/>
        </p:spPr>
        <p:txBody>
          <a:bodyPr wrap="square" lIns="0" tIns="0" rIns="0" bIns="0" rtlCol="0" anchor="t"/>
          <a:lstStyle/>
          <a:p>
            <a:pPr indent="0" marL="0">
              <a:buNone/>
            </a:pPr>
            <a:r>
              <a:rPr lang="en-US" sz="2100" b="1" dirty="0">
                <a:solidFill>
                  <a:srgbClr val="23373B"/>
                </a:solidFill>
                <a:latin typeface="Pretendard" pitchFamily="34" charset="0"/>
                <a:ea typeface="Pretendard" pitchFamily="34" charset="-122"/>
                <a:cs typeface="Pretendard" pitchFamily="34" charset="-120"/>
              </a:rPr>
              <a:t>법적 의무의 강화</a:t>
            </a:r>
            <a:endParaRPr lang="en-US" sz="2100" dirty="0"/>
          </a:p>
        </p:txBody>
      </p:sp>
      <p:sp>
        <p:nvSpPr>
          <p:cNvPr id="15" name="o70"/>
          <p:cNvSpPr txBox="1"/>
          <p:nvPr/>
        </p:nvSpPr>
        <p:spPr>
          <a:xfrm>
            <a:off x="8763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D4F52"/>
                </a:solidFill>
                <a:latin typeface="Pretendard" pitchFamily="34" charset="0"/>
                <a:ea typeface="Pretendard" pitchFamily="34" charset="-122"/>
                <a:cs typeface="Pretendard" pitchFamily="34" charset="-120"/>
              </a:rPr>
              <a:t>중대재해처벌법 · 산업안전보건법은 MSDS 관리와 신규 · 특별안전보건교육의 실시간 증빙을 요구합니다.</a:t>
            </a:r>
            <a:endParaRPr lang="en-US" sz="1400" dirty="0"/>
          </a:p>
        </p:txBody>
      </p:sp>
      <p:sp>
        <p:nvSpPr>
          <p:cNvPr id="16" name="o71"/>
          <p:cNvSpPr/>
          <p:nvPr/>
        </p:nvSpPr>
        <p:spPr>
          <a:xfrm>
            <a:off x="876300" y="4305300"/>
            <a:ext cx="2997200" cy="0"/>
          </a:xfrm>
          <a:prstGeom prst="line">
            <a:avLst/>
          </a:prstGeom>
          <a:noFill/>
          <a:ln w="9525">
            <a:solidFill>
              <a:srgbClr val="D8D8D8"/>
            </a:solidFill>
            <a:prstDash val="solid"/>
          </a:ln>
        </p:spPr>
      </p:sp>
      <p:sp>
        <p:nvSpPr>
          <p:cNvPr id="17" name="o72"/>
          <p:cNvSpPr/>
          <p:nvPr/>
        </p:nvSpPr>
        <p:spPr>
          <a:xfrm>
            <a:off x="876300" y="4476750"/>
            <a:ext cx="1619250" cy="209550"/>
          </a:xfrm>
          <a:prstGeom prst="rect">
            <a:avLst/>
          </a:prstGeom>
          <a:solidFill>
            <a:srgbClr val="FDF0E3"/>
          </a:solidFill>
          <a:ln/>
        </p:spPr>
      </p:sp>
      <p:sp>
        <p:nvSpPr>
          <p:cNvPr id="18" name="o73"/>
          <p:cNvSpPr txBox="1"/>
          <p:nvPr/>
        </p:nvSpPr>
        <p:spPr>
          <a:xfrm>
            <a:off x="876300" y="4476750"/>
            <a:ext cx="161925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인증기준 10.7 · 11.3</a:t>
            </a:r>
            <a:endParaRPr lang="en-US" sz="900" dirty="0"/>
          </a:p>
        </p:txBody>
      </p:sp>
      <p:sp>
        <p:nvSpPr>
          <p:cNvPr id="19" name="o74"/>
          <p:cNvSpPr/>
          <p:nvPr/>
        </p:nvSpPr>
        <p:spPr>
          <a:xfrm>
            <a:off x="4330700" y="1600200"/>
            <a:ext cx="3530600" cy="3352800"/>
          </a:xfrm>
          <a:prstGeom prst="rect">
            <a:avLst/>
          </a:prstGeom>
          <a:solidFill>
            <a:srgbClr val="FFFFFF"/>
          </a:solidFill>
          <a:ln w="12700">
            <a:solidFill>
              <a:srgbClr val="D8D8D8"/>
            </a:solidFill>
            <a:prstDash val="solid"/>
          </a:ln>
        </p:spPr>
      </p:sp>
      <p:sp>
        <p:nvSpPr>
          <p:cNvPr id="20" name="o75"/>
          <p:cNvSpPr/>
          <p:nvPr/>
        </p:nvSpPr>
        <p:spPr>
          <a:xfrm>
            <a:off x="4597400" y="1828800"/>
            <a:ext cx="342900" cy="342900"/>
          </a:xfrm>
          <a:prstGeom prst="ellipse">
            <a:avLst/>
          </a:prstGeom>
          <a:solidFill>
            <a:srgbClr val="EB811B"/>
          </a:solidFill>
          <a:ln/>
        </p:spPr>
      </p:sp>
      <p:sp>
        <p:nvSpPr>
          <p:cNvPr id="21" name="o76"/>
          <p:cNvSpPr txBox="1"/>
          <p:nvPr/>
        </p:nvSpPr>
        <p:spPr>
          <a:xfrm>
            <a:off x="45974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22" name="o77"/>
          <p:cNvSpPr txBox="1"/>
          <p:nvPr/>
        </p:nvSpPr>
        <p:spPr>
          <a:xfrm>
            <a:off x="5054600" y="1828800"/>
            <a:ext cx="2578100" cy="342900"/>
          </a:xfrm>
          <a:prstGeom prst="rect">
            <a:avLst/>
          </a:prstGeom>
          <a:noFill/>
          <a:ln/>
        </p:spPr>
        <p:txBody>
          <a:bodyPr wrap="square" lIns="0" tIns="0" rIns="0" bIns="0" rtlCol="0" anchor="ctr"/>
          <a:lstStyle/>
          <a:p>
            <a:pPr indent="0" marL="0">
              <a:buNone/>
            </a:pPr>
            <a:r>
              <a:rPr lang="en-US" sz="1400" b="1" dirty="0">
                <a:solidFill>
                  <a:srgbClr val="23373B"/>
                </a:solidFill>
                <a:latin typeface="Pretendard" pitchFamily="34" charset="0"/>
                <a:ea typeface="Pretendard" pitchFamily="34" charset="-122"/>
                <a:cs typeface="Pretendard" pitchFamily="34" charset="-120"/>
              </a:rPr>
              <a:t>현장</a:t>
            </a:r>
            <a:endParaRPr lang="en-US" sz="1400" dirty="0"/>
          </a:p>
        </p:txBody>
      </p:sp>
      <p:sp>
        <p:nvSpPr>
          <p:cNvPr id="23" name="o78"/>
          <p:cNvSpPr txBox="1"/>
          <p:nvPr/>
        </p:nvSpPr>
        <p:spPr>
          <a:xfrm>
            <a:off x="4597400" y="2362200"/>
            <a:ext cx="2997200" cy="304800"/>
          </a:xfrm>
          <a:prstGeom prst="rect">
            <a:avLst/>
          </a:prstGeom>
          <a:noFill/>
          <a:ln/>
        </p:spPr>
        <p:txBody>
          <a:bodyPr wrap="square" lIns="0" tIns="0" rIns="0" bIns="0" rtlCol="0" anchor="t"/>
          <a:lstStyle/>
          <a:p>
            <a:pPr indent="0" marL="0">
              <a:buNone/>
            </a:pPr>
            <a:r>
              <a:rPr lang="en-US" sz="2100" b="1" dirty="0">
                <a:solidFill>
                  <a:srgbClr val="23373B"/>
                </a:solidFill>
                <a:latin typeface="Pretendard" pitchFamily="34" charset="0"/>
                <a:ea typeface="Pretendard" pitchFamily="34" charset="-122"/>
                <a:cs typeface="Pretendard" pitchFamily="34" charset="-120"/>
              </a:rPr>
              <a:t>수기 행정의 한계</a:t>
            </a:r>
            <a:endParaRPr lang="en-US" sz="2100" dirty="0"/>
          </a:p>
        </p:txBody>
      </p:sp>
      <p:sp>
        <p:nvSpPr>
          <p:cNvPr id="24" name="o79"/>
          <p:cNvSpPr txBox="1"/>
          <p:nvPr/>
        </p:nvSpPr>
        <p:spPr>
          <a:xfrm>
            <a:off x="45974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D4F52"/>
                </a:solidFill>
                <a:latin typeface="Pretendard" pitchFamily="34" charset="0"/>
                <a:ea typeface="Pretendard" pitchFamily="34" charset="-122"/>
                <a:cs typeface="Pretendard" pitchFamily="34" charset="-120"/>
              </a:rPr>
              <a:t>출력 → 대면 서명 → 방문 제출 → 아날로그 결재. 교육 이수 누락을 즉시 확인할 수 없는 구조였습니다.</a:t>
            </a:r>
            <a:endParaRPr lang="en-US" sz="1400" dirty="0"/>
          </a:p>
        </p:txBody>
      </p:sp>
      <p:sp>
        <p:nvSpPr>
          <p:cNvPr id="25" name="o80"/>
          <p:cNvSpPr/>
          <p:nvPr/>
        </p:nvSpPr>
        <p:spPr>
          <a:xfrm>
            <a:off x="4597400" y="4305300"/>
            <a:ext cx="2997200" cy="0"/>
          </a:xfrm>
          <a:prstGeom prst="line">
            <a:avLst/>
          </a:prstGeom>
          <a:noFill/>
          <a:ln w="9525">
            <a:solidFill>
              <a:srgbClr val="D8D8D8"/>
            </a:solidFill>
            <a:prstDash val="solid"/>
          </a:ln>
        </p:spPr>
      </p:sp>
      <p:sp>
        <p:nvSpPr>
          <p:cNvPr id="26" name="o81"/>
          <p:cNvSpPr/>
          <p:nvPr/>
        </p:nvSpPr>
        <p:spPr>
          <a:xfrm>
            <a:off x="4597400" y="4476750"/>
            <a:ext cx="1619250" cy="209550"/>
          </a:xfrm>
          <a:prstGeom prst="rect">
            <a:avLst/>
          </a:prstGeom>
          <a:solidFill>
            <a:srgbClr val="FDF0E3"/>
          </a:solidFill>
          <a:ln/>
        </p:spPr>
      </p:sp>
      <p:sp>
        <p:nvSpPr>
          <p:cNvPr id="27" name="o82"/>
          <p:cNvSpPr txBox="1"/>
          <p:nvPr/>
        </p:nvSpPr>
        <p:spPr>
          <a:xfrm>
            <a:off x="4597400" y="4476750"/>
            <a:ext cx="161925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종이 4단계 흐름</a:t>
            </a:r>
            <a:endParaRPr lang="en-US" sz="900" dirty="0"/>
          </a:p>
        </p:txBody>
      </p:sp>
      <p:sp>
        <p:nvSpPr>
          <p:cNvPr id="28" name="o83"/>
          <p:cNvSpPr/>
          <p:nvPr/>
        </p:nvSpPr>
        <p:spPr>
          <a:xfrm>
            <a:off x="8051800" y="1600200"/>
            <a:ext cx="3530600" cy="3352800"/>
          </a:xfrm>
          <a:prstGeom prst="rect">
            <a:avLst/>
          </a:prstGeom>
          <a:solidFill>
            <a:srgbClr val="FFFFFF"/>
          </a:solidFill>
          <a:ln w="12700">
            <a:solidFill>
              <a:srgbClr val="D8D8D8"/>
            </a:solidFill>
            <a:prstDash val="solid"/>
          </a:ln>
        </p:spPr>
      </p:sp>
      <p:sp>
        <p:nvSpPr>
          <p:cNvPr id="29" name="o84"/>
          <p:cNvSpPr/>
          <p:nvPr/>
        </p:nvSpPr>
        <p:spPr>
          <a:xfrm>
            <a:off x="8318500" y="1828800"/>
            <a:ext cx="342900" cy="342900"/>
          </a:xfrm>
          <a:prstGeom prst="ellipse">
            <a:avLst/>
          </a:prstGeom>
          <a:solidFill>
            <a:srgbClr val="EB811B"/>
          </a:solidFill>
          <a:ln/>
        </p:spPr>
      </p:sp>
      <p:sp>
        <p:nvSpPr>
          <p:cNvPr id="30" name="o85"/>
          <p:cNvSpPr txBox="1"/>
          <p:nvPr/>
        </p:nvSpPr>
        <p:spPr>
          <a:xfrm>
            <a:off x="83185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31" name="o86"/>
          <p:cNvSpPr txBox="1"/>
          <p:nvPr/>
        </p:nvSpPr>
        <p:spPr>
          <a:xfrm>
            <a:off x="8775700" y="1828800"/>
            <a:ext cx="2578100" cy="342900"/>
          </a:xfrm>
          <a:prstGeom prst="rect">
            <a:avLst/>
          </a:prstGeom>
          <a:noFill/>
          <a:ln/>
        </p:spPr>
        <p:txBody>
          <a:bodyPr wrap="square" lIns="0" tIns="0" rIns="0" bIns="0" rtlCol="0" anchor="ctr"/>
          <a:lstStyle/>
          <a:p>
            <a:pPr indent="0" marL="0">
              <a:buNone/>
            </a:pPr>
            <a:r>
              <a:rPr lang="en-US" sz="1400" b="1" dirty="0">
                <a:solidFill>
                  <a:srgbClr val="23373B"/>
                </a:solidFill>
                <a:latin typeface="Pretendard" pitchFamily="34" charset="0"/>
                <a:ea typeface="Pretendard" pitchFamily="34" charset="-122"/>
                <a:cs typeface="Pretendard" pitchFamily="34" charset="-120"/>
              </a:rPr>
              <a:t>경영</a:t>
            </a:r>
            <a:endParaRPr lang="en-US" sz="1400" dirty="0"/>
          </a:p>
        </p:txBody>
      </p:sp>
      <p:sp>
        <p:nvSpPr>
          <p:cNvPr id="32" name="o87"/>
          <p:cNvSpPr txBox="1"/>
          <p:nvPr/>
        </p:nvSpPr>
        <p:spPr>
          <a:xfrm>
            <a:off x="8318500" y="2362200"/>
            <a:ext cx="2997200" cy="304800"/>
          </a:xfrm>
          <a:prstGeom prst="rect">
            <a:avLst/>
          </a:prstGeom>
          <a:noFill/>
          <a:ln/>
        </p:spPr>
        <p:txBody>
          <a:bodyPr wrap="square" lIns="0" tIns="0" rIns="0" bIns="0" rtlCol="0" anchor="t"/>
          <a:lstStyle/>
          <a:p>
            <a:pPr indent="0" marL="0">
              <a:buNone/>
            </a:pPr>
            <a:r>
              <a:rPr lang="en-US" sz="2100" b="1" dirty="0">
                <a:solidFill>
                  <a:srgbClr val="23373B"/>
                </a:solidFill>
                <a:latin typeface="Pretendard" pitchFamily="34" charset="0"/>
                <a:ea typeface="Pretendard" pitchFamily="34" charset="-122"/>
                <a:cs typeface="Pretendard" pitchFamily="34" charset="-120"/>
              </a:rPr>
              <a:t>병원 전략과의 정렬</a:t>
            </a:r>
            <a:endParaRPr lang="en-US" sz="2100" dirty="0"/>
          </a:p>
        </p:txBody>
      </p:sp>
      <p:sp>
        <p:nvSpPr>
          <p:cNvPr id="33" name="o88"/>
          <p:cNvSpPr txBox="1"/>
          <p:nvPr/>
        </p:nvSpPr>
        <p:spPr>
          <a:xfrm>
            <a:off x="83185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D4F52"/>
                </a:solidFill>
                <a:latin typeface="Pretendard" pitchFamily="34" charset="0"/>
                <a:ea typeface="Pretendard" pitchFamily="34" charset="-122"/>
                <a:cs typeface="Pretendard" pitchFamily="34" charset="-120"/>
              </a:rPr>
              <a:t>병원 중점과제 「업무 프로세스 개선」, 그리고 ESG 환경(E) — 종이 행정의 데이터 자산화.</a:t>
            </a:r>
            <a:endParaRPr lang="en-US" sz="1400" dirty="0"/>
          </a:p>
        </p:txBody>
      </p:sp>
      <p:sp>
        <p:nvSpPr>
          <p:cNvPr id="34" name="o89"/>
          <p:cNvSpPr/>
          <p:nvPr/>
        </p:nvSpPr>
        <p:spPr>
          <a:xfrm>
            <a:off x="8318500" y="4305300"/>
            <a:ext cx="2997200" cy="0"/>
          </a:xfrm>
          <a:prstGeom prst="line">
            <a:avLst/>
          </a:prstGeom>
          <a:noFill/>
          <a:ln w="9525">
            <a:solidFill>
              <a:srgbClr val="D8D8D8"/>
            </a:solidFill>
            <a:prstDash val="solid"/>
          </a:ln>
        </p:spPr>
      </p:sp>
      <p:sp>
        <p:nvSpPr>
          <p:cNvPr id="35" name="o90"/>
          <p:cNvSpPr/>
          <p:nvPr/>
        </p:nvSpPr>
        <p:spPr>
          <a:xfrm>
            <a:off x="8318500" y="4476750"/>
            <a:ext cx="1619250" cy="209550"/>
          </a:xfrm>
          <a:prstGeom prst="rect">
            <a:avLst/>
          </a:prstGeom>
          <a:solidFill>
            <a:srgbClr val="FDF0E3"/>
          </a:solidFill>
          <a:ln/>
        </p:spPr>
      </p:sp>
      <p:sp>
        <p:nvSpPr>
          <p:cNvPr id="36" name="o91"/>
          <p:cNvSpPr txBox="1"/>
          <p:nvPr/>
        </p:nvSpPr>
        <p:spPr>
          <a:xfrm>
            <a:off x="8318500" y="4476750"/>
            <a:ext cx="161925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ESG · 프로세스 개선</a:t>
            </a:r>
            <a:endParaRPr lang="en-US" sz="900" dirty="0"/>
          </a:p>
        </p:txBody>
      </p:sp>
      <p:sp>
        <p:nvSpPr>
          <p:cNvPr id="37" name="o92"/>
          <p:cNvSpPr/>
          <p:nvPr/>
        </p:nvSpPr>
        <p:spPr>
          <a:xfrm>
            <a:off x="609600" y="5143500"/>
            <a:ext cx="10972800" cy="1066800"/>
          </a:xfrm>
          <a:prstGeom prst="rect">
            <a:avLst/>
          </a:prstGeom>
          <a:solidFill>
            <a:srgbClr val="23373B"/>
          </a:solidFill>
          <a:ln/>
        </p:spPr>
      </p:sp>
      <p:sp>
        <p:nvSpPr>
          <p:cNvPr id="38" name="o93"/>
          <p:cNvSpPr txBox="1"/>
          <p:nvPr/>
        </p:nvSpPr>
        <p:spPr>
          <a:xfrm>
            <a:off x="990600" y="5143500"/>
            <a:ext cx="10210800" cy="1066800"/>
          </a:xfrm>
          <a:prstGeom prst="rect">
            <a:avLst/>
          </a:prstGeom>
          <a:noFill/>
          <a:ln/>
        </p:spPr>
        <p:txBody>
          <a:bodyPr wrap="square" lIns="0" tIns="0" rIns="0" bIns="0" rtlCol="0" anchor="ctr"/>
          <a:lstStyle/>
          <a:p>
            <a:pPr indent="0" marL="0">
              <a:buNone/>
            </a:pPr>
            <a:r>
              <a:rPr lang="en-US" sz="2200" b="1" dirty="0">
                <a:solidFill>
                  <a:srgbClr val="FFFFFF"/>
                </a:solidFill>
                <a:latin typeface="Pretendard" pitchFamily="34" charset="0"/>
                <a:ea typeface="Pretendard" pitchFamily="34" charset="-122"/>
                <a:cs typeface="Pretendard" pitchFamily="34" charset="-120"/>
              </a:rPr>
              <a:t>모바일 기반 통합 디지털 안전보건 체계가 필요했습니다</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94"/>
          <p:cNvSpPr/>
          <p:nvPr/>
        </p:nvSpPr>
        <p:spPr>
          <a:xfrm>
            <a:off x="0" y="0"/>
            <a:ext cx="12192000" cy="1104900"/>
          </a:xfrm>
          <a:prstGeom prst="rect">
            <a:avLst/>
          </a:prstGeom>
          <a:solidFill>
            <a:srgbClr val="23373B"/>
          </a:solidFill>
          <a:ln/>
        </p:spPr>
      </p:sp>
      <p:sp>
        <p:nvSpPr>
          <p:cNvPr id="3" name="o95"/>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PLAN  ·  팀 구성</a:t>
            </a:r>
            <a:endParaRPr lang="en-US" sz="1100" dirty="0"/>
          </a:p>
        </p:txBody>
      </p:sp>
      <p:sp>
        <p:nvSpPr>
          <p:cNvPr id="4" name="o96"/>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3명이 외부 개발 없이 기획부터 표준화까지 직접 수행했습니다</a:t>
            </a:r>
            <a:endParaRPr lang="en-US" sz="2600" dirty="0"/>
          </a:p>
        </p:txBody>
      </p:sp>
      <p:sp>
        <p:nvSpPr>
          <p:cNvPr id="5" name="o97"/>
          <p:cNvSpPr/>
          <p:nvPr/>
        </p:nvSpPr>
        <p:spPr>
          <a:xfrm>
            <a:off x="0" y="1104900"/>
            <a:ext cx="12192000" cy="28575"/>
          </a:xfrm>
          <a:prstGeom prst="rect">
            <a:avLst/>
          </a:prstGeom>
          <a:solidFill>
            <a:srgbClr val="D2D7D8"/>
          </a:solidFill>
          <a:ln/>
        </p:spPr>
      </p:sp>
      <p:sp>
        <p:nvSpPr>
          <p:cNvPr id="6" name="o98"/>
          <p:cNvSpPr/>
          <p:nvPr/>
        </p:nvSpPr>
        <p:spPr>
          <a:xfrm>
            <a:off x="0" y="1104900"/>
            <a:ext cx="3048000" cy="28575"/>
          </a:xfrm>
          <a:prstGeom prst="rect">
            <a:avLst/>
          </a:prstGeom>
          <a:solidFill>
            <a:srgbClr val="EB811B"/>
          </a:solidFill>
          <a:ln/>
        </p:spPr>
      </p:sp>
      <p:sp>
        <p:nvSpPr>
          <p:cNvPr id="7" name="o99"/>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팀 구성 · 2026년 1–10월 활동 일정</a:t>
            </a:r>
            <a:endParaRPr lang="en-US" sz="1300" dirty="0"/>
          </a:p>
        </p:txBody>
      </p:sp>
      <p:sp>
        <p:nvSpPr>
          <p:cNvPr id="8" name="o100"/>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101"/>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04</a:t>
            </a:r>
            <a:endParaRPr lang="en-US" sz="1000" dirty="0"/>
          </a:p>
        </p:txBody>
      </p:sp>
      <p:sp>
        <p:nvSpPr>
          <p:cNvPr id="10" name="o102"/>
          <p:cNvSpPr/>
          <p:nvPr/>
        </p:nvSpPr>
        <p:spPr>
          <a:xfrm>
            <a:off x="609600" y="1600200"/>
            <a:ext cx="3530600" cy="990600"/>
          </a:xfrm>
          <a:prstGeom prst="rect">
            <a:avLst/>
          </a:prstGeom>
          <a:solidFill>
            <a:srgbClr val="FFFFFF"/>
          </a:solidFill>
          <a:ln w="12700">
            <a:solidFill>
              <a:srgbClr val="D8D8D8"/>
            </a:solidFill>
            <a:prstDash val="solid"/>
          </a:ln>
        </p:spPr>
      </p:sp>
      <p:sp>
        <p:nvSpPr>
          <p:cNvPr id="11" name="o103"/>
          <p:cNvSpPr/>
          <p:nvPr/>
        </p:nvSpPr>
        <p:spPr>
          <a:xfrm>
            <a:off x="838200" y="1828800"/>
            <a:ext cx="533400" cy="533400"/>
          </a:xfrm>
          <a:prstGeom prst="ellipse">
            <a:avLst/>
          </a:prstGeom>
          <a:solidFill>
            <a:srgbClr val="EB811B"/>
          </a:solidFill>
          <a:ln/>
        </p:spPr>
      </p:sp>
      <p:sp>
        <p:nvSpPr>
          <p:cNvPr id="12" name="o104"/>
          <p:cNvSpPr txBox="1"/>
          <p:nvPr/>
        </p:nvSpPr>
        <p:spPr>
          <a:xfrm>
            <a:off x="8382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김</a:t>
            </a:r>
            <a:endParaRPr lang="en-US" sz="1800" dirty="0"/>
          </a:p>
        </p:txBody>
      </p:sp>
      <p:sp>
        <p:nvSpPr>
          <p:cNvPr id="13" name="o105"/>
          <p:cNvSpPr txBox="1"/>
          <p:nvPr/>
        </p:nvSpPr>
        <p:spPr>
          <a:xfrm>
            <a:off x="1562100" y="1809750"/>
            <a:ext cx="2387600" cy="24765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김광현</a:t>
            </a:r>
            <a:endParaRPr lang="en-US" sz="1800" dirty="0"/>
          </a:p>
        </p:txBody>
      </p:sp>
      <p:sp>
        <p:nvSpPr>
          <p:cNvPr id="14" name="o106"/>
          <p:cNvSpPr txBox="1"/>
          <p:nvPr/>
        </p:nvSpPr>
        <p:spPr>
          <a:xfrm>
            <a:off x="1562100" y="2076450"/>
            <a:ext cx="2387600" cy="171450"/>
          </a:xfrm>
          <a:prstGeom prst="rect">
            <a:avLst/>
          </a:prstGeom>
          <a:noFill/>
          <a:ln/>
        </p:spPr>
        <p:txBody>
          <a:bodyPr wrap="square" lIns="0" tIns="0" rIns="0" bIns="0" rtlCol="0" anchor="t"/>
          <a:lstStyle/>
          <a:p>
            <a:pPr indent="0" marL="0">
              <a:buNone/>
            </a:pPr>
            <a:r>
              <a:rPr lang="en-US" sz="1100" b="1" dirty="0">
                <a:solidFill>
                  <a:srgbClr val="23373B"/>
                </a:solidFill>
                <a:latin typeface="Pretendard" pitchFamily="34" charset="0"/>
                <a:ea typeface="Pretendard" pitchFamily="34" charset="-122"/>
                <a:cs typeface="Pretendard" pitchFamily="34" charset="-120"/>
              </a:rPr>
              <a:t>팀장</a:t>
            </a:r>
            <a:endParaRPr lang="en-US" sz="1100" dirty="0"/>
          </a:p>
        </p:txBody>
      </p:sp>
      <p:sp>
        <p:nvSpPr>
          <p:cNvPr id="15" name="o107"/>
          <p:cNvSpPr txBox="1"/>
          <p:nvPr/>
        </p:nvSpPr>
        <p:spPr>
          <a:xfrm>
            <a:off x="1562100" y="2266950"/>
            <a:ext cx="23876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활동 총괄</a:t>
            </a:r>
            <a:endParaRPr lang="en-US" sz="1100" dirty="0"/>
          </a:p>
        </p:txBody>
      </p:sp>
      <p:sp>
        <p:nvSpPr>
          <p:cNvPr id="16" name="o108"/>
          <p:cNvSpPr/>
          <p:nvPr/>
        </p:nvSpPr>
        <p:spPr>
          <a:xfrm>
            <a:off x="4330700" y="1600200"/>
            <a:ext cx="3530600" cy="990600"/>
          </a:xfrm>
          <a:prstGeom prst="rect">
            <a:avLst/>
          </a:prstGeom>
          <a:solidFill>
            <a:srgbClr val="FFFFFF"/>
          </a:solidFill>
          <a:ln w="12700">
            <a:solidFill>
              <a:srgbClr val="D8D8D8"/>
            </a:solidFill>
            <a:prstDash val="solid"/>
          </a:ln>
        </p:spPr>
      </p:sp>
      <p:sp>
        <p:nvSpPr>
          <p:cNvPr id="17" name="o109"/>
          <p:cNvSpPr/>
          <p:nvPr/>
        </p:nvSpPr>
        <p:spPr>
          <a:xfrm>
            <a:off x="4559300" y="1828800"/>
            <a:ext cx="533400" cy="533400"/>
          </a:xfrm>
          <a:prstGeom prst="ellipse">
            <a:avLst/>
          </a:prstGeom>
          <a:solidFill>
            <a:srgbClr val="EB811B"/>
          </a:solidFill>
          <a:ln/>
        </p:spPr>
      </p:sp>
      <p:sp>
        <p:nvSpPr>
          <p:cNvPr id="18" name="o110"/>
          <p:cNvSpPr txBox="1"/>
          <p:nvPr/>
        </p:nvSpPr>
        <p:spPr>
          <a:xfrm>
            <a:off x="45593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장</a:t>
            </a:r>
            <a:endParaRPr lang="en-US" sz="1800" dirty="0"/>
          </a:p>
        </p:txBody>
      </p:sp>
      <p:sp>
        <p:nvSpPr>
          <p:cNvPr id="19" name="o111"/>
          <p:cNvSpPr txBox="1"/>
          <p:nvPr/>
        </p:nvSpPr>
        <p:spPr>
          <a:xfrm>
            <a:off x="5283200" y="1809750"/>
            <a:ext cx="2387600" cy="24765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장은선</a:t>
            </a:r>
            <a:endParaRPr lang="en-US" sz="1800" dirty="0"/>
          </a:p>
        </p:txBody>
      </p:sp>
      <p:sp>
        <p:nvSpPr>
          <p:cNvPr id="20" name="o112"/>
          <p:cNvSpPr txBox="1"/>
          <p:nvPr/>
        </p:nvSpPr>
        <p:spPr>
          <a:xfrm>
            <a:off x="5283200" y="2076450"/>
            <a:ext cx="2387600" cy="171450"/>
          </a:xfrm>
          <a:prstGeom prst="rect">
            <a:avLst/>
          </a:prstGeom>
          <a:noFill/>
          <a:ln/>
        </p:spPr>
        <p:txBody>
          <a:bodyPr wrap="square" lIns="0" tIns="0" rIns="0" bIns="0" rtlCol="0" anchor="t"/>
          <a:lstStyle/>
          <a:p>
            <a:pPr indent="0" marL="0">
              <a:buNone/>
            </a:pPr>
            <a:r>
              <a:rPr lang="en-US" sz="1100" b="1" dirty="0">
                <a:solidFill>
                  <a:srgbClr val="23373B"/>
                </a:solidFill>
                <a:latin typeface="Pretendard" pitchFamily="34" charset="0"/>
                <a:ea typeface="Pretendard" pitchFamily="34" charset="-122"/>
                <a:cs typeface="Pretendard" pitchFamily="34" charset="-120"/>
              </a:rPr>
              <a:t>팀원 · 보건관리자</a:t>
            </a:r>
            <a:endParaRPr lang="en-US" sz="1100" dirty="0"/>
          </a:p>
        </p:txBody>
      </p:sp>
      <p:sp>
        <p:nvSpPr>
          <p:cNvPr id="21" name="o113"/>
          <p:cNvSpPr txBox="1"/>
          <p:nvPr/>
        </p:nvSpPr>
        <p:spPr>
          <a:xfrm>
            <a:off x="5283200" y="2266950"/>
            <a:ext cx="23876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플랫폼 기획 · 직접 개발</a:t>
            </a:r>
            <a:endParaRPr lang="en-US" sz="1100" dirty="0"/>
          </a:p>
        </p:txBody>
      </p:sp>
      <p:sp>
        <p:nvSpPr>
          <p:cNvPr id="22" name="o114"/>
          <p:cNvSpPr/>
          <p:nvPr/>
        </p:nvSpPr>
        <p:spPr>
          <a:xfrm>
            <a:off x="8051800" y="1600200"/>
            <a:ext cx="3530600" cy="990600"/>
          </a:xfrm>
          <a:prstGeom prst="rect">
            <a:avLst/>
          </a:prstGeom>
          <a:solidFill>
            <a:srgbClr val="FFFFFF"/>
          </a:solidFill>
          <a:ln w="12700">
            <a:solidFill>
              <a:srgbClr val="D8D8D8"/>
            </a:solidFill>
            <a:prstDash val="solid"/>
          </a:ln>
        </p:spPr>
      </p:sp>
      <p:sp>
        <p:nvSpPr>
          <p:cNvPr id="23" name="o115"/>
          <p:cNvSpPr/>
          <p:nvPr/>
        </p:nvSpPr>
        <p:spPr>
          <a:xfrm>
            <a:off x="8280400" y="1828800"/>
            <a:ext cx="533400" cy="533400"/>
          </a:xfrm>
          <a:prstGeom prst="ellipse">
            <a:avLst/>
          </a:prstGeom>
          <a:solidFill>
            <a:srgbClr val="EB811B"/>
          </a:solidFill>
          <a:ln/>
        </p:spPr>
      </p:sp>
      <p:sp>
        <p:nvSpPr>
          <p:cNvPr id="24" name="o116"/>
          <p:cNvSpPr txBox="1"/>
          <p:nvPr/>
        </p:nvSpPr>
        <p:spPr>
          <a:xfrm>
            <a:off x="82804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장</a:t>
            </a:r>
            <a:endParaRPr lang="en-US" sz="1800" dirty="0"/>
          </a:p>
        </p:txBody>
      </p:sp>
      <p:sp>
        <p:nvSpPr>
          <p:cNvPr id="25" name="o117"/>
          <p:cNvSpPr txBox="1"/>
          <p:nvPr/>
        </p:nvSpPr>
        <p:spPr>
          <a:xfrm>
            <a:off x="9004300" y="1809750"/>
            <a:ext cx="2387600" cy="24765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장종문</a:t>
            </a:r>
            <a:endParaRPr lang="en-US" sz="1800" dirty="0"/>
          </a:p>
        </p:txBody>
      </p:sp>
      <p:sp>
        <p:nvSpPr>
          <p:cNvPr id="26" name="o118"/>
          <p:cNvSpPr txBox="1"/>
          <p:nvPr/>
        </p:nvSpPr>
        <p:spPr>
          <a:xfrm>
            <a:off x="9004300" y="2076450"/>
            <a:ext cx="2387600" cy="171450"/>
          </a:xfrm>
          <a:prstGeom prst="rect">
            <a:avLst/>
          </a:prstGeom>
          <a:noFill/>
          <a:ln/>
        </p:spPr>
        <p:txBody>
          <a:bodyPr wrap="square" lIns="0" tIns="0" rIns="0" bIns="0" rtlCol="0" anchor="t"/>
          <a:lstStyle/>
          <a:p>
            <a:pPr indent="0" marL="0">
              <a:buNone/>
            </a:pPr>
            <a:r>
              <a:rPr lang="en-US" sz="1100" b="1" dirty="0">
                <a:solidFill>
                  <a:srgbClr val="23373B"/>
                </a:solidFill>
                <a:latin typeface="Pretendard" pitchFamily="34" charset="0"/>
                <a:ea typeface="Pretendard" pitchFamily="34" charset="-122"/>
                <a:cs typeface="Pretendard" pitchFamily="34" charset="-120"/>
              </a:rPr>
              <a:t>팀원 · 안전관리자</a:t>
            </a:r>
            <a:endParaRPr lang="en-US" sz="1100" dirty="0"/>
          </a:p>
        </p:txBody>
      </p:sp>
      <p:sp>
        <p:nvSpPr>
          <p:cNvPr id="27" name="o119"/>
          <p:cNvSpPr txBox="1"/>
          <p:nvPr/>
        </p:nvSpPr>
        <p:spPr>
          <a:xfrm>
            <a:off x="9004300" y="2266950"/>
            <a:ext cx="23876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MSDS · AI 위험성평가</a:t>
            </a:r>
            <a:endParaRPr lang="en-US" sz="1100" dirty="0"/>
          </a:p>
        </p:txBody>
      </p:sp>
      <p:sp>
        <p:nvSpPr>
          <p:cNvPr id="28" name="o120"/>
          <p:cNvSpPr/>
          <p:nvPr/>
        </p:nvSpPr>
        <p:spPr>
          <a:xfrm>
            <a:off x="609600" y="2781300"/>
            <a:ext cx="10972800" cy="3467100"/>
          </a:xfrm>
          <a:prstGeom prst="rect">
            <a:avLst/>
          </a:prstGeom>
          <a:solidFill>
            <a:srgbClr val="F0F0F0"/>
          </a:solidFill>
          <a:ln/>
        </p:spPr>
      </p:sp>
      <p:sp>
        <p:nvSpPr>
          <p:cNvPr id="29" name="o121"/>
          <p:cNvSpPr txBox="1"/>
          <p:nvPr/>
        </p:nvSpPr>
        <p:spPr>
          <a:xfrm>
            <a:off x="381000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1월</a:t>
            </a:r>
            <a:endParaRPr lang="en-US" sz="1000" dirty="0"/>
          </a:p>
        </p:txBody>
      </p:sp>
      <p:sp>
        <p:nvSpPr>
          <p:cNvPr id="30" name="o122"/>
          <p:cNvSpPr/>
          <p:nvPr/>
        </p:nvSpPr>
        <p:spPr>
          <a:xfrm>
            <a:off x="3810000" y="3200400"/>
            <a:ext cx="0" cy="2857500"/>
          </a:xfrm>
          <a:prstGeom prst="line">
            <a:avLst/>
          </a:prstGeom>
          <a:noFill/>
          <a:ln w="6350">
            <a:solidFill>
              <a:srgbClr val="D8D8D8"/>
            </a:solidFill>
            <a:prstDash val="solid"/>
          </a:ln>
        </p:spPr>
      </p:sp>
      <p:sp>
        <p:nvSpPr>
          <p:cNvPr id="31" name="o123"/>
          <p:cNvSpPr txBox="1"/>
          <p:nvPr/>
        </p:nvSpPr>
        <p:spPr>
          <a:xfrm>
            <a:off x="455676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2월</a:t>
            </a:r>
            <a:endParaRPr lang="en-US" sz="1000" dirty="0"/>
          </a:p>
        </p:txBody>
      </p:sp>
      <p:sp>
        <p:nvSpPr>
          <p:cNvPr id="32" name="o124"/>
          <p:cNvSpPr/>
          <p:nvPr/>
        </p:nvSpPr>
        <p:spPr>
          <a:xfrm>
            <a:off x="4556760" y="3200400"/>
            <a:ext cx="0" cy="2857500"/>
          </a:xfrm>
          <a:prstGeom prst="line">
            <a:avLst/>
          </a:prstGeom>
          <a:noFill/>
          <a:ln w="6350">
            <a:solidFill>
              <a:srgbClr val="D8D8D8"/>
            </a:solidFill>
            <a:prstDash val="solid"/>
          </a:ln>
        </p:spPr>
      </p:sp>
      <p:sp>
        <p:nvSpPr>
          <p:cNvPr id="33" name="o125"/>
          <p:cNvSpPr txBox="1"/>
          <p:nvPr/>
        </p:nvSpPr>
        <p:spPr>
          <a:xfrm>
            <a:off x="530352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3월</a:t>
            </a:r>
            <a:endParaRPr lang="en-US" sz="1000" dirty="0"/>
          </a:p>
        </p:txBody>
      </p:sp>
      <p:sp>
        <p:nvSpPr>
          <p:cNvPr id="34" name="o126"/>
          <p:cNvSpPr/>
          <p:nvPr/>
        </p:nvSpPr>
        <p:spPr>
          <a:xfrm>
            <a:off x="5303520" y="3200400"/>
            <a:ext cx="0" cy="2857500"/>
          </a:xfrm>
          <a:prstGeom prst="line">
            <a:avLst/>
          </a:prstGeom>
          <a:noFill/>
          <a:ln w="6350">
            <a:solidFill>
              <a:srgbClr val="D8D8D8"/>
            </a:solidFill>
            <a:prstDash val="solid"/>
          </a:ln>
        </p:spPr>
      </p:sp>
      <p:sp>
        <p:nvSpPr>
          <p:cNvPr id="35" name="o127"/>
          <p:cNvSpPr txBox="1"/>
          <p:nvPr/>
        </p:nvSpPr>
        <p:spPr>
          <a:xfrm>
            <a:off x="605028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4월</a:t>
            </a:r>
            <a:endParaRPr lang="en-US" sz="1000" dirty="0"/>
          </a:p>
        </p:txBody>
      </p:sp>
      <p:sp>
        <p:nvSpPr>
          <p:cNvPr id="36" name="o128"/>
          <p:cNvSpPr/>
          <p:nvPr/>
        </p:nvSpPr>
        <p:spPr>
          <a:xfrm>
            <a:off x="6050280" y="3200400"/>
            <a:ext cx="0" cy="2857500"/>
          </a:xfrm>
          <a:prstGeom prst="line">
            <a:avLst/>
          </a:prstGeom>
          <a:noFill/>
          <a:ln w="6350">
            <a:solidFill>
              <a:srgbClr val="D8D8D8"/>
            </a:solidFill>
            <a:prstDash val="solid"/>
          </a:ln>
        </p:spPr>
      </p:sp>
      <p:sp>
        <p:nvSpPr>
          <p:cNvPr id="37" name="o129"/>
          <p:cNvSpPr txBox="1"/>
          <p:nvPr/>
        </p:nvSpPr>
        <p:spPr>
          <a:xfrm>
            <a:off x="679704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5월</a:t>
            </a:r>
            <a:endParaRPr lang="en-US" sz="1000" dirty="0"/>
          </a:p>
        </p:txBody>
      </p:sp>
      <p:sp>
        <p:nvSpPr>
          <p:cNvPr id="38" name="o130"/>
          <p:cNvSpPr/>
          <p:nvPr/>
        </p:nvSpPr>
        <p:spPr>
          <a:xfrm>
            <a:off x="6797040" y="3200400"/>
            <a:ext cx="0" cy="2857500"/>
          </a:xfrm>
          <a:prstGeom prst="line">
            <a:avLst/>
          </a:prstGeom>
          <a:noFill/>
          <a:ln w="6350">
            <a:solidFill>
              <a:srgbClr val="D8D8D8"/>
            </a:solidFill>
            <a:prstDash val="solid"/>
          </a:ln>
        </p:spPr>
      </p:sp>
      <p:sp>
        <p:nvSpPr>
          <p:cNvPr id="39" name="o131"/>
          <p:cNvSpPr txBox="1"/>
          <p:nvPr/>
        </p:nvSpPr>
        <p:spPr>
          <a:xfrm>
            <a:off x="754380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6월</a:t>
            </a:r>
            <a:endParaRPr lang="en-US" sz="1000" dirty="0"/>
          </a:p>
        </p:txBody>
      </p:sp>
      <p:sp>
        <p:nvSpPr>
          <p:cNvPr id="40" name="o132"/>
          <p:cNvSpPr/>
          <p:nvPr/>
        </p:nvSpPr>
        <p:spPr>
          <a:xfrm>
            <a:off x="7543800" y="3200400"/>
            <a:ext cx="0" cy="2857500"/>
          </a:xfrm>
          <a:prstGeom prst="line">
            <a:avLst/>
          </a:prstGeom>
          <a:noFill/>
          <a:ln w="6350">
            <a:solidFill>
              <a:srgbClr val="D8D8D8"/>
            </a:solidFill>
            <a:prstDash val="solid"/>
          </a:ln>
        </p:spPr>
      </p:sp>
      <p:sp>
        <p:nvSpPr>
          <p:cNvPr id="41" name="o133"/>
          <p:cNvSpPr txBox="1"/>
          <p:nvPr/>
        </p:nvSpPr>
        <p:spPr>
          <a:xfrm>
            <a:off x="829056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7월</a:t>
            </a:r>
            <a:endParaRPr lang="en-US" sz="1000" dirty="0"/>
          </a:p>
        </p:txBody>
      </p:sp>
      <p:sp>
        <p:nvSpPr>
          <p:cNvPr id="42" name="o134"/>
          <p:cNvSpPr/>
          <p:nvPr/>
        </p:nvSpPr>
        <p:spPr>
          <a:xfrm>
            <a:off x="8290560" y="3200400"/>
            <a:ext cx="0" cy="2857500"/>
          </a:xfrm>
          <a:prstGeom prst="line">
            <a:avLst/>
          </a:prstGeom>
          <a:noFill/>
          <a:ln w="6350">
            <a:solidFill>
              <a:srgbClr val="D8D8D8"/>
            </a:solidFill>
            <a:prstDash val="solid"/>
          </a:ln>
        </p:spPr>
      </p:sp>
      <p:sp>
        <p:nvSpPr>
          <p:cNvPr id="43" name="o135"/>
          <p:cNvSpPr txBox="1"/>
          <p:nvPr/>
        </p:nvSpPr>
        <p:spPr>
          <a:xfrm>
            <a:off x="903732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8월</a:t>
            </a:r>
            <a:endParaRPr lang="en-US" sz="1000" dirty="0"/>
          </a:p>
        </p:txBody>
      </p:sp>
      <p:sp>
        <p:nvSpPr>
          <p:cNvPr id="44" name="o136"/>
          <p:cNvSpPr/>
          <p:nvPr/>
        </p:nvSpPr>
        <p:spPr>
          <a:xfrm>
            <a:off x="9037320" y="3200400"/>
            <a:ext cx="0" cy="2857500"/>
          </a:xfrm>
          <a:prstGeom prst="line">
            <a:avLst/>
          </a:prstGeom>
          <a:noFill/>
          <a:ln w="6350">
            <a:solidFill>
              <a:srgbClr val="D8D8D8"/>
            </a:solidFill>
            <a:prstDash val="solid"/>
          </a:ln>
        </p:spPr>
      </p:sp>
      <p:sp>
        <p:nvSpPr>
          <p:cNvPr id="45" name="o137"/>
          <p:cNvSpPr txBox="1"/>
          <p:nvPr/>
        </p:nvSpPr>
        <p:spPr>
          <a:xfrm>
            <a:off x="978408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9월</a:t>
            </a:r>
            <a:endParaRPr lang="en-US" sz="1000" dirty="0"/>
          </a:p>
        </p:txBody>
      </p:sp>
      <p:sp>
        <p:nvSpPr>
          <p:cNvPr id="46" name="o138"/>
          <p:cNvSpPr/>
          <p:nvPr/>
        </p:nvSpPr>
        <p:spPr>
          <a:xfrm>
            <a:off x="9784080" y="3200400"/>
            <a:ext cx="0" cy="2857500"/>
          </a:xfrm>
          <a:prstGeom prst="line">
            <a:avLst/>
          </a:prstGeom>
          <a:noFill/>
          <a:ln w="6350">
            <a:solidFill>
              <a:srgbClr val="D8D8D8"/>
            </a:solidFill>
            <a:prstDash val="solid"/>
          </a:ln>
        </p:spPr>
      </p:sp>
      <p:sp>
        <p:nvSpPr>
          <p:cNvPr id="47" name="o139"/>
          <p:cNvSpPr txBox="1"/>
          <p:nvPr/>
        </p:nvSpPr>
        <p:spPr>
          <a:xfrm>
            <a:off x="10530840" y="2971800"/>
            <a:ext cx="746760" cy="152400"/>
          </a:xfrm>
          <a:prstGeom prst="rect">
            <a:avLst/>
          </a:prstGeom>
          <a:noFill/>
          <a:ln/>
        </p:spPr>
        <p:txBody>
          <a:bodyPr wrap="square" lIns="0" tIns="0" rIns="0" bIns="0" rtlCol="0" anchor="t"/>
          <a:lstStyle/>
          <a:p>
            <a:pPr algn="ctr" indent="0" marL="0">
              <a:buNone/>
            </a:pPr>
            <a:r>
              <a:rPr lang="en-US" sz="1000" b="1" dirty="0">
                <a:solidFill>
                  <a:srgbClr val="6B7B7E"/>
                </a:solidFill>
                <a:latin typeface="Pretendard" pitchFamily="34" charset="0"/>
                <a:ea typeface="Pretendard" pitchFamily="34" charset="-122"/>
                <a:cs typeface="Pretendard" pitchFamily="34" charset="-120"/>
              </a:rPr>
              <a:t>10월</a:t>
            </a:r>
            <a:endParaRPr lang="en-US" sz="1000" dirty="0"/>
          </a:p>
        </p:txBody>
      </p:sp>
      <p:sp>
        <p:nvSpPr>
          <p:cNvPr id="48" name="o140"/>
          <p:cNvSpPr/>
          <p:nvPr/>
        </p:nvSpPr>
        <p:spPr>
          <a:xfrm>
            <a:off x="10530840" y="3200400"/>
            <a:ext cx="0" cy="2857500"/>
          </a:xfrm>
          <a:prstGeom prst="line">
            <a:avLst/>
          </a:prstGeom>
          <a:noFill/>
          <a:ln w="6350">
            <a:solidFill>
              <a:srgbClr val="D8D8D8"/>
            </a:solidFill>
            <a:prstDash val="solid"/>
          </a:ln>
        </p:spPr>
      </p:sp>
      <p:sp>
        <p:nvSpPr>
          <p:cNvPr id="49" name="o141"/>
          <p:cNvSpPr/>
          <p:nvPr/>
        </p:nvSpPr>
        <p:spPr>
          <a:xfrm>
            <a:off x="11277600" y="3200400"/>
            <a:ext cx="0" cy="2857500"/>
          </a:xfrm>
          <a:prstGeom prst="line">
            <a:avLst/>
          </a:prstGeom>
          <a:noFill/>
          <a:ln w="6350">
            <a:solidFill>
              <a:srgbClr val="D8D8D8"/>
            </a:solidFill>
            <a:prstDash val="solid"/>
          </a:ln>
        </p:spPr>
      </p:sp>
      <p:sp>
        <p:nvSpPr>
          <p:cNvPr id="50" name="o142"/>
          <p:cNvSpPr txBox="1"/>
          <p:nvPr/>
        </p:nvSpPr>
        <p:spPr>
          <a:xfrm>
            <a:off x="914400" y="3352800"/>
            <a:ext cx="571500" cy="247650"/>
          </a:xfrm>
          <a:prstGeom prst="rect">
            <a:avLst/>
          </a:prstGeom>
          <a:noFill/>
          <a:ln/>
        </p:spPr>
        <p:txBody>
          <a:bodyPr wrap="square" lIns="0" tIns="0" rIns="0" bIns="0" rtlCol="0" anchor="ctr"/>
          <a:lstStyle/>
          <a:p>
            <a:pPr indent="0" marL="0">
              <a:buNone/>
            </a:pPr>
            <a:r>
              <a:rPr lang="en-US" sz="1000" b="1" dirty="0">
                <a:solidFill>
                  <a:srgbClr val="23373B"/>
                </a:solidFill>
                <a:latin typeface="Pretendard" pitchFamily="34" charset="0"/>
                <a:ea typeface="Pretendard" pitchFamily="34" charset="-122"/>
                <a:cs typeface="Pretendard" pitchFamily="34" charset="-120"/>
              </a:rPr>
              <a:t>Plan</a:t>
            </a:r>
            <a:endParaRPr lang="en-US" sz="1000" dirty="0"/>
          </a:p>
        </p:txBody>
      </p:sp>
      <p:sp>
        <p:nvSpPr>
          <p:cNvPr id="51" name="o143"/>
          <p:cNvSpPr txBox="1"/>
          <p:nvPr/>
        </p:nvSpPr>
        <p:spPr>
          <a:xfrm>
            <a:off x="1485900" y="3352800"/>
            <a:ext cx="2324100" cy="247650"/>
          </a:xfrm>
          <a:prstGeom prst="rect">
            <a:avLst/>
          </a:prstGeom>
          <a:noFill/>
          <a:ln/>
        </p:spPr>
        <p:txBody>
          <a:bodyPr wrap="square" lIns="0" tIns="0" rIns="0" bIns="0" rtlCol="0" anchor="ctr"/>
          <a:lstStyle/>
          <a:p>
            <a:pPr indent="0" marL="0">
              <a:buNone/>
            </a:pPr>
            <a:r>
              <a:rPr lang="en-US" sz="1200" dirty="0">
                <a:solidFill>
                  <a:srgbClr val="23373B"/>
                </a:solidFill>
                <a:latin typeface="Pretendard" pitchFamily="34" charset="0"/>
                <a:ea typeface="Pretendard" pitchFamily="34" charset="-122"/>
                <a:cs typeface="Pretendard" pitchFamily="34" charset="-120"/>
              </a:rPr>
              <a:t>현황 · 원인 분석 · 목표</a:t>
            </a:r>
            <a:endParaRPr lang="en-US" sz="1200" dirty="0"/>
          </a:p>
        </p:txBody>
      </p:sp>
      <p:sp>
        <p:nvSpPr>
          <p:cNvPr id="52" name="o144"/>
          <p:cNvSpPr/>
          <p:nvPr/>
        </p:nvSpPr>
        <p:spPr>
          <a:xfrm>
            <a:off x="3857625" y="3390900"/>
            <a:ext cx="2145030" cy="171450"/>
          </a:xfrm>
          <a:prstGeom prst="rect">
            <a:avLst/>
          </a:prstGeom>
          <a:solidFill>
            <a:srgbClr val="EB811B"/>
          </a:solidFill>
          <a:ln/>
        </p:spPr>
      </p:sp>
      <p:sp>
        <p:nvSpPr>
          <p:cNvPr id="53" name="o145"/>
          <p:cNvSpPr txBox="1"/>
          <p:nvPr/>
        </p:nvSpPr>
        <p:spPr>
          <a:xfrm>
            <a:off x="914400" y="3790950"/>
            <a:ext cx="571500" cy="247650"/>
          </a:xfrm>
          <a:prstGeom prst="rect">
            <a:avLst/>
          </a:prstGeom>
          <a:noFill/>
          <a:ln/>
        </p:spPr>
        <p:txBody>
          <a:bodyPr wrap="square" lIns="0" tIns="0" rIns="0" bIns="0" rtlCol="0" anchor="ctr"/>
          <a:lstStyle/>
          <a:p>
            <a:pPr indent="0" marL="0">
              <a:buNone/>
            </a:pPr>
            <a:r>
              <a:rPr lang="en-US" sz="1000" b="1" dirty="0">
                <a:solidFill>
                  <a:srgbClr val="23373B"/>
                </a:solidFill>
                <a:latin typeface="Pretendard" pitchFamily="34" charset="0"/>
                <a:ea typeface="Pretendard" pitchFamily="34" charset="-122"/>
                <a:cs typeface="Pretendard" pitchFamily="34" charset="-120"/>
              </a:rPr>
              <a:t>Do</a:t>
            </a:r>
            <a:endParaRPr lang="en-US" sz="1000" dirty="0"/>
          </a:p>
        </p:txBody>
      </p:sp>
      <p:sp>
        <p:nvSpPr>
          <p:cNvPr id="54" name="o146"/>
          <p:cNvSpPr txBox="1"/>
          <p:nvPr/>
        </p:nvSpPr>
        <p:spPr>
          <a:xfrm>
            <a:off x="1485900" y="3790950"/>
            <a:ext cx="2324100" cy="247650"/>
          </a:xfrm>
          <a:prstGeom prst="rect">
            <a:avLst/>
          </a:prstGeom>
          <a:noFill/>
          <a:ln/>
        </p:spPr>
        <p:txBody>
          <a:bodyPr wrap="square" lIns="0" tIns="0" rIns="0" bIns="0" rtlCol="0" anchor="ctr"/>
          <a:lstStyle/>
          <a:p>
            <a:pPr indent="0" marL="0">
              <a:buNone/>
            </a:pPr>
            <a:r>
              <a:rPr lang="en-US" sz="1200" dirty="0">
                <a:solidFill>
                  <a:srgbClr val="23373B"/>
                </a:solidFill>
                <a:latin typeface="Pretendard" pitchFamily="34" charset="0"/>
                <a:ea typeface="Pretendard" pitchFamily="34" charset="-122"/>
                <a:cs typeface="Pretendard" pitchFamily="34" charset="-120"/>
              </a:rPr>
              <a:t>개발 · 4월 프로토타입</a:t>
            </a:r>
            <a:endParaRPr lang="en-US" sz="1200" dirty="0"/>
          </a:p>
        </p:txBody>
      </p:sp>
      <p:sp>
        <p:nvSpPr>
          <p:cNvPr id="55" name="o147"/>
          <p:cNvSpPr/>
          <p:nvPr/>
        </p:nvSpPr>
        <p:spPr>
          <a:xfrm>
            <a:off x="5351145" y="3829050"/>
            <a:ext cx="1398270" cy="171450"/>
          </a:xfrm>
          <a:prstGeom prst="rect">
            <a:avLst/>
          </a:prstGeom>
          <a:solidFill>
            <a:srgbClr val="8FA3A6"/>
          </a:solidFill>
          <a:ln/>
        </p:spPr>
      </p:sp>
      <p:sp>
        <p:nvSpPr>
          <p:cNvPr id="56" name="o148"/>
          <p:cNvSpPr txBox="1"/>
          <p:nvPr/>
        </p:nvSpPr>
        <p:spPr>
          <a:xfrm>
            <a:off x="914400" y="4229100"/>
            <a:ext cx="571500" cy="247650"/>
          </a:xfrm>
          <a:prstGeom prst="rect">
            <a:avLst/>
          </a:prstGeom>
          <a:noFill/>
          <a:ln/>
        </p:spPr>
        <p:txBody>
          <a:bodyPr wrap="square" lIns="0" tIns="0" rIns="0" bIns="0" rtlCol="0" anchor="ctr"/>
          <a:lstStyle/>
          <a:p>
            <a:pPr indent="0" marL="0">
              <a:buNone/>
            </a:pPr>
            <a:r>
              <a:rPr lang="en-US" sz="1000" b="1" dirty="0">
                <a:solidFill>
                  <a:srgbClr val="23373B"/>
                </a:solidFill>
                <a:latin typeface="Pretendard" pitchFamily="34" charset="0"/>
                <a:ea typeface="Pretendard" pitchFamily="34" charset="-122"/>
                <a:cs typeface="Pretendard" pitchFamily="34" charset="-120"/>
              </a:rPr>
              <a:t>Do</a:t>
            </a:r>
            <a:endParaRPr lang="en-US" sz="1000" dirty="0"/>
          </a:p>
        </p:txBody>
      </p:sp>
      <p:sp>
        <p:nvSpPr>
          <p:cNvPr id="57" name="o149"/>
          <p:cNvSpPr txBox="1"/>
          <p:nvPr/>
        </p:nvSpPr>
        <p:spPr>
          <a:xfrm>
            <a:off x="1485900" y="4229100"/>
            <a:ext cx="2324100" cy="247650"/>
          </a:xfrm>
          <a:prstGeom prst="rect">
            <a:avLst/>
          </a:prstGeom>
          <a:noFill/>
          <a:ln/>
        </p:spPr>
        <p:txBody>
          <a:bodyPr wrap="square" lIns="0" tIns="0" rIns="0" bIns="0" rtlCol="0" anchor="ctr"/>
          <a:lstStyle/>
          <a:p>
            <a:pPr indent="0" marL="0">
              <a:buNone/>
            </a:pPr>
            <a:r>
              <a:rPr lang="en-US" sz="1200" dirty="0">
                <a:solidFill>
                  <a:srgbClr val="23373B"/>
                </a:solidFill>
                <a:latin typeface="Pretendard" pitchFamily="34" charset="0"/>
                <a:ea typeface="Pretendard" pitchFamily="34" charset="-122"/>
                <a:cs typeface="Pretendard" pitchFamily="34" charset="-120"/>
              </a:rPr>
              <a:t>61병동 → 전 부서 적용</a:t>
            </a:r>
            <a:endParaRPr lang="en-US" sz="1200" dirty="0"/>
          </a:p>
        </p:txBody>
      </p:sp>
      <p:sp>
        <p:nvSpPr>
          <p:cNvPr id="58" name="o150"/>
          <p:cNvSpPr/>
          <p:nvPr/>
        </p:nvSpPr>
        <p:spPr>
          <a:xfrm>
            <a:off x="6844665" y="4267200"/>
            <a:ext cx="2145030" cy="171450"/>
          </a:xfrm>
          <a:prstGeom prst="rect">
            <a:avLst/>
          </a:prstGeom>
          <a:solidFill>
            <a:srgbClr val="5E777B"/>
          </a:solidFill>
          <a:ln/>
        </p:spPr>
      </p:sp>
      <p:sp>
        <p:nvSpPr>
          <p:cNvPr id="59" name="o151"/>
          <p:cNvSpPr txBox="1"/>
          <p:nvPr/>
        </p:nvSpPr>
        <p:spPr>
          <a:xfrm>
            <a:off x="914400" y="4667250"/>
            <a:ext cx="571500" cy="247650"/>
          </a:xfrm>
          <a:prstGeom prst="rect">
            <a:avLst/>
          </a:prstGeom>
          <a:noFill/>
          <a:ln/>
        </p:spPr>
        <p:txBody>
          <a:bodyPr wrap="square" lIns="0" tIns="0" rIns="0" bIns="0" rtlCol="0" anchor="ctr"/>
          <a:lstStyle/>
          <a:p>
            <a:pPr indent="0" marL="0">
              <a:buNone/>
            </a:pPr>
            <a:r>
              <a:rPr lang="en-US" sz="1000" b="1" dirty="0">
                <a:solidFill>
                  <a:srgbClr val="23373B"/>
                </a:solidFill>
                <a:latin typeface="Pretendard" pitchFamily="34" charset="0"/>
                <a:ea typeface="Pretendard" pitchFamily="34" charset="-122"/>
                <a:cs typeface="Pretendard" pitchFamily="34" charset="-120"/>
              </a:rPr>
              <a:t>Check</a:t>
            </a:r>
            <a:endParaRPr lang="en-US" sz="1000" dirty="0"/>
          </a:p>
        </p:txBody>
      </p:sp>
      <p:sp>
        <p:nvSpPr>
          <p:cNvPr id="60" name="o152"/>
          <p:cNvSpPr txBox="1"/>
          <p:nvPr/>
        </p:nvSpPr>
        <p:spPr>
          <a:xfrm>
            <a:off x="1485900" y="4667250"/>
            <a:ext cx="2324100" cy="247650"/>
          </a:xfrm>
          <a:prstGeom prst="rect">
            <a:avLst/>
          </a:prstGeom>
          <a:noFill/>
          <a:ln/>
        </p:spPr>
        <p:txBody>
          <a:bodyPr wrap="square" lIns="0" tIns="0" rIns="0" bIns="0" rtlCol="0" anchor="ctr"/>
          <a:lstStyle/>
          <a:p>
            <a:pPr indent="0" marL="0">
              <a:buNone/>
            </a:pPr>
            <a:r>
              <a:rPr lang="en-US" sz="1200" dirty="0">
                <a:solidFill>
                  <a:srgbClr val="23373B"/>
                </a:solidFill>
                <a:latin typeface="Pretendard" pitchFamily="34" charset="0"/>
                <a:ea typeface="Pretendard" pitchFamily="34" charset="-122"/>
                <a:cs typeface="Pretendard" pitchFamily="34" charset="-120"/>
              </a:rPr>
              <a:t>결과 확인</a:t>
            </a:r>
            <a:endParaRPr lang="en-US" sz="1200" dirty="0"/>
          </a:p>
        </p:txBody>
      </p:sp>
      <p:sp>
        <p:nvSpPr>
          <p:cNvPr id="61" name="o153"/>
          <p:cNvSpPr/>
          <p:nvPr/>
        </p:nvSpPr>
        <p:spPr>
          <a:xfrm>
            <a:off x="8338185" y="4705350"/>
            <a:ext cx="651510" cy="171450"/>
          </a:xfrm>
          <a:prstGeom prst="rect">
            <a:avLst/>
          </a:prstGeom>
          <a:solidFill>
            <a:srgbClr val="3B5559"/>
          </a:solidFill>
          <a:ln/>
        </p:spPr>
      </p:sp>
      <p:sp>
        <p:nvSpPr>
          <p:cNvPr id="62" name="o154"/>
          <p:cNvSpPr txBox="1"/>
          <p:nvPr/>
        </p:nvSpPr>
        <p:spPr>
          <a:xfrm>
            <a:off x="914400" y="5105400"/>
            <a:ext cx="571500" cy="247650"/>
          </a:xfrm>
          <a:prstGeom prst="rect">
            <a:avLst/>
          </a:prstGeom>
          <a:noFill/>
          <a:ln/>
        </p:spPr>
        <p:txBody>
          <a:bodyPr wrap="square" lIns="0" tIns="0" rIns="0" bIns="0" rtlCol="0" anchor="ctr"/>
          <a:lstStyle/>
          <a:p>
            <a:pPr indent="0" marL="0">
              <a:buNone/>
            </a:pPr>
            <a:r>
              <a:rPr lang="en-US" sz="1000" b="1" dirty="0">
                <a:solidFill>
                  <a:srgbClr val="23373B"/>
                </a:solidFill>
                <a:latin typeface="Pretendard" pitchFamily="34" charset="0"/>
                <a:ea typeface="Pretendard" pitchFamily="34" charset="-122"/>
                <a:cs typeface="Pretendard" pitchFamily="34" charset="-120"/>
              </a:rPr>
              <a:t>Act</a:t>
            </a:r>
            <a:endParaRPr lang="en-US" sz="1000" dirty="0"/>
          </a:p>
        </p:txBody>
      </p:sp>
      <p:sp>
        <p:nvSpPr>
          <p:cNvPr id="63" name="o155"/>
          <p:cNvSpPr txBox="1"/>
          <p:nvPr/>
        </p:nvSpPr>
        <p:spPr>
          <a:xfrm>
            <a:off x="1485900" y="5105400"/>
            <a:ext cx="2324100" cy="247650"/>
          </a:xfrm>
          <a:prstGeom prst="rect">
            <a:avLst/>
          </a:prstGeom>
          <a:noFill/>
          <a:ln/>
        </p:spPr>
        <p:txBody>
          <a:bodyPr wrap="square" lIns="0" tIns="0" rIns="0" bIns="0" rtlCol="0" anchor="ctr"/>
          <a:lstStyle/>
          <a:p>
            <a:pPr indent="0" marL="0">
              <a:buNone/>
            </a:pPr>
            <a:r>
              <a:rPr lang="en-US" sz="1200" dirty="0">
                <a:solidFill>
                  <a:srgbClr val="23373B"/>
                </a:solidFill>
                <a:latin typeface="Pretendard" pitchFamily="34" charset="0"/>
                <a:ea typeface="Pretendard" pitchFamily="34" charset="-122"/>
                <a:cs typeface="Pretendard" pitchFamily="34" charset="-120"/>
              </a:rPr>
              <a:t>표준화 · AI 고도화</a:t>
            </a:r>
            <a:endParaRPr lang="en-US" sz="1200" dirty="0"/>
          </a:p>
        </p:txBody>
      </p:sp>
      <p:sp>
        <p:nvSpPr>
          <p:cNvPr id="64" name="o156"/>
          <p:cNvSpPr/>
          <p:nvPr/>
        </p:nvSpPr>
        <p:spPr>
          <a:xfrm>
            <a:off x="9084945" y="5143500"/>
            <a:ext cx="2145030" cy="171450"/>
          </a:xfrm>
          <a:prstGeom prst="rect">
            <a:avLst/>
          </a:prstGeom>
          <a:solidFill>
            <a:srgbClr val="23373B"/>
          </a:solidFill>
          <a:ln/>
        </p:spPr>
      </p:sp>
      <p:sp>
        <p:nvSpPr>
          <p:cNvPr id="65" name="o157"/>
          <p:cNvSpPr txBox="1"/>
          <p:nvPr/>
        </p:nvSpPr>
        <p:spPr>
          <a:xfrm>
            <a:off x="914400" y="5543550"/>
            <a:ext cx="571500" cy="247650"/>
          </a:xfrm>
          <a:prstGeom prst="rect">
            <a:avLst/>
          </a:prstGeom>
          <a:noFill/>
          <a:ln/>
        </p:spPr>
        <p:txBody>
          <a:bodyPr wrap="square" lIns="0" tIns="0" rIns="0" bIns="0" rtlCol="0" anchor="ctr"/>
          <a:lstStyle/>
          <a:p>
            <a:pPr indent="0" marL="0">
              <a:buNone/>
            </a:pPr>
            <a:endParaRPr lang="en-US" sz="1000" dirty="0"/>
          </a:p>
        </p:txBody>
      </p:sp>
      <p:sp>
        <p:nvSpPr>
          <p:cNvPr id="66" name="o158"/>
          <p:cNvSpPr txBox="1"/>
          <p:nvPr/>
        </p:nvSpPr>
        <p:spPr>
          <a:xfrm>
            <a:off x="1485900" y="5543550"/>
            <a:ext cx="2324100" cy="247650"/>
          </a:xfrm>
          <a:prstGeom prst="rect">
            <a:avLst/>
          </a:prstGeom>
          <a:noFill/>
          <a:ln/>
        </p:spPr>
        <p:txBody>
          <a:bodyPr wrap="square" lIns="0" tIns="0" rIns="0" bIns="0" rtlCol="0" anchor="ctr"/>
          <a:lstStyle/>
          <a:p>
            <a:pPr indent="0" marL="0">
              <a:buNone/>
            </a:pPr>
            <a:r>
              <a:rPr lang="en-US" sz="1200" dirty="0">
                <a:solidFill>
                  <a:srgbClr val="23373B"/>
                </a:solidFill>
                <a:latin typeface="Pretendard" pitchFamily="34" charset="0"/>
                <a:ea typeface="Pretendard" pitchFamily="34" charset="-122"/>
                <a:cs typeface="Pretendard" pitchFamily="34" charset="-120"/>
              </a:rPr>
              <a:t>QI 경진대회</a:t>
            </a:r>
            <a:endParaRPr lang="en-US" sz="1200" dirty="0"/>
          </a:p>
        </p:txBody>
      </p:sp>
      <p:sp>
        <p:nvSpPr>
          <p:cNvPr id="67" name="o159"/>
          <p:cNvSpPr/>
          <p:nvPr/>
        </p:nvSpPr>
        <p:spPr>
          <a:xfrm>
            <a:off x="9831705" y="5581650"/>
            <a:ext cx="651510" cy="171450"/>
          </a:xfrm>
          <a:prstGeom prst="rect">
            <a:avLst/>
          </a:prstGeom>
          <a:solidFill>
            <a:srgbClr val="23373B"/>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160"/>
          <p:cNvSpPr/>
          <p:nvPr/>
        </p:nvSpPr>
        <p:spPr>
          <a:xfrm>
            <a:off x="0" y="0"/>
            <a:ext cx="12192000" cy="1104900"/>
          </a:xfrm>
          <a:prstGeom prst="rect">
            <a:avLst/>
          </a:prstGeom>
          <a:solidFill>
            <a:srgbClr val="23373B"/>
          </a:solidFill>
          <a:ln/>
        </p:spPr>
      </p:sp>
      <p:sp>
        <p:nvSpPr>
          <p:cNvPr id="3" name="o161"/>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02   PROBLEM  ·  현황 파악</a:t>
            </a:r>
            <a:endParaRPr lang="en-US" sz="1100" dirty="0"/>
          </a:p>
        </p:txBody>
      </p:sp>
      <p:sp>
        <p:nvSpPr>
          <p:cNvPr id="4" name="o162"/>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교육 1건에 33분 48초, 그중 78%는 기다림과 이동이었습니다</a:t>
            </a:r>
            <a:endParaRPr lang="en-US" sz="2600" dirty="0"/>
          </a:p>
        </p:txBody>
      </p:sp>
      <p:sp>
        <p:nvSpPr>
          <p:cNvPr id="5" name="o163"/>
          <p:cNvSpPr/>
          <p:nvPr/>
        </p:nvSpPr>
        <p:spPr>
          <a:xfrm>
            <a:off x="0" y="1104900"/>
            <a:ext cx="12192000" cy="28575"/>
          </a:xfrm>
          <a:prstGeom prst="rect">
            <a:avLst/>
          </a:prstGeom>
          <a:solidFill>
            <a:srgbClr val="D2D7D8"/>
          </a:solidFill>
          <a:ln/>
        </p:spPr>
      </p:sp>
      <p:sp>
        <p:nvSpPr>
          <p:cNvPr id="6" name="o164"/>
          <p:cNvSpPr/>
          <p:nvPr/>
        </p:nvSpPr>
        <p:spPr>
          <a:xfrm>
            <a:off x="0" y="1104900"/>
            <a:ext cx="3048000" cy="28575"/>
          </a:xfrm>
          <a:prstGeom prst="rect">
            <a:avLst/>
          </a:prstGeom>
          <a:solidFill>
            <a:srgbClr val="EB811B"/>
          </a:solidFill>
          <a:ln/>
        </p:spPr>
      </p:sp>
      <p:sp>
        <p:nvSpPr>
          <p:cNvPr id="7" name="o165"/>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2025년 1–12월 신규 입사자 106명 교육일지 전수조사  ·  세부 행동 단위별 소요시간 실측</a:t>
            </a:r>
            <a:endParaRPr lang="en-US" sz="1300" dirty="0"/>
          </a:p>
        </p:txBody>
      </p:sp>
      <p:sp>
        <p:nvSpPr>
          <p:cNvPr id="8" name="o166"/>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167"/>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05</a:t>
            </a:r>
            <a:endParaRPr lang="en-US" sz="1000" dirty="0"/>
          </a:p>
        </p:txBody>
      </p:sp>
      <p:sp>
        <p:nvSpPr>
          <p:cNvPr id="10" name="o168"/>
          <p:cNvSpPr/>
          <p:nvPr/>
        </p:nvSpPr>
        <p:spPr>
          <a:xfrm>
            <a:off x="609600" y="1600200"/>
            <a:ext cx="3530600" cy="1981200"/>
          </a:xfrm>
          <a:prstGeom prst="rect">
            <a:avLst/>
          </a:prstGeom>
          <a:solidFill>
            <a:srgbClr val="FFFFFF"/>
          </a:solidFill>
          <a:ln w="12700">
            <a:solidFill>
              <a:srgbClr val="D8D8D8"/>
            </a:solidFill>
            <a:prstDash val="solid"/>
          </a:ln>
        </p:spPr>
      </p:sp>
      <p:sp>
        <p:nvSpPr>
          <p:cNvPr id="11" name="o169"/>
          <p:cNvSpPr txBox="1"/>
          <p:nvPr/>
        </p:nvSpPr>
        <p:spPr>
          <a:xfrm>
            <a:off x="876300" y="1828800"/>
            <a:ext cx="2997200" cy="19050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법정교육 누락</a:t>
            </a:r>
            <a:endParaRPr lang="en-US" sz="1300" dirty="0"/>
          </a:p>
        </p:txBody>
      </p:sp>
      <p:sp>
        <p:nvSpPr>
          <p:cNvPr id="12" name="o170"/>
          <p:cNvSpPr txBox="1"/>
          <p:nvPr/>
        </p:nvSpPr>
        <p:spPr>
          <a:xfrm>
            <a:off x="876300" y="2152650"/>
            <a:ext cx="3149600" cy="666750"/>
          </a:xfrm>
          <a:prstGeom prst="rect">
            <a:avLst/>
          </a:prstGeom>
          <a:noFill/>
          <a:ln/>
        </p:spPr>
        <p:txBody>
          <a:bodyPr wrap="square" lIns="0" tIns="0" rIns="0" bIns="0" rtlCol="0" anchor="t"/>
          <a:lstStyle/>
          <a:p>
            <a:pPr indent="0" marL="0">
              <a:buNone/>
            </a:pPr>
            <a:r>
              <a:rPr lang="en-US" sz="4000" b="1" dirty="0">
                <a:solidFill>
                  <a:srgbClr val="B02E0C"/>
                </a:solidFill>
                <a:latin typeface="Pretendard" pitchFamily="34" charset="0"/>
                <a:ea typeface="Pretendard" pitchFamily="34" charset="-122"/>
                <a:cs typeface="Pretendard" pitchFamily="34" charset="-120"/>
              </a:rPr>
              <a:t>18건</a:t>
            </a:r>
            <a:endParaRPr lang="en-US" sz="4000" dirty="0"/>
          </a:p>
        </p:txBody>
      </p:sp>
      <p:sp>
        <p:nvSpPr>
          <p:cNvPr id="13" name="o171"/>
          <p:cNvSpPr txBox="1"/>
          <p:nvPr/>
        </p:nvSpPr>
        <p:spPr>
          <a:xfrm>
            <a:off x="876300" y="3028950"/>
            <a:ext cx="2997200" cy="34290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106명 중 17% · 12개월 중 8개월 발생</a:t>
            </a:r>
            <a:endParaRPr lang="en-US" sz="1200" dirty="0"/>
          </a:p>
        </p:txBody>
      </p:sp>
      <p:sp>
        <p:nvSpPr>
          <p:cNvPr id="14" name="o172"/>
          <p:cNvSpPr/>
          <p:nvPr/>
        </p:nvSpPr>
        <p:spPr>
          <a:xfrm>
            <a:off x="4330700" y="1600200"/>
            <a:ext cx="3530600" cy="1981200"/>
          </a:xfrm>
          <a:prstGeom prst="rect">
            <a:avLst/>
          </a:prstGeom>
          <a:solidFill>
            <a:srgbClr val="EB811B"/>
          </a:solidFill>
          <a:ln/>
        </p:spPr>
      </p:sp>
      <p:sp>
        <p:nvSpPr>
          <p:cNvPr id="15" name="o173"/>
          <p:cNvSpPr txBox="1"/>
          <p:nvPr/>
        </p:nvSpPr>
        <p:spPr>
          <a:xfrm>
            <a:off x="4597400" y="1828800"/>
            <a:ext cx="2997200" cy="190500"/>
          </a:xfrm>
          <a:prstGeom prst="rect">
            <a:avLst/>
          </a:prstGeom>
          <a:noFill/>
          <a:ln/>
        </p:spPr>
        <p:txBody>
          <a:bodyPr wrap="square" lIns="0" tIns="0" rIns="0" bIns="0" rtlCol="0" anchor="t"/>
          <a:lstStyle/>
          <a:p>
            <a:pPr indent="0" marL="0">
              <a:buNone/>
            </a:pPr>
            <a:r>
              <a:rPr lang="en-US" sz="1300" b="1" dirty="0">
                <a:solidFill>
                  <a:srgbClr val="FFFFFF"/>
                </a:solidFill>
                <a:latin typeface="Pretendard" pitchFamily="34" charset="0"/>
                <a:ea typeface="Pretendard" pitchFamily="34" charset="-122"/>
                <a:cs typeface="Pretendard" pitchFamily="34" charset="-120"/>
              </a:rPr>
              <a:t>특별안전보건교육 행정시간</a:t>
            </a:r>
            <a:endParaRPr lang="en-US" sz="1300" dirty="0"/>
          </a:p>
        </p:txBody>
      </p:sp>
      <p:sp>
        <p:nvSpPr>
          <p:cNvPr id="16" name="o174"/>
          <p:cNvSpPr txBox="1"/>
          <p:nvPr/>
        </p:nvSpPr>
        <p:spPr>
          <a:xfrm>
            <a:off x="4597400" y="2152650"/>
            <a:ext cx="3149600" cy="666750"/>
          </a:xfrm>
          <a:prstGeom prst="rect">
            <a:avLst/>
          </a:prstGeom>
          <a:noFill/>
          <a:ln/>
        </p:spPr>
        <p:txBody>
          <a:bodyPr wrap="square" lIns="0" tIns="0" rIns="0" bIns="0" rtlCol="0" anchor="t"/>
          <a:lstStyle/>
          <a:p>
            <a:pPr indent="0" marL="0">
              <a:buNone/>
            </a:pPr>
            <a:r>
              <a:rPr lang="en-US" sz="4000" b="1" dirty="0">
                <a:solidFill>
                  <a:srgbClr val="FFFFFF"/>
                </a:solidFill>
                <a:latin typeface="Pretendard" pitchFamily="34" charset="0"/>
                <a:ea typeface="Pretendard" pitchFamily="34" charset="-122"/>
                <a:cs typeface="Pretendard" pitchFamily="34" charset="-120"/>
              </a:rPr>
              <a:t>33분 48초</a:t>
            </a:r>
            <a:endParaRPr lang="en-US" sz="4000" dirty="0"/>
          </a:p>
        </p:txBody>
      </p:sp>
      <p:sp>
        <p:nvSpPr>
          <p:cNvPr id="17" name="o175"/>
          <p:cNvSpPr txBox="1"/>
          <p:nvPr/>
        </p:nvSpPr>
        <p:spPr>
          <a:xfrm>
            <a:off x="4597400" y="3028950"/>
            <a:ext cx="2997200" cy="34290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교육 1건당 · 교육 진행시간 제외</a:t>
            </a:r>
            <a:endParaRPr lang="en-US" sz="1200" dirty="0"/>
          </a:p>
        </p:txBody>
      </p:sp>
      <p:sp>
        <p:nvSpPr>
          <p:cNvPr id="18" name="o176"/>
          <p:cNvSpPr/>
          <p:nvPr/>
        </p:nvSpPr>
        <p:spPr>
          <a:xfrm>
            <a:off x="8051800" y="1600200"/>
            <a:ext cx="3530600" cy="1981200"/>
          </a:xfrm>
          <a:prstGeom prst="rect">
            <a:avLst/>
          </a:prstGeom>
          <a:solidFill>
            <a:srgbClr val="FFFFFF"/>
          </a:solidFill>
          <a:ln w="12700">
            <a:solidFill>
              <a:srgbClr val="D8D8D8"/>
            </a:solidFill>
            <a:prstDash val="solid"/>
          </a:ln>
        </p:spPr>
      </p:sp>
      <p:sp>
        <p:nvSpPr>
          <p:cNvPr id="19" name="o177"/>
          <p:cNvSpPr txBox="1"/>
          <p:nvPr/>
        </p:nvSpPr>
        <p:spPr>
          <a:xfrm>
            <a:off x="8318500" y="1828800"/>
            <a:ext cx="2997200" cy="19050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종이 기반 처리</a:t>
            </a:r>
            <a:endParaRPr lang="en-US" sz="1300" dirty="0"/>
          </a:p>
        </p:txBody>
      </p:sp>
      <p:sp>
        <p:nvSpPr>
          <p:cNvPr id="20" name="o178"/>
          <p:cNvSpPr txBox="1"/>
          <p:nvPr/>
        </p:nvSpPr>
        <p:spPr>
          <a:xfrm>
            <a:off x="8318500" y="2152650"/>
            <a:ext cx="3149600" cy="666750"/>
          </a:xfrm>
          <a:prstGeom prst="rect">
            <a:avLst/>
          </a:prstGeom>
          <a:noFill/>
          <a:ln/>
        </p:spPr>
        <p:txBody>
          <a:bodyPr wrap="square" lIns="0" tIns="0" rIns="0" bIns="0" rtlCol="0" anchor="t"/>
          <a:lstStyle/>
          <a:p>
            <a:pPr indent="0" marL="0">
              <a:buNone/>
            </a:pPr>
            <a:r>
              <a:rPr lang="en-US" sz="4000" b="1" dirty="0">
                <a:solidFill>
                  <a:srgbClr val="23373B"/>
                </a:solidFill>
                <a:latin typeface="Pretendard" pitchFamily="34" charset="0"/>
                <a:ea typeface="Pretendard" pitchFamily="34" charset="-122"/>
                <a:cs typeface="Pretendard" pitchFamily="34" charset="-120"/>
              </a:rPr>
              <a:t>100%</a:t>
            </a:r>
            <a:endParaRPr lang="en-US" sz="4000" dirty="0"/>
          </a:p>
        </p:txBody>
      </p:sp>
      <p:sp>
        <p:nvSpPr>
          <p:cNvPr id="21" name="o179"/>
          <p:cNvSpPr txBox="1"/>
          <p:nvPr/>
        </p:nvSpPr>
        <p:spPr>
          <a:xfrm>
            <a:off x="8318500" y="3028950"/>
            <a:ext cx="2997200" cy="34290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교육일지 · MSDS 출력 후 바인더 보관 (연 94건)</a:t>
            </a:r>
            <a:endParaRPr lang="en-US" sz="1200" dirty="0"/>
          </a:p>
        </p:txBody>
      </p:sp>
      <p:sp>
        <p:nvSpPr>
          <p:cNvPr id="22" name="o180"/>
          <p:cNvSpPr/>
          <p:nvPr/>
        </p:nvSpPr>
        <p:spPr>
          <a:xfrm>
            <a:off x="609600" y="3771900"/>
            <a:ext cx="10972800" cy="2476500"/>
          </a:xfrm>
          <a:prstGeom prst="rect">
            <a:avLst/>
          </a:prstGeom>
          <a:solidFill>
            <a:srgbClr val="F0F0F0"/>
          </a:solidFill>
          <a:ln/>
        </p:spPr>
      </p:sp>
      <p:sp>
        <p:nvSpPr>
          <p:cNvPr id="23" name="o181"/>
          <p:cNvSpPr txBox="1"/>
          <p:nvPr/>
        </p:nvSpPr>
        <p:spPr>
          <a:xfrm>
            <a:off x="952500" y="4000500"/>
            <a:ext cx="5715000" cy="228600"/>
          </a:xfrm>
          <a:prstGeom prst="rect">
            <a:avLst/>
          </a:prstGeom>
          <a:noFill/>
          <a:ln/>
        </p:spPr>
        <p:txBody>
          <a:bodyPr wrap="square" lIns="0" tIns="0" rIns="0" bIns="0" rtlCol="0" anchor="t"/>
          <a:lstStyle/>
          <a:p>
            <a:pPr indent="0" marL="0">
              <a:buNone/>
            </a:pPr>
            <a:r>
              <a:rPr lang="en-US" sz="1600" b="1" dirty="0">
                <a:solidFill>
                  <a:srgbClr val="23373B"/>
                </a:solidFill>
                <a:latin typeface="Pretendard" pitchFamily="34" charset="0"/>
                <a:ea typeface="Pretendard" pitchFamily="34" charset="-122"/>
                <a:cs typeface="Pretendard" pitchFamily="34" charset="-120"/>
              </a:rPr>
              <a:t>33분 48초는 어디에 쓰였나</a:t>
            </a:r>
            <a:endParaRPr lang="en-US" sz="1600" dirty="0"/>
          </a:p>
        </p:txBody>
      </p:sp>
      <p:sp>
        <p:nvSpPr>
          <p:cNvPr id="24" name="o182"/>
          <p:cNvSpPr txBox="1"/>
          <p:nvPr/>
        </p:nvSpPr>
        <p:spPr>
          <a:xfrm>
            <a:off x="6667500" y="4000500"/>
            <a:ext cx="4572000" cy="228600"/>
          </a:xfrm>
          <a:prstGeom prst="rect">
            <a:avLst/>
          </a:prstGeom>
          <a:noFill/>
          <a:ln/>
        </p:spPr>
        <p:txBody>
          <a:bodyPr wrap="square" lIns="0" tIns="0" rIns="0" bIns="0" rtlCol="0" anchor="t"/>
          <a:lstStyle/>
          <a:p>
            <a:pPr algn="r" indent="0" marL="0">
              <a:buNone/>
            </a:pPr>
            <a:r>
              <a:rPr lang="en-US" sz="1400" b="1" dirty="0">
                <a:solidFill>
                  <a:srgbClr val="23373B"/>
                </a:solidFill>
                <a:latin typeface="Pretendard" pitchFamily="34" charset="0"/>
                <a:ea typeface="Pretendard" pitchFamily="34" charset="-122"/>
                <a:cs typeface="Pretendard" pitchFamily="34" charset="-120"/>
              </a:rPr>
              <a:t>결재 대기 + 직접 제출 = 78%</a:t>
            </a:r>
            <a:endParaRPr lang="en-US" sz="1400" dirty="0"/>
          </a:p>
        </p:txBody>
      </p:sp>
      <p:sp>
        <p:nvSpPr>
          <p:cNvPr id="25" name="o183"/>
          <p:cNvSpPr/>
          <p:nvPr/>
        </p:nvSpPr>
        <p:spPr>
          <a:xfrm>
            <a:off x="952500" y="4419600"/>
            <a:ext cx="5847223" cy="685800"/>
          </a:xfrm>
          <a:prstGeom prst="rect">
            <a:avLst/>
          </a:prstGeom>
          <a:solidFill>
            <a:srgbClr val="23373B"/>
          </a:solidFill>
          <a:ln/>
        </p:spPr>
      </p:sp>
      <p:sp>
        <p:nvSpPr>
          <p:cNvPr id="26" name="o184"/>
          <p:cNvSpPr txBox="1"/>
          <p:nvPr/>
        </p:nvSpPr>
        <p:spPr>
          <a:xfrm>
            <a:off x="1143000" y="4419600"/>
            <a:ext cx="5561473" cy="685800"/>
          </a:xfrm>
          <a:prstGeom prst="rect">
            <a:avLst/>
          </a:prstGeom>
          <a:noFill/>
          <a:ln/>
        </p:spPr>
        <p:txBody>
          <a:bodyPr wrap="square" lIns="0" tIns="0" rIns="0" bIns="0" rtlCol="0" anchor="ctr"/>
          <a:lstStyle/>
          <a:p>
            <a:pPr indent="0" marL="0">
              <a:buNone/>
            </a:pPr>
            <a:r>
              <a:rPr lang="en-US" sz="2400" b="1" dirty="0">
                <a:solidFill>
                  <a:srgbClr val="FFFFFF"/>
                </a:solidFill>
                <a:latin typeface="Pretendard" pitchFamily="34" charset="0"/>
                <a:ea typeface="Pretendard" pitchFamily="34" charset="-122"/>
                <a:cs typeface="Pretendard" pitchFamily="34" charset="-120"/>
              </a:rPr>
              <a:t>57%</a:t>
            </a:r>
            <a:endParaRPr lang="en-US" sz="2400" dirty="0"/>
          </a:p>
        </p:txBody>
      </p:sp>
      <p:sp>
        <p:nvSpPr>
          <p:cNvPr id="27" name="o185"/>
          <p:cNvSpPr txBox="1"/>
          <p:nvPr/>
        </p:nvSpPr>
        <p:spPr>
          <a:xfrm>
            <a:off x="952500" y="5257800"/>
            <a:ext cx="5847223" cy="190500"/>
          </a:xfrm>
          <a:prstGeom prst="rect">
            <a:avLst/>
          </a:prstGeom>
          <a:noFill/>
          <a:ln/>
        </p:spPr>
        <p:txBody>
          <a:bodyPr wrap="square" lIns="0" tIns="0" rIns="0" bIns="0" rtlCol="0" anchor="t"/>
          <a:lstStyle/>
          <a:p>
            <a:pPr indent="0" marL="0">
              <a:buNone/>
            </a:pPr>
            <a:r>
              <a:rPr lang="en-US" sz="1300" b="1" dirty="0">
                <a:solidFill>
                  <a:srgbClr val="23373B"/>
                </a:solidFill>
                <a:latin typeface="Pretendard" pitchFamily="34" charset="0"/>
                <a:ea typeface="Pretendard" pitchFamily="34" charset="-122"/>
                <a:cs typeface="Pretendard" pitchFamily="34" charset="-120"/>
              </a:rPr>
              <a:t>아날로그 내부 결재 대기</a:t>
            </a:r>
            <a:endParaRPr lang="en-US" sz="1300" dirty="0"/>
          </a:p>
        </p:txBody>
      </p:sp>
      <p:sp>
        <p:nvSpPr>
          <p:cNvPr id="28" name="o186"/>
          <p:cNvSpPr txBox="1"/>
          <p:nvPr/>
        </p:nvSpPr>
        <p:spPr>
          <a:xfrm>
            <a:off x="952500" y="5486400"/>
            <a:ext cx="5847223" cy="17145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19분 24초</a:t>
            </a:r>
            <a:endParaRPr lang="en-US" sz="1200" dirty="0"/>
          </a:p>
        </p:txBody>
      </p:sp>
      <p:sp>
        <p:nvSpPr>
          <p:cNvPr id="29" name="o187"/>
          <p:cNvSpPr/>
          <p:nvPr/>
        </p:nvSpPr>
        <p:spPr>
          <a:xfrm>
            <a:off x="6856873" y="4419600"/>
            <a:ext cx="2073294" cy="685800"/>
          </a:xfrm>
          <a:prstGeom prst="rect">
            <a:avLst/>
          </a:prstGeom>
          <a:solidFill>
            <a:srgbClr val="C96A10"/>
          </a:solidFill>
          <a:ln/>
        </p:spPr>
      </p:sp>
      <p:sp>
        <p:nvSpPr>
          <p:cNvPr id="30" name="o188"/>
          <p:cNvSpPr txBox="1"/>
          <p:nvPr/>
        </p:nvSpPr>
        <p:spPr>
          <a:xfrm>
            <a:off x="7047373" y="4419600"/>
            <a:ext cx="1787544" cy="685800"/>
          </a:xfrm>
          <a:prstGeom prst="rect">
            <a:avLst/>
          </a:prstGeom>
          <a:noFill/>
          <a:ln/>
        </p:spPr>
        <p:txBody>
          <a:bodyPr wrap="square" lIns="0" tIns="0" rIns="0" bIns="0" rtlCol="0" anchor="ctr"/>
          <a:lstStyle/>
          <a:p>
            <a:pPr indent="0" marL="0">
              <a:buNone/>
            </a:pPr>
            <a:r>
              <a:rPr lang="en-US" sz="2400" b="1" dirty="0">
                <a:solidFill>
                  <a:srgbClr val="FFFFFF"/>
                </a:solidFill>
                <a:latin typeface="Pretendard" pitchFamily="34" charset="0"/>
                <a:ea typeface="Pretendard" pitchFamily="34" charset="-122"/>
                <a:cs typeface="Pretendard" pitchFamily="34" charset="-120"/>
              </a:rPr>
              <a:t>21%</a:t>
            </a:r>
            <a:endParaRPr lang="en-US" sz="2400" dirty="0"/>
          </a:p>
        </p:txBody>
      </p:sp>
      <p:sp>
        <p:nvSpPr>
          <p:cNvPr id="31" name="o189"/>
          <p:cNvSpPr txBox="1"/>
          <p:nvPr/>
        </p:nvSpPr>
        <p:spPr>
          <a:xfrm>
            <a:off x="6856873" y="5257800"/>
            <a:ext cx="2073294" cy="190500"/>
          </a:xfrm>
          <a:prstGeom prst="rect">
            <a:avLst/>
          </a:prstGeom>
          <a:noFill/>
          <a:ln/>
        </p:spPr>
        <p:txBody>
          <a:bodyPr wrap="square" lIns="0" tIns="0" rIns="0" bIns="0" rtlCol="0" anchor="t"/>
          <a:lstStyle/>
          <a:p>
            <a:pPr indent="0" marL="0">
              <a:buNone/>
            </a:pPr>
            <a:r>
              <a:rPr lang="en-US" sz="1300" b="1" dirty="0">
                <a:solidFill>
                  <a:srgbClr val="23373B"/>
                </a:solidFill>
                <a:latin typeface="Pretendard" pitchFamily="34" charset="0"/>
                <a:ea typeface="Pretendard" pitchFamily="34" charset="-122"/>
                <a:cs typeface="Pretendard" pitchFamily="34" charset="-120"/>
              </a:rPr>
              <a:t>직접 제출 (이동)</a:t>
            </a:r>
            <a:endParaRPr lang="en-US" sz="1300" dirty="0"/>
          </a:p>
        </p:txBody>
      </p:sp>
      <p:sp>
        <p:nvSpPr>
          <p:cNvPr id="32" name="o190"/>
          <p:cNvSpPr txBox="1"/>
          <p:nvPr/>
        </p:nvSpPr>
        <p:spPr>
          <a:xfrm>
            <a:off x="6856873" y="5486400"/>
            <a:ext cx="2073294" cy="17145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7분 00초</a:t>
            </a:r>
            <a:endParaRPr lang="en-US" sz="1200" dirty="0"/>
          </a:p>
        </p:txBody>
      </p:sp>
      <p:sp>
        <p:nvSpPr>
          <p:cNvPr id="33" name="o191"/>
          <p:cNvSpPr/>
          <p:nvPr/>
        </p:nvSpPr>
        <p:spPr>
          <a:xfrm>
            <a:off x="8987317" y="4419600"/>
            <a:ext cx="2252183" cy="685800"/>
          </a:xfrm>
          <a:prstGeom prst="rect">
            <a:avLst/>
          </a:prstGeom>
          <a:solidFill>
            <a:srgbClr val="E0E0E0"/>
          </a:solidFill>
          <a:ln/>
        </p:spPr>
      </p:sp>
      <p:sp>
        <p:nvSpPr>
          <p:cNvPr id="34" name="o192"/>
          <p:cNvSpPr txBox="1"/>
          <p:nvPr/>
        </p:nvSpPr>
        <p:spPr>
          <a:xfrm>
            <a:off x="9177817" y="4419600"/>
            <a:ext cx="1966433" cy="685800"/>
          </a:xfrm>
          <a:prstGeom prst="rect">
            <a:avLst/>
          </a:prstGeom>
          <a:noFill/>
          <a:ln/>
        </p:spPr>
        <p:txBody>
          <a:bodyPr wrap="square" lIns="0" tIns="0" rIns="0" bIns="0" rtlCol="0" anchor="ctr"/>
          <a:lstStyle/>
          <a:p>
            <a:pPr indent="0" marL="0">
              <a:buNone/>
            </a:pPr>
            <a:r>
              <a:rPr lang="en-US" sz="2400" b="1" dirty="0">
                <a:solidFill>
                  <a:srgbClr val="23373B"/>
                </a:solidFill>
                <a:latin typeface="Pretendard" pitchFamily="34" charset="0"/>
                <a:ea typeface="Pretendard" pitchFamily="34" charset="-122"/>
                <a:cs typeface="Pretendard" pitchFamily="34" charset="-120"/>
              </a:rPr>
              <a:t>22%</a:t>
            </a:r>
            <a:endParaRPr lang="en-US" sz="2400" dirty="0"/>
          </a:p>
        </p:txBody>
      </p:sp>
      <p:sp>
        <p:nvSpPr>
          <p:cNvPr id="35" name="o193"/>
          <p:cNvSpPr txBox="1"/>
          <p:nvPr/>
        </p:nvSpPr>
        <p:spPr>
          <a:xfrm>
            <a:off x="8987317" y="5257800"/>
            <a:ext cx="2252183" cy="190500"/>
          </a:xfrm>
          <a:prstGeom prst="rect">
            <a:avLst/>
          </a:prstGeom>
          <a:noFill/>
          <a:ln/>
        </p:spPr>
        <p:txBody>
          <a:bodyPr wrap="square" lIns="0" tIns="0" rIns="0" bIns="0" rtlCol="0" anchor="t"/>
          <a:lstStyle/>
          <a:p>
            <a:pPr indent="0" marL="0">
              <a:buNone/>
            </a:pPr>
            <a:r>
              <a:rPr lang="en-US" sz="1300" b="1" dirty="0">
                <a:solidFill>
                  <a:srgbClr val="23373B"/>
                </a:solidFill>
                <a:latin typeface="Pretendard" pitchFamily="34" charset="0"/>
                <a:ea typeface="Pretendard" pitchFamily="34" charset="-122"/>
                <a:cs typeface="Pretendard" pitchFamily="34" charset="-120"/>
              </a:rPr>
              <a:t>작성 · 출력 · 서명 · 취합 등</a:t>
            </a:r>
            <a:endParaRPr lang="en-US" sz="1300" dirty="0"/>
          </a:p>
        </p:txBody>
      </p:sp>
      <p:sp>
        <p:nvSpPr>
          <p:cNvPr id="36" name="o194"/>
          <p:cNvSpPr txBox="1"/>
          <p:nvPr/>
        </p:nvSpPr>
        <p:spPr>
          <a:xfrm>
            <a:off x="8987317" y="5486400"/>
            <a:ext cx="2252183" cy="17145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7분 24초</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195"/>
          <p:cNvSpPr/>
          <p:nvPr/>
        </p:nvSpPr>
        <p:spPr>
          <a:xfrm>
            <a:off x="0" y="0"/>
            <a:ext cx="12192000" cy="1104900"/>
          </a:xfrm>
          <a:prstGeom prst="rect">
            <a:avLst/>
          </a:prstGeom>
          <a:solidFill>
            <a:srgbClr val="23373B"/>
          </a:solidFill>
          <a:ln/>
        </p:spPr>
      </p:sp>
      <p:sp>
        <p:nvSpPr>
          <p:cNvPr id="3" name="o196"/>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03   ROOT CAUSE &amp; GOAL  ·  원인과 목표</a:t>
            </a:r>
            <a:endParaRPr lang="en-US" sz="1100" dirty="0"/>
          </a:p>
        </p:txBody>
      </p:sp>
      <p:sp>
        <p:nvSpPr>
          <p:cNvPr id="4" name="o197"/>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원인은 사람이 아니라 프로세스에 있었습니다</a:t>
            </a:r>
            <a:endParaRPr lang="en-US" sz="2600" dirty="0"/>
          </a:p>
        </p:txBody>
      </p:sp>
      <p:sp>
        <p:nvSpPr>
          <p:cNvPr id="5" name="o198"/>
          <p:cNvSpPr/>
          <p:nvPr/>
        </p:nvSpPr>
        <p:spPr>
          <a:xfrm>
            <a:off x="0" y="1104900"/>
            <a:ext cx="12192000" cy="28575"/>
          </a:xfrm>
          <a:prstGeom prst="rect">
            <a:avLst/>
          </a:prstGeom>
          <a:solidFill>
            <a:srgbClr val="D2D7D8"/>
          </a:solidFill>
          <a:ln/>
        </p:spPr>
      </p:sp>
      <p:sp>
        <p:nvSpPr>
          <p:cNvPr id="6" name="o199"/>
          <p:cNvSpPr/>
          <p:nvPr/>
        </p:nvSpPr>
        <p:spPr>
          <a:xfrm>
            <a:off x="0" y="1104900"/>
            <a:ext cx="3048000" cy="28575"/>
          </a:xfrm>
          <a:prstGeom prst="rect">
            <a:avLst/>
          </a:prstGeom>
          <a:solidFill>
            <a:srgbClr val="EB811B"/>
          </a:solidFill>
          <a:ln/>
        </p:spPr>
      </p:sp>
      <p:sp>
        <p:nvSpPr>
          <p:cNvPr id="7" name="o200"/>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업무 흐름도 · Fishbone 분석으로 기여요인(CF) 도출 → 4개 핵심지표 목표 설정</a:t>
            </a:r>
            <a:endParaRPr lang="en-US" sz="1300" dirty="0"/>
          </a:p>
        </p:txBody>
      </p:sp>
      <p:sp>
        <p:nvSpPr>
          <p:cNvPr id="8" name="o201"/>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202"/>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06</a:t>
            </a:r>
            <a:endParaRPr lang="en-US" sz="1000" dirty="0"/>
          </a:p>
        </p:txBody>
      </p:sp>
      <p:sp>
        <p:nvSpPr>
          <p:cNvPr id="10" name="o203"/>
          <p:cNvSpPr/>
          <p:nvPr/>
        </p:nvSpPr>
        <p:spPr>
          <a:xfrm>
            <a:off x="609600" y="1600200"/>
            <a:ext cx="6324600" cy="4648200"/>
          </a:xfrm>
          <a:prstGeom prst="rect">
            <a:avLst/>
          </a:prstGeom>
          <a:solidFill>
            <a:srgbClr val="FFFFFF"/>
          </a:solidFill>
          <a:ln w="12700">
            <a:solidFill>
              <a:srgbClr val="D8D8D8"/>
            </a:solidFill>
            <a:prstDash val="solid"/>
          </a:ln>
        </p:spPr>
      </p:sp>
      <p:sp>
        <p:nvSpPr>
          <p:cNvPr id="11" name="o204"/>
          <p:cNvSpPr txBox="1"/>
          <p:nvPr/>
        </p:nvSpPr>
        <p:spPr>
          <a:xfrm>
            <a:off x="876300" y="1790700"/>
            <a:ext cx="5715000" cy="20955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Fishbone 원인 분류 (4M)</a:t>
            </a:r>
            <a:endParaRPr lang="en-US" sz="1500" dirty="0"/>
          </a:p>
        </p:txBody>
      </p:sp>
      <p:sp>
        <p:nvSpPr>
          <p:cNvPr id="12" name="o205"/>
          <p:cNvSpPr txBox="1"/>
          <p:nvPr/>
        </p:nvSpPr>
        <p:spPr>
          <a:xfrm>
            <a:off x="4381500" y="1809750"/>
            <a:ext cx="2286000" cy="190500"/>
          </a:xfrm>
          <a:prstGeom prst="rect">
            <a:avLst/>
          </a:prstGeom>
          <a:noFill/>
          <a:ln/>
        </p:spPr>
        <p:txBody>
          <a:bodyPr wrap="square" lIns="0" tIns="0" rIns="0" bIns="0" rtlCol="0" anchor="t"/>
          <a:lstStyle/>
          <a:p>
            <a:pPr algn="r" indent="0" marL="0">
              <a:buNone/>
            </a:pPr>
            <a:r>
              <a:rPr lang="en-US" sz="1100" b="1" dirty="0">
                <a:solidFill>
                  <a:srgbClr val="23373B"/>
                </a:solidFill>
                <a:latin typeface="Pretendard" pitchFamily="34" charset="0"/>
                <a:ea typeface="Pretendard" pitchFamily="34" charset="-122"/>
                <a:cs typeface="Pretendard" pitchFamily="34" charset="-120"/>
              </a:rPr>
              <a:t>굵은 글씨 = 핵심 원인</a:t>
            </a:r>
            <a:endParaRPr lang="en-US" sz="1100" dirty="0"/>
          </a:p>
        </p:txBody>
      </p:sp>
      <p:sp>
        <p:nvSpPr>
          <p:cNvPr id="13" name="o206"/>
          <p:cNvSpPr txBox="1"/>
          <p:nvPr/>
        </p:nvSpPr>
        <p:spPr>
          <a:xfrm>
            <a:off x="876300" y="2190750"/>
            <a:ext cx="1428750" cy="22860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방법</a:t>
            </a:r>
            <a:endParaRPr lang="en-US" sz="1500" dirty="0"/>
          </a:p>
        </p:txBody>
      </p:sp>
      <p:sp>
        <p:nvSpPr>
          <p:cNvPr id="14" name="o207"/>
          <p:cNvSpPr txBox="1"/>
          <p:nvPr/>
        </p:nvSpPr>
        <p:spPr>
          <a:xfrm>
            <a:off x="876300" y="2438400"/>
            <a:ext cx="1428750" cy="17145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Method</a:t>
            </a:r>
            <a:endParaRPr lang="en-US" sz="1000" dirty="0"/>
          </a:p>
        </p:txBody>
      </p:sp>
      <p:sp>
        <p:nvSpPr>
          <p:cNvPr id="15" name="o208"/>
          <p:cNvSpPr txBox="1"/>
          <p:nvPr/>
        </p:nvSpPr>
        <p:spPr>
          <a:xfrm>
            <a:off x="2400300" y="21907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23373B"/>
                </a:solidFill>
                <a:latin typeface="Pretendard" pitchFamily="34" charset="0"/>
                <a:ea typeface="Pretendard" pitchFamily="34" charset="-122"/>
                <a:cs typeface="Pretendard" pitchFamily="34" charset="-120"/>
              </a:rPr>
              <a:t>종이 결재 대기 19.4분</a:t>
            </a:r>
            <a:pPr indent="0" marL="0">
              <a:lnSpc>
                <a:spcPct val="140000"/>
              </a:lnSpc>
              <a:buNone/>
            </a:pPr>
            <a:r>
              <a:rPr lang="en-US" sz="1300" dirty="0">
                <a:solidFill>
                  <a:srgbClr val="3D4F52"/>
                </a:solidFill>
                <a:latin typeface="Pretendard" pitchFamily="34" charset="0"/>
                <a:ea typeface="Pretendard" pitchFamily="34" charset="-122"/>
                <a:cs typeface="Pretendard" pitchFamily="34" charset="-120"/>
              </a:rPr>
              <a:t> · 제출 채널 이원화 · 명단 수작업 대조</a:t>
            </a:r>
            <a:endParaRPr lang="en-US" sz="1300" dirty="0"/>
          </a:p>
        </p:txBody>
      </p:sp>
      <p:sp>
        <p:nvSpPr>
          <p:cNvPr id="16" name="o209"/>
          <p:cNvSpPr/>
          <p:nvPr/>
        </p:nvSpPr>
        <p:spPr>
          <a:xfrm>
            <a:off x="876300" y="3067050"/>
            <a:ext cx="5791200" cy="0"/>
          </a:xfrm>
          <a:prstGeom prst="line">
            <a:avLst/>
          </a:prstGeom>
          <a:noFill/>
          <a:ln w="9525">
            <a:solidFill>
              <a:srgbClr val="D8D8D8"/>
            </a:solidFill>
            <a:prstDash val="solid"/>
          </a:ln>
        </p:spPr>
      </p:sp>
      <p:sp>
        <p:nvSpPr>
          <p:cNvPr id="17" name="o210"/>
          <p:cNvSpPr txBox="1"/>
          <p:nvPr/>
        </p:nvSpPr>
        <p:spPr>
          <a:xfrm>
            <a:off x="876300" y="3181350"/>
            <a:ext cx="1428750" cy="22860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환경</a:t>
            </a:r>
            <a:endParaRPr lang="en-US" sz="1500" dirty="0"/>
          </a:p>
        </p:txBody>
      </p:sp>
      <p:sp>
        <p:nvSpPr>
          <p:cNvPr id="18" name="o211"/>
          <p:cNvSpPr txBox="1"/>
          <p:nvPr/>
        </p:nvSpPr>
        <p:spPr>
          <a:xfrm>
            <a:off x="876300" y="3429000"/>
            <a:ext cx="1428750" cy="17145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Environment</a:t>
            </a:r>
            <a:endParaRPr lang="en-US" sz="1000" dirty="0"/>
          </a:p>
        </p:txBody>
      </p:sp>
      <p:sp>
        <p:nvSpPr>
          <p:cNvPr id="19" name="o212"/>
          <p:cNvSpPr txBox="1"/>
          <p:nvPr/>
        </p:nvSpPr>
        <p:spPr>
          <a:xfrm>
            <a:off x="2400300" y="31813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23373B"/>
                </a:solidFill>
                <a:latin typeface="Pretendard" pitchFamily="34" charset="0"/>
                <a:ea typeface="Pretendard" pitchFamily="34" charset="-122"/>
                <a:cs typeface="Pretendard" pitchFamily="34" charset="-120"/>
              </a:rPr>
              <a:t>부서 ↔ 보건관리실 이동 평균 7분</a:t>
            </a:r>
            <a:endParaRPr lang="en-US" sz="1300" dirty="0"/>
          </a:p>
        </p:txBody>
      </p:sp>
      <p:sp>
        <p:nvSpPr>
          <p:cNvPr id="20" name="o213"/>
          <p:cNvSpPr/>
          <p:nvPr/>
        </p:nvSpPr>
        <p:spPr>
          <a:xfrm>
            <a:off x="876300" y="4057650"/>
            <a:ext cx="5791200" cy="0"/>
          </a:xfrm>
          <a:prstGeom prst="line">
            <a:avLst/>
          </a:prstGeom>
          <a:noFill/>
          <a:ln w="9525">
            <a:solidFill>
              <a:srgbClr val="D8D8D8"/>
            </a:solidFill>
            <a:prstDash val="solid"/>
          </a:ln>
        </p:spPr>
      </p:sp>
      <p:sp>
        <p:nvSpPr>
          <p:cNvPr id="21" name="o214"/>
          <p:cNvSpPr txBox="1"/>
          <p:nvPr/>
        </p:nvSpPr>
        <p:spPr>
          <a:xfrm>
            <a:off x="876300" y="4171950"/>
            <a:ext cx="1428750" cy="22860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장비 · 시스템</a:t>
            </a:r>
            <a:endParaRPr lang="en-US" sz="1500" dirty="0"/>
          </a:p>
        </p:txBody>
      </p:sp>
      <p:sp>
        <p:nvSpPr>
          <p:cNvPr id="22" name="o215"/>
          <p:cNvSpPr txBox="1"/>
          <p:nvPr/>
        </p:nvSpPr>
        <p:spPr>
          <a:xfrm>
            <a:off x="876300" y="4419600"/>
            <a:ext cx="1428750" cy="17145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Machine</a:t>
            </a:r>
            <a:endParaRPr lang="en-US" sz="1000" dirty="0"/>
          </a:p>
        </p:txBody>
      </p:sp>
      <p:sp>
        <p:nvSpPr>
          <p:cNvPr id="23" name="o216"/>
          <p:cNvSpPr txBox="1"/>
          <p:nvPr/>
        </p:nvSpPr>
        <p:spPr>
          <a:xfrm>
            <a:off x="2400300" y="41719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23373B"/>
                </a:solidFill>
                <a:latin typeface="Pretendard" pitchFamily="34" charset="0"/>
                <a:ea typeface="Pretendard" pitchFamily="34" charset="-122"/>
                <a:cs typeface="Pretendard" pitchFamily="34" charset="-120"/>
              </a:rPr>
              <a:t>실시간 이수 모니터링 불가</a:t>
            </a:r>
            <a:pPr indent="0" marL="0">
              <a:lnSpc>
                <a:spcPct val="140000"/>
              </a:lnSpc>
              <a:buNone/>
            </a:pPr>
            <a:r>
              <a:rPr lang="en-US" sz="1300" dirty="0">
                <a:solidFill>
                  <a:srgbClr val="3D4F52"/>
                </a:solidFill>
                <a:latin typeface="Pretendard" pitchFamily="34" charset="0"/>
                <a:ea typeface="Pretendard" pitchFamily="34" charset="-122"/>
                <a:cs typeface="Pretendard" pitchFamily="34" charset="-120"/>
              </a:rPr>
              <a:t> · 인트라넷 검색 어려움 · 반복 수기 작성</a:t>
            </a:r>
            <a:endParaRPr lang="en-US" sz="1300" dirty="0"/>
          </a:p>
        </p:txBody>
      </p:sp>
      <p:sp>
        <p:nvSpPr>
          <p:cNvPr id="24" name="o217"/>
          <p:cNvSpPr/>
          <p:nvPr/>
        </p:nvSpPr>
        <p:spPr>
          <a:xfrm>
            <a:off x="876300" y="5048250"/>
            <a:ext cx="5791200" cy="0"/>
          </a:xfrm>
          <a:prstGeom prst="line">
            <a:avLst/>
          </a:prstGeom>
          <a:noFill/>
          <a:ln w="9525">
            <a:solidFill>
              <a:srgbClr val="D8D8D8"/>
            </a:solidFill>
            <a:prstDash val="solid"/>
          </a:ln>
        </p:spPr>
      </p:sp>
      <p:sp>
        <p:nvSpPr>
          <p:cNvPr id="25" name="o218"/>
          <p:cNvSpPr txBox="1"/>
          <p:nvPr/>
        </p:nvSpPr>
        <p:spPr>
          <a:xfrm>
            <a:off x="876300" y="5162550"/>
            <a:ext cx="1428750" cy="22860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재료 · 매체</a:t>
            </a:r>
            <a:endParaRPr lang="en-US" sz="1500" dirty="0"/>
          </a:p>
        </p:txBody>
      </p:sp>
      <p:sp>
        <p:nvSpPr>
          <p:cNvPr id="26" name="o219"/>
          <p:cNvSpPr txBox="1"/>
          <p:nvPr/>
        </p:nvSpPr>
        <p:spPr>
          <a:xfrm>
            <a:off x="876300" y="5410200"/>
            <a:ext cx="1428750" cy="171450"/>
          </a:xfrm>
          <a:prstGeom prst="rect">
            <a:avLst/>
          </a:prstGeom>
          <a:noFill/>
          <a:ln/>
        </p:spPr>
        <p:txBody>
          <a:bodyPr wrap="square" lIns="0" tIns="0" rIns="0" bIns="0" rtlCol="0" anchor="t"/>
          <a:lstStyle/>
          <a:p>
            <a:pPr indent="0" marL="0">
              <a:buNone/>
            </a:pPr>
            <a:r>
              <a:rPr lang="en-US" sz="1000" dirty="0">
                <a:solidFill>
                  <a:srgbClr val="6B7B7E"/>
                </a:solidFill>
                <a:latin typeface="Pretendard" pitchFamily="34" charset="0"/>
                <a:ea typeface="Pretendard" pitchFamily="34" charset="-122"/>
                <a:cs typeface="Pretendard" pitchFamily="34" charset="-120"/>
              </a:rPr>
              <a:t>Material</a:t>
            </a:r>
            <a:endParaRPr lang="en-US" sz="1000" dirty="0"/>
          </a:p>
        </p:txBody>
      </p:sp>
      <p:sp>
        <p:nvSpPr>
          <p:cNvPr id="27" name="o220"/>
          <p:cNvSpPr txBox="1"/>
          <p:nvPr/>
        </p:nvSpPr>
        <p:spPr>
          <a:xfrm>
            <a:off x="2400300" y="5162550"/>
            <a:ext cx="4267200" cy="723900"/>
          </a:xfrm>
          <a:prstGeom prst="rect">
            <a:avLst/>
          </a:prstGeom>
          <a:noFill/>
          <a:ln/>
        </p:spPr>
        <p:txBody>
          <a:bodyPr wrap="square" lIns="0" tIns="0" rIns="0" bIns="0" rtlCol="0" anchor="t"/>
          <a:lstStyle/>
          <a:p>
            <a:pPr indent="0" marL="0">
              <a:lnSpc>
                <a:spcPct val="140000"/>
              </a:lnSpc>
              <a:buNone/>
            </a:pPr>
            <a:r>
              <a:rPr lang="en-US" sz="1300" dirty="0">
                <a:solidFill>
                  <a:srgbClr val="3D4F52"/>
                </a:solidFill>
                <a:latin typeface="Pretendard" pitchFamily="34" charset="0"/>
                <a:ea typeface="Pretendard" pitchFamily="34" charset="-122"/>
                <a:cs typeface="Pretendard" pitchFamily="34" charset="-120"/>
              </a:rPr>
              <a:t>종이 분실 위험 · 바인더 검색 한계 · MSDS 최신본 비치 확인 미흡</a:t>
            </a:r>
            <a:endParaRPr lang="en-US" sz="1300" dirty="0"/>
          </a:p>
        </p:txBody>
      </p:sp>
      <p:sp>
        <p:nvSpPr>
          <p:cNvPr id="28" name="o221"/>
          <p:cNvSpPr txBox="1"/>
          <p:nvPr/>
        </p:nvSpPr>
        <p:spPr>
          <a:xfrm>
            <a:off x="7124700" y="1638300"/>
            <a:ext cx="4457700" cy="171450"/>
          </a:xfrm>
          <a:prstGeom prst="rect">
            <a:avLst/>
          </a:prstGeom>
          <a:noFill/>
          <a:ln/>
        </p:spPr>
        <p:txBody>
          <a:bodyPr wrap="square" lIns="0" tIns="0" rIns="0" bIns="0" rtlCol="0" anchor="t"/>
          <a:lstStyle/>
          <a:p>
            <a:pPr indent="0" marL="0">
              <a:buNone/>
            </a:pPr>
            <a:r>
              <a:rPr lang="en-US" sz="1200" b="1" dirty="0">
                <a:solidFill>
                  <a:srgbClr val="6B7B7E"/>
                </a:solidFill>
                <a:latin typeface="Pretendard" pitchFamily="34" charset="0"/>
                <a:ea typeface="Pretendard" pitchFamily="34" charset="-122"/>
                <a:cs typeface="Pretendard" pitchFamily="34" charset="-120"/>
              </a:rPr>
              <a:t>기준값 → 목표</a:t>
            </a:r>
            <a:endParaRPr lang="en-US" sz="1200" dirty="0"/>
          </a:p>
        </p:txBody>
      </p:sp>
      <p:sp>
        <p:nvSpPr>
          <p:cNvPr id="29" name="o222"/>
          <p:cNvSpPr/>
          <p:nvPr/>
        </p:nvSpPr>
        <p:spPr>
          <a:xfrm>
            <a:off x="7124700" y="1866900"/>
            <a:ext cx="2152650" cy="2114550"/>
          </a:xfrm>
          <a:prstGeom prst="rect">
            <a:avLst/>
          </a:prstGeom>
          <a:solidFill>
            <a:srgbClr val="F2F2F2"/>
          </a:solidFill>
          <a:ln w="12700">
            <a:solidFill>
              <a:srgbClr val="E0E0E0"/>
            </a:solidFill>
            <a:prstDash val="solid"/>
          </a:ln>
        </p:spPr>
      </p:sp>
      <p:sp>
        <p:nvSpPr>
          <p:cNvPr id="30" name="o223"/>
          <p:cNvSpPr txBox="1"/>
          <p:nvPr/>
        </p:nvSpPr>
        <p:spPr>
          <a:xfrm>
            <a:off x="7315200" y="2038350"/>
            <a:ext cx="1771650" cy="152400"/>
          </a:xfrm>
          <a:prstGeom prst="rect">
            <a:avLst/>
          </a:prstGeom>
          <a:noFill/>
          <a:ln/>
        </p:spPr>
        <p:txBody>
          <a:bodyPr wrap="square" lIns="0" tIns="0" rIns="0" bIns="0" rtlCol="0" anchor="t"/>
          <a:lstStyle/>
          <a:p>
            <a:pPr indent="0" marL="0">
              <a:buNone/>
            </a:pPr>
            <a:r>
              <a:rPr lang="en-US" sz="1000" b="1" spc="100" kern="0" dirty="0">
                <a:solidFill>
                  <a:srgbClr val="23373B"/>
                </a:solidFill>
                <a:latin typeface="Pretendard" pitchFamily="34" charset="0"/>
                <a:ea typeface="Pretendard" pitchFamily="34" charset="-122"/>
                <a:cs typeface="Pretendard" pitchFamily="34" charset="-120"/>
              </a:rPr>
              <a:t>GOAL 01</a:t>
            </a:r>
            <a:endParaRPr lang="en-US" sz="1000" dirty="0"/>
          </a:p>
        </p:txBody>
      </p:sp>
      <p:sp>
        <p:nvSpPr>
          <p:cNvPr id="31" name="o224"/>
          <p:cNvSpPr txBox="1"/>
          <p:nvPr/>
        </p:nvSpPr>
        <p:spPr>
          <a:xfrm>
            <a:off x="7315200" y="2247900"/>
            <a:ext cx="1771650" cy="209550"/>
          </a:xfrm>
          <a:prstGeom prst="rect">
            <a:avLst/>
          </a:prstGeom>
          <a:noFill/>
          <a:ln/>
        </p:spPr>
        <p:txBody>
          <a:bodyPr wrap="square" lIns="0" tIns="0" rIns="0" bIns="0" rtlCol="0" anchor="t"/>
          <a:lstStyle/>
          <a:p>
            <a:pPr indent="0" marL="0">
              <a:buNone/>
            </a:pPr>
            <a:r>
              <a:rPr lang="en-US" sz="1400" b="1" dirty="0">
                <a:solidFill>
                  <a:srgbClr val="23373B"/>
                </a:solidFill>
                <a:latin typeface="Pretendard" pitchFamily="34" charset="0"/>
                <a:ea typeface="Pretendard" pitchFamily="34" charset="-122"/>
                <a:cs typeface="Pretendard" pitchFamily="34" charset="-120"/>
              </a:rPr>
              <a:t>법정교육 누락률</a:t>
            </a:r>
            <a:endParaRPr lang="en-US" sz="1400" dirty="0"/>
          </a:p>
        </p:txBody>
      </p:sp>
      <p:sp>
        <p:nvSpPr>
          <p:cNvPr id="32" name="o225"/>
          <p:cNvSpPr txBox="1"/>
          <p:nvPr/>
        </p:nvSpPr>
        <p:spPr>
          <a:xfrm>
            <a:off x="7315200" y="2628900"/>
            <a:ext cx="1866900" cy="571500"/>
          </a:xfrm>
          <a:prstGeom prst="rect">
            <a:avLst/>
          </a:prstGeom>
          <a:noFill/>
          <a:ln/>
        </p:spPr>
        <p:txBody>
          <a:bodyPr wrap="square" lIns="0" tIns="0" rIns="0" bIns="0" rtlCol="0" anchor="t"/>
          <a:lstStyle/>
          <a:p>
            <a:pPr indent="0" marL="0">
              <a:buNone/>
            </a:pPr>
            <a:r>
              <a:rPr lang="en-US" sz="2600" b="1" dirty="0">
                <a:solidFill>
                  <a:srgbClr val="23373B"/>
                </a:solidFill>
                <a:latin typeface="Pretendard" pitchFamily="34" charset="0"/>
                <a:ea typeface="Pretendard" pitchFamily="34" charset="-122"/>
                <a:cs typeface="Pretendard" pitchFamily="34" charset="-120"/>
              </a:rPr>
              <a:t>17% → 0%</a:t>
            </a:r>
            <a:endParaRPr lang="en-US" sz="2600" dirty="0"/>
          </a:p>
        </p:txBody>
      </p:sp>
      <p:sp>
        <p:nvSpPr>
          <p:cNvPr id="33" name="o226"/>
          <p:cNvSpPr/>
          <p:nvPr/>
        </p:nvSpPr>
        <p:spPr>
          <a:xfrm>
            <a:off x="9429750" y="1866900"/>
            <a:ext cx="2152650" cy="2114550"/>
          </a:xfrm>
          <a:prstGeom prst="rect">
            <a:avLst/>
          </a:prstGeom>
          <a:solidFill>
            <a:srgbClr val="F2F2F2"/>
          </a:solidFill>
          <a:ln w="12700">
            <a:solidFill>
              <a:srgbClr val="E0E0E0"/>
            </a:solidFill>
            <a:prstDash val="solid"/>
          </a:ln>
        </p:spPr>
      </p:sp>
      <p:sp>
        <p:nvSpPr>
          <p:cNvPr id="34" name="o227"/>
          <p:cNvSpPr txBox="1"/>
          <p:nvPr/>
        </p:nvSpPr>
        <p:spPr>
          <a:xfrm>
            <a:off x="9620250" y="2038350"/>
            <a:ext cx="1771650" cy="152400"/>
          </a:xfrm>
          <a:prstGeom prst="rect">
            <a:avLst/>
          </a:prstGeom>
          <a:noFill/>
          <a:ln/>
        </p:spPr>
        <p:txBody>
          <a:bodyPr wrap="square" lIns="0" tIns="0" rIns="0" bIns="0" rtlCol="0" anchor="t"/>
          <a:lstStyle/>
          <a:p>
            <a:pPr indent="0" marL="0">
              <a:buNone/>
            </a:pPr>
            <a:r>
              <a:rPr lang="en-US" sz="1000" b="1" spc="100" kern="0" dirty="0">
                <a:solidFill>
                  <a:srgbClr val="23373B"/>
                </a:solidFill>
                <a:latin typeface="Pretendard" pitchFamily="34" charset="0"/>
                <a:ea typeface="Pretendard" pitchFamily="34" charset="-122"/>
                <a:cs typeface="Pretendard" pitchFamily="34" charset="-120"/>
              </a:rPr>
              <a:t>GOAL 02</a:t>
            </a:r>
            <a:endParaRPr lang="en-US" sz="1000" dirty="0"/>
          </a:p>
        </p:txBody>
      </p:sp>
      <p:sp>
        <p:nvSpPr>
          <p:cNvPr id="35" name="o228"/>
          <p:cNvSpPr txBox="1"/>
          <p:nvPr/>
        </p:nvSpPr>
        <p:spPr>
          <a:xfrm>
            <a:off x="9620250" y="2247900"/>
            <a:ext cx="1771650" cy="209550"/>
          </a:xfrm>
          <a:prstGeom prst="rect">
            <a:avLst/>
          </a:prstGeom>
          <a:noFill/>
          <a:ln/>
        </p:spPr>
        <p:txBody>
          <a:bodyPr wrap="square" lIns="0" tIns="0" rIns="0" bIns="0" rtlCol="0" anchor="t"/>
          <a:lstStyle/>
          <a:p>
            <a:pPr indent="0" marL="0">
              <a:buNone/>
            </a:pPr>
            <a:r>
              <a:rPr lang="en-US" sz="1400" b="1" dirty="0">
                <a:solidFill>
                  <a:srgbClr val="23373B"/>
                </a:solidFill>
                <a:latin typeface="Pretendard" pitchFamily="34" charset="0"/>
                <a:ea typeface="Pretendard" pitchFamily="34" charset="-122"/>
                <a:cs typeface="Pretendard" pitchFamily="34" charset="-120"/>
              </a:rPr>
              <a:t>행정 리드타임</a:t>
            </a:r>
            <a:endParaRPr lang="en-US" sz="1400" dirty="0"/>
          </a:p>
        </p:txBody>
      </p:sp>
      <p:sp>
        <p:nvSpPr>
          <p:cNvPr id="36" name="o229"/>
          <p:cNvSpPr txBox="1"/>
          <p:nvPr/>
        </p:nvSpPr>
        <p:spPr>
          <a:xfrm>
            <a:off x="9620250" y="2628900"/>
            <a:ext cx="1866900" cy="571500"/>
          </a:xfrm>
          <a:prstGeom prst="rect">
            <a:avLst/>
          </a:prstGeom>
          <a:noFill/>
          <a:ln/>
        </p:spPr>
        <p:txBody>
          <a:bodyPr wrap="square" lIns="0" tIns="0" rIns="0" bIns="0" rtlCol="0" anchor="t"/>
          <a:lstStyle/>
          <a:p>
            <a:pPr indent="0" marL="0">
              <a:buNone/>
            </a:pPr>
            <a:r>
              <a:rPr lang="en-US" sz="3800" b="1" dirty="0">
                <a:solidFill>
                  <a:srgbClr val="23373B"/>
                </a:solidFill>
                <a:latin typeface="Pretendard" pitchFamily="34" charset="0"/>
                <a:ea typeface="Pretendard" pitchFamily="34" charset="-122"/>
                <a:cs typeface="Pretendard" pitchFamily="34" charset="-120"/>
              </a:rPr>
              <a:t>70%↓</a:t>
            </a:r>
            <a:endParaRPr lang="en-US" sz="3800" dirty="0"/>
          </a:p>
        </p:txBody>
      </p:sp>
      <p:sp>
        <p:nvSpPr>
          <p:cNvPr id="37" name="o230"/>
          <p:cNvSpPr txBox="1"/>
          <p:nvPr/>
        </p:nvSpPr>
        <p:spPr>
          <a:xfrm>
            <a:off x="9620250" y="339090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6B7B7E"/>
                </a:solidFill>
                <a:latin typeface="Pretendard" pitchFamily="34" charset="0"/>
                <a:ea typeface="Pretendard" pitchFamily="34" charset="-122"/>
                <a:cs typeface="Pretendard" pitchFamily="34" charset="-120"/>
              </a:rPr>
              <a:t>33분 48초 → 10분 이내</a:t>
            </a:r>
            <a:endParaRPr lang="en-US" sz="1100" dirty="0"/>
          </a:p>
        </p:txBody>
      </p:sp>
      <p:sp>
        <p:nvSpPr>
          <p:cNvPr id="38" name="o231"/>
          <p:cNvSpPr/>
          <p:nvPr/>
        </p:nvSpPr>
        <p:spPr>
          <a:xfrm>
            <a:off x="7124700" y="4133850"/>
            <a:ext cx="2152650" cy="2114550"/>
          </a:xfrm>
          <a:prstGeom prst="rect">
            <a:avLst/>
          </a:prstGeom>
          <a:solidFill>
            <a:srgbClr val="F2F2F2"/>
          </a:solidFill>
          <a:ln w="12700">
            <a:solidFill>
              <a:srgbClr val="E0E0E0"/>
            </a:solidFill>
            <a:prstDash val="solid"/>
          </a:ln>
        </p:spPr>
      </p:sp>
      <p:sp>
        <p:nvSpPr>
          <p:cNvPr id="39" name="o232"/>
          <p:cNvSpPr txBox="1"/>
          <p:nvPr/>
        </p:nvSpPr>
        <p:spPr>
          <a:xfrm>
            <a:off x="7315200" y="4305300"/>
            <a:ext cx="1771650" cy="152400"/>
          </a:xfrm>
          <a:prstGeom prst="rect">
            <a:avLst/>
          </a:prstGeom>
          <a:noFill/>
          <a:ln/>
        </p:spPr>
        <p:txBody>
          <a:bodyPr wrap="square" lIns="0" tIns="0" rIns="0" bIns="0" rtlCol="0" anchor="t"/>
          <a:lstStyle/>
          <a:p>
            <a:pPr indent="0" marL="0">
              <a:buNone/>
            </a:pPr>
            <a:r>
              <a:rPr lang="en-US" sz="1000" b="1" spc="100" kern="0" dirty="0">
                <a:solidFill>
                  <a:srgbClr val="23373B"/>
                </a:solidFill>
                <a:latin typeface="Pretendard" pitchFamily="34" charset="0"/>
                <a:ea typeface="Pretendard" pitchFamily="34" charset="-122"/>
                <a:cs typeface="Pretendard" pitchFamily="34" charset="-120"/>
              </a:rPr>
              <a:t>GOAL 03</a:t>
            </a:r>
            <a:endParaRPr lang="en-US" sz="1000" dirty="0"/>
          </a:p>
        </p:txBody>
      </p:sp>
      <p:sp>
        <p:nvSpPr>
          <p:cNvPr id="40" name="o233"/>
          <p:cNvSpPr txBox="1"/>
          <p:nvPr/>
        </p:nvSpPr>
        <p:spPr>
          <a:xfrm>
            <a:off x="7315200" y="4514850"/>
            <a:ext cx="1771650" cy="209550"/>
          </a:xfrm>
          <a:prstGeom prst="rect">
            <a:avLst/>
          </a:prstGeom>
          <a:noFill/>
          <a:ln/>
        </p:spPr>
        <p:txBody>
          <a:bodyPr wrap="square" lIns="0" tIns="0" rIns="0" bIns="0" rtlCol="0" anchor="t"/>
          <a:lstStyle/>
          <a:p>
            <a:pPr indent="0" marL="0">
              <a:buNone/>
            </a:pPr>
            <a:r>
              <a:rPr lang="en-US" sz="1400" b="1" dirty="0">
                <a:solidFill>
                  <a:srgbClr val="23373B"/>
                </a:solidFill>
                <a:latin typeface="Pretendard" pitchFamily="34" charset="0"/>
                <a:ea typeface="Pretendard" pitchFamily="34" charset="-122"/>
                <a:cs typeface="Pretendard" pitchFamily="34" charset="-120"/>
              </a:rPr>
              <a:t>종이 교육일지</a:t>
            </a:r>
            <a:endParaRPr lang="en-US" sz="1400" dirty="0"/>
          </a:p>
        </p:txBody>
      </p:sp>
      <p:sp>
        <p:nvSpPr>
          <p:cNvPr id="41" name="o234"/>
          <p:cNvSpPr txBox="1"/>
          <p:nvPr/>
        </p:nvSpPr>
        <p:spPr>
          <a:xfrm>
            <a:off x="7315200" y="4895850"/>
            <a:ext cx="1866900" cy="571500"/>
          </a:xfrm>
          <a:prstGeom prst="rect">
            <a:avLst/>
          </a:prstGeom>
          <a:noFill/>
          <a:ln/>
        </p:spPr>
        <p:txBody>
          <a:bodyPr wrap="square" lIns="0" tIns="0" rIns="0" bIns="0" rtlCol="0" anchor="t"/>
          <a:lstStyle/>
          <a:p>
            <a:pPr indent="0" marL="0">
              <a:buNone/>
            </a:pPr>
            <a:r>
              <a:rPr lang="en-US" sz="3800" b="1" dirty="0">
                <a:solidFill>
                  <a:srgbClr val="23373B"/>
                </a:solidFill>
                <a:latin typeface="Pretendard" pitchFamily="34" charset="0"/>
                <a:ea typeface="Pretendard" pitchFamily="34" charset="-122"/>
                <a:cs typeface="Pretendard" pitchFamily="34" charset="-120"/>
              </a:rPr>
              <a:t>0건</a:t>
            </a:r>
            <a:endParaRPr lang="en-US" sz="3800" dirty="0"/>
          </a:p>
        </p:txBody>
      </p:sp>
      <p:sp>
        <p:nvSpPr>
          <p:cNvPr id="42" name="o235"/>
          <p:cNvSpPr txBox="1"/>
          <p:nvPr/>
        </p:nvSpPr>
        <p:spPr>
          <a:xfrm>
            <a:off x="731520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6B7B7E"/>
                </a:solidFill>
                <a:latin typeface="Pretendard" pitchFamily="34" charset="0"/>
                <a:ea typeface="Pretendard" pitchFamily="34" charset="-122"/>
                <a:cs typeface="Pretendard" pitchFamily="34" charset="-120"/>
              </a:rPr>
              <a:t>연 94건 → 0건</a:t>
            </a:r>
            <a:endParaRPr lang="en-US" sz="1100" dirty="0"/>
          </a:p>
        </p:txBody>
      </p:sp>
      <p:sp>
        <p:nvSpPr>
          <p:cNvPr id="43" name="o236"/>
          <p:cNvSpPr/>
          <p:nvPr/>
        </p:nvSpPr>
        <p:spPr>
          <a:xfrm>
            <a:off x="9429750" y="4133850"/>
            <a:ext cx="2152650" cy="2114550"/>
          </a:xfrm>
          <a:prstGeom prst="rect">
            <a:avLst/>
          </a:prstGeom>
          <a:solidFill>
            <a:srgbClr val="F2F2F2"/>
          </a:solidFill>
          <a:ln w="12700">
            <a:solidFill>
              <a:srgbClr val="E0E0E0"/>
            </a:solidFill>
            <a:prstDash val="solid"/>
          </a:ln>
        </p:spPr>
      </p:sp>
      <p:sp>
        <p:nvSpPr>
          <p:cNvPr id="44" name="o237"/>
          <p:cNvSpPr txBox="1"/>
          <p:nvPr/>
        </p:nvSpPr>
        <p:spPr>
          <a:xfrm>
            <a:off x="9620250" y="4305300"/>
            <a:ext cx="1771650" cy="152400"/>
          </a:xfrm>
          <a:prstGeom prst="rect">
            <a:avLst/>
          </a:prstGeom>
          <a:noFill/>
          <a:ln/>
        </p:spPr>
        <p:txBody>
          <a:bodyPr wrap="square" lIns="0" tIns="0" rIns="0" bIns="0" rtlCol="0" anchor="t"/>
          <a:lstStyle/>
          <a:p>
            <a:pPr indent="0" marL="0">
              <a:buNone/>
            </a:pPr>
            <a:r>
              <a:rPr lang="en-US" sz="1000" b="1" spc="100" kern="0" dirty="0">
                <a:solidFill>
                  <a:srgbClr val="23373B"/>
                </a:solidFill>
                <a:latin typeface="Pretendard" pitchFamily="34" charset="0"/>
                <a:ea typeface="Pretendard" pitchFamily="34" charset="-122"/>
                <a:cs typeface="Pretendard" pitchFamily="34" charset="-120"/>
              </a:rPr>
              <a:t>GOAL 04</a:t>
            </a:r>
            <a:endParaRPr lang="en-US" sz="1000" dirty="0"/>
          </a:p>
        </p:txBody>
      </p:sp>
      <p:sp>
        <p:nvSpPr>
          <p:cNvPr id="45" name="o238"/>
          <p:cNvSpPr txBox="1"/>
          <p:nvPr/>
        </p:nvSpPr>
        <p:spPr>
          <a:xfrm>
            <a:off x="9620250" y="4514850"/>
            <a:ext cx="1771650" cy="209550"/>
          </a:xfrm>
          <a:prstGeom prst="rect">
            <a:avLst/>
          </a:prstGeom>
          <a:noFill/>
          <a:ln/>
        </p:spPr>
        <p:txBody>
          <a:bodyPr wrap="square" lIns="0" tIns="0" rIns="0" bIns="0" rtlCol="0" anchor="t"/>
          <a:lstStyle/>
          <a:p>
            <a:pPr indent="0" marL="0">
              <a:buNone/>
            </a:pPr>
            <a:r>
              <a:rPr lang="en-US" sz="1400" b="1" dirty="0">
                <a:solidFill>
                  <a:srgbClr val="23373B"/>
                </a:solidFill>
                <a:latin typeface="Pretendard" pitchFamily="34" charset="0"/>
                <a:ea typeface="Pretendard" pitchFamily="34" charset="-122"/>
                <a:cs typeface="Pretendard" pitchFamily="34" charset="-120"/>
              </a:rPr>
              <a:t>6대 모듈 구축</a:t>
            </a:r>
            <a:endParaRPr lang="en-US" sz="1400" dirty="0"/>
          </a:p>
        </p:txBody>
      </p:sp>
      <p:sp>
        <p:nvSpPr>
          <p:cNvPr id="46" name="o239"/>
          <p:cNvSpPr txBox="1"/>
          <p:nvPr/>
        </p:nvSpPr>
        <p:spPr>
          <a:xfrm>
            <a:off x="9620250" y="4895850"/>
            <a:ext cx="1866900" cy="571500"/>
          </a:xfrm>
          <a:prstGeom prst="rect">
            <a:avLst/>
          </a:prstGeom>
          <a:noFill/>
          <a:ln/>
        </p:spPr>
        <p:txBody>
          <a:bodyPr wrap="square" lIns="0" tIns="0" rIns="0" bIns="0" rtlCol="0" anchor="t"/>
          <a:lstStyle/>
          <a:p>
            <a:pPr indent="0" marL="0">
              <a:buNone/>
            </a:pPr>
            <a:r>
              <a:rPr lang="en-US" sz="3800" b="1" dirty="0">
                <a:solidFill>
                  <a:srgbClr val="23373B"/>
                </a:solidFill>
                <a:latin typeface="Pretendard" pitchFamily="34" charset="0"/>
                <a:ea typeface="Pretendard" pitchFamily="34" charset="-122"/>
                <a:cs typeface="Pretendard" pitchFamily="34" charset="-120"/>
              </a:rPr>
              <a:t>100%</a:t>
            </a:r>
            <a:endParaRPr lang="en-US" sz="3800" dirty="0"/>
          </a:p>
        </p:txBody>
      </p:sp>
      <p:sp>
        <p:nvSpPr>
          <p:cNvPr id="47" name="o240"/>
          <p:cNvSpPr txBox="1"/>
          <p:nvPr/>
        </p:nvSpPr>
        <p:spPr>
          <a:xfrm>
            <a:off x="962025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6B7B7E"/>
                </a:solidFill>
                <a:latin typeface="Pretendard" pitchFamily="34" charset="0"/>
                <a:ea typeface="Pretendard" pitchFamily="34" charset="-122"/>
                <a:cs typeface="Pretendard" pitchFamily="34" charset="-120"/>
              </a:rPr>
              <a:t>0 → 6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241"/>
          <p:cNvSpPr/>
          <p:nvPr/>
        </p:nvSpPr>
        <p:spPr>
          <a:xfrm>
            <a:off x="0" y="0"/>
            <a:ext cx="12192000" cy="1104900"/>
          </a:xfrm>
          <a:prstGeom prst="rect">
            <a:avLst/>
          </a:prstGeom>
          <a:solidFill>
            <a:srgbClr val="23373B"/>
          </a:solidFill>
          <a:ln/>
        </p:spPr>
      </p:sp>
      <p:sp>
        <p:nvSpPr>
          <p:cNvPr id="3" name="o242"/>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04   SOLUTION  ·  플랫폼 구성</a:t>
            </a:r>
            <a:endParaRPr lang="en-US" sz="1100" dirty="0"/>
          </a:p>
        </p:txBody>
      </p:sp>
      <p:sp>
        <p:nvSpPr>
          <p:cNvPr id="4" name="o243"/>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원인마다 하나씩, 6개 모듈로 설계했습니다</a:t>
            </a:r>
            <a:endParaRPr lang="en-US" sz="2600" dirty="0"/>
          </a:p>
        </p:txBody>
      </p:sp>
      <p:sp>
        <p:nvSpPr>
          <p:cNvPr id="5" name="o244"/>
          <p:cNvSpPr/>
          <p:nvPr/>
        </p:nvSpPr>
        <p:spPr>
          <a:xfrm>
            <a:off x="0" y="1104900"/>
            <a:ext cx="12192000" cy="28575"/>
          </a:xfrm>
          <a:prstGeom prst="rect">
            <a:avLst/>
          </a:prstGeom>
          <a:solidFill>
            <a:srgbClr val="D2D7D8"/>
          </a:solidFill>
          <a:ln/>
        </p:spPr>
      </p:sp>
      <p:sp>
        <p:nvSpPr>
          <p:cNvPr id="6" name="o245"/>
          <p:cNvSpPr/>
          <p:nvPr/>
        </p:nvSpPr>
        <p:spPr>
          <a:xfrm>
            <a:off x="0" y="1104900"/>
            <a:ext cx="6096000" cy="28575"/>
          </a:xfrm>
          <a:prstGeom prst="rect">
            <a:avLst/>
          </a:prstGeom>
          <a:solidFill>
            <a:srgbClr val="EB811B"/>
          </a:solidFill>
          <a:ln/>
        </p:spPr>
      </p:sp>
      <p:sp>
        <p:nvSpPr>
          <p:cNvPr id="7" name="o246"/>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8" name="o247"/>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07</a:t>
            </a:r>
            <a:endParaRPr lang="en-US" sz="1000" dirty="0"/>
          </a:p>
        </p:txBody>
      </p:sp>
      <p:sp>
        <p:nvSpPr>
          <p:cNvPr id="9" name="o248"/>
          <p:cNvSpPr/>
          <p:nvPr/>
        </p:nvSpPr>
        <p:spPr>
          <a:xfrm>
            <a:off x="609600" y="1333500"/>
            <a:ext cx="2571750" cy="381000"/>
          </a:xfrm>
          <a:prstGeom prst="rect">
            <a:avLst/>
          </a:prstGeom>
          <a:solidFill>
            <a:srgbClr val="FDF0E3"/>
          </a:solidFill>
          <a:ln w="12700">
            <a:solidFill>
              <a:srgbClr val="E0E0E0"/>
            </a:solidFill>
            <a:prstDash val="solid"/>
          </a:ln>
        </p:spPr>
      </p:sp>
      <p:sp>
        <p:nvSpPr>
          <p:cNvPr id="10" name="o249"/>
          <p:cNvSpPr txBox="1"/>
          <p:nvPr/>
        </p:nvSpPr>
        <p:spPr>
          <a:xfrm>
            <a:off x="609600" y="1333500"/>
            <a:ext cx="2571750" cy="381000"/>
          </a:xfrm>
          <a:prstGeom prst="rect">
            <a:avLst/>
          </a:prstGeom>
          <a:noFill/>
          <a:ln/>
        </p:spPr>
        <p:txBody>
          <a:bodyPr wrap="square" lIns="0" tIns="0" rIns="0" bIns="0" rtlCol="0" anchor="ctr"/>
          <a:lstStyle/>
          <a:p>
            <a:pPr algn="ctr" indent="0" marL="0">
              <a:buNone/>
            </a:pPr>
            <a:r>
              <a:rPr lang="en-US" sz="1400" b="1" dirty="0">
                <a:solidFill>
                  <a:srgbClr val="23373B"/>
                </a:solidFill>
                <a:latin typeface="Pretendard" pitchFamily="34" charset="0"/>
                <a:ea typeface="Pretendard" pitchFamily="34" charset="-122"/>
                <a:cs typeface="Pretendard" pitchFamily="34" charset="-120"/>
              </a:rPr>
              <a:t>모바일 작성</a:t>
            </a:r>
            <a:endParaRPr lang="en-US" sz="1400" dirty="0"/>
          </a:p>
        </p:txBody>
      </p:sp>
      <p:sp>
        <p:nvSpPr>
          <p:cNvPr id="11" name="o250"/>
          <p:cNvSpPr txBox="1"/>
          <p:nvPr/>
        </p:nvSpPr>
        <p:spPr>
          <a:xfrm>
            <a:off x="3181350" y="1333500"/>
            <a:ext cx="228600" cy="381000"/>
          </a:xfrm>
          <a:prstGeom prst="rect">
            <a:avLst/>
          </a:prstGeom>
          <a:noFill/>
          <a:ln/>
        </p:spPr>
        <p:txBody>
          <a:bodyPr wrap="square" lIns="0" tIns="0" rIns="0" bIns="0" rtlCol="0" anchor="ctr"/>
          <a:lstStyle/>
          <a:p>
            <a:pPr algn="ctr" indent="0" marL="0">
              <a:buNone/>
            </a:pPr>
            <a:r>
              <a:rPr lang="en-US" sz="2000" b="1" dirty="0">
                <a:solidFill>
                  <a:srgbClr val="EB811B"/>
                </a:solidFill>
                <a:latin typeface="Pretendard" pitchFamily="34" charset="0"/>
                <a:ea typeface="Pretendard" pitchFamily="34" charset="-122"/>
                <a:cs typeface="Pretendard" pitchFamily="34" charset="-120"/>
              </a:rPr>
              <a:t>›</a:t>
            </a:r>
            <a:endParaRPr lang="en-US" sz="2000" dirty="0"/>
          </a:p>
        </p:txBody>
      </p:sp>
      <p:sp>
        <p:nvSpPr>
          <p:cNvPr id="12" name="o251"/>
          <p:cNvSpPr/>
          <p:nvPr/>
        </p:nvSpPr>
        <p:spPr>
          <a:xfrm>
            <a:off x="3409950" y="1333500"/>
            <a:ext cx="2571750" cy="381000"/>
          </a:xfrm>
          <a:prstGeom prst="rect">
            <a:avLst/>
          </a:prstGeom>
          <a:solidFill>
            <a:srgbClr val="FDF0E3"/>
          </a:solidFill>
          <a:ln w="12700">
            <a:solidFill>
              <a:srgbClr val="E0E0E0"/>
            </a:solidFill>
            <a:prstDash val="solid"/>
          </a:ln>
        </p:spPr>
      </p:sp>
      <p:sp>
        <p:nvSpPr>
          <p:cNvPr id="13" name="o252"/>
          <p:cNvSpPr txBox="1"/>
          <p:nvPr/>
        </p:nvSpPr>
        <p:spPr>
          <a:xfrm>
            <a:off x="3409950" y="1333500"/>
            <a:ext cx="2571750" cy="381000"/>
          </a:xfrm>
          <a:prstGeom prst="rect">
            <a:avLst/>
          </a:prstGeom>
          <a:noFill/>
          <a:ln/>
        </p:spPr>
        <p:txBody>
          <a:bodyPr wrap="square" lIns="0" tIns="0" rIns="0" bIns="0" rtlCol="0" anchor="ctr"/>
          <a:lstStyle/>
          <a:p>
            <a:pPr algn="ctr" indent="0" marL="0">
              <a:buNone/>
            </a:pPr>
            <a:r>
              <a:rPr lang="en-US" sz="1400" b="1" dirty="0">
                <a:solidFill>
                  <a:srgbClr val="23373B"/>
                </a:solidFill>
                <a:latin typeface="Pretendard" pitchFamily="34" charset="0"/>
                <a:ea typeface="Pretendard" pitchFamily="34" charset="-122"/>
                <a:cs typeface="Pretendard" pitchFamily="34" charset="-120"/>
              </a:rPr>
              <a:t>전자서명</a:t>
            </a:r>
            <a:endParaRPr lang="en-US" sz="1400" dirty="0"/>
          </a:p>
        </p:txBody>
      </p:sp>
      <p:sp>
        <p:nvSpPr>
          <p:cNvPr id="14" name="o253"/>
          <p:cNvSpPr txBox="1"/>
          <p:nvPr/>
        </p:nvSpPr>
        <p:spPr>
          <a:xfrm>
            <a:off x="5981700" y="1333500"/>
            <a:ext cx="228600" cy="381000"/>
          </a:xfrm>
          <a:prstGeom prst="rect">
            <a:avLst/>
          </a:prstGeom>
          <a:noFill/>
          <a:ln/>
        </p:spPr>
        <p:txBody>
          <a:bodyPr wrap="square" lIns="0" tIns="0" rIns="0" bIns="0" rtlCol="0" anchor="ctr"/>
          <a:lstStyle/>
          <a:p>
            <a:pPr algn="ctr" indent="0" marL="0">
              <a:buNone/>
            </a:pPr>
            <a:r>
              <a:rPr lang="en-US" sz="2000" b="1" dirty="0">
                <a:solidFill>
                  <a:srgbClr val="EB811B"/>
                </a:solidFill>
                <a:latin typeface="Pretendard" pitchFamily="34" charset="0"/>
                <a:ea typeface="Pretendard" pitchFamily="34" charset="-122"/>
                <a:cs typeface="Pretendard" pitchFamily="34" charset="-120"/>
              </a:rPr>
              <a:t>›</a:t>
            </a:r>
            <a:endParaRPr lang="en-US" sz="2000" dirty="0"/>
          </a:p>
        </p:txBody>
      </p:sp>
      <p:sp>
        <p:nvSpPr>
          <p:cNvPr id="15" name="o254"/>
          <p:cNvSpPr/>
          <p:nvPr/>
        </p:nvSpPr>
        <p:spPr>
          <a:xfrm>
            <a:off x="6210300" y="1333500"/>
            <a:ext cx="2571750" cy="381000"/>
          </a:xfrm>
          <a:prstGeom prst="rect">
            <a:avLst/>
          </a:prstGeom>
          <a:solidFill>
            <a:srgbClr val="FDF0E3"/>
          </a:solidFill>
          <a:ln w="12700">
            <a:solidFill>
              <a:srgbClr val="E0E0E0"/>
            </a:solidFill>
            <a:prstDash val="solid"/>
          </a:ln>
        </p:spPr>
      </p:sp>
      <p:sp>
        <p:nvSpPr>
          <p:cNvPr id="16" name="o255"/>
          <p:cNvSpPr txBox="1"/>
          <p:nvPr/>
        </p:nvSpPr>
        <p:spPr>
          <a:xfrm>
            <a:off x="6210300" y="1333500"/>
            <a:ext cx="2571750" cy="381000"/>
          </a:xfrm>
          <a:prstGeom prst="rect">
            <a:avLst/>
          </a:prstGeom>
          <a:noFill/>
          <a:ln/>
        </p:spPr>
        <p:txBody>
          <a:bodyPr wrap="square" lIns="0" tIns="0" rIns="0" bIns="0" rtlCol="0" anchor="ctr"/>
          <a:lstStyle/>
          <a:p>
            <a:pPr algn="ctr" indent="0" marL="0">
              <a:buNone/>
            </a:pPr>
            <a:r>
              <a:rPr lang="en-US" sz="1400" b="1" dirty="0">
                <a:solidFill>
                  <a:srgbClr val="23373B"/>
                </a:solidFill>
                <a:latin typeface="Pretendard" pitchFamily="34" charset="0"/>
                <a:ea typeface="Pretendard" pitchFamily="34" charset="-122"/>
                <a:cs typeface="Pretendard" pitchFamily="34" charset="-120"/>
              </a:rPr>
              <a:t>비대면 승인</a:t>
            </a:r>
            <a:endParaRPr lang="en-US" sz="1400" dirty="0"/>
          </a:p>
        </p:txBody>
      </p:sp>
      <p:sp>
        <p:nvSpPr>
          <p:cNvPr id="17" name="o256"/>
          <p:cNvSpPr txBox="1"/>
          <p:nvPr/>
        </p:nvSpPr>
        <p:spPr>
          <a:xfrm>
            <a:off x="8782050" y="1333500"/>
            <a:ext cx="228600" cy="381000"/>
          </a:xfrm>
          <a:prstGeom prst="rect">
            <a:avLst/>
          </a:prstGeom>
          <a:noFill/>
          <a:ln/>
        </p:spPr>
        <p:txBody>
          <a:bodyPr wrap="square" lIns="0" tIns="0" rIns="0" bIns="0" rtlCol="0" anchor="ctr"/>
          <a:lstStyle/>
          <a:p>
            <a:pPr algn="ctr" indent="0" marL="0">
              <a:buNone/>
            </a:pPr>
            <a:r>
              <a:rPr lang="en-US" sz="2000" b="1" dirty="0">
                <a:solidFill>
                  <a:srgbClr val="EB811B"/>
                </a:solidFill>
                <a:latin typeface="Pretendard" pitchFamily="34" charset="0"/>
                <a:ea typeface="Pretendard" pitchFamily="34" charset="-122"/>
                <a:cs typeface="Pretendard" pitchFamily="34" charset="-120"/>
              </a:rPr>
              <a:t>›</a:t>
            </a:r>
            <a:endParaRPr lang="en-US" sz="2000" dirty="0"/>
          </a:p>
        </p:txBody>
      </p:sp>
      <p:sp>
        <p:nvSpPr>
          <p:cNvPr id="18" name="o257"/>
          <p:cNvSpPr/>
          <p:nvPr/>
        </p:nvSpPr>
        <p:spPr>
          <a:xfrm>
            <a:off x="9010650" y="1333500"/>
            <a:ext cx="2571750" cy="381000"/>
          </a:xfrm>
          <a:prstGeom prst="rect">
            <a:avLst/>
          </a:prstGeom>
          <a:solidFill>
            <a:srgbClr val="FDF0E3"/>
          </a:solidFill>
          <a:ln w="12700">
            <a:solidFill>
              <a:srgbClr val="E0E0E0"/>
            </a:solidFill>
            <a:prstDash val="solid"/>
          </a:ln>
        </p:spPr>
      </p:sp>
      <p:sp>
        <p:nvSpPr>
          <p:cNvPr id="19" name="o258"/>
          <p:cNvSpPr txBox="1"/>
          <p:nvPr/>
        </p:nvSpPr>
        <p:spPr>
          <a:xfrm>
            <a:off x="9010650" y="1333500"/>
            <a:ext cx="2571750" cy="381000"/>
          </a:xfrm>
          <a:prstGeom prst="rect">
            <a:avLst/>
          </a:prstGeom>
          <a:noFill/>
          <a:ln/>
        </p:spPr>
        <p:txBody>
          <a:bodyPr wrap="square" lIns="0" tIns="0" rIns="0" bIns="0" rtlCol="0" anchor="ctr"/>
          <a:lstStyle/>
          <a:p>
            <a:pPr algn="ctr" indent="0" marL="0">
              <a:buNone/>
            </a:pPr>
            <a:r>
              <a:rPr lang="en-US" sz="1400" b="1" dirty="0">
                <a:solidFill>
                  <a:srgbClr val="23373B"/>
                </a:solidFill>
                <a:latin typeface="Pretendard" pitchFamily="34" charset="0"/>
                <a:ea typeface="Pretendard" pitchFamily="34" charset="-122"/>
                <a:cs typeface="Pretendard" pitchFamily="34" charset="-120"/>
              </a:rPr>
              <a:t>자동 보관 · 대시보드</a:t>
            </a:r>
            <a:endParaRPr lang="en-US" sz="1400" dirty="0"/>
          </a:p>
        </p:txBody>
      </p:sp>
      <p:sp>
        <p:nvSpPr>
          <p:cNvPr id="20" name="o259"/>
          <p:cNvSpPr/>
          <p:nvPr/>
        </p:nvSpPr>
        <p:spPr>
          <a:xfrm>
            <a:off x="609600" y="1828800"/>
            <a:ext cx="3530600" cy="1905000"/>
          </a:xfrm>
          <a:prstGeom prst="rect">
            <a:avLst/>
          </a:prstGeom>
          <a:solidFill>
            <a:srgbClr val="FFFFFF"/>
          </a:solidFill>
          <a:ln w="12700">
            <a:solidFill>
              <a:srgbClr val="D8D8D8"/>
            </a:solidFill>
            <a:prstDash val="solid"/>
          </a:ln>
        </p:spPr>
      </p:sp>
      <p:sp>
        <p:nvSpPr>
          <p:cNvPr id="21" name="o260"/>
          <p:cNvSpPr txBox="1"/>
          <p:nvPr/>
        </p:nvSpPr>
        <p:spPr>
          <a:xfrm>
            <a:off x="838200" y="2019300"/>
            <a:ext cx="571500" cy="22860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01</a:t>
            </a:r>
            <a:endParaRPr lang="en-US" sz="1800" dirty="0"/>
          </a:p>
        </p:txBody>
      </p:sp>
      <p:sp>
        <p:nvSpPr>
          <p:cNvPr id="22" name="o261"/>
          <p:cNvSpPr/>
          <p:nvPr/>
        </p:nvSpPr>
        <p:spPr>
          <a:xfrm>
            <a:off x="3149600" y="2019300"/>
            <a:ext cx="762000" cy="209550"/>
          </a:xfrm>
          <a:prstGeom prst="rect">
            <a:avLst/>
          </a:prstGeom>
          <a:solidFill>
            <a:srgbClr val="FDF0E3"/>
          </a:solidFill>
          <a:ln/>
        </p:spPr>
      </p:sp>
      <p:sp>
        <p:nvSpPr>
          <p:cNvPr id="23" name="o262"/>
          <p:cNvSpPr txBox="1"/>
          <p:nvPr/>
        </p:nvSpPr>
        <p:spPr>
          <a:xfrm>
            <a:off x="3149600" y="2019300"/>
            <a:ext cx="7620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CF1</a:t>
            </a:r>
            <a:endParaRPr lang="en-US" sz="900" dirty="0"/>
          </a:p>
        </p:txBody>
      </p:sp>
      <p:sp>
        <p:nvSpPr>
          <p:cNvPr id="24" name="o263"/>
          <p:cNvSpPr txBox="1"/>
          <p:nvPr/>
        </p:nvSpPr>
        <p:spPr>
          <a:xfrm>
            <a:off x="838200" y="2400300"/>
            <a:ext cx="3073400" cy="266700"/>
          </a:xfrm>
          <a:prstGeom prst="rect">
            <a:avLst/>
          </a:prstGeom>
          <a:noFill/>
          <a:ln/>
        </p:spPr>
        <p:txBody>
          <a:bodyPr wrap="square" lIns="0" tIns="0" rIns="0" bIns="0" rtlCol="0" anchor="t"/>
          <a:lstStyle/>
          <a:p>
            <a:pPr indent="0" marL="0">
              <a:buNone/>
            </a:pPr>
            <a:r>
              <a:rPr lang="en-US" sz="1700" b="1" dirty="0">
                <a:solidFill>
                  <a:srgbClr val="23373B"/>
                </a:solidFill>
                <a:latin typeface="Pretendard" pitchFamily="34" charset="0"/>
                <a:ea typeface="Pretendard" pitchFamily="34" charset="-122"/>
                <a:cs typeface="Pretendard" pitchFamily="34" charset="-120"/>
              </a:rPr>
              <a:t>MSDS 디지털 라이브러리</a:t>
            </a:r>
            <a:endParaRPr lang="en-US" sz="1700" dirty="0"/>
          </a:p>
        </p:txBody>
      </p:sp>
      <p:sp>
        <p:nvSpPr>
          <p:cNvPr id="25" name="o264"/>
          <p:cNvSpPr txBox="1"/>
          <p:nvPr/>
        </p:nvSpPr>
        <p:spPr>
          <a:xfrm>
            <a:off x="8382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부서별 유해화학물질 조회</a:t>
            </a:r>
            <a:endParaRPr lang="en-US" sz="1300" dirty="0"/>
          </a:p>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경고표지 · 응급조치 · 원본 PDF 원클릭</a:t>
            </a:r>
            <a:endParaRPr lang="en-US" sz="1300" dirty="0"/>
          </a:p>
        </p:txBody>
      </p:sp>
      <p:sp>
        <p:nvSpPr>
          <p:cNvPr id="26" name="o265"/>
          <p:cNvSpPr/>
          <p:nvPr/>
        </p:nvSpPr>
        <p:spPr>
          <a:xfrm>
            <a:off x="4330700" y="1828800"/>
            <a:ext cx="3530600" cy="1905000"/>
          </a:xfrm>
          <a:prstGeom prst="rect">
            <a:avLst/>
          </a:prstGeom>
          <a:solidFill>
            <a:srgbClr val="FFFFFF"/>
          </a:solidFill>
          <a:ln w="12700">
            <a:solidFill>
              <a:srgbClr val="D8D8D8"/>
            </a:solidFill>
            <a:prstDash val="solid"/>
          </a:ln>
        </p:spPr>
      </p:sp>
      <p:sp>
        <p:nvSpPr>
          <p:cNvPr id="27" name="o266"/>
          <p:cNvSpPr txBox="1"/>
          <p:nvPr/>
        </p:nvSpPr>
        <p:spPr>
          <a:xfrm>
            <a:off x="4559300" y="2019300"/>
            <a:ext cx="571500" cy="22860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02</a:t>
            </a:r>
            <a:endParaRPr lang="en-US" sz="1800" dirty="0"/>
          </a:p>
        </p:txBody>
      </p:sp>
      <p:sp>
        <p:nvSpPr>
          <p:cNvPr id="28" name="o267"/>
          <p:cNvSpPr/>
          <p:nvPr/>
        </p:nvSpPr>
        <p:spPr>
          <a:xfrm>
            <a:off x="6870700" y="2019300"/>
            <a:ext cx="762000" cy="209550"/>
          </a:xfrm>
          <a:prstGeom prst="rect">
            <a:avLst/>
          </a:prstGeom>
          <a:solidFill>
            <a:srgbClr val="FDF0E3"/>
          </a:solidFill>
          <a:ln/>
        </p:spPr>
      </p:sp>
      <p:sp>
        <p:nvSpPr>
          <p:cNvPr id="29" name="o268"/>
          <p:cNvSpPr txBox="1"/>
          <p:nvPr/>
        </p:nvSpPr>
        <p:spPr>
          <a:xfrm>
            <a:off x="6870700" y="2019300"/>
            <a:ext cx="7620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CF2 · 3</a:t>
            </a:r>
            <a:endParaRPr lang="en-US" sz="900" dirty="0"/>
          </a:p>
        </p:txBody>
      </p:sp>
      <p:sp>
        <p:nvSpPr>
          <p:cNvPr id="30" name="o269"/>
          <p:cNvSpPr txBox="1"/>
          <p:nvPr/>
        </p:nvSpPr>
        <p:spPr>
          <a:xfrm>
            <a:off x="4559300" y="2400300"/>
            <a:ext cx="3073400" cy="266700"/>
          </a:xfrm>
          <a:prstGeom prst="rect">
            <a:avLst/>
          </a:prstGeom>
          <a:noFill/>
          <a:ln/>
        </p:spPr>
        <p:txBody>
          <a:bodyPr wrap="square" lIns="0" tIns="0" rIns="0" bIns="0" rtlCol="0" anchor="t"/>
          <a:lstStyle/>
          <a:p>
            <a:pPr indent="0" marL="0">
              <a:buNone/>
            </a:pPr>
            <a:r>
              <a:rPr lang="en-US" sz="1700" b="1" dirty="0">
                <a:solidFill>
                  <a:srgbClr val="23373B"/>
                </a:solidFill>
                <a:latin typeface="Pretendard" pitchFamily="34" charset="0"/>
                <a:ea typeface="Pretendard" pitchFamily="34" charset="-122"/>
                <a:cs typeface="Pretendard" pitchFamily="34" charset="-120"/>
              </a:rPr>
              <a:t>모바일 교육일지 · 전자서명</a:t>
            </a:r>
            <a:endParaRPr lang="en-US" sz="1700" dirty="0"/>
          </a:p>
        </p:txBody>
      </p:sp>
      <p:sp>
        <p:nvSpPr>
          <p:cNvPr id="31" name="o270"/>
          <p:cNvSpPr txBox="1"/>
          <p:nvPr/>
        </p:nvSpPr>
        <p:spPr>
          <a:xfrm>
            <a:off x="45593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인사 DB 연동, 이름 검색만으로</a:t>
            </a:r>
            <a:endParaRPr lang="en-US" sz="1300" dirty="0"/>
          </a:p>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일지 자동 작성 · 서명 즉시 DB 저장</a:t>
            </a:r>
            <a:endParaRPr lang="en-US" sz="1300" dirty="0"/>
          </a:p>
        </p:txBody>
      </p:sp>
      <p:sp>
        <p:nvSpPr>
          <p:cNvPr id="32" name="o271"/>
          <p:cNvSpPr/>
          <p:nvPr/>
        </p:nvSpPr>
        <p:spPr>
          <a:xfrm>
            <a:off x="8051800" y="1828800"/>
            <a:ext cx="3530600" cy="1905000"/>
          </a:xfrm>
          <a:prstGeom prst="rect">
            <a:avLst/>
          </a:prstGeom>
          <a:solidFill>
            <a:srgbClr val="FFFFFF"/>
          </a:solidFill>
          <a:ln w="12700">
            <a:solidFill>
              <a:srgbClr val="D8D8D8"/>
            </a:solidFill>
            <a:prstDash val="solid"/>
          </a:ln>
        </p:spPr>
      </p:sp>
      <p:sp>
        <p:nvSpPr>
          <p:cNvPr id="33" name="o272"/>
          <p:cNvSpPr txBox="1"/>
          <p:nvPr/>
        </p:nvSpPr>
        <p:spPr>
          <a:xfrm>
            <a:off x="8280400" y="2019300"/>
            <a:ext cx="571500" cy="22860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03</a:t>
            </a:r>
            <a:endParaRPr lang="en-US" sz="1800" dirty="0"/>
          </a:p>
        </p:txBody>
      </p:sp>
      <p:sp>
        <p:nvSpPr>
          <p:cNvPr id="34" name="o273"/>
          <p:cNvSpPr/>
          <p:nvPr/>
        </p:nvSpPr>
        <p:spPr>
          <a:xfrm>
            <a:off x="10591800" y="2019300"/>
            <a:ext cx="762000" cy="209550"/>
          </a:xfrm>
          <a:prstGeom prst="rect">
            <a:avLst/>
          </a:prstGeom>
          <a:solidFill>
            <a:srgbClr val="FDF0E3"/>
          </a:solidFill>
          <a:ln/>
        </p:spPr>
      </p:sp>
      <p:sp>
        <p:nvSpPr>
          <p:cNvPr id="35" name="o274"/>
          <p:cNvSpPr txBox="1"/>
          <p:nvPr/>
        </p:nvSpPr>
        <p:spPr>
          <a:xfrm>
            <a:off x="10591800" y="2019300"/>
            <a:ext cx="7620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CF4 · 5</a:t>
            </a:r>
            <a:endParaRPr lang="en-US" sz="900" dirty="0"/>
          </a:p>
        </p:txBody>
      </p:sp>
      <p:sp>
        <p:nvSpPr>
          <p:cNvPr id="36" name="o275"/>
          <p:cNvSpPr txBox="1"/>
          <p:nvPr/>
        </p:nvSpPr>
        <p:spPr>
          <a:xfrm>
            <a:off x="8280400" y="2400300"/>
            <a:ext cx="3073400" cy="266700"/>
          </a:xfrm>
          <a:prstGeom prst="rect">
            <a:avLst/>
          </a:prstGeom>
          <a:noFill/>
          <a:ln/>
        </p:spPr>
        <p:txBody>
          <a:bodyPr wrap="square" lIns="0" tIns="0" rIns="0" bIns="0" rtlCol="0" anchor="t"/>
          <a:lstStyle/>
          <a:p>
            <a:pPr indent="0" marL="0">
              <a:buNone/>
            </a:pPr>
            <a:r>
              <a:rPr lang="en-US" sz="1700" b="1" dirty="0">
                <a:solidFill>
                  <a:srgbClr val="23373B"/>
                </a:solidFill>
                <a:latin typeface="Pretendard" pitchFamily="34" charset="0"/>
                <a:ea typeface="Pretendard" pitchFamily="34" charset="-122"/>
                <a:cs typeface="Pretendard" pitchFamily="34" charset="-120"/>
              </a:rPr>
              <a:t>비대면 전자결재</a:t>
            </a:r>
            <a:endParaRPr lang="en-US" sz="1700" dirty="0"/>
          </a:p>
        </p:txBody>
      </p:sp>
      <p:sp>
        <p:nvSpPr>
          <p:cNvPr id="37" name="o276"/>
          <p:cNvSpPr txBox="1"/>
          <p:nvPr/>
        </p:nvSpPr>
        <p:spPr>
          <a:xfrm>
            <a:off x="82804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서명 완료 즉시 관리자 알림</a:t>
            </a:r>
            <a:endParaRPr lang="en-US" sz="1300" dirty="0"/>
          </a:p>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장소 제약 없는 원격 승인</a:t>
            </a:r>
            <a:endParaRPr lang="en-US" sz="1300" dirty="0"/>
          </a:p>
        </p:txBody>
      </p:sp>
      <p:sp>
        <p:nvSpPr>
          <p:cNvPr id="38" name="o277"/>
          <p:cNvSpPr/>
          <p:nvPr/>
        </p:nvSpPr>
        <p:spPr>
          <a:xfrm>
            <a:off x="609600" y="3886200"/>
            <a:ext cx="3530600" cy="1905000"/>
          </a:xfrm>
          <a:prstGeom prst="rect">
            <a:avLst/>
          </a:prstGeom>
          <a:solidFill>
            <a:srgbClr val="FFFFFF"/>
          </a:solidFill>
          <a:ln w="12700">
            <a:solidFill>
              <a:srgbClr val="D8D8D8"/>
            </a:solidFill>
            <a:prstDash val="solid"/>
          </a:ln>
        </p:spPr>
      </p:sp>
      <p:sp>
        <p:nvSpPr>
          <p:cNvPr id="39" name="o278"/>
          <p:cNvSpPr txBox="1"/>
          <p:nvPr/>
        </p:nvSpPr>
        <p:spPr>
          <a:xfrm>
            <a:off x="838200" y="4076700"/>
            <a:ext cx="571500" cy="22860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04</a:t>
            </a:r>
            <a:endParaRPr lang="en-US" sz="1800" dirty="0"/>
          </a:p>
        </p:txBody>
      </p:sp>
      <p:sp>
        <p:nvSpPr>
          <p:cNvPr id="40" name="o279"/>
          <p:cNvSpPr/>
          <p:nvPr/>
        </p:nvSpPr>
        <p:spPr>
          <a:xfrm>
            <a:off x="3149600" y="4076700"/>
            <a:ext cx="762000" cy="209550"/>
          </a:xfrm>
          <a:prstGeom prst="rect">
            <a:avLst/>
          </a:prstGeom>
          <a:solidFill>
            <a:srgbClr val="FDF0E3"/>
          </a:solidFill>
          <a:ln/>
        </p:spPr>
      </p:sp>
      <p:sp>
        <p:nvSpPr>
          <p:cNvPr id="41" name="o280"/>
          <p:cNvSpPr txBox="1"/>
          <p:nvPr/>
        </p:nvSpPr>
        <p:spPr>
          <a:xfrm>
            <a:off x="3149600" y="4076700"/>
            <a:ext cx="7620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CF7</a:t>
            </a:r>
            <a:endParaRPr lang="en-US" sz="900" dirty="0"/>
          </a:p>
        </p:txBody>
      </p:sp>
      <p:sp>
        <p:nvSpPr>
          <p:cNvPr id="42" name="o281"/>
          <p:cNvSpPr txBox="1"/>
          <p:nvPr/>
        </p:nvSpPr>
        <p:spPr>
          <a:xfrm>
            <a:off x="838200" y="4457700"/>
            <a:ext cx="3073400" cy="266700"/>
          </a:xfrm>
          <a:prstGeom prst="rect">
            <a:avLst/>
          </a:prstGeom>
          <a:noFill/>
          <a:ln/>
        </p:spPr>
        <p:txBody>
          <a:bodyPr wrap="square" lIns="0" tIns="0" rIns="0" bIns="0" rtlCol="0" anchor="t"/>
          <a:lstStyle/>
          <a:p>
            <a:pPr indent="0" marL="0">
              <a:buNone/>
            </a:pPr>
            <a:r>
              <a:rPr lang="en-US" sz="1700" b="1" dirty="0">
                <a:solidFill>
                  <a:srgbClr val="23373B"/>
                </a:solidFill>
                <a:latin typeface="Pretendard" pitchFamily="34" charset="0"/>
                <a:ea typeface="Pretendard" pitchFamily="34" charset="-122"/>
                <a:cs typeface="Pretendard" pitchFamily="34" charset="-120"/>
              </a:rPr>
              <a:t>보호구 · 법정서류 전산화</a:t>
            </a:r>
            <a:endParaRPr lang="en-US" sz="1700" dirty="0"/>
          </a:p>
        </p:txBody>
      </p:sp>
      <p:sp>
        <p:nvSpPr>
          <p:cNvPr id="43" name="o282"/>
          <p:cNvSpPr txBox="1"/>
          <p:nvPr/>
        </p:nvSpPr>
        <p:spPr>
          <a:xfrm>
            <a:off x="8382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보호구 수령증, 유해화학물질</a:t>
            </a:r>
            <a:endParaRPr lang="en-US" sz="1300" dirty="0"/>
          </a:p>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신규 · 중단 보고서 단일 창구</a:t>
            </a:r>
            <a:endParaRPr lang="en-US" sz="1300" dirty="0"/>
          </a:p>
        </p:txBody>
      </p:sp>
      <p:sp>
        <p:nvSpPr>
          <p:cNvPr id="44" name="o283"/>
          <p:cNvSpPr/>
          <p:nvPr/>
        </p:nvSpPr>
        <p:spPr>
          <a:xfrm>
            <a:off x="4330700" y="3886200"/>
            <a:ext cx="3530600" cy="1905000"/>
          </a:xfrm>
          <a:prstGeom prst="rect">
            <a:avLst/>
          </a:prstGeom>
          <a:solidFill>
            <a:srgbClr val="FFFFFF"/>
          </a:solidFill>
          <a:ln w="12700">
            <a:solidFill>
              <a:srgbClr val="D8D8D8"/>
            </a:solidFill>
            <a:prstDash val="solid"/>
          </a:ln>
        </p:spPr>
      </p:sp>
      <p:sp>
        <p:nvSpPr>
          <p:cNvPr id="45" name="o284"/>
          <p:cNvSpPr txBox="1"/>
          <p:nvPr/>
        </p:nvSpPr>
        <p:spPr>
          <a:xfrm>
            <a:off x="4559300" y="4076700"/>
            <a:ext cx="571500" cy="22860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05</a:t>
            </a:r>
            <a:endParaRPr lang="en-US" sz="1800" dirty="0"/>
          </a:p>
        </p:txBody>
      </p:sp>
      <p:sp>
        <p:nvSpPr>
          <p:cNvPr id="46" name="o285"/>
          <p:cNvSpPr/>
          <p:nvPr/>
        </p:nvSpPr>
        <p:spPr>
          <a:xfrm>
            <a:off x="6870700" y="4076700"/>
            <a:ext cx="762000" cy="209550"/>
          </a:xfrm>
          <a:prstGeom prst="rect">
            <a:avLst/>
          </a:prstGeom>
          <a:solidFill>
            <a:srgbClr val="FDF0E3"/>
          </a:solidFill>
          <a:ln/>
        </p:spPr>
      </p:sp>
      <p:sp>
        <p:nvSpPr>
          <p:cNvPr id="47" name="o286"/>
          <p:cNvSpPr txBox="1"/>
          <p:nvPr/>
        </p:nvSpPr>
        <p:spPr>
          <a:xfrm>
            <a:off x="6870700" y="4076700"/>
            <a:ext cx="7620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CF6</a:t>
            </a:r>
            <a:endParaRPr lang="en-US" sz="900" dirty="0"/>
          </a:p>
        </p:txBody>
      </p:sp>
      <p:sp>
        <p:nvSpPr>
          <p:cNvPr id="48" name="o287"/>
          <p:cNvSpPr txBox="1"/>
          <p:nvPr/>
        </p:nvSpPr>
        <p:spPr>
          <a:xfrm>
            <a:off x="4559300" y="4457700"/>
            <a:ext cx="3073400" cy="266700"/>
          </a:xfrm>
          <a:prstGeom prst="rect">
            <a:avLst/>
          </a:prstGeom>
          <a:noFill/>
          <a:ln/>
        </p:spPr>
        <p:txBody>
          <a:bodyPr wrap="square" lIns="0" tIns="0" rIns="0" bIns="0" rtlCol="0" anchor="t"/>
          <a:lstStyle/>
          <a:p>
            <a:pPr indent="0" marL="0">
              <a:buNone/>
            </a:pPr>
            <a:r>
              <a:rPr lang="en-US" sz="1700" b="1" dirty="0">
                <a:solidFill>
                  <a:srgbClr val="23373B"/>
                </a:solidFill>
                <a:latin typeface="Pretendard" pitchFamily="34" charset="0"/>
                <a:ea typeface="Pretendard" pitchFamily="34" charset="-122"/>
                <a:cs typeface="Pretendard" pitchFamily="34" charset="-120"/>
              </a:rPr>
              <a:t>관리자 모니터링 대시보드</a:t>
            </a:r>
            <a:endParaRPr lang="en-US" sz="1700" dirty="0"/>
          </a:p>
        </p:txBody>
      </p:sp>
      <p:sp>
        <p:nvSpPr>
          <p:cNvPr id="49" name="o288"/>
          <p:cNvSpPr txBox="1"/>
          <p:nvPr/>
        </p:nvSpPr>
        <p:spPr>
          <a:xfrm>
            <a:off x="45593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부서 · 기간 · 근로자별</a:t>
            </a:r>
            <a:endParaRPr lang="en-US" sz="1300" dirty="0"/>
          </a:p>
          <a:p>
            <a:pPr indent="0" marL="0">
              <a:lnSpc>
                <a:spcPct val="145000"/>
              </a:lnSpc>
              <a:buNone/>
            </a:pPr>
            <a:r>
              <a:rPr lang="en-US" sz="1300" dirty="0">
                <a:solidFill>
                  <a:srgbClr val="3D4F52"/>
                </a:solidFill>
                <a:latin typeface="Pretendard" pitchFamily="34" charset="0"/>
                <a:ea typeface="Pretendard" pitchFamily="34" charset="-122"/>
                <a:cs typeface="Pretendard" pitchFamily="34" charset="-120"/>
              </a:rPr>
              <a:t>교육 이수 현황 실시간 조회</a:t>
            </a:r>
            <a:endParaRPr lang="en-US" sz="1300" dirty="0"/>
          </a:p>
        </p:txBody>
      </p:sp>
      <p:sp>
        <p:nvSpPr>
          <p:cNvPr id="50" name="o289"/>
          <p:cNvSpPr/>
          <p:nvPr/>
        </p:nvSpPr>
        <p:spPr>
          <a:xfrm>
            <a:off x="8051800" y="3886200"/>
            <a:ext cx="3530600" cy="1905000"/>
          </a:xfrm>
          <a:prstGeom prst="rect">
            <a:avLst/>
          </a:prstGeom>
          <a:solidFill>
            <a:srgbClr val="EB811B"/>
          </a:solidFill>
          <a:ln/>
        </p:spPr>
      </p:sp>
      <p:sp>
        <p:nvSpPr>
          <p:cNvPr id="51" name="o290"/>
          <p:cNvSpPr txBox="1"/>
          <p:nvPr/>
        </p:nvSpPr>
        <p:spPr>
          <a:xfrm>
            <a:off x="8280400" y="4076700"/>
            <a:ext cx="571500" cy="228600"/>
          </a:xfrm>
          <a:prstGeom prst="rect">
            <a:avLst/>
          </a:prstGeom>
          <a:noFill/>
          <a:ln/>
        </p:spPr>
        <p:txBody>
          <a:bodyPr wrap="square" lIns="0" tIns="0" rIns="0" bIns="0" rtlCol="0" anchor="t"/>
          <a:lstStyle/>
          <a:p>
            <a:pPr indent="0" marL="0">
              <a:buNone/>
            </a:pPr>
            <a:r>
              <a:rPr lang="en-US" sz="1800" b="1" dirty="0">
                <a:solidFill>
                  <a:srgbClr val="FFFFFF"/>
                </a:solidFill>
                <a:latin typeface="Pretendard" pitchFamily="34" charset="0"/>
                <a:ea typeface="Pretendard" pitchFamily="34" charset="-122"/>
                <a:cs typeface="Pretendard" pitchFamily="34" charset="-120"/>
              </a:rPr>
              <a:t>06</a:t>
            </a:r>
            <a:endParaRPr lang="en-US" sz="1800" dirty="0"/>
          </a:p>
        </p:txBody>
      </p:sp>
      <p:sp>
        <p:nvSpPr>
          <p:cNvPr id="52" name="o291"/>
          <p:cNvSpPr/>
          <p:nvPr/>
        </p:nvSpPr>
        <p:spPr>
          <a:xfrm>
            <a:off x="10591800" y="4076700"/>
            <a:ext cx="762000" cy="209550"/>
          </a:xfrm>
          <a:prstGeom prst="rect">
            <a:avLst/>
          </a:prstGeom>
          <a:solidFill>
            <a:srgbClr val="FFFFFF"/>
          </a:solidFill>
          <a:ln/>
        </p:spPr>
      </p:sp>
      <p:sp>
        <p:nvSpPr>
          <p:cNvPr id="53" name="o292"/>
          <p:cNvSpPr txBox="1"/>
          <p:nvPr/>
        </p:nvSpPr>
        <p:spPr>
          <a:xfrm>
            <a:off x="10591800" y="4076700"/>
            <a:ext cx="7620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AI</a:t>
            </a:r>
            <a:endParaRPr lang="en-US" sz="900" dirty="0"/>
          </a:p>
        </p:txBody>
      </p:sp>
      <p:sp>
        <p:nvSpPr>
          <p:cNvPr id="54" name="o293"/>
          <p:cNvSpPr txBox="1"/>
          <p:nvPr/>
        </p:nvSpPr>
        <p:spPr>
          <a:xfrm>
            <a:off x="8280400" y="4457700"/>
            <a:ext cx="3073400" cy="266700"/>
          </a:xfrm>
          <a:prstGeom prst="rect">
            <a:avLst/>
          </a:prstGeom>
          <a:noFill/>
          <a:ln/>
        </p:spPr>
        <p:txBody>
          <a:bodyPr wrap="square" lIns="0" tIns="0" rIns="0" bIns="0" rtlCol="0" anchor="t"/>
          <a:lstStyle/>
          <a:p>
            <a:pPr indent="0" marL="0">
              <a:buNone/>
            </a:pPr>
            <a:r>
              <a:rPr lang="en-US" sz="1700" b="1" dirty="0">
                <a:solidFill>
                  <a:srgbClr val="FFFFFF"/>
                </a:solidFill>
                <a:latin typeface="Pretendard" pitchFamily="34" charset="0"/>
                <a:ea typeface="Pretendard" pitchFamily="34" charset="-122"/>
                <a:cs typeface="Pretendard" pitchFamily="34" charset="-120"/>
              </a:rPr>
              <a:t>AI 수시 위험성평가</a:t>
            </a:r>
            <a:endParaRPr lang="en-US" sz="1700" dirty="0"/>
          </a:p>
        </p:txBody>
      </p:sp>
      <p:sp>
        <p:nvSpPr>
          <p:cNvPr id="55" name="o294"/>
          <p:cNvSpPr txBox="1"/>
          <p:nvPr/>
        </p:nvSpPr>
        <p:spPr>
          <a:xfrm>
            <a:off x="82804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현장 사진 · 작업 입력 → 위험요인 ·</a:t>
            </a:r>
            <a:endParaRPr lang="en-US" sz="1300" dirty="0"/>
          </a:p>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위험도 산출 → 평가서 자동 작성</a:t>
            </a:r>
            <a:endParaRPr lang="en-US" sz="1300" dirty="0"/>
          </a:p>
        </p:txBody>
      </p:sp>
      <p:sp>
        <p:nvSpPr>
          <p:cNvPr id="56" name="o295"/>
          <p:cNvSpPr txBox="1"/>
          <p:nvPr/>
        </p:nvSpPr>
        <p:spPr>
          <a:xfrm>
            <a:off x="609600" y="6000750"/>
            <a:ext cx="109728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AppSheet · Google Sheets · Apps Script · EmailJS · GitHub 기반 자체 개발   |   4월 프로토타입 → 61병동 시범 → 전 부서 확대</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296"/>
          <p:cNvSpPr/>
          <p:nvPr/>
        </p:nvSpPr>
        <p:spPr>
          <a:xfrm>
            <a:off x="0" y="0"/>
            <a:ext cx="12192000" cy="1104900"/>
          </a:xfrm>
          <a:prstGeom prst="rect">
            <a:avLst/>
          </a:prstGeom>
          <a:solidFill>
            <a:srgbClr val="23373B"/>
          </a:solidFill>
          <a:ln/>
        </p:spPr>
      </p:sp>
      <p:sp>
        <p:nvSpPr>
          <p:cNvPr id="3" name="o297"/>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05   DEMO  ·  시연</a:t>
            </a:r>
            <a:endParaRPr lang="en-US" sz="1100" dirty="0"/>
          </a:p>
        </p:txBody>
      </p:sp>
      <p:sp>
        <p:nvSpPr>
          <p:cNvPr id="4" name="o298"/>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신규 입사자 1명의 교육, 작성부터 승인까지 한 화면에서</a:t>
            </a:r>
            <a:endParaRPr lang="en-US" sz="2600" dirty="0"/>
          </a:p>
        </p:txBody>
      </p:sp>
      <p:sp>
        <p:nvSpPr>
          <p:cNvPr id="5" name="o299"/>
          <p:cNvSpPr/>
          <p:nvPr/>
        </p:nvSpPr>
        <p:spPr>
          <a:xfrm>
            <a:off x="0" y="1104900"/>
            <a:ext cx="12192000" cy="28575"/>
          </a:xfrm>
          <a:prstGeom prst="rect">
            <a:avLst/>
          </a:prstGeom>
          <a:solidFill>
            <a:srgbClr val="D2D7D8"/>
          </a:solidFill>
          <a:ln/>
        </p:spPr>
      </p:sp>
      <p:sp>
        <p:nvSpPr>
          <p:cNvPr id="6" name="o300"/>
          <p:cNvSpPr/>
          <p:nvPr/>
        </p:nvSpPr>
        <p:spPr>
          <a:xfrm>
            <a:off x="0" y="1104900"/>
            <a:ext cx="6096000" cy="28575"/>
          </a:xfrm>
          <a:prstGeom prst="rect">
            <a:avLst/>
          </a:prstGeom>
          <a:solidFill>
            <a:srgbClr val="EB811B"/>
          </a:solidFill>
          <a:ln/>
        </p:spPr>
      </p:sp>
      <p:sp>
        <p:nvSpPr>
          <p:cNvPr id="7" name="o301"/>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프로그램 시연 영상 1분 30초</a:t>
            </a:r>
            <a:endParaRPr lang="en-US" sz="1300" dirty="0"/>
          </a:p>
        </p:txBody>
      </p:sp>
      <p:sp>
        <p:nvSpPr>
          <p:cNvPr id="8" name="o302"/>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303"/>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08</a:t>
            </a:r>
            <a:endParaRPr lang="en-US" sz="1000" dirty="0"/>
          </a:p>
        </p:txBody>
      </p:sp>
      <p:sp>
        <p:nvSpPr>
          <p:cNvPr id="10" name="o304"/>
          <p:cNvSpPr/>
          <p:nvPr/>
        </p:nvSpPr>
        <p:spPr>
          <a:xfrm>
            <a:off x="609600" y="1600200"/>
            <a:ext cx="7467600" cy="4200525"/>
          </a:xfrm>
          <a:prstGeom prst="rect">
            <a:avLst/>
          </a:prstGeom>
          <a:solidFill>
            <a:srgbClr val="F0F0F0"/>
          </a:solidFill>
          <a:ln w="12700">
            <a:solidFill>
              <a:srgbClr val="D8D8D8"/>
            </a:solidFill>
            <a:prstDash val="solid"/>
          </a:ln>
        </p:spPr>
      </p:sp>
      <p:sp>
        <p:nvSpPr>
          <p:cNvPr id="11" name="o305"/>
          <p:cNvSpPr txBox="1"/>
          <p:nvPr/>
        </p:nvSpPr>
        <p:spPr>
          <a:xfrm>
            <a:off x="609600" y="1600200"/>
            <a:ext cx="7467600" cy="4200525"/>
          </a:xfrm>
          <a:prstGeom prst="rect">
            <a:avLst/>
          </a:prstGeom>
          <a:noFill/>
          <a:ln/>
        </p:spPr>
        <p:txBody>
          <a:bodyPr wrap="square" lIns="0" tIns="0" rIns="0" bIns="0" rtlCol="0" anchor="ctr"/>
          <a:lstStyle/>
          <a:p>
            <a:pPr algn="ctr" indent="0" marL="0">
              <a:buNone/>
            </a:pPr>
            <a:r>
              <a:rPr lang="en-US" sz="1600" b="1" dirty="0">
                <a:solidFill>
                  <a:srgbClr val="6B7B7E"/>
                </a:solidFill>
                <a:latin typeface="Pretendard" pitchFamily="34" charset="0"/>
                <a:ea typeface="Pretendard" pitchFamily="34" charset="-122"/>
                <a:cs typeface="Pretendard" pitchFamily="34" charset="-120"/>
              </a:rPr>
              <a:t>시연 영상 (16:9) — 삽입 → 비디오</a:t>
            </a:r>
            <a:endParaRPr lang="en-US" sz="1600" dirty="0"/>
          </a:p>
        </p:txBody>
      </p:sp>
      <p:sp>
        <p:nvSpPr>
          <p:cNvPr id="12" name="o306"/>
          <p:cNvSpPr txBox="1"/>
          <p:nvPr/>
        </p:nvSpPr>
        <p:spPr>
          <a:xfrm>
            <a:off x="8382000" y="1638300"/>
            <a:ext cx="3200400" cy="190500"/>
          </a:xfrm>
          <a:prstGeom prst="rect">
            <a:avLst/>
          </a:prstGeom>
          <a:noFill/>
          <a:ln/>
        </p:spPr>
        <p:txBody>
          <a:bodyPr wrap="square" lIns="0" tIns="0" rIns="0" bIns="0" rtlCol="0" anchor="t"/>
          <a:lstStyle/>
          <a:p>
            <a:pPr indent="0" marL="0">
              <a:buNone/>
            </a:pPr>
            <a:r>
              <a:rPr lang="en-US" sz="1300" b="1" dirty="0">
                <a:solidFill>
                  <a:srgbClr val="6B7B7E"/>
                </a:solidFill>
                <a:latin typeface="Pretendard" pitchFamily="34" charset="0"/>
                <a:ea typeface="Pretendard" pitchFamily="34" charset="-122"/>
                <a:cs typeface="Pretendard" pitchFamily="34" charset="-120"/>
              </a:rPr>
              <a:t>시연 순서</a:t>
            </a:r>
            <a:endParaRPr lang="en-US" sz="1300" dirty="0"/>
          </a:p>
        </p:txBody>
      </p:sp>
      <p:sp>
        <p:nvSpPr>
          <p:cNvPr id="13" name="o307"/>
          <p:cNvSpPr/>
          <p:nvPr/>
        </p:nvSpPr>
        <p:spPr>
          <a:xfrm>
            <a:off x="8534400" y="2000250"/>
            <a:ext cx="0" cy="3619500"/>
          </a:xfrm>
          <a:prstGeom prst="line">
            <a:avLst/>
          </a:prstGeom>
          <a:noFill/>
          <a:ln w="6350">
            <a:solidFill>
              <a:srgbClr val="E0E0E0"/>
            </a:solidFill>
            <a:prstDash val="solid"/>
          </a:ln>
        </p:spPr>
      </p:sp>
      <p:sp>
        <p:nvSpPr>
          <p:cNvPr id="14" name="o308"/>
          <p:cNvSpPr/>
          <p:nvPr/>
        </p:nvSpPr>
        <p:spPr>
          <a:xfrm>
            <a:off x="8458200" y="1943100"/>
            <a:ext cx="152400" cy="152400"/>
          </a:xfrm>
          <a:prstGeom prst="ellipse">
            <a:avLst/>
          </a:prstGeom>
          <a:solidFill>
            <a:srgbClr val="EB811B"/>
          </a:solidFill>
          <a:ln/>
        </p:spPr>
      </p:sp>
      <p:sp>
        <p:nvSpPr>
          <p:cNvPr id="15" name="o309"/>
          <p:cNvSpPr txBox="1"/>
          <p:nvPr/>
        </p:nvSpPr>
        <p:spPr>
          <a:xfrm>
            <a:off x="8763000" y="1924050"/>
            <a:ext cx="1143000" cy="190500"/>
          </a:xfrm>
          <a:prstGeom prst="rect">
            <a:avLst/>
          </a:prstGeom>
          <a:noFill/>
          <a:ln/>
        </p:spPr>
        <p:txBody>
          <a:bodyPr wrap="square" lIns="0" tIns="0" rIns="0" bIns="0" rtlCol="0" anchor="t"/>
          <a:lstStyle/>
          <a:p>
            <a:pPr indent="0" marL="0">
              <a:buNone/>
            </a:pPr>
            <a:r>
              <a:rPr lang="en-US" sz="1200" b="1" dirty="0">
                <a:solidFill>
                  <a:srgbClr val="23373B"/>
                </a:solidFill>
                <a:latin typeface="Pretendard" pitchFamily="34" charset="0"/>
                <a:ea typeface="Pretendard" pitchFamily="34" charset="-122"/>
                <a:cs typeface="Pretendard" pitchFamily="34" charset="-120"/>
              </a:rPr>
              <a:t>0:00</a:t>
            </a:r>
            <a:endParaRPr lang="en-US" sz="1200" dirty="0"/>
          </a:p>
        </p:txBody>
      </p:sp>
      <p:sp>
        <p:nvSpPr>
          <p:cNvPr id="16" name="o310"/>
          <p:cNvSpPr txBox="1"/>
          <p:nvPr/>
        </p:nvSpPr>
        <p:spPr>
          <a:xfrm>
            <a:off x="8763000" y="2152650"/>
            <a:ext cx="2819400" cy="247650"/>
          </a:xfrm>
          <a:prstGeom prst="rect">
            <a:avLst/>
          </a:prstGeom>
          <a:noFill/>
          <a:ln/>
        </p:spPr>
        <p:txBody>
          <a:bodyPr wrap="square" lIns="0" tIns="0" rIns="0" bIns="0" rtlCol="0" anchor="t"/>
          <a:lstStyle/>
          <a:p>
            <a:pPr indent="0" marL="0">
              <a:buNone/>
            </a:pPr>
            <a:r>
              <a:rPr lang="en-US" sz="1600" b="1" dirty="0">
                <a:solidFill>
                  <a:srgbClr val="23373B"/>
                </a:solidFill>
                <a:latin typeface="Pretendard" pitchFamily="34" charset="0"/>
                <a:ea typeface="Pretendard" pitchFamily="34" charset="-122"/>
                <a:cs typeface="Pretendard" pitchFamily="34" charset="-120"/>
              </a:rPr>
              <a:t>MSDS 라이브러리 조회</a:t>
            </a:r>
            <a:endParaRPr lang="en-US" sz="1600" dirty="0"/>
          </a:p>
        </p:txBody>
      </p:sp>
      <p:sp>
        <p:nvSpPr>
          <p:cNvPr id="17" name="o311"/>
          <p:cNvSpPr/>
          <p:nvPr/>
        </p:nvSpPr>
        <p:spPr>
          <a:xfrm>
            <a:off x="8458200" y="2895600"/>
            <a:ext cx="152400" cy="152400"/>
          </a:xfrm>
          <a:prstGeom prst="ellipse">
            <a:avLst/>
          </a:prstGeom>
          <a:solidFill>
            <a:srgbClr val="EB811B"/>
          </a:solidFill>
          <a:ln/>
        </p:spPr>
      </p:sp>
      <p:sp>
        <p:nvSpPr>
          <p:cNvPr id="18" name="o312"/>
          <p:cNvSpPr txBox="1"/>
          <p:nvPr/>
        </p:nvSpPr>
        <p:spPr>
          <a:xfrm>
            <a:off x="8763000" y="2876550"/>
            <a:ext cx="1143000" cy="190500"/>
          </a:xfrm>
          <a:prstGeom prst="rect">
            <a:avLst/>
          </a:prstGeom>
          <a:noFill/>
          <a:ln/>
        </p:spPr>
        <p:txBody>
          <a:bodyPr wrap="square" lIns="0" tIns="0" rIns="0" bIns="0" rtlCol="0" anchor="t"/>
          <a:lstStyle/>
          <a:p>
            <a:pPr indent="0" marL="0">
              <a:buNone/>
            </a:pPr>
            <a:r>
              <a:rPr lang="en-US" sz="1200" b="1" dirty="0">
                <a:solidFill>
                  <a:srgbClr val="23373B"/>
                </a:solidFill>
                <a:latin typeface="Pretendard" pitchFamily="34" charset="0"/>
                <a:ea typeface="Pretendard" pitchFamily="34" charset="-122"/>
                <a:cs typeface="Pretendard" pitchFamily="34" charset="-120"/>
              </a:rPr>
              <a:t>0:20</a:t>
            </a:r>
            <a:endParaRPr lang="en-US" sz="1200" dirty="0"/>
          </a:p>
        </p:txBody>
      </p:sp>
      <p:sp>
        <p:nvSpPr>
          <p:cNvPr id="19" name="o313"/>
          <p:cNvSpPr txBox="1"/>
          <p:nvPr/>
        </p:nvSpPr>
        <p:spPr>
          <a:xfrm>
            <a:off x="8763000" y="3105150"/>
            <a:ext cx="2819400" cy="247650"/>
          </a:xfrm>
          <a:prstGeom prst="rect">
            <a:avLst/>
          </a:prstGeom>
          <a:noFill/>
          <a:ln/>
        </p:spPr>
        <p:txBody>
          <a:bodyPr wrap="square" lIns="0" tIns="0" rIns="0" bIns="0" rtlCol="0" anchor="t"/>
          <a:lstStyle/>
          <a:p>
            <a:pPr indent="0" marL="0">
              <a:buNone/>
            </a:pPr>
            <a:r>
              <a:rPr lang="en-US" sz="1600" b="1" dirty="0">
                <a:solidFill>
                  <a:srgbClr val="23373B"/>
                </a:solidFill>
                <a:latin typeface="Pretendard" pitchFamily="34" charset="0"/>
                <a:ea typeface="Pretendard" pitchFamily="34" charset="-122"/>
                <a:cs typeface="Pretendard" pitchFamily="34" charset="-120"/>
              </a:rPr>
              <a:t>교육일지 작성 · 전자서명</a:t>
            </a:r>
            <a:endParaRPr lang="en-US" sz="1600" dirty="0"/>
          </a:p>
        </p:txBody>
      </p:sp>
      <p:sp>
        <p:nvSpPr>
          <p:cNvPr id="20" name="o314"/>
          <p:cNvSpPr/>
          <p:nvPr/>
        </p:nvSpPr>
        <p:spPr>
          <a:xfrm>
            <a:off x="8458200" y="3848100"/>
            <a:ext cx="152400" cy="152400"/>
          </a:xfrm>
          <a:prstGeom prst="ellipse">
            <a:avLst/>
          </a:prstGeom>
          <a:solidFill>
            <a:srgbClr val="EB811B"/>
          </a:solidFill>
          <a:ln/>
        </p:spPr>
      </p:sp>
      <p:sp>
        <p:nvSpPr>
          <p:cNvPr id="21" name="o315"/>
          <p:cNvSpPr txBox="1"/>
          <p:nvPr/>
        </p:nvSpPr>
        <p:spPr>
          <a:xfrm>
            <a:off x="8763000" y="3829050"/>
            <a:ext cx="1143000" cy="190500"/>
          </a:xfrm>
          <a:prstGeom prst="rect">
            <a:avLst/>
          </a:prstGeom>
          <a:noFill/>
          <a:ln/>
        </p:spPr>
        <p:txBody>
          <a:bodyPr wrap="square" lIns="0" tIns="0" rIns="0" bIns="0" rtlCol="0" anchor="t"/>
          <a:lstStyle/>
          <a:p>
            <a:pPr indent="0" marL="0">
              <a:buNone/>
            </a:pPr>
            <a:r>
              <a:rPr lang="en-US" sz="1200" b="1" dirty="0">
                <a:solidFill>
                  <a:srgbClr val="23373B"/>
                </a:solidFill>
                <a:latin typeface="Pretendard" pitchFamily="34" charset="0"/>
                <a:ea typeface="Pretendard" pitchFamily="34" charset="-122"/>
                <a:cs typeface="Pretendard" pitchFamily="34" charset="-120"/>
              </a:rPr>
              <a:t>0:50</a:t>
            </a:r>
            <a:endParaRPr lang="en-US" sz="1200" dirty="0"/>
          </a:p>
        </p:txBody>
      </p:sp>
      <p:sp>
        <p:nvSpPr>
          <p:cNvPr id="22" name="o316"/>
          <p:cNvSpPr txBox="1"/>
          <p:nvPr/>
        </p:nvSpPr>
        <p:spPr>
          <a:xfrm>
            <a:off x="8763000" y="4057650"/>
            <a:ext cx="2819400" cy="247650"/>
          </a:xfrm>
          <a:prstGeom prst="rect">
            <a:avLst/>
          </a:prstGeom>
          <a:noFill/>
          <a:ln/>
        </p:spPr>
        <p:txBody>
          <a:bodyPr wrap="square" lIns="0" tIns="0" rIns="0" bIns="0" rtlCol="0" anchor="t"/>
          <a:lstStyle/>
          <a:p>
            <a:pPr indent="0" marL="0">
              <a:buNone/>
            </a:pPr>
            <a:r>
              <a:rPr lang="en-US" sz="1600" b="1" dirty="0">
                <a:solidFill>
                  <a:srgbClr val="23373B"/>
                </a:solidFill>
                <a:latin typeface="Pretendard" pitchFamily="34" charset="0"/>
                <a:ea typeface="Pretendard" pitchFamily="34" charset="-122"/>
                <a:cs typeface="Pretendard" pitchFamily="34" charset="-120"/>
              </a:rPr>
              <a:t>관리자 알림 · 비대면 승인</a:t>
            </a:r>
            <a:endParaRPr lang="en-US" sz="1600" dirty="0"/>
          </a:p>
        </p:txBody>
      </p:sp>
      <p:sp>
        <p:nvSpPr>
          <p:cNvPr id="23" name="o317"/>
          <p:cNvSpPr/>
          <p:nvPr/>
        </p:nvSpPr>
        <p:spPr>
          <a:xfrm>
            <a:off x="8458200" y="4800600"/>
            <a:ext cx="152400" cy="152400"/>
          </a:xfrm>
          <a:prstGeom prst="ellipse">
            <a:avLst/>
          </a:prstGeom>
          <a:solidFill>
            <a:srgbClr val="EB811B"/>
          </a:solidFill>
          <a:ln/>
        </p:spPr>
      </p:sp>
      <p:sp>
        <p:nvSpPr>
          <p:cNvPr id="24" name="o318"/>
          <p:cNvSpPr txBox="1"/>
          <p:nvPr/>
        </p:nvSpPr>
        <p:spPr>
          <a:xfrm>
            <a:off x="8763000" y="4781550"/>
            <a:ext cx="1143000" cy="190500"/>
          </a:xfrm>
          <a:prstGeom prst="rect">
            <a:avLst/>
          </a:prstGeom>
          <a:noFill/>
          <a:ln/>
        </p:spPr>
        <p:txBody>
          <a:bodyPr wrap="square" lIns="0" tIns="0" rIns="0" bIns="0" rtlCol="0" anchor="t"/>
          <a:lstStyle/>
          <a:p>
            <a:pPr indent="0" marL="0">
              <a:buNone/>
            </a:pPr>
            <a:r>
              <a:rPr lang="en-US" sz="1200" b="1" dirty="0">
                <a:solidFill>
                  <a:srgbClr val="23373B"/>
                </a:solidFill>
                <a:latin typeface="Pretendard" pitchFamily="34" charset="0"/>
                <a:ea typeface="Pretendard" pitchFamily="34" charset="-122"/>
                <a:cs typeface="Pretendard" pitchFamily="34" charset="-120"/>
              </a:rPr>
              <a:t>1:10</a:t>
            </a:r>
            <a:endParaRPr lang="en-US" sz="1200" dirty="0"/>
          </a:p>
        </p:txBody>
      </p:sp>
      <p:sp>
        <p:nvSpPr>
          <p:cNvPr id="25" name="o319"/>
          <p:cNvSpPr txBox="1"/>
          <p:nvPr/>
        </p:nvSpPr>
        <p:spPr>
          <a:xfrm>
            <a:off x="8763000" y="5010150"/>
            <a:ext cx="2819400" cy="247650"/>
          </a:xfrm>
          <a:prstGeom prst="rect">
            <a:avLst/>
          </a:prstGeom>
          <a:noFill/>
          <a:ln/>
        </p:spPr>
        <p:txBody>
          <a:bodyPr wrap="square" lIns="0" tIns="0" rIns="0" bIns="0" rtlCol="0" anchor="t"/>
          <a:lstStyle/>
          <a:p>
            <a:pPr indent="0" marL="0">
              <a:buNone/>
            </a:pPr>
            <a:r>
              <a:rPr lang="en-US" sz="1600" b="1" dirty="0">
                <a:solidFill>
                  <a:srgbClr val="23373B"/>
                </a:solidFill>
                <a:latin typeface="Pretendard" pitchFamily="34" charset="0"/>
                <a:ea typeface="Pretendard" pitchFamily="34" charset="-122"/>
                <a:cs typeface="Pretendard" pitchFamily="34" charset="-120"/>
              </a:rPr>
              <a:t>대시보드 · AI 위험성평가</a:t>
            </a:r>
            <a:endParaRPr lang="en-US" sz="1600" dirty="0"/>
          </a:p>
        </p:txBody>
      </p:sp>
      <p:sp>
        <p:nvSpPr>
          <p:cNvPr id="26" name="o320"/>
          <p:cNvSpPr txBox="1"/>
          <p:nvPr/>
        </p:nvSpPr>
        <p:spPr>
          <a:xfrm>
            <a:off x="8382000" y="5791200"/>
            <a:ext cx="3200400" cy="190500"/>
          </a:xfrm>
          <a:prstGeom prst="rect">
            <a:avLst/>
          </a:prstGeom>
          <a:noFill/>
          <a:ln/>
        </p:spPr>
        <p:txBody>
          <a:bodyPr wrap="square" lIns="0" tIns="0" rIns="0" bIns="0" rtlCol="0" anchor="t"/>
          <a:lstStyle/>
          <a:p>
            <a:pPr indent="0" marL="0">
              <a:buNone/>
            </a:pPr>
            <a:r>
              <a:rPr lang="en-US" sz="1200" b="1" dirty="0">
                <a:solidFill>
                  <a:srgbClr val="23373B"/>
                </a:solidFill>
                <a:latin typeface="Pretendard" pitchFamily="34" charset="0"/>
                <a:ea typeface="Pretendard" pitchFamily="34" charset="-122"/>
                <a:cs typeface="Pretendard" pitchFamily="34" charset="-120"/>
              </a:rPr>
              <a:t>"이 1분이 예전의 19분 24초입니다"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321"/>
          <p:cNvSpPr/>
          <p:nvPr/>
        </p:nvSpPr>
        <p:spPr>
          <a:xfrm>
            <a:off x="0" y="0"/>
            <a:ext cx="12192000" cy="1104900"/>
          </a:xfrm>
          <a:prstGeom prst="rect">
            <a:avLst/>
          </a:prstGeom>
          <a:solidFill>
            <a:srgbClr val="23373B"/>
          </a:solidFill>
          <a:ln/>
        </p:spPr>
      </p:sp>
      <p:sp>
        <p:nvSpPr>
          <p:cNvPr id="3" name="o322"/>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05+   SOLUTION  ·  AI 적용</a:t>
            </a:r>
            <a:endParaRPr lang="en-US" sz="1100" dirty="0"/>
          </a:p>
        </p:txBody>
      </p:sp>
      <p:sp>
        <p:nvSpPr>
          <p:cNvPr id="4" name="o323"/>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AI는 초안을 만들고, 최종 판단은 사람이 합니다</a:t>
            </a:r>
            <a:endParaRPr lang="en-US" sz="2600" dirty="0"/>
          </a:p>
        </p:txBody>
      </p:sp>
      <p:sp>
        <p:nvSpPr>
          <p:cNvPr id="5" name="o324"/>
          <p:cNvSpPr/>
          <p:nvPr/>
        </p:nvSpPr>
        <p:spPr>
          <a:xfrm>
            <a:off x="0" y="1104900"/>
            <a:ext cx="12192000" cy="28575"/>
          </a:xfrm>
          <a:prstGeom prst="rect">
            <a:avLst/>
          </a:prstGeom>
          <a:solidFill>
            <a:srgbClr val="D2D7D8"/>
          </a:solidFill>
          <a:ln/>
        </p:spPr>
      </p:sp>
      <p:sp>
        <p:nvSpPr>
          <p:cNvPr id="6" name="o325"/>
          <p:cNvSpPr/>
          <p:nvPr/>
        </p:nvSpPr>
        <p:spPr>
          <a:xfrm>
            <a:off x="0" y="1104900"/>
            <a:ext cx="6096000" cy="28575"/>
          </a:xfrm>
          <a:prstGeom prst="rect">
            <a:avLst/>
          </a:prstGeom>
          <a:solidFill>
            <a:srgbClr val="EB811B"/>
          </a:solidFill>
          <a:ln/>
        </p:spPr>
      </p:sp>
      <p:sp>
        <p:nvSpPr>
          <p:cNvPr id="7" name="o326"/>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AI 수시 위험성평가 — 근로자 참여형 · 2026.05–07 시범 운영</a:t>
            </a:r>
            <a:endParaRPr lang="en-US" sz="1300" dirty="0"/>
          </a:p>
        </p:txBody>
      </p:sp>
      <p:sp>
        <p:nvSpPr>
          <p:cNvPr id="8" name="o327"/>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328"/>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09</a:t>
            </a:r>
            <a:endParaRPr lang="en-US" sz="1000" dirty="0"/>
          </a:p>
        </p:txBody>
      </p:sp>
      <p:sp>
        <p:nvSpPr>
          <p:cNvPr id="10" name="o329"/>
          <p:cNvSpPr/>
          <p:nvPr/>
        </p:nvSpPr>
        <p:spPr>
          <a:xfrm>
            <a:off x="609600" y="1600200"/>
            <a:ext cx="2571750" cy="419100"/>
          </a:xfrm>
          <a:prstGeom prst="rect">
            <a:avLst/>
          </a:prstGeom>
          <a:solidFill>
            <a:srgbClr val="FDF0E3"/>
          </a:solidFill>
          <a:ln/>
        </p:spPr>
      </p:sp>
      <p:sp>
        <p:nvSpPr>
          <p:cNvPr id="11" name="o330"/>
          <p:cNvSpPr txBox="1"/>
          <p:nvPr/>
        </p:nvSpPr>
        <p:spPr>
          <a:xfrm>
            <a:off x="609600" y="1600200"/>
            <a:ext cx="2571750" cy="419100"/>
          </a:xfrm>
          <a:prstGeom prst="rect">
            <a:avLst/>
          </a:prstGeom>
          <a:noFill/>
          <a:ln/>
        </p:spPr>
        <p:txBody>
          <a:bodyPr wrap="square" lIns="0" tIns="0" rIns="0" bIns="0" rtlCol="0" anchor="ctr"/>
          <a:lstStyle/>
          <a:p>
            <a:pPr algn="ctr" indent="0" marL="0">
              <a:buNone/>
            </a:pPr>
            <a:r>
              <a:rPr lang="en-US" sz="1400" b="1" dirty="0">
                <a:solidFill>
                  <a:srgbClr val="23373B"/>
                </a:solidFill>
                <a:latin typeface="Pretendard" pitchFamily="34" charset="0"/>
                <a:ea typeface="Pretendard" pitchFamily="34" charset="-122"/>
                <a:cs typeface="Pretendard" pitchFamily="34" charset="-120"/>
              </a:rPr>
              <a:t>현장 사진 · 작업 입력</a:t>
            </a:r>
            <a:endParaRPr lang="en-US" sz="1400" dirty="0"/>
          </a:p>
        </p:txBody>
      </p:sp>
      <p:sp>
        <p:nvSpPr>
          <p:cNvPr id="12" name="o331"/>
          <p:cNvSpPr txBox="1"/>
          <p:nvPr/>
        </p:nvSpPr>
        <p:spPr>
          <a:xfrm>
            <a:off x="3181350" y="1600200"/>
            <a:ext cx="228600" cy="419100"/>
          </a:xfrm>
          <a:prstGeom prst="rect">
            <a:avLst/>
          </a:prstGeom>
          <a:noFill/>
          <a:ln/>
        </p:spPr>
        <p:txBody>
          <a:bodyPr wrap="square" lIns="0" tIns="0" rIns="0" bIns="0" rtlCol="0" anchor="ctr"/>
          <a:lstStyle/>
          <a:p>
            <a:pPr algn="ctr" indent="0" marL="0">
              <a:buNone/>
            </a:pPr>
            <a:r>
              <a:rPr lang="en-US" sz="2000" b="1" dirty="0">
                <a:solidFill>
                  <a:srgbClr val="EB811B"/>
                </a:solidFill>
                <a:latin typeface="Pretendard" pitchFamily="34" charset="0"/>
                <a:ea typeface="Pretendard" pitchFamily="34" charset="-122"/>
                <a:cs typeface="Pretendard" pitchFamily="34" charset="-120"/>
              </a:rPr>
              <a:t>›</a:t>
            </a:r>
            <a:endParaRPr lang="en-US" sz="2000" dirty="0"/>
          </a:p>
        </p:txBody>
      </p:sp>
      <p:sp>
        <p:nvSpPr>
          <p:cNvPr id="13" name="o332"/>
          <p:cNvSpPr/>
          <p:nvPr/>
        </p:nvSpPr>
        <p:spPr>
          <a:xfrm>
            <a:off x="3409950" y="1600200"/>
            <a:ext cx="2571750" cy="419100"/>
          </a:xfrm>
          <a:prstGeom prst="rect">
            <a:avLst/>
          </a:prstGeom>
          <a:solidFill>
            <a:srgbClr val="FDF0E3"/>
          </a:solidFill>
          <a:ln/>
        </p:spPr>
      </p:sp>
      <p:sp>
        <p:nvSpPr>
          <p:cNvPr id="14" name="o333"/>
          <p:cNvSpPr txBox="1"/>
          <p:nvPr/>
        </p:nvSpPr>
        <p:spPr>
          <a:xfrm>
            <a:off x="3409950" y="1600200"/>
            <a:ext cx="2571750" cy="419100"/>
          </a:xfrm>
          <a:prstGeom prst="rect">
            <a:avLst/>
          </a:prstGeom>
          <a:noFill/>
          <a:ln/>
        </p:spPr>
        <p:txBody>
          <a:bodyPr wrap="square" lIns="0" tIns="0" rIns="0" bIns="0" rtlCol="0" anchor="ctr"/>
          <a:lstStyle/>
          <a:p>
            <a:pPr algn="ctr" indent="0" marL="0">
              <a:buNone/>
            </a:pPr>
            <a:r>
              <a:rPr lang="en-US" sz="1400" b="1" dirty="0">
                <a:solidFill>
                  <a:srgbClr val="23373B"/>
                </a:solidFill>
                <a:latin typeface="Pretendard" pitchFamily="34" charset="0"/>
                <a:ea typeface="Pretendard" pitchFamily="34" charset="-122"/>
                <a:cs typeface="Pretendard" pitchFamily="34" charset="-120"/>
              </a:rPr>
              <a:t>위험요인 자동 분석</a:t>
            </a:r>
            <a:endParaRPr lang="en-US" sz="1400" dirty="0"/>
          </a:p>
        </p:txBody>
      </p:sp>
      <p:sp>
        <p:nvSpPr>
          <p:cNvPr id="15" name="o334"/>
          <p:cNvSpPr txBox="1"/>
          <p:nvPr/>
        </p:nvSpPr>
        <p:spPr>
          <a:xfrm>
            <a:off x="5981700" y="1600200"/>
            <a:ext cx="228600" cy="419100"/>
          </a:xfrm>
          <a:prstGeom prst="rect">
            <a:avLst/>
          </a:prstGeom>
          <a:noFill/>
          <a:ln/>
        </p:spPr>
        <p:txBody>
          <a:bodyPr wrap="square" lIns="0" tIns="0" rIns="0" bIns="0" rtlCol="0" anchor="ctr"/>
          <a:lstStyle/>
          <a:p>
            <a:pPr algn="ctr" indent="0" marL="0">
              <a:buNone/>
            </a:pPr>
            <a:r>
              <a:rPr lang="en-US" sz="2000" b="1" dirty="0">
                <a:solidFill>
                  <a:srgbClr val="EB811B"/>
                </a:solidFill>
                <a:latin typeface="Pretendard" pitchFamily="34" charset="0"/>
                <a:ea typeface="Pretendard" pitchFamily="34" charset="-122"/>
                <a:cs typeface="Pretendard" pitchFamily="34" charset="-120"/>
              </a:rPr>
              <a:t>›</a:t>
            </a:r>
            <a:endParaRPr lang="en-US" sz="2000" dirty="0"/>
          </a:p>
        </p:txBody>
      </p:sp>
      <p:sp>
        <p:nvSpPr>
          <p:cNvPr id="16" name="o335"/>
          <p:cNvSpPr/>
          <p:nvPr/>
        </p:nvSpPr>
        <p:spPr>
          <a:xfrm>
            <a:off x="6210300" y="1600200"/>
            <a:ext cx="2571750" cy="419100"/>
          </a:xfrm>
          <a:prstGeom prst="rect">
            <a:avLst/>
          </a:prstGeom>
          <a:solidFill>
            <a:srgbClr val="FDF0E3"/>
          </a:solidFill>
          <a:ln/>
        </p:spPr>
      </p:sp>
      <p:sp>
        <p:nvSpPr>
          <p:cNvPr id="17" name="o336"/>
          <p:cNvSpPr txBox="1"/>
          <p:nvPr/>
        </p:nvSpPr>
        <p:spPr>
          <a:xfrm>
            <a:off x="6210300" y="1600200"/>
            <a:ext cx="2571750" cy="419100"/>
          </a:xfrm>
          <a:prstGeom prst="rect">
            <a:avLst/>
          </a:prstGeom>
          <a:noFill/>
          <a:ln/>
        </p:spPr>
        <p:txBody>
          <a:bodyPr wrap="square" lIns="0" tIns="0" rIns="0" bIns="0" rtlCol="0" anchor="ctr"/>
          <a:lstStyle/>
          <a:p>
            <a:pPr algn="ctr" indent="0" marL="0">
              <a:buNone/>
            </a:pPr>
            <a:r>
              <a:rPr lang="en-US" sz="1400" b="1" dirty="0">
                <a:solidFill>
                  <a:srgbClr val="23373B"/>
                </a:solidFill>
                <a:latin typeface="Pretendard" pitchFamily="34" charset="0"/>
                <a:ea typeface="Pretendard" pitchFamily="34" charset="-122"/>
                <a:cs typeface="Pretendard" pitchFamily="34" charset="-120"/>
              </a:rPr>
              <a:t>위험도 산출 (5×4)</a:t>
            </a:r>
            <a:endParaRPr lang="en-US" sz="1400" dirty="0"/>
          </a:p>
        </p:txBody>
      </p:sp>
      <p:sp>
        <p:nvSpPr>
          <p:cNvPr id="18" name="o337"/>
          <p:cNvSpPr txBox="1"/>
          <p:nvPr/>
        </p:nvSpPr>
        <p:spPr>
          <a:xfrm>
            <a:off x="8782050" y="1600200"/>
            <a:ext cx="228600" cy="419100"/>
          </a:xfrm>
          <a:prstGeom prst="rect">
            <a:avLst/>
          </a:prstGeom>
          <a:noFill/>
          <a:ln/>
        </p:spPr>
        <p:txBody>
          <a:bodyPr wrap="square" lIns="0" tIns="0" rIns="0" bIns="0" rtlCol="0" anchor="ctr"/>
          <a:lstStyle/>
          <a:p>
            <a:pPr algn="ctr" indent="0" marL="0">
              <a:buNone/>
            </a:pPr>
            <a:r>
              <a:rPr lang="en-US" sz="2000" b="1" dirty="0">
                <a:solidFill>
                  <a:srgbClr val="EB811B"/>
                </a:solidFill>
                <a:latin typeface="Pretendard" pitchFamily="34" charset="0"/>
                <a:ea typeface="Pretendard" pitchFamily="34" charset="-122"/>
                <a:cs typeface="Pretendard" pitchFamily="34" charset="-120"/>
              </a:rPr>
              <a:t>›</a:t>
            </a:r>
            <a:endParaRPr lang="en-US" sz="2000" dirty="0"/>
          </a:p>
        </p:txBody>
      </p:sp>
      <p:sp>
        <p:nvSpPr>
          <p:cNvPr id="19" name="o338"/>
          <p:cNvSpPr/>
          <p:nvPr/>
        </p:nvSpPr>
        <p:spPr>
          <a:xfrm>
            <a:off x="9010650" y="1600200"/>
            <a:ext cx="2571750" cy="419100"/>
          </a:xfrm>
          <a:prstGeom prst="rect">
            <a:avLst/>
          </a:prstGeom>
          <a:solidFill>
            <a:srgbClr val="EB811B"/>
          </a:solidFill>
          <a:ln/>
        </p:spPr>
      </p:sp>
      <p:sp>
        <p:nvSpPr>
          <p:cNvPr id="20" name="o339"/>
          <p:cNvSpPr txBox="1"/>
          <p:nvPr/>
        </p:nvSpPr>
        <p:spPr>
          <a:xfrm>
            <a:off x="9010650" y="1600200"/>
            <a:ext cx="2571750" cy="419100"/>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개선대책 · 평가서 작성</a:t>
            </a:r>
            <a:endParaRPr lang="en-US" sz="1400" dirty="0"/>
          </a:p>
        </p:txBody>
      </p:sp>
      <p:sp>
        <p:nvSpPr>
          <p:cNvPr id="21" name="o340"/>
          <p:cNvSpPr/>
          <p:nvPr/>
        </p:nvSpPr>
        <p:spPr>
          <a:xfrm>
            <a:off x="609600" y="2209800"/>
            <a:ext cx="6324600" cy="3581400"/>
          </a:xfrm>
          <a:prstGeom prst="rect">
            <a:avLst/>
          </a:prstGeom>
          <a:solidFill>
            <a:srgbClr val="F0F0F0"/>
          </a:solidFill>
          <a:ln w="12700">
            <a:solidFill>
              <a:srgbClr val="D8D8D8"/>
            </a:solidFill>
            <a:prstDash val="solid"/>
          </a:ln>
        </p:spPr>
      </p:sp>
      <p:sp>
        <p:nvSpPr>
          <p:cNvPr id="22" name="o341"/>
          <p:cNvSpPr txBox="1"/>
          <p:nvPr/>
        </p:nvSpPr>
        <p:spPr>
          <a:xfrm>
            <a:off x="609600" y="2209800"/>
            <a:ext cx="6324600" cy="3581400"/>
          </a:xfrm>
          <a:prstGeom prst="rect">
            <a:avLst/>
          </a:prstGeom>
          <a:noFill/>
          <a:ln/>
        </p:spPr>
        <p:txBody>
          <a:bodyPr wrap="square" lIns="0" tIns="0" rIns="0" bIns="0" rtlCol="0" anchor="ctr"/>
          <a:lstStyle/>
          <a:p>
            <a:pPr algn="ctr" indent="0" marL="0">
              <a:lnSpc>
                <a:spcPct val="140000"/>
              </a:lnSpc>
              <a:buNone/>
            </a:pPr>
            <a:r>
              <a:rPr lang="en-US" sz="1400" b="1" dirty="0">
                <a:solidFill>
                  <a:srgbClr val="6B7B7E"/>
                </a:solidFill>
                <a:latin typeface="Pretendard" pitchFamily="34" charset="0"/>
                <a:ea typeface="Pretendard" pitchFamily="34" charset="-122"/>
                <a:cs typeface="Pretendard" pitchFamily="34" charset="-120"/>
              </a:rPr>
              <a:t>AI 위험성평가 결과 화면 캡처</a:t>
            </a:r>
            <a:endParaRPr lang="en-US" sz="1400" dirty="0"/>
          </a:p>
          <a:p>
            <a:pPr algn="ctr" indent="0" marL="0">
              <a:lnSpc>
                <a:spcPct val="140000"/>
              </a:lnSpc>
              <a:buNone/>
            </a:pPr>
            <a:r>
              <a:rPr lang="en-US" sz="1400" b="1" dirty="0">
                <a:solidFill>
                  <a:srgbClr val="6B7B7E"/>
                </a:solidFill>
                <a:latin typeface="Pretendard" pitchFamily="34" charset="0"/>
                <a:ea typeface="Pretendard" pitchFamily="34" charset="-122"/>
                <a:cs typeface="Pretendard" pitchFamily="34" charset="-120"/>
              </a:rPr>
              <a:t>(현장 사진 → 위험요인 → 위험도 → 개선대책 실제 사례 1건)</a:t>
            </a:r>
            <a:endParaRPr lang="en-US" sz="1400" dirty="0"/>
          </a:p>
        </p:txBody>
      </p:sp>
      <p:sp>
        <p:nvSpPr>
          <p:cNvPr id="23" name="o342"/>
          <p:cNvSpPr/>
          <p:nvPr/>
        </p:nvSpPr>
        <p:spPr>
          <a:xfrm>
            <a:off x="7124700" y="2209800"/>
            <a:ext cx="4457700" cy="1428750"/>
          </a:xfrm>
          <a:prstGeom prst="rect">
            <a:avLst/>
          </a:prstGeom>
          <a:solidFill>
            <a:srgbClr val="FFFFFF"/>
          </a:solidFill>
          <a:ln w="12700">
            <a:solidFill>
              <a:srgbClr val="D8D8D8"/>
            </a:solidFill>
            <a:prstDash val="solid"/>
          </a:ln>
        </p:spPr>
      </p:sp>
      <p:sp>
        <p:nvSpPr>
          <p:cNvPr id="24" name="o343"/>
          <p:cNvSpPr txBox="1"/>
          <p:nvPr/>
        </p:nvSpPr>
        <p:spPr>
          <a:xfrm>
            <a:off x="7391400" y="2400300"/>
            <a:ext cx="3810000" cy="171450"/>
          </a:xfrm>
          <a:prstGeom prst="rect">
            <a:avLst/>
          </a:prstGeom>
          <a:noFill/>
          <a:ln/>
        </p:spPr>
        <p:txBody>
          <a:bodyPr wrap="square" lIns="0" tIns="0" rIns="0" bIns="0" rtlCol="0" anchor="t"/>
          <a:lstStyle/>
          <a:p>
            <a:pPr indent="0" marL="0">
              <a:buNone/>
            </a:pPr>
            <a:r>
              <a:rPr lang="en-US" sz="1200" dirty="0">
                <a:solidFill>
                  <a:srgbClr val="6B7B7E"/>
                </a:solidFill>
                <a:latin typeface="Pretendard" pitchFamily="34" charset="0"/>
                <a:ea typeface="Pretendard" pitchFamily="34" charset="-122"/>
                <a:cs typeface="Pretendard" pitchFamily="34" charset="-120"/>
              </a:rPr>
              <a:t>운영 실적  ·  2026.05–07</a:t>
            </a:r>
            <a:endParaRPr lang="en-US" sz="1200" dirty="0"/>
          </a:p>
        </p:txBody>
      </p:sp>
      <p:sp>
        <p:nvSpPr>
          <p:cNvPr id="25" name="o344"/>
          <p:cNvSpPr txBox="1"/>
          <p:nvPr/>
        </p:nvSpPr>
        <p:spPr>
          <a:xfrm>
            <a:off x="7391400" y="2647950"/>
            <a:ext cx="3810000" cy="533400"/>
          </a:xfrm>
          <a:prstGeom prst="rect">
            <a:avLst/>
          </a:prstGeom>
          <a:noFill/>
          <a:ln/>
        </p:spPr>
        <p:txBody>
          <a:bodyPr wrap="square" lIns="0" tIns="0" rIns="0" bIns="0" rtlCol="0" anchor="t"/>
          <a:lstStyle/>
          <a:p>
            <a:pPr indent="0" marL="0">
              <a:buNone/>
            </a:pPr>
            <a:r>
              <a:rPr lang="en-US" sz="3800" b="1" dirty="0">
                <a:solidFill>
                  <a:srgbClr val="23373B"/>
                </a:solidFill>
                <a:latin typeface="Pretendard" pitchFamily="34" charset="0"/>
                <a:ea typeface="Pretendard" pitchFamily="34" charset="-122"/>
                <a:cs typeface="Pretendard" pitchFamily="34" charset="-120"/>
              </a:rPr>
              <a:t>[실적]건</a:t>
            </a:r>
            <a:endParaRPr lang="en-US" sz="3800" dirty="0"/>
          </a:p>
        </p:txBody>
      </p:sp>
      <p:sp>
        <p:nvSpPr>
          <p:cNvPr id="26" name="o345"/>
          <p:cNvSpPr txBox="1"/>
          <p:nvPr/>
        </p:nvSpPr>
        <p:spPr>
          <a:xfrm>
            <a:off x="7391400" y="3276600"/>
            <a:ext cx="38100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수시 위험성평가 시행 건수</a:t>
            </a:r>
            <a:endParaRPr lang="en-US" sz="1100" dirty="0"/>
          </a:p>
        </p:txBody>
      </p:sp>
      <p:sp>
        <p:nvSpPr>
          <p:cNvPr id="27" name="o346"/>
          <p:cNvSpPr/>
          <p:nvPr/>
        </p:nvSpPr>
        <p:spPr>
          <a:xfrm>
            <a:off x="7124700" y="3790950"/>
            <a:ext cx="4457700" cy="2000250"/>
          </a:xfrm>
          <a:prstGeom prst="rect">
            <a:avLst/>
          </a:prstGeom>
          <a:solidFill>
            <a:srgbClr val="23373B"/>
          </a:solidFill>
          <a:ln/>
        </p:spPr>
      </p:sp>
      <p:sp>
        <p:nvSpPr>
          <p:cNvPr id="28" name="o347"/>
          <p:cNvSpPr txBox="1"/>
          <p:nvPr/>
        </p:nvSpPr>
        <p:spPr>
          <a:xfrm>
            <a:off x="7391400" y="3981450"/>
            <a:ext cx="3810000" cy="171450"/>
          </a:xfrm>
          <a:prstGeom prst="rect">
            <a:avLst/>
          </a:prstGeom>
          <a:noFill/>
          <a:ln/>
        </p:spPr>
        <p:txBody>
          <a:bodyPr wrap="square" lIns="0" tIns="0" rIns="0" bIns="0" rtlCol="0" anchor="t"/>
          <a:lstStyle/>
          <a:p>
            <a:pPr indent="0" marL="0">
              <a:buNone/>
            </a:pPr>
            <a:r>
              <a:rPr lang="en-US" sz="1200" b="1" dirty="0">
                <a:solidFill>
                  <a:srgbClr val="EB811B"/>
                </a:solidFill>
                <a:latin typeface="Pretendard" pitchFamily="34" charset="0"/>
                <a:ea typeface="Pretendard" pitchFamily="34" charset="-122"/>
                <a:cs typeface="Pretendard" pitchFamily="34" charset="-120"/>
              </a:rPr>
              <a:t>검토 원칙</a:t>
            </a:r>
            <a:endParaRPr lang="en-US" sz="1200" dirty="0"/>
          </a:p>
        </p:txBody>
      </p:sp>
      <p:sp>
        <p:nvSpPr>
          <p:cNvPr id="29" name="o348"/>
          <p:cNvSpPr txBox="1"/>
          <p:nvPr/>
        </p:nvSpPr>
        <p:spPr>
          <a:xfrm>
            <a:off x="7391400" y="4229100"/>
            <a:ext cx="4000500" cy="266700"/>
          </a:xfrm>
          <a:prstGeom prst="rect">
            <a:avLst/>
          </a:prstGeom>
          <a:noFill/>
          <a:ln/>
        </p:spPr>
        <p:txBody>
          <a:bodyPr wrap="square" lIns="0" tIns="0" rIns="0" bIns="0" rtlCol="0" anchor="t"/>
          <a:lstStyle/>
          <a:p>
            <a:pPr indent="0" marL="0">
              <a:buNone/>
            </a:pPr>
            <a:r>
              <a:rPr lang="en-US" sz="1900" b="1" dirty="0">
                <a:solidFill>
                  <a:srgbClr val="FFFFFF"/>
                </a:solidFill>
                <a:latin typeface="Pretendard" pitchFamily="34" charset="0"/>
                <a:ea typeface="Pretendard" pitchFamily="34" charset="-122"/>
                <a:cs typeface="Pretendard" pitchFamily="34" charset="-120"/>
              </a:rPr>
              <a:t>AI는 초안, 확정은 안전관리자</a:t>
            </a:r>
            <a:endParaRPr lang="en-US" sz="1900" dirty="0"/>
          </a:p>
        </p:txBody>
      </p:sp>
      <p:sp>
        <p:nvSpPr>
          <p:cNvPr id="30" name="o349"/>
          <p:cNvSpPr txBox="1"/>
          <p:nvPr/>
        </p:nvSpPr>
        <p:spPr>
          <a:xfrm>
            <a:off x="7391400" y="4610100"/>
            <a:ext cx="3924300" cy="104775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Pretendard" pitchFamily="34" charset="0"/>
                <a:ea typeface="Pretendard" pitchFamily="34" charset="-122"/>
                <a:cs typeface="Pretendard" pitchFamily="34" charset="-120"/>
              </a:rPr>
              <a:t>점수 · 등급은 서버가 다시 계산하고, 법령 조문 번호를 대조합니다. 현재 시범 단계이며 정확도 고도화가 다음 과제입니다.</a:t>
            </a:r>
            <a:endParaRPr lang="en-US" sz="1300" dirty="0"/>
          </a:p>
        </p:txBody>
      </p:sp>
      <p:sp>
        <p:nvSpPr>
          <p:cNvPr id="31" name="o350"/>
          <p:cNvSpPr txBox="1"/>
          <p:nvPr/>
        </p:nvSpPr>
        <p:spPr>
          <a:xfrm>
            <a:off x="609600" y="5962650"/>
            <a:ext cx="109728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그 밖의 AI 기능   AI MSDS 검토 (규제 항목 제안 → 관리자 승인)  ·  AI 도우미 (출처와 함께 답변)</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351"/>
          <p:cNvSpPr/>
          <p:nvPr/>
        </p:nvSpPr>
        <p:spPr>
          <a:xfrm>
            <a:off x="0" y="0"/>
            <a:ext cx="12192000" cy="1104900"/>
          </a:xfrm>
          <a:prstGeom prst="rect">
            <a:avLst/>
          </a:prstGeom>
          <a:solidFill>
            <a:srgbClr val="23373B"/>
          </a:solidFill>
          <a:ln/>
        </p:spPr>
      </p:sp>
      <p:sp>
        <p:nvSpPr>
          <p:cNvPr id="3" name="o352"/>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06   RESULT  ·  개선 전후 비교</a:t>
            </a:r>
            <a:endParaRPr lang="en-US" sz="1100" dirty="0"/>
          </a:p>
        </p:txBody>
      </p:sp>
      <p:sp>
        <p:nvSpPr>
          <p:cNvPr id="4" name="o353"/>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같은 교육, 행정 시간은 93% 줄었습니다</a:t>
            </a:r>
            <a:endParaRPr lang="en-US" sz="2600" dirty="0"/>
          </a:p>
        </p:txBody>
      </p:sp>
      <p:sp>
        <p:nvSpPr>
          <p:cNvPr id="5" name="o354"/>
          <p:cNvSpPr/>
          <p:nvPr/>
        </p:nvSpPr>
        <p:spPr>
          <a:xfrm>
            <a:off x="0" y="1104900"/>
            <a:ext cx="12192000" cy="28575"/>
          </a:xfrm>
          <a:prstGeom prst="rect">
            <a:avLst/>
          </a:prstGeom>
          <a:solidFill>
            <a:srgbClr val="D2D7D8"/>
          </a:solidFill>
          <a:ln/>
        </p:spPr>
      </p:sp>
      <p:sp>
        <p:nvSpPr>
          <p:cNvPr id="6" name="o355"/>
          <p:cNvSpPr/>
          <p:nvPr/>
        </p:nvSpPr>
        <p:spPr>
          <a:xfrm>
            <a:off x="0" y="1104900"/>
            <a:ext cx="9144000" cy="28575"/>
          </a:xfrm>
          <a:prstGeom prst="rect">
            <a:avLst/>
          </a:prstGeom>
          <a:solidFill>
            <a:srgbClr val="EB811B"/>
          </a:solidFill>
          <a:ln/>
        </p:spPr>
      </p:sp>
      <p:sp>
        <p:nvSpPr>
          <p:cNvPr id="7" name="o356"/>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특별안전보건교육 1건당 행정 소요시간 (교육 진행시간 제외) · 세부 행동 단위 실측</a:t>
            </a:r>
            <a:endParaRPr lang="en-US" sz="1300" dirty="0"/>
          </a:p>
        </p:txBody>
      </p:sp>
      <p:sp>
        <p:nvSpPr>
          <p:cNvPr id="8" name="o357"/>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358"/>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10</a:t>
            </a:r>
            <a:endParaRPr lang="en-US" sz="1000" dirty="0"/>
          </a:p>
        </p:txBody>
      </p:sp>
      <p:sp>
        <p:nvSpPr>
          <p:cNvPr id="10" name="o359"/>
          <p:cNvSpPr/>
          <p:nvPr/>
        </p:nvSpPr>
        <p:spPr>
          <a:xfrm>
            <a:off x="609600" y="1600200"/>
            <a:ext cx="10972800" cy="4648200"/>
          </a:xfrm>
          <a:prstGeom prst="rect">
            <a:avLst/>
          </a:prstGeom>
          <a:solidFill>
            <a:srgbClr val="FFFFFF"/>
          </a:solidFill>
          <a:ln w="12700">
            <a:solidFill>
              <a:srgbClr val="D8D8D8"/>
            </a:solidFill>
            <a:prstDash val="solid"/>
          </a:ln>
        </p:spPr>
      </p:sp>
      <p:sp>
        <p:nvSpPr>
          <p:cNvPr id="11" name="o360"/>
          <p:cNvSpPr txBox="1"/>
          <p:nvPr/>
        </p:nvSpPr>
        <p:spPr>
          <a:xfrm>
            <a:off x="914400" y="1752600"/>
            <a:ext cx="2857500" cy="171450"/>
          </a:xfrm>
          <a:prstGeom prst="rect">
            <a:avLst/>
          </a:prstGeom>
          <a:noFill/>
          <a:ln/>
        </p:spPr>
        <p:txBody>
          <a:bodyPr wrap="square" lIns="0" tIns="0" rIns="0" bIns="0" rtlCol="0" anchor="t"/>
          <a:lstStyle/>
          <a:p>
            <a:pPr indent="0" marL="0">
              <a:buNone/>
            </a:pPr>
            <a:r>
              <a:rPr lang="en-US" sz="1100" b="1" dirty="0">
                <a:solidFill>
                  <a:srgbClr val="6B7B7E"/>
                </a:solidFill>
                <a:latin typeface="Pretendard" pitchFamily="34" charset="0"/>
                <a:ea typeface="Pretendard" pitchFamily="34" charset="-122"/>
                <a:cs typeface="Pretendard" pitchFamily="34" charset="-120"/>
              </a:rPr>
              <a:t>BEFORE · 종이 수기</a:t>
            </a:r>
            <a:endParaRPr lang="en-US" sz="1100" dirty="0"/>
          </a:p>
        </p:txBody>
      </p:sp>
      <p:sp>
        <p:nvSpPr>
          <p:cNvPr id="12" name="o361"/>
          <p:cNvSpPr txBox="1"/>
          <p:nvPr/>
        </p:nvSpPr>
        <p:spPr>
          <a:xfrm>
            <a:off x="914400" y="1943100"/>
            <a:ext cx="2857500" cy="419100"/>
          </a:xfrm>
          <a:prstGeom prst="rect">
            <a:avLst/>
          </a:prstGeom>
          <a:noFill/>
          <a:ln/>
        </p:spPr>
        <p:txBody>
          <a:bodyPr wrap="square" lIns="0" tIns="0" rIns="0" bIns="0" rtlCol="0" anchor="t"/>
          <a:lstStyle/>
          <a:p>
            <a:pPr indent="0" marL="0">
              <a:buNone/>
            </a:pPr>
            <a:r>
              <a:rPr lang="en-US" sz="3000" b="1" dirty="0">
                <a:solidFill>
                  <a:srgbClr val="6B7B7E"/>
                </a:solidFill>
                <a:latin typeface="Pretendard" pitchFamily="34" charset="0"/>
                <a:ea typeface="Pretendard" pitchFamily="34" charset="-122"/>
                <a:cs typeface="Pretendard" pitchFamily="34" charset="-120"/>
              </a:rPr>
              <a:t>33분 48초</a:t>
            </a:r>
            <a:endParaRPr lang="en-US" sz="3000" dirty="0"/>
          </a:p>
        </p:txBody>
      </p:sp>
      <p:sp>
        <p:nvSpPr>
          <p:cNvPr id="13" name="o362"/>
          <p:cNvSpPr txBox="1"/>
          <p:nvPr/>
        </p:nvSpPr>
        <p:spPr>
          <a:xfrm>
            <a:off x="4000500" y="1752600"/>
            <a:ext cx="2857500" cy="171450"/>
          </a:xfrm>
          <a:prstGeom prst="rect">
            <a:avLst/>
          </a:prstGeom>
          <a:noFill/>
          <a:ln/>
        </p:spPr>
        <p:txBody>
          <a:bodyPr wrap="square" lIns="0" tIns="0" rIns="0" bIns="0" rtlCol="0" anchor="t"/>
          <a:lstStyle/>
          <a:p>
            <a:pPr indent="0" marL="0">
              <a:buNone/>
            </a:pPr>
            <a:r>
              <a:rPr lang="en-US" sz="1100" b="1" dirty="0">
                <a:solidFill>
                  <a:srgbClr val="23373B"/>
                </a:solidFill>
                <a:latin typeface="Pretendard" pitchFamily="34" charset="0"/>
                <a:ea typeface="Pretendard" pitchFamily="34" charset="-122"/>
                <a:cs typeface="Pretendard" pitchFamily="34" charset="-120"/>
              </a:rPr>
              <a:t>AFTER · AI 통합 플랫폼</a:t>
            </a:r>
            <a:endParaRPr lang="en-US" sz="1100" dirty="0"/>
          </a:p>
        </p:txBody>
      </p:sp>
      <p:sp>
        <p:nvSpPr>
          <p:cNvPr id="14" name="o363"/>
          <p:cNvSpPr txBox="1"/>
          <p:nvPr/>
        </p:nvSpPr>
        <p:spPr>
          <a:xfrm>
            <a:off x="4000500" y="1943100"/>
            <a:ext cx="2857500" cy="419100"/>
          </a:xfrm>
          <a:prstGeom prst="rect">
            <a:avLst/>
          </a:prstGeom>
          <a:noFill/>
          <a:ln/>
        </p:spPr>
        <p:txBody>
          <a:bodyPr wrap="square" lIns="0" tIns="0" rIns="0" bIns="0" rtlCol="0" anchor="t"/>
          <a:lstStyle/>
          <a:p>
            <a:pPr indent="0" marL="0">
              <a:buNone/>
            </a:pPr>
            <a:r>
              <a:rPr lang="en-US" sz="3000" b="1" dirty="0">
                <a:solidFill>
                  <a:srgbClr val="23373B"/>
                </a:solidFill>
                <a:latin typeface="Pretendard" pitchFamily="34" charset="0"/>
                <a:ea typeface="Pretendard" pitchFamily="34" charset="-122"/>
                <a:cs typeface="Pretendard" pitchFamily="34" charset="-120"/>
              </a:rPr>
              <a:t>2분 22초</a:t>
            </a:r>
            <a:endParaRPr lang="en-US" sz="3000" dirty="0"/>
          </a:p>
        </p:txBody>
      </p:sp>
      <p:sp>
        <p:nvSpPr>
          <p:cNvPr id="15" name="o364"/>
          <p:cNvSpPr/>
          <p:nvPr/>
        </p:nvSpPr>
        <p:spPr>
          <a:xfrm>
            <a:off x="9334500" y="1752600"/>
            <a:ext cx="1943100" cy="609600"/>
          </a:xfrm>
          <a:prstGeom prst="rect">
            <a:avLst/>
          </a:prstGeom>
          <a:solidFill>
            <a:srgbClr val="EB811B"/>
          </a:solidFill>
          <a:ln/>
        </p:spPr>
      </p:sp>
      <p:sp>
        <p:nvSpPr>
          <p:cNvPr id="16" name="o365"/>
          <p:cNvSpPr txBox="1"/>
          <p:nvPr/>
        </p:nvSpPr>
        <p:spPr>
          <a:xfrm>
            <a:off x="9334500" y="1752600"/>
            <a:ext cx="1943100" cy="609600"/>
          </a:xfrm>
          <a:prstGeom prst="rect">
            <a:avLst/>
          </a:prstGeom>
          <a:noFill/>
          <a:ln/>
        </p:spPr>
        <p:txBody>
          <a:bodyPr wrap="square" lIns="0" tIns="0" rIns="0" bIns="0" rtlCol="0" anchor="ctr"/>
          <a:lstStyle/>
          <a:p>
            <a:pPr algn="ctr" indent="0" marL="0">
              <a:buNone/>
            </a:pPr>
            <a:r>
              <a:rPr lang="en-US" sz="3000" b="1" dirty="0">
                <a:solidFill>
                  <a:srgbClr val="FFFFFF"/>
                </a:solidFill>
                <a:latin typeface="Pretendard" pitchFamily="34" charset="0"/>
                <a:ea typeface="Pretendard" pitchFamily="34" charset="-122"/>
                <a:cs typeface="Pretendard" pitchFamily="34" charset="-120"/>
              </a:rPr>
              <a:t>−93%</a:t>
            </a:r>
            <a:endParaRPr lang="en-US" sz="3000" dirty="0"/>
          </a:p>
        </p:txBody>
      </p:sp>
      <p:sp>
        <p:nvSpPr>
          <p:cNvPr id="17" name="o366"/>
          <p:cNvSpPr/>
          <p:nvPr/>
        </p:nvSpPr>
        <p:spPr>
          <a:xfrm>
            <a:off x="914400" y="2533650"/>
            <a:ext cx="10363200" cy="0"/>
          </a:xfrm>
          <a:prstGeom prst="line">
            <a:avLst/>
          </a:prstGeom>
          <a:noFill/>
          <a:ln w="9525">
            <a:solidFill>
              <a:srgbClr val="D8D8D8"/>
            </a:solidFill>
            <a:prstDash val="solid"/>
          </a:ln>
        </p:spPr>
      </p:sp>
      <p:sp>
        <p:nvSpPr>
          <p:cNvPr id="18" name="o367"/>
          <p:cNvSpPr txBox="1"/>
          <p:nvPr/>
        </p:nvSpPr>
        <p:spPr>
          <a:xfrm>
            <a:off x="914400" y="2590800"/>
            <a:ext cx="2286000" cy="381000"/>
          </a:xfrm>
          <a:prstGeom prst="rect">
            <a:avLst/>
          </a:prstGeom>
          <a:noFill/>
          <a:ln/>
        </p:spPr>
        <p:txBody>
          <a:bodyPr wrap="square" lIns="0" tIns="0" rIns="0" bIns="0" rtlCol="0" anchor="ctr"/>
          <a:lstStyle/>
          <a:p>
            <a:pPr indent="0" marL="0">
              <a:buNone/>
            </a:pPr>
            <a:r>
              <a:rPr lang="en-US" sz="1300" dirty="0">
                <a:solidFill>
                  <a:srgbClr val="23373B"/>
                </a:solidFill>
                <a:latin typeface="Pretendard" pitchFamily="34" charset="0"/>
                <a:ea typeface="Pretendard" pitchFamily="34" charset="-122"/>
                <a:cs typeface="Pretendard" pitchFamily="34" charset="-120"/>
              </a:rPr>
              <a:t>1. 대상자 확인 · 일지 작성</a:t>
            </a:r>
            <a:endParaRPr lang="en-US" sz="1300" dirty="0"/>
          </a:p>
        </p:txBody>
      </p:sp>
      <p:sp>
        <p:nvSpPr>
          <p:cNvPr id="19" name="o368"/>
          <p:cNvSpPr/>
          <p:nvPr/>
        </p:nvSpPr>
        <p:spPr>
          <a:xfrm>
            <a:off x="3238500" y="2628900"/>
            <a:ext cx="813062" cy="133350"/>
          </a:xfrm>
          <a:prstGeom prst="rect">
            <a:avLst/>
          </a:prstGeom>
          <a:solidFill>
            <a:srgbClr val="C9CFD0"/>
          </a:solidFill>
          <a:ln/>
        </p:spPr>
      </p:sp>
      <p:sp>
        <p:nvSpPr>
          <p:cNvPr id="20" name="o369"/>
          <p:cNvSpPr txBox="1"/>
          <p:nvPr/>
        </p:nvSpPr>
        <p:spPr>
          <a:xfrm>
            <a:off x="4127762" y="2590800"/>
            <a:ext cx="1143000" cy="190500"/>
          </a:xfrm>
          <a:prstGeom prst="rect">
            <a:avLst/>
          </a:prstGeom>
          <a:noFill/>
          <a:ln/>
        </p:spPr>
        <p:txBody>
          <a:bodyPr wrap="square" lIns="0" tIns="0" rIns="0" bIns="0" rtlCol="0" anchor="ctr"/>
          <a:lstStyle/>
          <a:p>
            <a:pPr indent="0" marL="0">
              <a:buNone/>
            </a:pPr>
            <a:r>
              <a:rPr lang="en-US" sz="1100" dirty="0">
                <a:solidFill>
                  <a:srgbClr val="6B7B7E"/>
                </a:solidFill>
                <a:latin typeface="Pretendard" pitchFamily="34" charset="0"/>
                <a:ea typeface="Pretendard" pitchFamily="34" charset="-122"/>
                <a:cs typeface="Pretendard" pitchFamily="34" charset="-120"/>
              </a:rPr>
              <a:t>2분 18초</a:t>
            </a:r>
            <a:endParaRPr lang="en-US" sz="1100" dirty="0"/>
          </a:p>
        </p:txBody>
      </p:sp>
      <p:sp>
        <p:nvSpPr>
          <p:cNvPr id="21" name="o370"/>
          <p:cNvSpPr/>
          <p:nvPr/>
        </p:nvSpPr>
        <p:spPr>
          <a:xfrm>
            <a:off x="3238500" y="2800350"/>
            <a:ext cx="106052" cy="133350"/>
          </a:xfrm>
          <a:prstGeom prst="rect">
            <a:avLst/>
          </a:prstGeom>
          <a:solidFill>
            <a:srgbClr val="EB811B"/>
          </a:solidFill>
          <a:ln/>
        </p:spPr>
      </p:sp>
      <p:sp>
        <p:nvSpPr>
          <p:cNvPr id="22" name="o371"/>
          <p:cNvSpPr txBox="1"/>
          <p:nvPr/>
        </p:nvSpPr>
        <p:spPr>
          <a:xfrm>
            <a:off x="3420752" y="2762250"/>
            <a:ext cx="1143000" cy="190500"/>
          </a:xfrm>
          <a:prstGeom prst="rect">
            <a:avLst/>
          </a:prstGeom>
          <a:noFill/>
          <a:ln/>
        </p:spPr>
        <p:txBody>
          <a:bodyPr wrap="square" lIns="0" tIns="0" rIns="0" bIns="0" rtlCol="0" anchor="ctr"/>
          <a:lstStyle/>
          <a:p>
            <a:pPr indent="0" marL="0">
              <a:buNone/>
            </a:pPr>
            <a:r>
              <a:rPr lang="en-US" sz="1100" b="1" dirty="0">
                <a:solidFill>
                  <a:srgbClr val="23373B"/>
                </a:solidFill>
                <a:latin typeface="Pretendard" pitchFamily="34" charset="0"/>
                <a:ea typeface="Pretendard" pitchFamily="34" charset="-122"/>
                <a:cs typeface="Pretendard" pitchFamily="34" charset="-120"/>
              </a:rPr>
              <a:t>18초</a:t>
            </a:r>
            <a:endParaRPr lang="en-US" sz="1100" dirty="0"/>
          </a:p>
        </p:txBody>
      </p:sp>
      <p:sp>
        <p:nvSpPr>
          <p:cNvPr id="23" name="o372"/>
          <p:cNvSpPr/>
          <p:nvPr/>
        </p:nvSpPr>
        <p:spPr>
          <a:xfrm>
            <a:off x="914400" y="3028950"/>
            <a:ext cx="10363200" cy="0"/>
          </a:xfrm>
          <a:prstGeom prst="line">
            <a:avLst/>
          </a:prstGeom>
          <a:noFill/>
          <a:ln w="9525">
            <a:solidFill>
              <a:srgbClr val="D8D8D8"/>
            </a:solidFill>
            <a:prstDash val="solid"/>
          </a:ln>
        </p:spPr>
      </p:sp>
      <p:sp>
        <p:nvSpPr>
          <p:cNvPr id="24" name="o373"/>
          <p:cNvSpPr txBox="1"/>
          <p:nvPr/>
        </p:nvSpPr>
        <p:spPr>
          <a:xfrm>
            <a:off x="914400" y="3086100"/>
            <a:ext cx="2286000" cy="381000"/>
          </a:xfrm>
          <a:prstGeom prst="rect">
            <a:avLst/>
          </a:prstGeom>
          <a:noFill/>
          <a:ln/>
        </p:spPr>
        <p:txBody>
          <a:bodyPr wrap="square" lIns="0" tIns="0" rIns="0" bIns="0" rtlCol="0" anchor="ctr"/>
          <a:lstStyle/>
          <a:p>
            <a:pPr indent="0" marL="0">
              <a:buNone/>
            </a:pPr>
            <a:r>
              <a:rPr lang="en-US" sz="1300" dirty="0">
                <a:solidFill>
                  <a:srgbClr val="23373B"/>
                </a:solidFill>
                <a:latin typeface="Pretendard" pitchFamily="34" charset="0"/>
                <a:ea typeface="Pretendard" pitchFamily="34" charset="-122"/>
                <a:cs typeface="Pretendard" pitchFamily="34" charset="-120"/>
              </a:rPr>
              <a:t>2. 부서장에게 일지 전송</a:t>
            </a:r>
            <a:endParaRPr lang="en-US" sz="1300" dirty="0"/>
          </a:p>
        </p:txBody>
      </p:sp>
      <p:sp>
        <p:nvSpPr>
          <p:cNvPr id="25" name="o374"/>
          <p:cNvSpPr/>
          <p:nvPr/>
        </p:nvSpPr>
        <p:spPr>
          <a:xfrm>
            <a:off x="3238500" y="3124200"/>
            <a:ext cx="353505" cy="133350"/>
          </a:xfrm>
          <a:prstGeom prst="rect">
            <a:avLst/>
          </a:prstGeom>
          <a:solidFill>
            <a:srgbClr val="C9CFD0"/>
          </a:solidFill>
          <a:ln/>
        </p:spPr>
      </p:sp>
      <p:sp>
        <p:nvSpPr>
          <p:cNvPr id="26" name="o375"/>
          <p:cNvSpPr txBox="1"/>
          <p:nvPr/>
        </p:nvSpPr>
        <p:spPr>
          <a:xfrm>
            <a:off x="3668205" y="3086100"/>
            <a:ext cx="1143000" cy="190500"/>
          </a:xfrm>
          <a:prstGeom prst="rect">
            <a:avLst/>
          </a:prstGeom>
          <a:noFill/>
          <a:ln/>
        </p:spPr>
        <p:txBody>
          <a:bodyPr wrap="square" lIns="0" tIns="0" rIns="0" bIns="0" rtlCol="0" anchor="ctr"/>
          <a:lstStyle/>
          <a:p>
            <a:pPr indent="0" marL="0">
              <a:buNone/>
            </a:pPr>
            <a:r>
              <a:rPr lang="en-US" sz="1100" dirty="0">
                <a:solidFill>
                  <a:srgbClr val="6B7B7E"/>
                </a:solidFill>
                <a:latin typeface="Pretendard" pitchFamily="34" charset="0"/>
                <a:ea typeface="Pretendard" pitchFamily="34" charset="-122"/>
                <a:cs typeface="Pretendard" pitchFamily="34" charset="-120"/>
              </a:rPr>
              <a:t>1분 00초</a:t>
            </a:r>
            <a:endParaRPr lang="en-US" sz="1100" dirty="0"/>
          </a:p>
        </p:txBody>
      </p:sp>
      <p:sp>
        <p:nvSpPr>
          <p:cNvPr id="27" name="o376"/>
          <p:cNvSpPr/>
          <p:nvPr/>
        </p:nvSpPr>
        <p:spPr>
          <a:xfrm>
            <a:off x="3238500" y="3295650"/>
            <a:ext cx="294588" cy="133350"/>
          </a:xfrm>
          <a:prstGeom prst="rect">
            <a:avLst/>
          </a:prstGeom>
          <a:solidFill>
            <a:srgbClr val="EB811B"/>
          </a:solidFill>
          <a:ln/>
        </p:spPr>
      </p:sp>
      <p:sp>
        <p:nvSpPr>
          <p:cNvPr id="28" name="o377"/>
          <p:cNvSpPr txBox="1"/>
          <p:nvPr/>
        </p:nvSpPr>
        <p:spPr>
          <a:xfrm>
            <a:off x="3609288" y="3257550"/>
            <a:ext cx="1143000" cy="190500"/>
          </a:xfrm>
          <a:prstGeom prst="rect">
            <a:avLst/>
          </a:prstGeom>
          <a:noFill/>
          <a:ln/>
        </p:spPr>
        <p:txBody>
          <a:bodyPr wrap="square" lIns="0" tIns="0" rIns="0" bIns="0" rtlCol="0" anchor="ctr"/>
          <a:lstStyle/>
          <a:p>
            <a:pPr indent="0" marL="0">
              <a:buNone/>
            </a:pPr>
            <a:r>
              <a:rPr lang="en-US" sz="1100" b="1" dirty="0">
                <a:solidFill>
                  <a:srgbClr val="23373B"/>
                </a:solidFill>
                <a:latin typeface="Pretendard" pitchFamily="34" charset="0"/>
                <a:ea typeface="Pretendard" pitchFamily="34" charset="-122"/>
                <a:cs typeface="Pretendard" pitchFamily="34" charset="-120"/>
              </a:rPr>
              <a:t>50초</a:t>
            </a:r>
            <a:endParaRPr lang="en-US" sz="1100" dirty="0"/>
          </a:p>
        </p:txBody>
      </p:sp>
      <p:sp>
        <p:nvSpPr>
          <p:cNvPr id="29" name="o378"/>
          <p:cNvSpPr/>
          <p:nvPr/>
        </p:nvSpPr>
        <p:spPr>
          <a:xfrm>
            <a:off x="914400" y="3524250"/>
            <a:ext cx="10363200" cy="0"/>
          </a:xfrm>
          <a:prstGeom prst="line">
            <a:avLst/>
          </a:prstGeom>
          <a:noFill/>
          <a:ln w="9525">
            <a:solidFill>
              <a:srgbClr val="D8D8D8"/>
            </a:solidFill>
            <a:prstDash val="solid"/>
          </a:ln>
        </p:spPr>
      </p:sp>
      <p:sp>
        <p:nvSpPr>
          <p:cNvPr id="30" name="o379"/>
          <p:cNvSpPr txBox="1"/>
          <p:nvPr/>
        </p:nvSpPr>
        <p:spPr>
          <a:xfrm>
            <a:off x="914400" y="3581400"/>
            <a:ext cx="2286000" cy="381000"/>
          </a:xfrm>
          <a:prstGeom prst="rect">
            <a:avLst/>
          </a:prstGeom>
          <a:noFill/>
          <a:ln/>
        </p:spPr>
        <p:txBody>
          <a:bodyPr wrap="square" lIns="0" tIns="0" rIns="0" bIns="0" rtlCol="0" anchor="ctr"/>
          <a:lstStyle/>
          <a:p>
            <a:pPr indent="0" marL="0">
              <a:buNone/>
            </a:pPr>
            <a:r>
              <a:rPr lang="en-US" sz="1300" dirty="0">
                <a:solidFill>
                  <a:srgbClr val="23373B"/>
                </a:solidFill>
                <a:latin typeface="Pretendard" pitchFamily="34" charset="0"/>
                <a:ea typeface="Pretendard" pitchFamily="34" charset="-122"/>
                <a:cs typeface="Pretendard" pitchFamily="34" charset="-120"/>
              </a:rPr>
              <a:t>3. 출력 · 수기 서명</a:t>
            </a:r>
            <a:endParaRPr lang="en-US" sz="1300" dirty="0"/>
          </a:p>
        </p:txBody>
      </p:sp>
      <p:sp>
        <p:nvSpPr>
          <p:cNvPr id="31" name="o380"/>
          <p:cNvSpPr/>
          <p:nvPr/>
        </p:nvSpPr>
        <p:spPr>
          <a:xfrm>
            <a:off x="3238500" y="3619500"/>
            <a:ext cx="530258" cy="133350"/>
          </a:xfrm>
          <a:prstGeom prst="rect">
            <a:avLst/>
          </a:prstGeom>
          <a:solidFill>
            <a:srgbClr val="C9CFD0"/>
          </a:solidFill>
          <a:ln/>
        </p:spPr>
      </p:sp>
      <p:sp>
        <p:nvSpPr>
          <p:cNvPr id="32" name="o381"/>
          <p:cNvSpPr txBox="1"/>
          <p:nvPr/>
        </p:nvSpPr>
        <p:spPr>
          <a:xfrm>
            <a:off x="3844958" y="3581400"/>
            <a:ext cx="1143000" cy="190500"/>
          </a:xfrm>
          <a:prstGeom prst="rect">
            <a:avLst/>
          </a:prstGeom>
          <a:noFill/>
          <a:ln/>
        </p:spPr>
        <p:txBody>
          <a:bodyPr wrap="square" lIns="0" tIns="0" rIns="0" bIns="0" rtlCol="0" anchor="ctr"/>
          <a:lstStyle/>
          <a:p>
            <a:pPr indent="0" marL="0">
              <a:buNone/>
            </a:pPr>
            <a:r>
              <a:rPr lang="en-US" sz="1100" dirty="0">
                <a:solidFill>
                  <a:srgbClr val="6B7B7E"/>
                </a:solidFill>
                <a:latin typeface="Pretendard" pitchFamily="34" charset="0"/>
                <a:ea typeface="Pretendard" pitchFamily="34" charset="-122"/>
                <a:cs typeface="Pretendard" pitchFamily="34" charset="-120"/>
              </a:rPr>
              <a:t>1분 30초</a:t>
            </a:r>
            <a:endParaRPr lang="en-US" sz="1100" dirty="0"/>
          </a:p>
        </p:txBody>
      </p:sp>
      <p:sp>
        <p:nvSpPr>
          <p:cNvPr id="33" name="o382"/>
          <p:cNvSpPr/>
          <p:nvPr/>
        </p:nvSpPr>
        <p:spPr>
          <a:xfrm>
            <a:off x="3238500" y="3790950"/>
            <a:ext cx="53026" cy="133350"/>
          </a:xfrm>
          <a:prstGeom prst="rect">
            <a:avLst/>
          </a:prstGeom>
          <a:solidFill>
            <a:srgbClr val="EB811B"/>
          </a:solidFill>
          <a:ln/>
        </p:spPr>
      </p:sp>
      <p:sp>
        <p:nvSpPr>
          <p:cNvPr id="34" name="o383"/>
          <p:cNvSpPr txBox="1"/>
          <p:nvPr/>
        </p:nvSpPr>
        <p:spPr>
          <a:xfrm>
            <a:off x="3367726" y="3752850"/>
            <a:ext cx="1143000" cy="190500"/>
          </a:xfrm>
          <a:prstGeom prst="rect">
            <a:avLst/>
          </a:prstGeom>
          <a:noFill/>
          <a:ln/>
        </p:spPr>
        <p:txBody>
          <a:bodyPr wrap="square" lIns="0" tIns="0" rIns="0" bIns="0" rtlCol="0" anchor="ctr"/>
          <a:lstStyle/>
          <a:p>
            <a:pPr indent="0" marL="0">
              <a:buNone/>
            </a:pPr>
            <a:r>
              <a:rPr lang="en-US" sz="1100" b="1" dirty="0">
                <a:solidFill>
                  <a:srgbClr val="23373B"/>
                </a:solidFill>
                <a:latin typeface="Pretendard" pitchFamily="34" charset="0"/>
                <a:ea typeface="Pretendard" pitchFamily="34" charset="-122"/>
                <a:cs typeface="Pretendard" pitchFamily="34" charset="-120"/>
              </a:rPr>
              <a:t>09초</a:t>
            </a:r>
            <a:endParaRPr lang="en-US" sz="1100" dirty="0"/>
          </a:p>
        </p:txBody>
      </p:sp>
      <p:sp>
        <p:nvSpPr>
          <p:cNvPr id="35" name="o384"/>
          <p:cNvSpPr/>
          <p:nvPr/>
        </p:nvSpPr>
        <p:spPr>
          <a:xfrm>
            <a:off x="914400" y="4019550"/>
            <a:ext cx="10363200" cy="0"/>
          </a:xfrm>
          <a:prstGeom prst="line">
            <a:avLst/>
          </a:prstGeom>
          <a:noFill/>
          <a:ln w="9525">
            <a:solidFill>
              <a:srgbClr val="D8D8D8"/>
            </a:solidFill>
            <a:prstDash val="solid"/>
          </a:ln>
        </p:spPr>
      </p:sp>
      <p:sp>
        <p:nvSpPr>
          <p:cNvPr id="36" name="o385"/>
          <p:cNvSpPr txBox="1"/>
          <p:nvPr/>
        </p:nvSpPr>
        <p:spPr>
          <a:xfrm>
            <a:off x="914400" y="4076700"/>
            <a:ext cx="2286000" cy="381000"/>
          </a:xfrm>
          <a:prstGeom prst="rect">
            <a:avLst/>
          </a:prstGeom>
          <a:noFill/>
          <a:ln/>
        </p:spPr>
        <p:txBody>
          <a:bodyPr wrap="square" lIns="0" tIns="0" rIns="0" bIns="0" rtlCol="0" anchor="ctr"/>
          <a:lstStyle/>
          <a:p>
            <a:pPr indent="0" marL="0">
              <a:buNone/>
            </a:pPr>
            <a:r>
              <a:rPr lang="en-US" sz="1300" b="1" dirty="0">
                <a:solidFill>
                  <a:srgbClr val="23373B"/>
                </a:solidFill>
                <a:latin typeface="Pretendard" pitchFamily="34" charset="0"/>
                <a:ea typeface="Pretendard" pitchFamily="34" charset="-122"/>
                <a:cs typeface="Pretendard" pitchFamily="34" charset="-120"/>
              </a:rPr>
              <a:t>4. 보건관리실 직접 제출</a:t>
            </a:r>
            <a:endParaRPr lang="en-US" sz="1300" dirty="0"/>
          </a:p>
        </p:txBody>
      </p:sp>
      <p:sp>
        <p:nvSpPr>
          <p:cNvPr id="37" name="o386"/>
          <p:cNvSpPr/>
          <p:nvPr/>
        </p:nvSpPr>
        <p:spPr>
          <a:xfrm>
            <a:off x="3238500" y="4114800"/>
            <a:ext cx="2474536" cy="133350"/>
          </a:xfrm>
          <a:prstGeom prst="rect">
            <a:avLst/>
          </a:prstGeom>
          <a:solidFill>
            <a:srgbClr val="C9CFD0"/>
          </a:solidFill>
          <a:ln/>
        </p:spPr>
      </p:sp>
      <p:sp>
        <p:nvSpPr>
          <p:cNvPr id="38" name="o387"/>
          <p:cNvSpPr txBox="1"/>
          <p:nvPr/>
        </p:nvSpPr>
        <p:spPr>
          <a:xfrm>
            <a:off x="5789236" y="4076700"/>
            <a:ext cx="1143000" cy="190500"/>
          </a:xfrm>
          <a:prstGeom prst="rect">
            <a:avLst/>
          </a:prstGeom>
          <a:noFill/>
          <a:ln/>
        </p:spPr>
        <p:txBody>
          <a:bodyPr wrap="square" lIns="0" tIns="0" rIns="0" bIns="0" rtlCol="0" anchor="ctr"/>
          <a:lstStyle/>
          <a:p>
            <a:pPr indent="0" marL="0">
              <a:buNone/>
            </a:pPr>
            <a:r>
              <a:rPr lang="en-US" sz="1100" dirty="0">
                <a:solidFill>
                  <a:srgbClr val="6B7B7E"/>
                </a:solidFill>
                <a:latin typeface="Pretendard" pitchFamily="34" charset="0"/>
                <a:ea typeface="Pretendard" pitchFamily="34" charset="-122"/>
                <a:cs typeface="Pretendard" pitchFamily="34" charset="-120"/>
              </a:rPr>
              <a:t>7분 00초</a:t>
            </a:r>
            <a:endParaRPr lang="en-US" sz="1100" dirty="0"/>
          </a:p>
        </p:txBody>
      </p:sp>
      <p:sp>
        <p:nvSpPr>
          <p:cNvPr id="39" name="o388"/>
          <p:cNvSpPr txBox="1"/>
          <p:nvPr/>
        </p:nvSpPr>
        <p:spPr>
          <a:xfrm>
            <a:off x="3238500" y="4248150"/>
            <a:ext cx="1524000" cy="190500"/>
          </a:xfrm>
          <a:prstGeom prst="rect">
            <a:avLst/>
          </a:prstGeom>
          <a:noFill/>
          <a:ln/>
        </p:spPr>
        <p:txBody>
          <a:bodyPr wrap="square" lIns="0" tIns="0" rIns="0" bIns="0" rtlCol="0" anchor="ctr"/>
          <a:lstStyle/>
          <a:p>
            <a:pPr indent="0" marL="0">
              <a:buNone/>
            </a:pPr>
            <a:r>
              <a:rPr lang="en-US" sz="1100" b="1" dirty="0">
                <a:solidFill>
                  <a:srgbClr val="23373B"/>
                </a:solidFill>
                <a:latin typeface="Pretendard" pitchFamily="34" charset="0"/>
                <a:ea typeface="Pretendard" pitchFamily="34" charset="-122"/>
                <a:cs typeface="Pretendard" pitchFamily="34" charset="-120"/>
              </a:rPr>
              <a:t>단계 삭제</a:t>
            </a:r>
            <a:endParaRPr lang="en-US" sz="1100" dirty="0"/>
          </a:p>
        </p:txBody>
      </p:sp>
      <p:sp>
        <p:nvSpPr>
          <p:cNvPr id="40" name="o389"/>
          <p:cNvSpPr/>
          <p:nvPr/>
        </p:nvSpPr>
        <p:spPr>
          <a:xfrm>
            <a:off x="914400" y="4514850"/>
            <a:ext cx="10363200" cy="0"/>
          </a:xfrm>
          <a:prstGeom prst="line">
            <a:avLst/>
          </a:prstGeom>
          <a:noFill/>
          <a:ln w="9525">
            <a:solidFill>
              <a:srgbClr val="D8D8D8"/>
            </a:solidFill>
            <a:prstDash val="solid"/>
          </a:ln>
        </p:spPr>
      </p:sp>
      <p:sp>
        <p:nvSpPr>
          <p:cNvPr id="41" name="o390"/>
          <p:cNvSpPr txBox="1"/>
          <p:nvPr/>
        </p:nvSpPr>
        <p:spPr>
          <a:xfrm>
            <a:off x="914400" y="4572000"/>
            <a:ext cx="2286000" cy="381000"/>
          </a:xfrm>
          <a:prstGeom prst="rect">
            <a:avLst/>
          </a:prstGeom>
          <a:noFill/>
          <a:ln/>
        </p:spPr>
        <p:txBody>
          <a:bodyPr wrap="square" lIns="0" tIns="0" rIns="0" bIns="0" rtlCol="0" anchor="ctr"/>
          <a:lstStyle/>
          <a:p>
            <a:pPr indent="0" marL="0">
              <a:buNone/>
            </a:pPr>
            <a:r>
              <a:rPr lang="en-US" sz="1300" dirty="0">
                <a:solidFill>
                  <a:srgbClr val="23373B"/>
                </a:solidFill>
                <a:latin typeface="Pretendard" pitchFamily="34" charset="0"/>
                <a:ea typeface="Pretendard" pitchFamily="34" charset="-122"/>
                <a:cs typeface="Pretendard" pitchFamily="34" charset="-120"/>
              </a:rPr>
              <a:t>5. 사진 촬영 · 전송</a:t>
            </a:r>
            <a:endParaRPr lang="en-US" sz="1300" dirty="0"/>
          </a:p>
        </p:txBody>
      </p:sp>
      <p:sp>
        <p:nvSpPr>
          <p:cNvPr id="42" name="o391"/>
          <p:cNvSpPr/>
          <p:nvPr/>
        </p:nvSpPr>
        <p:spPr>
          <a:xfrm>
            <a:off x="3238500" y="4610100"/>
            <a:ext cx="176753" cy="133350"/>
          </a:xfrm>
          <a:prstGeom prst="rect">
            <a:avLst/>
          </a:prstGeom>
          <a:solidFill>
            <a:srgbClr val="C9CFD0"/>
          </a:solidFill>
          <a:ln/>
        </p:spPr>
      </p:sp>
      <p:sp>
        <p:nvSpPr>
          <p:cNvPr id="43" name="o392"/>
          <p:cNvSpPr txBox="1"/>
          <p:nvPr/>
        </p:nvSpPr>
        <p:spPr>
          <a:xfrm>
            <a:off x="3491453" y="4572000"/>
            <a:ext cx="1143000" cy="190500"/>
          </a:xfrm>
          <a:prstGeom prst="rect">
            <a:avLst/>
          </a:prstGeom>
          <a:noFill/>
          <a:ln/>
        </p:spPr>
        <p:txBody>
          <a:bodyPr wrap="square" lIns="0" tIns="0" rIns="0" bIns="0" rtlCol="0" anchor="ctr"/>
          <a:lstStyle/>
          <a:p>
            <a:pPr indent="0" marL="0">
              <a:buNone/>
            </a:pPr>
            <a:r>
              <a:rPr lang="en-US" sz="1100" dirty="0">
                <a:solidFill>
                  <a:srgbClr val="6B7B7E"/>
                </a:solidFill>
                <a:latin typeface="Pretendard" pitchFamily="34" charset="0"/>
                <a:ea typeface="Pretendard" pitchFamily="34" charset="-122"/>
                <a:cs typeface="Pretendard" pitchFamily="34" charset="-120"/>
              </a:rPr>
              <a:t>30초</a:t>
            </a:r>
            <a:endParaRPr lang="en-US" sz="1100" dirty="0"/>
          </a:p>
        </p:txBody>
      </p:sp>
      <p:sp>
        <p:nvSpPr>
          <p:cNvPr id="44" name="o393"/>
          <p:cNvSpPr/>
          <p:nvPr/>
        </p:nvSpPr>
        <p:spPr>
          <a:xfrm>
            <a:off x="3238500" y="4781550"/>
            <a:ext cx="38100" cy="133350"/>
          </a:xfrm>
          <a:prstGeom prst="rect">
            <a:avLst/>
          </a:prstGeom>
          <a:solidFill>
            <a:srgbClr val="EB811B"/>
          </a:solidFill>
          <a:ln/>
        </p:spPr>
      </p:sp>
      <p:sp>
        <p:nvSpPr>
          <p:cNvPr id="45" name="o394"/>
          <p:cNvSpPr txBox="1"/>
          <p:nvPr/>
        </p:nvSpPr>
        <p:spPr>
          <a:xfrm>
            <a:off x="3352800" y="4743450"/>
            <a:ext cx="1143000" cy="190500"/>
          </a:xfrm>
          <a:prstGeom prst="rect">
            <a:avLst/>
          </a:prstGeom>
          <a:noFill/>
          <a:ln/>
        </p:spPr>
        <p:txBody>
          <a:bodyPr wrap="square" lIns="0" tIns="0" rIns="0" bIns="0" rtlCol="0" anchor="ctr"/>
          <a:lstStyle/>
          <a:p>
            <a:pPr indent="0" marL="0">
              <a:buNone/>
            </a:pPr>
            <a:r>
              <a:rPr lang="en-US" sz="1100" b="1" dirty="0">
                <a:solidFill>
                  <a:srgbClr val="23373B"/>
                </a:solidFill>
                <a:latin typeface="Pretendard" pitchFamily="34" charset="0"/>
                <a:ea typeface="Pretendard" pitchFamily="34" charset="-122"/>
                <a:cs typeface="Pretendard" pitchFamily="34" charset="-120"/>
              </a:rPr>
              <a:t>06초</a:t>
            </a:r>
            <a:endParaRPr lang="en-US" sz="1100" dirty="0"/>
          </a:p>
        </p:txBody>
      </p:sp>
      <p:sp>
        <p:nvSpPr>
          <p:cNvPr id="46" name="o395"/>
          <p:cNvSpPr/>
          <p:nvPr/>
        </p:nvSpPr>
        <p:spPr>
          <a:xfrm>
            <a:off x="914400" y="5010150"/>
            <a:ext cx="10363200" cy="0"/>
          </a:xfrm>
          <a:prstGeom prst="line">
            <a:avLst/>
          </a:prstGeom>
          <a:noFill/>
          <a:ln w="9525">
            <a:solidFill>
              <a:srgbClr val="D8D8D8"/>
            </a:solidFill>
            <a:prstDash val="solid"/>
          </a:ln>
        </p:spPr>
      </p:sp>
      <p:sp>
        <p:nvSpPr>
          <p:cNvPr id="47" name="o396"/>
          <p:cNvSpPr txBox="1"/>
          <p:nvPr/>
        </p:nvSpPr>
        <p:spPr>
          <a:xfrm>
            <a:off x="914400" y="5067300"/>
            <a:ext cx="2286000" cy="381000"/>
          </a:xfrm>
          <a:prstGeom prst="rect">
            <a:avLst/>
          </a:prstGeom>
          <a:noFill/>
          <a:ln/>
        </p:spPr>
        <p:txBody>
          <a:bodyPr wrap="square" lIns="0" tIns="0" rIns="0" bIns="0" rtlCol="0" anchor="ctr"/>
          <a:lstStyle/>
          <a:p>
            <a:pPr indent="0" marL="0">
              <a:buNone/>
            </a:pPr>
            <a:r>
              <a:rPr lang="en-US" sz="1300" dirty="0">
                <a:solidFill>
                  <a:srgbClr val="23373B"/>
                </a:solidFill>
                <a:latin typeface="Pretendard" pitchFamily="34" charset="0"/>
                <a:ea typeface="Pretendard" pitchFamily="34" charset="-122"/>
                <a:cs typeface="Pretendard" pitchFamily="34" charset="-120"/>
              </a:rPr>
              <a:t>6. 취합 · 인쇄 · 파일링</a:t>
            </a:r>
            <a:endParaRPr lang="en-US" sz="1300" dirty="0"/>
          </a:p>
        </p:txBody>
      </p:sp>
      <p:sp>
        <p:nvSpPr>
          <p:cNvPr id="48" name="o397"/>
          <p:cNvSpPr/>
          <p:nvPr/>
        </p:nvSpPr>
        <p:spPr>
          <a:xfrm>
            <a:off x="3238500" y="5105400"/>
            <a:ext cx="742361" cy="133350"/>
          </a:xfrm>
          <a:prstGeom prst="rect">
            <a:avLst/>
          </a:prstGeom>
          <a:solidFill>
            <a:srgbClr val="C9CFD0"/>
          </a:solidFill>
          <a:ln/>
        </p:spPr>
      </p:sp>
      <p:sp>
        <p:nvSpPr>
          <p:cNvPr id="49" name="o398"/>
          <p:cNvSpPr txBox="1"/>
          <p:nvPr/>
        </p:nvSpPr>
        <p:spPr>
          <a:xfrm>
            <a:off x="4057061" y="5067300"/>
            <a:ext cx="1143000" cy="190500"/>
          </a:xfrm>
          <a:prstGeom prst="rect">
            <a:avLst/>
          </a:prstGeom>
          <a:noFill/>
          <a:ln/>
        </p:spPr>
        <p:txBody>
          <a:bodyPr wrap="square" lIns="0" tIns="0" rIns="0" bIns="0" rtlCol="0" anchor="ctr"/>
          <a:lstStyle/>
          <a:p>
            <a:pPr indent="0" marL="0">
              <a:buNone/>
            </a:pPr>
            <a:r>
              <a:rPr lang="en-US" sz="1100" dirty="0">
                <a:solidFill>
                  <a:srgbClr val="6B7B7E"/>
                </a:solidFill>
                <a:latin typeface="Pretendard" pitchFamily="34" charset="0"/>
                <a:ea typeface="Pretendard" pitchFamily="34" charset="-122"/>
                <a:cs typeface="Pretendard" pitchFamily="34" charset="-120"/>
              </a:rPr>
              <a:t>2분 06초</a:t>
            </a:r>
            <a:endParaRPr lang="en-US" sz="1100" dirty="0"/>
          </a:p>
        </p:txBody>
      </p:sp>
      <p:sp>
        <p:nvSpPr>
          <p:cNvPr id="50" name="o399"/>
          <p:cNvSpPr txBox="1"/>
          <p:nvPr/>
        </p:nvSpPr>
        <p:spPr>
          <a:xfrm>
            <a:off x="3238500" y="5238750"/>
            <a:ext cx="1524000" cy="190500"/>
          </a:xfrm>
          <a:prstGeom prst="rect">
            <a:avLst/>
          </a:prstGeom>
          <a:noFill/>
          <a:ln/>
        </p:spPr>
        <p:txBody>
          <a:bodyPr wrap="square" lIns="0" tIns="0" rIns="0" bIns="0" rtlCol="0" anchor="ctr"/>
          <a:lstStyle/>
          <a:p>
            <a:pPr indent="0" marL="0">
              <a:buNone/>
            </a:pPr>
            <a:r>
              <a:rPr lang="en-US" sz="1100" b="1" dirty="0">
                <a:solidFill>
                  <a:srgbClr val="23373B"/>
                </a:solidFill>
                <a:latin typeface="Pretendard" pitchFamily="34" charset="0"/>
                <a:ea typeface="Pretendard" pitchFamily="34" charset="-122"/>
                <a:cs typeface="Pretendard" pitchFamily="34" charset="-120"/>
              </a:rPr>
              <a:t>단계 삭제</a:t>
            </a:r>
            <a:endParaRPr lang="en-US" sz="1100" dirty="0"/>
          </a:p>
        </p:txBody>
      </p:sp>
      <p:sp>
        <p:nvSpPr>
          <p:cNvPr id="51" name="o400"/>
          <p:cNvSpPr/>
          <p:nvPr/>
        </p:nvSpPr>
        <p:spPr>
          <a:xfrm>
            <a:off x="914400" y="5505450"/>
            <a:ext cx="10363200" cy="0"/>
          </a:xfrm>
          <a:prstGeom prst="line">
            <a:avLst/>
          </a:prstGeom>
          <a:noFill/>
          <a:ln w="9525">
            <a:solidFill>
              <a:srgbClr val="D8D8D8"/>
            </a:solidFill>
            <a:prstDash val="solid"/>
          </a:ln>
        </p:spPr>
      </p:sp>
      <p:sp>
        <p:nvSpPr>
          <p:cNvPr id="52" name="o401"/>
          <p:cNvSpPr txBox="1"/>
          <p:nvPr/>
        </p:nvSpPr>
        <p:spPr>
          <a:xfrm>
            <a:off x="914400" y="5562600"/>
            <a:ext cx="2286000" cy="381000"/>
          </a:xfrm>
          <a:prstGeom prst="rect">
            <a:avLst/>
          </a:prstGeom>
          <a:noFill/>
          <a:ln/>
        </p:spPr>
        <p:txBody>
          <a:bodyPr wrap="square" lIns="0" tIns="0" rIns="0" bIns="0" rtlCol="0" anchor="ctr"/>
          <a:lstStyle/>
          <a:p>
            <a:pPr indent="0" marL="0">
              <a:buNone/>
            </a:pPr>
            <a:r>
              <a:rPr lang="en-US" sz="1300" b="1" dirty="0">
                <a:solidFill>
                  <a:srgbClr val="23373B"/>
                </a:solidFill>
                <a:latin typeface="Pretendard" pitchFamily="34" charset="0"/>
                <a:ea typeface="Pretendard" pitchFamily="34" charset="-122"/>
                <a:cs typeface="Pretendard" pitchFamily="34" charset="-120"/>
              </a:rPr>
              <a:t>7. 내부 결재</a:t>
            </a:r>
            <a:endParaRPr lang="en-US" sz="1300" dirty="0"/>
          </a:p>
        </p:txBody>
      </p:sp>
      <p:sp>
        <p:nvSpPr>
          <p:cNvPr id="53" name="o402"/>
          <p:cNvSpPr/>
          <p:nvPr/>
        </p:nvSpPr>
        <p:spPr>
          <a:xfrm>
            <a:off x="3238500" y="5600700"/>
            <a:ext cx="6858000" cy="133350"/>
          </a:xfrm>
          <a:prstGeom prst="rect">
            <a:avLst/>
          </a:prstGeom>
          <a:solidFill>
            <a:srgbClr val="C9CFD0"/>
          </a:solidFill>
          <a:ln/>
        </p:spPr>
      </p:sp>
      <p:sp>
        <p:nvSpPr>
          <p:cNvPr id="54" name="o403"/>
          <p:cNvSpPr txBox="1"/>
          <p:nvPr/>
        </p:nvSpPr>
        <p:spPr>
          <a:xfrm>
            <a:off x="10172700" y="5562600"/>
            <a:ext cx="1143000" cy="190500"/>
          </a:xfrm>
          <a:prstGeom prst="rect">
            <a:avLst/>
          </a:prstGeom>
          <a:noFill/>
          <a:ln/>
        </p:spPr>
        <p:txBody>
          <a:bodyPr wrap="square" lIns="0" tIns="0" rIns="0" bIns="0" rtlCol="0" anchor="ctr"/>
          <a:lstStyle/>
          <a:p>
            <a:pPr indent="0" marL="0">
              <a:buNone/>
            </a:pPr>
            <a:r>
              <a:rPr lang="en-US" sz="1100" dirty="0">
                <a:solidFill>
                  <a:srgbClr val="6B7B7E"/>
                </a:solidFill>
                <a:latin typeface="Pretendard" pitchFamily="34" charset="0"/>
                <a:ea typeface="Pretendard" pitchFamily="34" charset="-122"/>
                <a:cs typeface="Pretendard" pitchFamily="34" charset="-120"/>
              </a:rPr>
              <a:t>19분 24초</a:t>
            </a:r>
            <a:endParaRPr lang="en-US" sz="1100" dirty="0"/>
          </a:p>
        </p:txBody>
      </p:sp>
      <p:sp>
        <p:nvSpPr>
          <p:cNvPr id="55" name="o404"/>
          <p:cNvSpPr/>
          <p:nvPr/>
        </p:nvSpPr>
        <p:spPr>
          <a:xfrm>
            <a:off x="3238500" y="5772150"/>
            <a:ext cx="353505" cy="133350"/>
          </a:xfrm>
          <a:prstGeom prst="rect">
            <a:avLst/>
          </a:prstGeom>
          <a:solidFill>
            <a:srgbClr val="EB811B"/>
          </a:solidFill>
          <a:ln/>
        </p:spPr>
      </p:sp>
      <p:sp>
        <p:nvSpPr>
          <p:cNvPr id="56" name="o405"/>
          <p:cNvSpPr txBox="1"/>
          <p:nvPr/>
        </p:nvSpPr>
        <p:spPr>
          <a:xfrm>
            <a:off x="3668205" y="5734050"/>
            <a:ext cx="1143000" cy="190500"/>
          </a:xfrm>
          <a:prstGeom prst="rect">
            <a:avLst/>
          </a:prstGeom>
          <a:noFill/>
          <a:ln/>
        </p:spPr>
        <p:txBody>
          <a:bodyPr wrap="square" lIns="0" tIns="0" rIns="0" bIns="0" rtlCol="0" anchor="ctr"/>
          <a:lstStyle/>
          <a:p>
            <a:pPr indent="0" marL="0">
              <a:buNone/>
            </a:pPr>
            <a:r>
              <a:rPr lang="en-US" sz="1100" b="1" dirty="0">
                <a:solidFill>
                  <a:srgbClr val="23373B"/>
                </a:solidFill>
                <a:latin typeface="Pretendard" pitchFamily="34" charset="0"/>
                <a:ea typeface="Pretendard" pitchFamily="34" charset="-122"/>
                <a:cs typeface="Pretendard" pitchFamily="34" charset="-120"/>
              </a:rPr>
              <a:t>1분 00초</a:t>
            </a:r>
            <a:endParaRPr lang="en-US" sz="1100" dirty="0"/>
          </a:p>
        </p:txBody>
      </p:sp>
      <p:sp>
        <p:nvSpPr>
          <p:cNvPr id="57" name="o406"/>
          <p:cNvSpPr txBox="1"/>
          <p:nvPr/>
        </p:nvSpPr>
        <p:spPr>
          <a:xfrm>
            <a:off x="914400" y="6019800"/>
            <a:ext cx="10363200" cy="17145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회색 = 개선 전 · 주황 = 개선 후   |   MSDS 교육 4분 18초 → 49초 (−81%)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407"/>
          <p:cNvSpPr/>
          <p:nvPr/>
        </p:nvSpPr>
        <p:spPr>
          <a:xfrm>
            <a:off x="0" y="0"/>
            <a:ext cx="12192000" cy="1104900"/>
          </a:xfrm>
          <a:prstGeom prst="rect">
            <a:avLst/>
          </a:prstGeom>
          <a:solidFill>
            <a:srgbClr val="23373B"/>
          </a:solidFill>
          <a:ln/>
        </p:spPr>
      </p:sp>
      <p:sp>
        <p:nvSpPr>
          <p:cNvPr id="3" name="o408"/>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07   IMPACT  ·  성과와 ESG</a:t>
            </a:r>
            <a:endParaRPr lang="en-US" sz="1100" dirty="0"/>
          </a:p>
        </p:txBody>
      </p:sp>
      <p:sp>
        <p:nvSpPr>
          <p:cNvPr id="4" name="o409"/>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4개 지표 모두 목표를 달성했습니다</a:t>
            </a:r>
            <a:endParaRPr lang="en-US" sz="2600" dirty="0"/>
          </a:p>
        </p:txBody>
      </p:sp>
      <p:sp>
        <p:nvSpPr>
          <p:cNvPr id="5" name="o410"/>
          <p:cNvSpPr/>
          <p:nvPr/>
        </p:nvSpPr>
        <p:spPr>
          <a:xfrm>
            <a:off x="0" y="1104900"/>
            <a:ext cx="12192000" cy="28575"/>
          </a:xfrm>
          <a:prstGeom prst="rect">
            <a:avLst/>
          </a:prstGeom>
          <a:solidFill>
            <a:srgbClr val="D2D7D8"/>
          </a:solidFill>
          <a:ln/>
        </p:spPr>
      </p:sp>
      <p:sp>
        <p:nvSpPr>
          <p:cNvPr id="6" name="o411"/>
          <p:cNvSpPr/>
          <p:nvPr/>
        </p:nvSpPr>
        <p:spPr>
          <a:xfrm>
            <a:off x="0" y="1104900"/>
            <a:ext cx="9144000" cy="28575"/>
          </a:xfrm>
          <a:prstGeom prst="rect">
            <a:avLst/>
          </a:prstGeom>
          <a:solidFill>
            <a:srgbClr val="EB811B"/>
          </a:solidFill>
          <a:ln/>
        </p:spPr>
      </p:sp>
      <p:sp>
        <p:nvSpPr>
          <p:cNvPr id="7" name="o412"/>
          <p:cNvSpPr txBox="1"/>
          <p:nvPr/>
        </p:nvSpPr>
        <p:spPr>
          <a:xfrm>
            <a:off x="609600" y="1238250"/>
            <a:ext cx="10972800" cy="209550"/>
          </a:xfrm>
          <a:prstGeom prst="rect">
            <a:avLst/>
          </a:prstGeom>
          <a:noFill/>
          <a:ln/>
        </p:spPr>
        <p:txBody>
          <a:bodyPr wrap="square" lIns="0" tIns="0" rIns="0" bIns="0" rtlCol="0" anchor="t"/>
          <a:lstStyle/>
          <a:p>
            <a:pPr indent="0" marL="0">
              <a:buNone/>
            </a:pPr>
            <a:r>
              <a:rPr lang="en-US" sz="1300" dirty="0">
                <a:solidFill>
                  <a:srgbClr val="6B7B7E"/>
                </a:solidFill>
                <a:latin typeface="Pretendard" pitchFamily="34" charset="0"/>
                <a:ea typeface="Pretendard" pitchFamily="34" charset="-122"/>
                <a:cs typeface="Pretendard" pitchFamily="34" charset="-120"/>
              </a:rPr>
              <a:t>개선 전 2025 → 개선 후 2026.05–07</a:t>
            </a:r>
            <a:endParaRPr lang="en-US" sz="1300" dirty="0"/>
          </a:p>
        </p:txBody>
      </p:sp>
      <p:sp>
        <p:nvSpPr>
          <p:cNvPr id="8" name="o413"/>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9" name="o414"/>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11</a:t>
            </a:r>
            <a:endParaRPr lang="en-US" sz="1000" dirty="0"/>
          </a:p>
        </p:txBody>
      </p:sp>
      <p:sp>
        <p:nvSpPr>
          <p:cNvPr id="10" name="o415"/>
          <p:cNvSpPr/>
          <p:nvPr/>
        </p:nvSpPr>
        <p:spPr>
          <a:xfrm>
            <a:off x="609600" y="1600200"/>
            <a:ext cx="2600325" cy="2209800"/>
          </a:xfrm>
          <a:prstGeom prst="rect">
            <a:avLst/>
          </a:prstGeom>
          <a:solidFill>
            <a:srgbClr val="FFFFFF"/>
          </a:solidFill>
          <a:ln w="12700">
            <a:solidFill>
              <a:srgbClr val="D8D8D8"/>
            </a:solidFill>
            <a:prstDash val="solid"/>
          </a:ln>
        </p:spPr>
      </p:sp>
      <p:sp>
        <p:nvSpPr>
          <p:cNvPr id="11" name="o416"/>
          <p:cNvSpPr txBox="1"/>
          <p:nvPr/>
        </p:nvSpPr>
        <p:spPr>
          <a:xfrm>
            <a:off x="838200" y="1790700"/>
            <a:ext cx="2143125" cy="666750"/>
          </a:xfrm>
          <a:prstGeom prst="rect">
            <a:avLst/>
          </a:prstGeom>
          <a:noFill/>
          <a:ln/>
        </p:spPr>
        <p:txBody>
          <a:bodyPr wrap="square" lIns="0" tIns="0" rIns="0" bIns="0" rtlCol="0" anchor="t"/>
          <a:lstStyle/>
          <a:p>
            <a:pPr indent="0" marL="0">
              <a:buNone/>
            </a:pPr>
            <a:r>
              <a:rPr lang="en-US" sz="4600" b="1" dirty="0">
                <a:solidFill>
                  <a:srgbClr val="23373B"/>
                </a:solidFill>
                <a:latin typeface="Pretendard" pitchFamily="34" charset="0"/>
                <a:ea typeface="Pretendard" pitchFamily="34" charset="-122"/>
                <a:cs typeface="Pretendard" pitchFamily="34" charset="-120"/>
              </a:rPr>
              <a:t>0건</a:t>
            </a:r>
            <a:endParaRPr lang="en-US" sz="4600" dirty="0"/>
          </a:p>
        </p:txBody>
      </p:sp>
      <p:sp>
        <p:nvSpPr>
          <p:cNvPr id="12" name="o417"/>
          <p:cNvSpPr txBox="1"/>
          <p:nvPr/>
        </p:nvSpPr>
        <p:spPr>
          <a:xfrm>
            <a:off x="838200" y="2552700"/>
            <a:ext cx="2143125" cy="20955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법정교육 누락</a:t>
            </a:r>
            <a:endParaRPr lang="en-US" sz="1500" dirty="0"/>
          </a:p>
        </p:txBody>
      </p:sp>
      <p:sp>
        <p:nvSpPr>
          <p:cNvPr id="13" name="o418"/>
          <p:cNvSpPr txBox="1"/>
          <p:nvPr/>
        </p:nvSpPr>
        <p:spPr>
          <a:xfrm>
            <a:off x="838200" y="2857500"/>
            <a:ext cx="2143125" cy="190500"/>
          </a:xfrm>
          <a:prstGeom prst="rect">
            <a:avLst/>
          </a:prstGeom>
          <a:noFill/>
          <a:ln/>
        </p:spPr>
        <p:txBody>
          <a:bodyPr wrap="square" lIns="0" tIns="0" rIns="0" bIns="0" rtlCol="0" anchor="t"/>
          <a:lstStyle/>
          <a:p>
            <a:pPr indent="0" marL="0">
              <a:buNone/>
            </a:pPr>
            <a:r>
              <a:rPr lang="en-US" sz="1200" b="1" dirty="0">
                <a:solidFill>
                  <a:srgbClr val="3D4F52"/>
                </a:solidFill>
                <a:latin typeface="Pretendard" pitchFamily="34" charset="0"/>
                <a:ea typeface="Pretendard" pitchFamily="34" charset="-122"/>
                <a:cs typeface="Pretendard" pitchFamily="34" charset="-120"/>
              </a:rPr>
              <a:t>18건 → 0건 · 준수율 100%</a:t>
            </a:r>
            <a:endParaRPr lang="en-US" sz="1200" dirty="0"/>
          </a:p>
        </p:txBody>
      </p:sp>
      <p:sp>
        <p:nvSpPr>
          <p:cNvPr id="14" name="o419"/>
          <p:cNvSpPr txBox="1"/>
          <p:nvPr/>
        </p:nvSpPr>
        <p:spPr>
          <a:xfrm>
            <a:off x="838200" y="3276600"/>
            <a:ext cx="2143125" cy="34290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대상 33건 전원 기한 내 이수</a:t>
            </a:r>
            <a:endParaRPr lang="en-US" sz="1100" dirty="0"/>
          </a:p>
        </p:txBody>
      </p:sp>
      <p:sp>
        <p:nvSpPr>
          <p:cNvPr id="15" name="o420"/>
          <p:cNvSpPr/>
          <p:nvPr/>
        </p:nvSpPr>
        <p:spPr>
          <a:xfrm>
            <a:off x="3400425" y="1600200"/>
            <a:ext cx="2600325" cy="2209800"/>
          </a:xfrm>
          <a:prstGeom prst="rect">
            <a:avLst/>
          </a:prstGeom>
          <a:solidFill>
            <a:srgbClr val="EB811B"/>
          </a:solidFill>
          <a:ln/>
        </p:spPr>
      </p:sp>
      <p:sp>
        <p:nvSpPr>
          <p:cNvPr id="16" name="o421"/>
          <p:cNvSpPr txBox="1"/>
          <p:nvPr/>
        </p:nvSpPr>
        <p:spPr>
          <a:xfrm>
            <a:off x="3629025" y="1790700"/>
            <a:ext cx="2143125" cy="666750"/>
          </a:xfrm>
          <a:prstGeom prst="rect">
            <a:avLst/>
          </a:prstGeom>
          <a:noFill/>
          <a:ln/>
        </p:spPr>
        <p:txBody>
          <a:bodyPr wrap="square" lIns="0" tIns="0" rIns="0" bIns="0" rtlCol="0" anchor="t"/>
          <a:lstStyle/>
          <a:p>
            <a:pPr indent="0" marL="0">
              <a:buNone/>
            </a:pPr>
            <a:r>
              <a:rPr lang="en-US" sz="4600" b="1" dirty="0">
                <a:solidFill>
                  <a:srgbClr val="FFFFFF"/>
                </a:solidFill>
                <a:latin typeface="Pretendard" pitchFamily="34" charset="0"/>
                <a:ea typeface="Pretendard" pitchFamily="34" charset="-122"/>
                <a:cs typeface="Pretendard" pitchFamily="34" charset="-120"/>
              </a:rPr>
              <a:t>93%</a:t>
            </a:r>
            <a:endParaRPr lang="en-US" sz="4600" dirty="0"/>
          </a:p>
        </p:txBody>
      </p:sp>
      <p:sp>
        <p:nvSpPr>
          <p:cNvPr id="17" name="o422"/>
          <p:cNvSpPr txBox="1"/>
          <p:nvPr/>
        </p:nvSpPr>
        <p:spPr>
          <a:xfrm>
            <a:off x="3629025" y="2552700"/>
            <a:ext cx="2143125" cy="209550"/>
          </a:xfrm>
          <a:prstGeom prst="rect">
            <a:avLst/>
          </a:prstGeom>
          <a:noFill/>
          <a:ln/>
        </p:spPr>
        <p:txBody>
          <a:bodyPr wrap="square" lIns="0" tIns="0" rIns="0" bIns="0" rtlCol="0" anchor="t"/>
          <a:lstStyle/>
          <a:p>
            <a:pPr indent="0" marL="0">
              <a:buNone/>
            </a:pPr>
            <a:r>
              <a:rPr lang="en-US" sz="1500" b="1" dirty="0">
                <a:solidFill>
                  <a:srgbClr val="FFFFFF"/>
                </a:solidFill>
                <a:latin typeface="Pretendard" pitchFamily="34" charset="0"/>
                <a:ea typeface="Pretendard" pitchFamily="34" charset="-122"/>
                <a:cs typeface="Pretendard" pitchFamily="34" charset="-120"/>
              </a:rPr>
              <a:t>행정시간 단축</a:t>
            </a:r>
            <a:endParaRPr lang="en-US" sz="1500" dirty="0"/>
          </a:p>
        </p:txBody>
      </p:sp>
      <p:sp>
        <p:nvSpPr>
          <p:cNvPr id="18" name="o423"/>
          <p:cNvSpPr txBox="1"/>
          <p:nvPr/>
        </p:nvSpPr>
        <p:spPr>
          <a:xfrm>
            <a:off x="3629025" y="2857500"/>
            <a:ext cx="2143125" cy="19050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33분 48초 → 2분 22초</a:t>
            </a:r>
            <a:endParaRPr lang="en-US" sz="1200" dirty="0"/>
          </a:p>
        </p:txBody>
      </p:sp>
      <p:sp>
        <p:nvSpPr>
          <p:cNvPr id="19" name="o424"/>
          <p:cNvSpPr txBox="1"/>
          <p:nvPr/>
        </p:nvSpPr>
        <p:spPr>
          <a:xfrm>
            <a:off x="3629025" y="3276600"/>
            <a:ext cx="2143125" cy="342900"/>
          </a:xfrm>
          <a:prstGeom prst="rect">
            <a:avLst/>
          </a:prstGeom>
          <a:noFill/>
          <a:ln/>
        </p:spPr>
        <p:txBody>
          <a:bodyPr wrap="square" lIns="0" tIns="0" rIns="0" bIns="0" rtlCol="0" anchor="t"/>
          <a:lstStyle/>
          <a:p>
            <a:pPr indent="0" marL="0">
              <a:buNone/>
            </a:pPr>
            <a:r>
              <a:rPr lang="en-US" sz="1100" dirty="0">
                <a:solidFill>
                  <a:srgbClr val="FFFFFF"/>
                </a:solidFill>
                <a:latin typeface="Pretendard" pitchFamily="34" charset="0"/>
                <a:ea typeface="Pretendard" pitchFamily="34" charset="-122"/>
                <a:cs typeface="Pretendard" pitchFamily="34" charset="-120"/>
              </a:rPr>
              <a:t>목표 70% 초과 · MSDS −81%</a:t>
            </a:r>
            <a:endParaRPr lang="en-US" sz="1100" dirty="0"/>
          </a:p>
        </p:txBody>
      </p:sp>
      <p:sp>
        <p:nvSpPr>
          <p:cNvPr id="20" name="o425"/>
          <p:cNvSpPr/>
          <p:nvPr/>
        </p:nvSpPr>
        <p:spPr>
          <a:xfrm>
            <a:off x="6191250" y="1600200"/>
            <a:ext cx="2600325" cy="2209800"/>
          </a:xfrm>
          <a:prstGeom prst="rect">
            <a:avLst/>
          </a:prstGeom>
          <a:solidFill>
            <a:srgbClr val="FFFFFF"/>
          </a:solidFill>
          <a:ln w="12700">
            <a:solidFill>
              <a:srgbClr val="D8D8D8"/>
            </a:solidFill>
            <a:prstDash val="solid"/>
          </a:ln>
        </p:spPr>
      </p:sp>
      <p:sp>
        <p:nvSpPr>
          <p:cNvPr id="21" name="o426"/>
          <p:cNvSpPr txBox="1"/>
          <p:nvPr/>
        </p:nvSpPr>
        <p:spPr>
          <a:xfrm>
            <a:off x="6419850" y="1790700"/>
            <a:ext cx="2143125" cy="666750"/>
          </a:xfrm>
          <a:prstGeom prst="rect">
            <a:avLst/>
          </a:prstGeom>
          <a:noFill/>
          <a:ln/>
        </p:spPr>
        <p:txBody>
          <a:bodyPr wrap="square" lIns="0" tIns="0" rIns="0" bIns="0" rtlCol="0" anchor="t"/>
          <a:lstStyle/>
          <a:p>
            <a:pPr indent="0" marL="0">
              <a:buNone/>
            </a:pPr>
            <a:r>
              <a:rPr lang="en-US" sz="4600" b="1" dirty="0">
                <a:solidFill>
                  <a:srgbClr val="23373B"/>
                </a:solidFill>
                <a:latin typeface="Pretendard" pitchFamily="34" charset="0"/>
                <a:ea typeface="Pretendard" pitchFamily="34" charset="-122"/>
                <a:cs typeface="Pretendard" pitchFamily="34" charset="-120"/>
              </a:rPr>
              <a:t>100%</a:t>
            </a:r>
            <a:endParaRPr lang="en-US" sz="4600" dirty="0"/>
          </a:p>
        </p:txBody>
      </p:sp>
      <p:sp>
        <p:nvSpPr>
          <p:cNvPr id="22" name="o427"/>
          <p:cNvSpPr txBox="1"/>
          <p:nvPr/>
        </p:nvSpPr>
        <p:spPr>
          <a:xfrm>
            <a:off x="6419850" y="2552700"/>
            <a:ext cx="2143125" cy="20955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Paperless 전환</a:t>
            </a:r>
            <a:endParaRPr lang="en-US" sz="1500" dirty="0"/>
          </a:p>
        </p:txBody>
      </p:sp>
      <p:sp>
        <p:nvSpPr>
          <p:cNvPr id="23" name="o428"/>
          <p:cNvSpPr txBox="1"/>
          <p:nvPr/>
        </p:nvSpPr>
        <p:spPr>
          <a:xfrm>
            <a:off x="6419850" y="2857500"/>
            <a:ext cx="2143125" cy="190500"/>
          </a:xfrm>
          <a:prstGeom prst="rect">
            <a:avLst/>
          </a:prstGeom>
          <a:noFill/>
          <a:ln/>
        </p:spPr>
        <p:txBody>
          <a:bodyPr wrap="square" lIns="0" tIns="0" rIns="0" bIns="0" rtlCol="0" anchor="t"/>
          <a:lstStyle/>
          <a:p>
            <a:pPr indent="0" marL="0">
              <a:buNone/>
            </a:pPr>
            <a:r>
              <a:rPr lang="en-US" sz="1200" b="1" dirty="0">
                <a:solidFill>
                  <a:srgbClr val="3D4F52"/>
                </a:solidFill>
                <a:latin typeface="Pretendard" pitchFamily="34" charset="0"/>
                <a:ea typeface="Pretendard" pitchFamily="34" charset="-122"/>
                <a:cs typeface="Pretendard" pitchFamily="34" charset="-120"/>
              </a:rPr>
              <a:t>월 17.3건 전량 디지털</a:t>
            </a:r>
            <a:endParaRPr lang="en-US" sz="1200" dirty="0"/>
          </a:p>
        </p:txBody>
      </p:sp>
      <p:sp>
        <p:nvSpPr>
          <p:cNvPr id="24" name="o429"/>
          <p:cNvSpPr txBox="1"/>
          <p:nvPr/>
        </p:nvSpPr>
        <p:spPr>
          <a:xfrm>
            <a:off x="6419850" y="3276600"/>
            <a:ext cx="2143125" cy="34290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5–7월 52건 · 종이 출력 0건</a:t>
            </a:r>
            <a:endParaRPr lang="en-US" sz="1100" dirty="0"/>
          </a:p>
        </p:txBody>
      </p:sp>
      <p:sp>
        <p:nvSpPr>
          <p:cNvPr id="25" name="o430"/>
          <p:cNvSpPr/>
          <p:nvPr/>
        </p:nvSpPr>
        <p:spPr>
          <a:xfrm>
            <a:off x="8982075" y="1600200"/>
            <a:ext cx="2600325" cy="2209800"/>
          </a:xfrm>
          <a:prstGeom prst="rect">
            <a:avLst/>
          </a:prstGeom>
          <a:solidFill>
            <a:srgbClr val="FFFFFF"/>
          </a:solidFill>
          <a:ln w="12700">
            <a:solidFill>
              <a:srgbClr val="D8D8D8"/>
            </a:solidFill>
            <a:prstDash val="solid"/>
          </a:ln>
        </p:spPr>
      </p:sp>
      <p:sp>
        <p:nvSpPr>
          <p:cNvPr id="26" name="o431"/>
          <p:cNvSpPr txBox="1"/>
          <p:nvPr/>
        </p:nvSpPr>
        <p:spPr>
          <a:xfrm>
            <a:off x="9210675" y="1790700"/>
            <a:ext cx="2143125" cy="666750"/>
          </a:xfrm>
          <a:prstGeom prst="rect">
            <a:avLst/>
          </a:prstGeom>
          <a:noFill/>
          <a:ln/>
        </p:spPr>
        <p:txBody>
          <a:bodyPr wrap="square" lIns="0" tIns="0" rIns="0" bIns="0" rtlCol="0" anchor="t"/>
          <a:lstStyle/>
          <a:p>
            <a:pPr indent="0" marL="0">
              <a:buNone/>
            </a:pPr>
            <a:r>
              <a:rPr lang="en-US" sz="4600" b="1" dirty="0">
                <a:solidFill>
                  <a:srgbClr val="23373B"/>
                </a:solidFill>
                <a:latin typeface="Pretendard" pitchFamily="34" charset="0"/>
                <a:ea typeface="Pretendard" pitchFamily="34" charset="-122"/>
                <a:cs typeface="Pretendard" pitchFamily="34" charset="-120"/>
              </a:rPr>
              <a:t>6/6</a:t>
            </a:r>
            <a:endParaRPr lang="en-US" sz="4600" dirty="0"/>
          </a:p>
        </p:txBody>
      </p:sp>
      <p:sp>
        <p:nvSpPr>
          <p:cNvPr id="27" name="o432"/>
          <p:cNvSpPr txBox="1"/>
          <p:nvPr/>
        </p:nvSpPr>
        <p:spPr>
          <a:xfrm>
            <a:off x="9210675" y="2552700"/>
            <a:ext cx="2143125" cy="209550"/>
          </a:xfrm>
          <a:prstGeom prst="rect">
            <a:avLst/>
          </a:prstGeom>
          <a:noFill/>
          <a:ln/>
        </p:spPr>
        <p:txBody>
          <a:bodyPr wrap="square" lIns="0" tIns="0" rIns="0" bIns="0" rtlCol="0" anchor="t"/>
          <a:lstStyle/>
          <a:p>
            <a:pPr indent="0" marL="0">
              <a:buNone/>
            </a:pPr>
            <a:r>
              <a:rPr lang="en-US" sz="1500" b="1" dirty="0">
                <a:solidFill>
                  <a:srgbClr val="23373B"/>
                </a:solidFill>
                <a:latin typeface="Pretendard" pitchFamily="34" charset="0"/>
                <a:ea typeface="Pretendard" pitchFamily="34" charset="-122"/>
                <a:cs typeface="Pretendard" pitchFamily="34" charset="-120"/>
              </a:rPr>
              <a:t>플랫폼 구축</a:t>
            </a:r>
            <a:endParaRPr lang="en-US" sz="1500" dirty="0"/>
          </a:p>
        </p:txBody>
      </p:sp>
      <p:sp>
        <p:nvSpPr>
          <p:cNvPr id="28" name="o433"/>
          <p:cNvSpPr txBox="1"/>
          <p:nvPr/>
        </p:nvSpPr>
        <p:spPr>
          <a:xfrm>
            <a:off x="9210675" y="2857500"/>
            <a:ext cx="2143125" cy="190500"/>
          </a:xfrm>
          <a:prstGeom prst="rect">
            <a:avLst/>
          </a:prstGeom>
          <a:noFill/>
          <a:ln/>
        </p:spPr>
        <p:txBody>
          <a:bodyPr wrap="square" lIns="0" tIns="0" rIns="0" bIns="0" rtlCol="0" anchor="t"/>
          <a:lstStyle/>
          <a:p>
            <a:pPr indent="0" marL="0">
              <a:buNone/>
            </a:pPr>
            <a:r>
              <a:rPr lang="en-US" sz="1200" b="1" dirty="0">
                <a:solidFill>
                  <a:srgbClr val="3D4F52"/>
                </a:solidFill>
                <a:latin typeface="Pretendard" pitchFamily="34" charset="0"/>
                <a:ea typeface="Pretendard" pitchFamily="34" charset="-122"/>
                <a:cs typeface="Pretendard" pitchFamily="34" charset="-120"/>
              </a:rPr>
              <a:t>핵심 모듈 100% 가동</a:t>
            </a:r>
            <a:endParaRPr lang="en-US" sz="1200" dirty="0"/>
          </a:p>
        </p:txBody>
      </p:sp>
      <p:sp>
        <p:nvSpPr>
          <p:cNvPr id="29" name="o434"/>
          <p:cNvSpPr txBox="1"/>
          <p:nvPr/>
        </p:nvSpPr>
        <p:spPr>
          <a:xfrm>
            <a:off x="9210675" y="3276600"/>
            <a:ext cx="2143125" cy="342900"/>
          </a:xfrm>
          <a:prstGeom prst="rect">
            <a:avLst/>
          </a:prstGeom>
          <a:noFill/>
          <a:ln/>
        </p:spPr>
        <p:txBody>
          <a:bodyPr wrap="square" lIns="0" tIns="0" rIns="0" bIns="0" rtlCol="0" anchor="t"/>
          <a:lstStyle/>
          <a:p>
            <a:pPr indent="0" marL="0">
              <a:buNone/>
            </a:pPr>
            <a:r>
              <a:rPr lang="en-US" sz="1100" dirty="0">
                <a:solidFill>
                  <a:srgbClr val="6B7B7E"/>
                </a:solidFill>
                <a:latin typeface="Pretendard" pitchFamily="34" charset="0"/>
                <a:ea typeface="Pretendard" pitchFamily="34" charset="-122"/>
                <a:cs typeface="Pretendard" pitchFamily="34" charset="-120"/>
              </a:rPr>
              <a:t>현장 피드백 반영 완료</a:t>
            </a:r>
            <a:endParaRPr lang="en-US" sz="1100" dirty="0"/>
          </a:p>
        </p:txBody>
      </p:sp>
      <p:sp>
        <p:nvSpPr>
          <p:cNvPr id="30" name="o435"/>
          <p:cNvSpPr/>
          <p:nvPr/>
        </p:nvSpPr>
        <p:spPr>
          <a:xfrm>
            <a:off x="609600" y="4000500"/>
            <a:ext cx="10972800" cy="647700"/>
          </a:xfrm>
          <a:prstGeom prst="rect">
            <a:avLst/>
          </a:prstGeom>
          <a:solidFill>
            <a:srgbClr val="F2F2F2"/>
          </a:solidFill>
          <a:ln w="12700">
            <a:solidFill>
              <a:srgbClr val="E0E0E0"/>
            </a:solidFill>
            <a:prstDash val="solid"/>
          </a:ln>
        </p:spPr>
      </p:sp>
      <p:sp>
        <p:nvSpPr>
          <p:cNvPr id="31" name="o436"/>
          <p:cNvSpPr/>
          <p:nvPr/>
        </p:nvSpPr>
        <p:spPr>
          <a:xfrm>
            <a:off x="838200" y="4133850"/>
            <a:ext cx="381000" cy="381000"/>
          </a:xfrm>
          <a:prstGeom prst="ellipse">
            <a:avLst/>
          </a:prstGeom>
          <a:solidFill>
            <a:srgbClr val="23373B"/>
          </a:solidFill>
          <a:ln/>
        </p:spPr>
      </p:sp>
      <p:sp>
        <p:nvSpPr>
          <p:cNvPr id="32" name="o437"/>
          <p:cNvSpPr txBox="1"/>
          <p:nvPr/>
        </p:nvSpPr>
        <p:spPr>
          <a:xfrm>
            <a:off x="838200" y="4133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E</a:t>
            </a:r>
            <a:endParaRPr lang="en-US" sz="1600" dirty="0"/>
          </a:p>
        </p:txBody>
      </p:sp>
      <p:sp>
        <p:nvSpPr>
          <p:cNvPr id="33" name="o438"/>
          <p:cNvSpPr txBox="1"/>
          <p:nvPr/>
        </p:nvSpPr>
        <p:spPr>
          <a:xfrm>
            <a:off x="1371600" y="4000500"/>
            <a:ext cx="1619250" cy="647700"/>
          </a:xfrm>
          <a:prstGeom prst="rect">
            <a:avLst/>
          </a:prstGeom>
          <a:noFill/>
          <a:ln/>
        </p:spPr>
        <p:txBody>
          <a:bodyPr wrap="square" lIns="0" tIns="0" rIns="0" bIns="0" rtlCol="0" anchor="ctr"/>
          <a:lstStyle/>
          <a:p>
            <a:pPr indent="0" marL="0">
              <a:buNone/>
            </a:pPr>
            <a:r>
              <a:rPr lang="en-US" sz="1400" b="1" dirty="0">
                <a:solidFill>
                  <a:srgbClr val="23373B"/>
                </a:solidFill>
                <a:latin typeface="Pretendard" pitchFamily="34" charset="0"/>
                <a:ea typeface="Pretendard" pitchFamily="34" charset="-122"/>
                <a:cs typeface="Pretendard" pitchFamily="34" charset="-120"/>
              </a:rPr>
              <a:t>ESG · 환경</a:t>
            </a:r>
            <a:endParaRPr lang="en-US" sz="1400" dirty="0"/>
          </a:p>
        </p:txBody>
      </p:sp>
      <p:sp>
        <p:nvSpPr>
          <p:cNvPr id="34" name="o439"/>
          <p:cNvSpPr txBox="1"/>
          <p:nvPr/>
        </p:nvSpPr>
        <p:spPr>
          <a:xfrm>
            <a:off x="3048000" y="4000500"/>
            <a:ext cx="8382000" cy="647700"/>
          </a:xfrm>
          <a:prstGeom prst="rect">
            <a:avLst/>
          </a:prstGeom>
          <a:noFill/>
          <a:ln/>
        </p:spPr>
        <p:txBody>
          <a:bodyPr wrap="square" lIns="0" tIns="0" rIns="0" bIns="0" rtlCol="0" anchor="ctr"/>
          <a:lstStyle/>
          <a:p>
            <a:pPr indent="0" marL="0">
              <a:buNone/>
            </a:pPr>
            <a:r>
              <a:rPr lang="en-US" sz="1400" dirty="0">
                <a:solidFill>
                  <a:srgbClr val="23373B"/>
                </a:solidFill>
                <a:latin typeface="Pretendard" pitchFamily="34" charset="0"/>
                <a:ea typeface="Pretendard" pitchFamily="34" charset="-122"/>
                <a:cs typeface="Pretendard" pitchFamily="34" charset="-120"/>
              </a:rPr>
              <a:t>종이 교육일지 · MSDS 출력 · 바인더 보관 0건 — 연 94건의 종이 행정을 데이터 자산으로</a:t>
            </a:r>
            <a:endParaRPr lang="en-US" sz="1400" dirty="0"/>
          </a:p>
        </p:txBody>
      </p:sp>
      <p:sp>
        <p:nvSpPr>
          <p:cNvPr id="35" name="o440"/>
          <p:cNvSpPr/>
          <p:nvPr/>
        </p:nvSpPr>
        <p:spPr>
          <a:xfrm>
            <a:off x="609600" y="4762500"/>
            <a:ext cx="10972800" cy="647700"/>
          </a:xfrm>
          <a:prstGeom prst="rect">
            <a:avLst/>
          </a:prstGeom>
          <a:solidFill>
            <a:srgbClr val="F2F2F2"/>
          </a:solidFill>
          <a:ln w="12700">
            <a:solidFill>
              <a:srgbClr val="E0E0E0"/>
            </a:solidFill>
            <a:prstDash val="solid"/>
          </a:ln>
        </p:spPr>
      </p:sp>
      <p:sp>
        <p:nvSpPr>
          <p:cNvPr id="36" name="o441"/>
          <p:cNvSpPr/>
          <p:nvPr/>
        </p:nvSpPr>
        <p:spPr>
          <a:xfrm>
            <a:off x="838200" y="4895850"/>
            <a:ext cx="381000" cy="381000"/>
          </a:xfrm>
          <a:prstGeom prst="ellipse">
            <a:avLst/>
          </a:prstGeom>
          <a:solidFill>
            <a:srgbClr val="23373B"/>
          </a:solidFill>
          <a:ln/>
        </p:spPr>
      </p:sp>
      <p:sp>
        <p:nvSpPr>
          <p:cNvPr id="37" name="o442"/>
          <p:cNvSpPr txBox="1"/>
          <p:nvPr/>
        </p:nvSpPr>
        <p:spPr>
          <a:xfrm>
            <a:off x="838200" y="4895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S</a:t>
            </a:r>
            <a:endParaRPr lang="en-US" sz="1600" dirty="0"/>
          </a:p>
        </p:txBody>
      </p:sp>
      <p:sp>
        <p:nvSpPr>
          <p:cNvPr id="38" name="o443"/>
          <p:cNvSpPr txBox="1"/>
          <p:nvPr/>
        </p:nvSpPr>
        <p:spPr>
          <a:xfrm>
            <a:off x="1371600" y="4762500"/>
            <a:ext cx="1619250" cy="647700"/>
          </a:xfrm>
          <a:prstGeom prst="rect">
            <a:avLst/>
          </a:prstGeom>
          <a:noFill/>
          <a:ln/>
        </p:spPr>
        <p:txBody>
          <a:bodyPr wrap="square" lIns="0" tIns="0" rIns="0" bIns="0" rtlCol="0" anchor="ctr"/>
          <a:lstStyle/>
          <a:p>
            <a:pPr indent="0" marL="0">
              <a:buNone/>
            </a:pPr>
            <a:r>
              <a:rPr lang="en-US" sz="1400" b="1" dirty="0">
                <a:solidFill>
                  <a:srgbClr val="23373B"/>
                </a:solidFill>
                <a:latin typeface="Pretendard" pitchFamily="34" charset="0"/>
                <a:ea typeface="Pretendard" pitchFamily="34" charset="-122"/>
                <a:cs typeface="Pretendard" pitchFamily="34" charset="-120"/>
              </a:rPr>
              <a:t>ESG · 사회</a:t>
            </a:r>
            <a:endParaRPr lang="en-US" sz="1400" dirty="0"/>
          </a:p>
        </p:txBody>
      </p:sp>
      <p:sp>
        <p:nvSpPr>
          <p:cNvPr id="39" name="o444"/>
          <p:cNvSpPr txBox="1"/>
          <p:nvPr/>
        </p:nvSpPr>
        <p:spPr>
          <a:xfrm>
            <a:off x="3048000" y="4762500"/>
            <a:ext cx="8382000" cy="647700"/>
          </a:xfrm>
          <a:prstGeom prst="rect">
            <a:avLst/>
          </a:prstGeom>
          <a:noFill/>
          <a:ln/>
        </p:spPr>
        <p:txBody>
          <a:bodyPr wrap="square" lIns="0" tIns="0" rIns="0" bIns="0" rtlCol="0" anchor="ctr"/>
          <a:lstStyle/>
          <a:p>
            <a:pPr indent="0" marL="0">
              <a:buNone/>
            </a:pPr>
            <a:r>
              <a:rPr lang="en-US" sz="1400" dirty="0">
                <a:solidFill>
                  <a:srgbClr val="23373B"/>
                </a:solidFill>
                <a:latin typeface="Pretendard" pitchFamily="34" charset="0"/>
                <a:ea typeface="Pretendard" pitchFamily="34" charset="-122"/>
                <a:cs typeface="Pretendard" pitchFamily="34" charset="-120"/>
              </a:rPr>
              <a:t>직원 안전보건교육 누락 0건 · 근로자 참여형 AI 수시 위험성평가</a:t>
            </a:r>
            <a:endParaRPr lang="en-US" sz="1400" dirty="0"/>
          </a:p>
        </p:txBody>
      </p:sp>
      <p:sp>
        <p:nvSpPr>
          <p:cNvPr id="40" name="o445"/>
          <p:cNvSpPr/>
          <p:nvPr/>
        </p:nvSpPr>
        <p:spPr>
          <a:xfrm>
            <a:off x="609600" y="5524500"/>
            <a:ext cx="10972800" cy="647700"/>
          </a:xfrm>
          <a:prstGeom prst="rect">
            <a:avLst/>
          </a:prstGeom>
          <a:solidFill>
            <a:srgbClr val="F2F2F2"/>
          </a:solidFill>
          <a:ln w="12700">
            <a:solidFill>
              <a:srgbClr val="E0E0E0"/>
            </a:solidFill>
            <a:prstDash val="solid"/>
          </a:ln>
        </p:spPr>
      </p:sp>
      <p:sp>
        <p:nvSpPr>
          <p:cNvPr id="41" name="o446"/>
          <p:cNvSpPr/>
          <p:nvPr/>
        </p:nvSpPr>
        <p:spPr>
          <a:xfrm>
            <a:off x="838200" y="5657850"/>
            <a:ext cx="381000" cy="381000"/>
          </a:xfrm>
          <a:prstGeom prst="ellipse">
            <a:avLst/>
          </a:prstGeom>
          <a:solidFill>
            <a:srgbClr val="23373B"/>
          </a:solidFill>
          <a:ln/>
        </p:spPr>
      </p:sp>
      <p:sp>
        <p:nvSpPr>
          <p:cNvPr id="42" name="o447"/>
          <p:cNvSpPr txBox="1"/>
          <p:nvPr/>
        </p:nvSpPr>
        <p:spPr>
          <a:xfrm>
            <a:off x="838200" y="5657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G</a:t>
            </a:r>
            <a:endParaRPr lang="en-US" sz="1600" dirty="0"/>
          </a:p>
        </p:txBody>
      </p:sp>
      <p:sp>
        <p:nvSpPr>
          <p:cNvPr id="43" name="o448"/>
          <p:cNvSpPr txBox="1"/>
          <p:nvPr/>
        </p:nvSpPr>
        <p:spPr>
          <a:xfrm>
            <a:off x="1371600" y="5524500"/>
            <a:ext cx="1619250" cy="647700"/>
          </a:xfrm>
          <a:prstGeom prst="rect">
            <a:avLst/>
          </a:prstGeom>
          <a:noFill/>
          <a:ln/>
        </p:spPr>
        <p:txBody>
          <a:bodyPr wrap="square" lIns="0" tIns="0" rIns="0" bIns="0" rtlCol="0" anchor="ctr"/>
          <a:lstStyle/>
          <a:p>
            <a:pPr indent="0" marL="0">
              <a:buNone/>
            </a:pPr>
            <a:r>
              <a:rPr lang="en-US" sz="1400" b="1" dirty="0">
                <a:solidFill>
                  <a:srgbClr val="23373B"/>
                </a:solidFill>
                <a:latin typeface="Pretendard" pitchFamily="34" charset="0"/>
                <a:ea typeface="Pretendard" pitchFamily="34" charset="-122"/>
                <a:cs typeface="Pretendard" pitchFamily="34" charset="-120"/>
              </a:rPr>
              <a:t>ESG · 지배구조</a:t>
            </a:r>
            <a:endParaRPr lang="en-US" sz="1400" dirty="0"/>
          </a:p>
        </p:txBody>
      </p:sp>
      <p:sp>
        <p:nvSpPr>
          <p:cNvPr id="44" name="o449"/>
          <p:cNvSpPr txBox="1"/>
          <p:nvPr/>
        </p:nvSpPr>
        <p:spPr>
          <a:xfrm>
            <a:off x="3048000" y="5524500"/>
            <a:ext cx="8382000" cy="647700"/>
          </a:xfrm>
          <a:prstGeom prst="rect">
            <a:avLst/>
          </a:prstGeom>
          <a:noFill/>
          <a:ln/>
        </p:spPr>
        <p:txBody>
          <a:bodyPr wrap="square" lIns="0" tIns="0" rIns="0" bIns="0" rtlCol="0" anchor="ctr"/>
          <a:lstStyle/>
          <a:p>
            <a:pPr indent="0" marL="0">
              <a:buNone/>
            </a:pPr>
            <a:r>
              <a:rPr lang="en-US" sz="1400" dirty="0">
                <a:solidFill>
                  <a:srgbClr val="23373B"/>
                </a:solidFill>
                <a:latin typeface="Pretendard" pitchFamily="34" charset="0"/>
                <a:ea typeface="Pretendard" pitchFamily="34" charset="-122"/>
                <a:cs typeface="Pretendard" pitchFamily="34" charset="-120"/>
              </a:rPr>
              <a:t>중대재해처벌법 · 인증 10.7 · 11.3 증빙 무결성 · 표준 업무지침 제정</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450"/>
          <p:cNvSpPr/>
          <p:nvPr/>
        </p:nvSpPr>
        <p:spPr>
          <a:xfrm>
            <a:off x="0" y="0"/>
            <a:ext cx="12192000" cy="1104900"/>
          </a:xfrm>
          <a:prstGeom prst="rect">
            <a:avLst/>
          </a:prstGeom>
          <a:solidFill>
            <a:srgbClr val="23373B"/>
          </a:solidFill>
          <a:ln/>
        </p:spPr>
      </p:sp>
      <p:sp>
        <p:nvSpPr>
          <p:cNvPr id="3" name="o451"/>
          <p:cNvSpPr txBox="1"/>
          <p:nvPr/>
        </p:nvSpPr>
        <p:spPr>
          <a:xfrm>
            <a:off x="609600" y="209550"/>
            <a:ext cx="8572500" cy="171450"/>
          </a:xfrm>
          <a:prstGeom prst="rect">
            <a:avLst/>
          </a:prstGeom>
          <a:noFill/>
          <a:ln/>
        </p:spPr>
        <p:txBody>
          <a:bodyPr wrap="square" lIns="0" tIns="0" rIns="0" bIns="0" rtlCol="0" anchor="t"/>
          <a:lstStyle/>
          <a:p>
            <a:pPr indent="0" marL="0">
              <a:buNone/>
            </a:pPr>
            <a:r>
              <a:rPr lang="en-US" sz="1100" b="1" spc="100" kern="0" dirty="0">
                <a:solidFill>
                  <a:srgbClr val="F2C08E"/>
                </a:solidFill>
                <a:latin typeface="Pretendard" pitchFamily="34" charset="0"/>
                <a:ea typeface="Pretendard" pitchFamily="34" charset="-122"/>
                <a:cs typeface="Pretendard" pitchFamily="34" charset="-120"/>
              </a:rPr>
              <a:t>08   NEXT  ·  표준화 · 고도화</a:t>
            </a:r>
            <a:endParaRPr lang="en-US" sz="1100" dirty="0"/>
          </a:p>
        </p:txBody>
      </p:sp>
      <p:sp>
        <p:nvSpPr>
          <p:cNvPr id="4" name="o452"/>
          <p:cNvSpPr txBox="1"/>
          <p:nvPr/>
        </p:nvSpPr>
        <p:spPr>
          <a:xfrm>
            <a:off x="609600" y="438150"/>
            <a:ext cx="10972800" cy="476250"/>
          </a:xfrm>
          <a:prstGeom prst="rect">
            <a:avLst/>
          </a:prstGeom>
          <a:noFill/>
          <a:ln/>
        </p:spPr>
        <p:txBody>
          <a:bodyPr wrap="square" lIns="0" tIns="0" rIns="0" bIns="0" rtlCol="0" anchor="t"/>
          <a:lstStyle/>
          <a:p>
            <a:pPr indent="0" marL="0">
              <a:buNone/>
            </a:pPr>
            <a:r>
              <a:rPr lang="en-US" sz="2600" b="1" dirty="0">
                <a:solidFill>
                  <a:srgbClr val="FFFFFF"/>
                </a:solidFill>
                <a:latin typeface="Pretendard" pitchFamily="34" charset="0"/>
                <a:ea typeface="Pretendard" pitchFamily="34" charset="-122"/>
                <a:cs typeface="Pretendard" pitchFamily="34" charset="-120"/>
              </a:rPr>
              <a:t>검증된 프로세스를 병원의 표준으로</a:t>
            </a:r>
            <a:endParaRPr lang="en-US" sz="2600" dirty="0"/>
          </a:p>
        </p:txBody>
      </p:sp>
      <p:sp>
        <p:nvSpPr>
          <p:cNvPr id="5" name="o453"/>
          <p:cNvSpPr/>
          <p:nvPr/>
        </p:nvSpPr>
        <p:spPr>
          <a:xfrm>
            <a:off x="0" y="1104900"/>
            <a:ext cx="12192000" cy="28575"/>
          </a:xfrm>
          <a:prstGeom prst="rect">
            <a:avLst/>
          </a:prstGeom>
          <a:solidFill>
            <a:srgbClr val="D2D7D8"/>
          </a:solidFill>
          <a:ln/>
        </p:spPr>
      </p:sp>
      <p:sp>
        <p:nvSpPr>
          <p:cNvPr id="6" name="o454"/>
          <p:cNvSpPr/>
          <p:nvPr/>
        </p:nvSpPr>
        <p:spPr>
          <a:xfrm>
            <a:off x="0" y="1104900"/>
            <a:ext cx="12192000" cy="28575"/>
          </a:xfrm>
          <a:prstGeom prst="rect">
            <a:avLst/>
          </a:prstGeom>
          <a:solidFill>
            <a:srgbClr val="EB811B"/>
          </a:solidFill>
          <a:ln/>
        </p:spPr>
      </p:sp>
      <p:sp>
        <p:nvSpPr>
          <p:cNvPr id="7" name="o455"/>
          <p:cNvSpPr txBox="1"/>
          <p:nvPr/>
        </p:nvSpPr>
        <p:spPr>
          <a:xfrm>
            <a:off x="609600" y="6438900"/>
            <a:ext cx="6667500" cy="190500"/>
          </a:xfrm>
          <a:prstGeom prst="rect">
            <a:avLst/>
          </a:prstGeom>
          <a:noFill/>
          <a:ln/>
        </p:spPr>
        <p:txBody>
          <a:bodyPr wrap="square" lIns="0" tIns="0" rIns="0" bIns="0" rtlCol="0" anchor="t"/>
          <a:lstStyle/>
          <a:p>
            <a:pPr indent="0" marL="0">
              <a:buNone/>
            </a:pPr>
            <a:r>
              <a:rPr lang="en-US" sz="900" dirty="0">
                <a:solidFill>
                  <a:srgbClr val="6B7B7E"/>
                </a:solidFill>
                <a:latin typeface="Pretendard" pitchFamily="34" charset="0"/>
                <a:ea typeface="Pretendard" pitchFamily="34" charset="-122"/>
                <a:cs typeface="Pretendard" pitchFamily="34" charset="-120"/>
              </a:rPr>
              <a:t>부산부민병원 안전보건 통합관리 시스템  ·  Safety First</a:t>
            </a:r>
            <a:endParaRPr lang="en-US" sz="900" dirty="0"/>
          </a:p>
        </p:txBody>
      </p:sp>
      <p:sp>
        <p:nvSpPr>
          <p:cNvPr id="8" name="o456"/>
          <p:cNvSpPr txBox="1"/>
          <p:nvPr/>
        </p:nvSpPr>
        <p:spPr>
          <a:xfrm>
            <a:off x="10629900" y="6438900"/>
            <a:ext cx="952500" cy="190500"/>
          </a:xfrm>
          <a:prstGeom prst="rect">
            <a:avLst/>
          </a:prstGeom>
          <a:noFill/>
          <a:ln/>
        </p:spPr>
        <p:txBody>
          <a:bodyPr wrap="square" lIns="0" tIns="0" rIns="0" bIns="0" rtlCol="0" anchor="t"/>
          <a:lstStyle/>
          <a:p>
            <a:pPr algn="r" indent="0" marL="0">
              <a:buNone/>
            </a:pPr>
            <a:r>
              <a:rPr lang="en-US" sz="1000" b="1" dirty="0">
                <a:solidFill>
                  <a:srgbClr val="EB811B"/>
                </a:solidFill>
                <a:latin typeface="Pretendard" pitchFamily="34" charset="0"/>
                <a:ea typeface="Pretendard" pitchFamily="34" charset="-122"/>
                <a:cs typeface="Pretendard" pitchFamily="34" charset="-120"/>
              </a:rPr>
              <a:t>12</a:t>
            </a:r>
            <a:endParaRPr lang="en-US" sz="1000" dirty="0"/>
          </a:p>
        </p:txBody>
      </p:sp>
      <p:sp>
        <p:nvSpPr>
          <p:cNvPr id="9" name="o457"/>
          <p:cNvSpPr/>
          <p:nvPr/>
        </p:nvSpPr>
        <p:spPr>
          <a:xfrm>
            <a:off x="609600" y="1333500"/>
            <a:ext cx="6705600" cy="1066800"/>
          </a:xfrm>
          <a:prstGeom prst="rect">
            <a:avLst/>
          </a:prstGeom>
          <a:solidFill>
            <a:srgbClr val="FFFFFF"/>
          </a:solidFill>
          <a:ln w="12700">
            <a:solidFill>
              <a:srgbClr val="D8D8D8"/>
            </a:solidFill>
            <a:prstDash val="solid"/>
          </a:ln>
        </p:spPr>
      </p:sp>
      <p:sp>
        <p:nvSpPr>
          <p:cNvPr id="10" name="o458"/>
          <p:cNvSpPr txBox="1"/>
          <p:nvPr/>
        </p:nvSpPr>
        <p:spPr>
          <a:xfrm>
            <a:off x="876300" y="1524000"/>
            <a:ext cx="1905000" cy="24765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표준화</a:t>
            </a:r>
            <a:endParaRPr lang="en-US" sz="1800" dirty="0"/>
          </a:p>
        </p:txBody>
      </p:sp>
      <p:sp>
        <p:nvSpPr>
          <p:cNvPr id="11" name="o459"/>
          <p:cNvSpPr/>
          <p:nvPr/>
        </p:nvSpPr>
        <p:spPr>
          <a:xfrm>
            <a:off x="6096000" y="1543050"/>
            <a:ext cx="990600" cy="209550"/>
          </a:xfrm>
          <a:prstGeom prst="rect">
            <a:avLst/>
          </a:prstGeom>
          <a:solidFill>
            <a:srgbClr val="FDF0E3"/>
          </a:solidFill>
          <a:ln/>
        </p:spPr>
      </p:sp>
      <p:sp>
        <p:nvSpPr>
          <p:cNvPr id="12" name="o460"/>
          <p:cNvSpPr txBox="1"/>
          <p:nvPr/>
        </p:nvSpPr>
        <p:spPr>
          <a:xfrm>
            <a:off x="6096000" y="1543050"/>
            <a:ext cx="9906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완료</a:t>
            </a:r>
            <a:endParaRPr lang="en-US" sz="900" dirty="0"/>
          </a:p>
        </p:txBody>
      </p:sp>
      <p:sp>
        <p:nvSpPr>
          <p:cNvPr id="13" name="o461"/>
          <p:cNvSpPr txBox="1"/>
          <p:nvPr/>
        </p:nvSpPr>
        <p:spPr>
          <a:xfrm>
            <a:off x="876300" y="18859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D4F52"/>
                </a:solidFill>
                <a:latin typeface="Pretendard" pitchFamily="34" charset="0"/>
                <a:ea typeface="Pretendard" pitchFamily="34" charset="-122"/>
                <a:cs typeface="Pretendard" pitchFamily="34" charset="-120"/>
              </a:rPr>
              <a:t>「법정 안전보건 관리 표준 업무지침」 제정 · 정식 업무 전환</a:t>
            </a:r>
            <a:endParaRPr lang="en-US" sz="1400" dirty="0"/>
          </a:p>
        </p:txBody>
      </p:sp>
      <p:sp>
        <p:nvSpPr>
          <p:cNvPr id="14" name="o462"/>
          <p:cNvSpPr/>
          <p:nvPr/>
        </p:nvSpPr>
        <p:spPr>
          <a:xfrm>
            <a:off x="609600" y="2552700"/>
            <a:ext cx="6705600" cy="1066800"/>
          </a:xfrm>
          <a:prstGeom prst="rect">
            <a:avLst/>
          </a:prstGeom>
          <a:solidFill>
            <a:srgbClr val="FFFFFF"/>
          </a:solidFill>
          <a:ln w="12700">
            <a:solidFill>
              <a:srgbClr val="D8D8D8"/>
            </a:solidFill>
            <a:prstDash val="solid"/>
          </a:ln>
        </p:spPr>
      </p:sp>
      <p:sp>
        <p:nvSpPr>
          <p:cNvPr id="15" name="o463"/>
          <p:cNvSpPr txBox="1"/>
          <p:nvPr/>
        </p:nvSpPr>
        <p:spPr>
          <a:xfrm>
            <a:off x="876300" y="2743200"/>
            <a:ext cx="1905000" cy="24765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지속 관리</a:t>
            </a:r>
            <a:endParaRPr lang="en-US" sz="1800" dirty="0"/>
          </a:p>
        </p:txBody>
      </p:sp>
      <p:sp>
        <p:nvSpPr>
          <p:cNvPr id="16" name="o464"/>
          <p:cNvSpPr/>
          <p:nvPr/>
        </p:nvSpPr>
        <p:spPr>
          <a:xfrm>
            <a:off x="6096000" y="2762250"/>
            <a:ext cx="990600" cy="209550"/>
          </a:xfrm>
          <a:prstGeom prst="rect">
            <a:avLst/>
          </a:prstGeom>
          <a:solidFill>
            <a:srgbClr val="FDF0E3"/>
          </a:solidFill>
          <a:ln/>
        </p:spPr>
      </p:sp>
      <p:sp>
        <p:nvSpPr>
          <p:cNvPr id="17" name="o465"/>
          <p:cNvSpPr txBox="1"/>
          <p:nvPr/>
        </p:nvSpPr>
        <p:spPr>
          <a:xfrm>
            <a:off x="6096000" y="2762250"/>
            <a:ext cx="9906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운영</a:t>
            </a:r>
            <a:endParaRPr lang="en-US" sz="900" dirty="0"/>
          </a:p>
        </p:txBody>
      </p:sp>
      <p:sp>
        <p:nvSpPr>
          <p:cNvPr id="18" name="o466"/>
          <p:cNvSpPr txBox="1"/>
          <p:nvPr/>
        </p:nvSpPr>
        <p:spPr>
          <a:xfrm>
            <a:off x="876300" y="31051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D4F52"/>
                </a:solidFill>
                <a:latin typeface="Pretendard" pitchFamily="34" charset="0"/>
                <a:ea typeface="Pretendard" pitchFamily="34" charset="-122"/>
                <a:cs typeface="Pretendard" pitchFamily="34" charset="-120"/>
              </a:rPr>
              <a:t>관리자 대시보드로 신규 입사자 이수 현황 실시간 점검 (CQI 연계)</a:t>
            </a:r>
            <a:endParaRPr lang="en-US" sz="1400" dirty="0"/>
          </a:p>
        </p:txBody>
      </p:sp>
      <p:sp>
        <p:nvSpPr>
          <p:cNvPr id="19" name="o467"/>
          <p:cNvSpPr/>
          <p:nvPr/>
        </p:nvSpPr>
        <p:spPr>
          <a:xfrm>
            <a:off x="609600" y="3771900"/>
            <a:ext cx="6705600" cy="1066800"/>
          </a:xfrm>
          <a:prstGeom prst="rect">
            <a:avLst/>
          </a:prstGeom>
          <a:solidFill>
            <a:srgbClr val="FFFFFF"/>
          </a:solidFill>
          <a:ln w="12700">
            <a:solidFill>
              <a:srgbClr val="D8D8D8"/>
            </a:solidFill>
            <a:prstDash val="solid"/>
          </a:ln>
        </p:spPr>
      </p:sp>
      <p:sp>
        <p:nvSpPr>
          <p:cNvPr id="20" name="o468"/>
          <p:cNvSpPr txBox="1"/>
          <p:nvPr/>
        </p:nvSpPr>
        <p:spPr>
          <a:xfrm>
            <a:off x="876300" y="3962400"/>
            <a:ext cx="1905000" cy="24765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고도화</a:t>
            </a:r>
            <a:endParaRPr lang="en-US" sz="1800" dirty="0"/>
          </a:p>
        </p:txBody>
      </p:sp>
      <p:sp>
        <p:nvSpPr>
          <p:cNvPr id="21" name="o469"/>
          <p:cNvSpPr/>
          <p:nvPr/>
        </p:nvSpPr>
        <p:spPr>
          <a:xfrm>
            <a:off x="6096000" y="3981450"/>
            <a:ext cx="990600" cy="209550"/>
          </a:xfrm>
          <a:prstGeom prst="rect">
            <a:avLst/>
          </a:prstGeom>
          <a:solidFill>
            <a:srgbClr val="FDF0E3"/>
          </a:solidFill>
          <a:ln/>
        </p:spPr>
      </p:sp>
      <p:sp>
        <p:nvSpPr>
          <p:cNvPr id="22" name="o470"/>
          <p:cNvSpPr txBox="1"/>
          <p:nvPr/>
        </p:nvSpPr>
        <p:spPr>
          <a:xfrm>
            <a:off x="6096000" y="3981450"/>
            <a:ext cx="990600" cy="209550"/>
          </a:xfrm>
          <a:prstGeom prst="rect">
            <a:avLst/>
          </a:prstGeom>
          <a:noFill/>
          <a:ln/>
        </p:spPr>
        <p:txBody>
          <a:bodyPr wrap="square" lIns="0" tIns="0" rIns="0" bIns="0" rtlCol="0" anchor="ctr"/>
          <a:lstStyle/>
          <a:p>
            <a:pPr algn="ctr" indent="0" marL="0">
              <a:buNone/>
            </a:pPr>
            <a:r>
              <a:rPr lang="en-US" sz="900" b="1" dirty="0">
                <a:solidFill>
                  <a:srgbClr val="23373B"/>
                </a:solidFill>
                <a:latin typeface="Pretendard" pitchFamily="34" charset="0"/>
                <a:ea typeface="Pretendard" pitchFamily="34" charset="-122"/>
                <a:cs typeface="Pretendard" pitchFamily="34" charset="-120"/>
              </a:rPr>
              <a:t>완료</a:t>
            </a:r>
            <a:endParaRPr lang="en-US" sz="900" dirty="0"/>
          </a:p>
        </p:txBody>
      </p:sp>
      <p:sp>
        <p:nvSpPr>
          <p:cNvPr id="23" name="o471"/>
          <p:cNvSpPr txBox="1"/>
          <p:nvPr/>
        </p:nvSpPr>
        <p:spPr>
          <a:xfrm>
            <a:off x="876300" y="43243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D4F52"/>
                </a:solidFill>
                <a:latin typeface="Pretendard" pitchFamily="34" charset="0"/>
                <a:ea typeface="Pretendard" pitchFamily="34" charset="-122"/>
                <a:cs typeface="Pretendard" pitchFamily="34" charset="-120"/>
              </a:rPr>
              <a:t>미이수자 부서장 자동 알림 · AI MSDS 검토 · AI 도우미 (2026.08–10)</a:t>
            </a:r>
            <a:endParaRPr lang="en-US" sz="1400" dirty="0"/>
          </a:p>
        </p:txBody>
      </p:sp>
      <p:sp>
        <p:nvSpPr>
          <p:cNvPr id="24" name="o472"/>
          <p:cNvSpPr/>
          <p:nvPr/>
        </p:nvSpPr>
        <p:spPr>
          <a:xfrm>
            <a:off x="609600" y="4991100"/>
            <a:ext cx="6705600" cy="1066800"/>
          </a:xfrm>
          <a:prstGeom prst="rect">
            <a:avLst/>
          </a:prstGeom>
          <a:solidFill>
            <a:srgbClr val="F2F2F2"/>
          </a:solidFill>
          <a:ln w="12700">
            <a:solidFill>
              <a:srgbClr val="E0E0E0"/>
            </a:solidFill>
            <a:prstDash val="solid"/>
          </a:ln>
        </p:spPr>
      </p:sp>
      <p:sp>
        <p:nvSpPr>
          <p:cNvPr id="25" name="o473"/>
          <p:cNvSpPr txBox="1"/>
          <p:nvPr/>
        </p:nvSpPr>
        <p:spPr>
          <a:xfrm>
            <a:off x="876300" y="5181600"/>
            <a:ext cx="1905000" cy="247650"/>
          </a:xfrm>
          <a:prstGeom prst="rect">
            <a:avLst/>
          </a:prstGeom>
          <a:noFill/>
          <a:ln/>
        </p:spPr>
        <p:txBody>
          <a:bodyPr wrap="square" lIns="0" tIns="0" rIns="0" bIns="0" rtlCol="0" anchor="t"/>
          <a:lstStyle/>
          <a:p>
            <a:pPr indent="0" marL="0">
              <a:buNone/>
            </a:pPr>
            <a:r>
              <a:rPr lang="en-US" sz="1800" b="1" dirty="0">
                <a:solidFill>
                  <a:srgbClr val="23373B"/>
                </a:solidFill>
                <a:latin typeface="Pretendard" pitchFamily="34" charset="0"/>
                <a:ea typeface="Pretendard" pitchFamily="34" charset="-122"/>
                <a:cs typeface="Pretendard" pitchFamily="34" charset="-120"/>
              </a:rPr>
              <a:t>확장</a:t>
            </a:r>
            <a:endParaRPr lang="en-US" sz="1800" dirty="0"/>
          </a:p>
        </p:txBody>
      </p:sp>
      <p:sp>
        <p:nvSpPr>
          <p:cNvPr id="26" name="o474"/>
          <p:cNvSpPr/>
          <p:nvPr/>
        </p:nvSpPr>
        <p:spPr>
          <a:xfrm>
            <a:off x="6096000" y="5200650"/>
            <a:ext cx="990600" cy="209550"/>
          </a:xfrm>
          <a:prstGeom prst="rect">
            <a:avLst/>
          </a:prstGeom>
          <a:solidFill>
            <a:srgbClr val="EB811B"/>
          </a:solidFill>
          <a:ln/>
        </p:spPr>
      </p:sp>
      <p:sp>
        <p:nvSpPr>
          <p:cNvPr id="27" name="o475"/>
          <p:cNvSpPr txBox="1"/>
          <p:nvPr/>
        </p:nvSpPr>
        <p:spPr>
          <a:xfrm>
            <a:off x="6096000" y="5200650"/>
            <a:ext cx="990600" cy="209550"/>
          </a:xfrm>
          <a:prstGeom prst="rect">
            <a:avLst/>
          </a:prstGeom>
          <a:noFill/>
          <a:ln/>
        </p:spPr>
        <p:txBody>
          <a:bodyPr wrap="square" lIns="0" tIns="0" rIns="0" bIns="0" rtlCol="0" anchor="ctr"/>
          <a:lstStyle/>
          <a:p>
            <a:pPr algn="ctr" indent="0" marL="0">
              <a:buNone/>
            </a:pPr>
            <a:r>
              <a:rPr lang="en-US" sz="900" b="1" dirty="0">
                <a:solidFill>
                  <a:srgbClr val="FFFFFF"/>
                </a:solidFill>
                <a:latin typeface="Pretendard" pitchFamily="34" charset="0"/>
                <a:ea typeface="Pretendard" pitchFamily="34" charset="-122"/>
                <a:cs typeface="Pretendard" pitchFamily="34" charset="-120"/>
              </a:rPr>
              <a:t>제언</a:t>
            </a:r>
            <a:endParaRPr lang="en-US" sz="900" dirty="0"/>
          </a:p>
        </p:txBody>
      </p:sp>
      <p:sp>
        <p:nvSpPr>
          <p:cNvPr id="28" name="o476"/>
          <p:cNvSpPr txBox="1"/>
          <p:nvPr/>
        </p:nvSpPr>
        <p:spPr>
          <a:xfrm>
            <a:off x="876300" y="55435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D4F52"/>
                </a:solidFill>
                <a:latin typeface="Pretendard" pitchFamily="34" charset="0"/>
                <a:ea typeface="Pretendard" pitchFamily="34" charset="-122"/>
                <a:cs typeface="Pretendard" pitchFamily="34" charset="-120"/>
              </a:rPr>
              <a:t>건강상담(연 819건) · 기타 서류 확대 · AI 위험성평가 참여 확대</a:t>
            </a:r>
            <a:endParaRPr lang="en-US" sz="1400" dirty="0"/>
          </a:p>
        </p:txBody>
      </p:sp>
      <p:sp>
        <p:nvSpPr>
          <p:cNvPr id="29" name="o477"/>
          <p:cNvSpPr/>
          <p:nvPr/>
        </p:nvSpPr>
        <p:spPr>
          <a:xfrm>
            <a:off x="7505700" y="1333500"/>
            <a:ext cx="4076700" cy="4724400"/>
          </a:xfrm>
          <a:prstGeom prst="rect">
            <a:avLst/>
          </a:prstGeom>
          <a:solidFill>
            <a:srgbClr val="23373B"/>
          </a:solidFill>
          <a:ln/>
        </p:spPr>
      </p:sp>
      <p:sp>
        <p:nvSpPr>
          <p:cNvPr id="30" name="o478"/>
          <p:cNvSpPr txBox="1"/>
          <p:nvPr/>
        </p:nvSpPr>
        <p:spPr>
          <a:xfrm>
            <a:off x="7810500" y="1600200"/>
            <a:ext cx="3429000" cy="171450"/>
          </a:xfrm>
          <a:prstGeom prst="rect">
            <a:avLst/>
          </a:prstGeom>
          <a:noFill/>
          <a:ln/>
        </p:spPr>
        <p:txBody>
          <a:bodyPr wrap="square" lIns="0" tIns="0" rIns="0" bIns="0" rtlCol="0" anchor="t"/>
          <a:lstStyle/>
          <a:p>
            <a:pPr indent="0" marL="0">
              <a:buNone/>
            </a:pPr>
            <a:r>
              <a:rPr lang="en-US" sz="1100" b="1" spc="200" kern="0" dirty="0">
                <a:solidFill>
                  <a:srgbClr val="EB811B"/>
                </a:solidFill>
                <a:latin typeface="Pretendard" pitchFamily="34" charset="0"/>
                <a:ea typeface="Pretendard" pitchFamily="34" charset="-122"/>
                <a:cs typeface="Pretendard" pitchFamily="34" charset="-120"/>
              </a:rPr>
              <a:t>OUR PROMISE</a:t>
            </a:r>
            <a:endParaRPr lang="en-US" sz="1100" dirty="0"/>
          </a:p>
        </p:txBody>
      </p:sp>
      <p:sp>
        <p:nvSpPr>
          <p:cNvPr id="31" name="o479"/>
          <p:cNvSpPr txBox="1"/>
          <p:nvPr/>
        </p:nvSpPr>
        <p:spPr>
          <a:xfrm>
            <a:off x="7810500" y="1905000"/>
            <a:ext cx="3619500" cy="1047750"/>
          </a:xfrm>
          <a:prstGeom prst="rect">
            <a:avLst/>
          </a:prstGeom>
          <a:noFill/>
          <a:ln/>
        </p:spPr>
        <p:txBody>
          <a:bodyPr wrap="square" lIns="0" tIns="0" rIns="0" bIns="0" rtlCol="0" anchor="t"/>
          <a:lstStyle/>
          <a:p>
            <a:pP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기다리지 않는 행정,</a:t>
            </a:r>
            <a:endParaRPr lang="en-US" sz="3000" dirty="0"/>
          </a:p>
          <a:p>
            <a:pP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누락 없는 안전.</a:t>
            </a:r>
            <a:endParaRPr lang="en-US" sz="3000" dirty="0"/>
          </a:p>
        </p:txBody>
      </p:sp>
      <p:sp>
        <p:nvSpPr>
          <p:cNvPr id="32" name="o480"/>
          <p:cNvSpPr txBox="1"/>
          <p:nvPr/>
        </p:nvSpPr>
        <p:spPr>
          <a:xfrm>
            <a:off x="7810500" y="3143250"/>
            <a:ext cx="3467100" cy="762000"/>
          </a:xfrm>
          <a:prstGeom prst="rect">
            <a:avLst/>
          </a:prstGeom>
          <a:noFill/>
          <a:ln/>
        </p:spPr>
        <p:txBody>
          <a:bodyPr wrap="square" lIns="0" tIns="0" rIns="0" bIns="0" rtlCol="0" anchor="t"/>
          <a:lstStyle/>
          <a:p>
            <a:pPr indent="0" marL="0">
              <a:lnSpc>
                <a:spcPct val="145000"/>
              </a:lnSpc>
              <a:buNone/>
            </a:pPr>
            <a:r>
              <a:rPr lang="en-US" sz="1400" dirty="0">
                <a:solidFill>
                  <a:srgbClr val="E0E0E0"/>
                </a:solidFill>
                <a:latin typeface="Pretendard" pitchFamily="34" charset="0"/>
                <a:ea typeface="Pretendard" pitchFamily="34" charset="-122"/>
                <a:cs typeface="Pretendard" pitchFamily="34" charset="-120"/>
              </a:rPr>
              <a:t>안전보건 데이터가 실시간으로 흐를 때, 관리자는 서류가 아닌 현장에 집중합니다.</a:t>
            </a:r>
            <a:endParaRPr lang="en-US" sz="1400" dirty="0"/>
          </a:p>
        </p:txBody>
      </p:sp>
      <p:sp>
        <p:nvSpPr>
          <p:cNvPr id="33" name="o481"/>
          <p:cNvSpPr/>
          <p:nvPr/>
        </p:nvSpPr>
        <p:spPr>
          <a:xfrm>
            <a:off x="7810500" y="4953000"/>
            <a:ext cx="3467100" cy="0"/>
          </a:xfrm>
          <a:prstGeom prst="line">
            <a:avLst/>
          </a:prstGeom>
          <a:noFill/>
          <a:ln w="9525">
            <a:solidFill>
              <a:srgbClr val="C96A10"/>
            </a:solidFill>
            <a:prstDash val="solid"/>
          </a:ln>
        </p:spPr>
      </p:sp>
      <p:sp>
        <p:nvSpPr>
          <p:cNvPr id="34" name="o482"/>
          <p:cNvSpPr txBox="1"/>
          <p:nvPr/>
        </p:nvSpPr>
        <p:spPr>
          <a:xfrm>
            <a:off x="7810500" y="5143500"/>
            <a:ext cx="3467100" cy="419100"/>
          </a:xfrm>
          <a:prstGeom prst="rect">
            <a:avLst/>
          </a:prstGeom>
          <a:noFill/>
          <a:ln/>
        </p:spPr>
        <p:txBody>
          <a:bodyPr wrap="square" lIns="0" tIns="0" rIns="0" bIns="0" rtlCol="0" anchor="t"/>
          <a:lstStyle/>
          <a:p>
            <a:pPr indent="0" marL="0">
              <a:buNone/>
            </a:pPr>
            <a:r>
              <a:rPr lang="en-US" sz="2800" b="1" dirty="0">
                <a:solidFill>
                  <a:srgbClr val="FFFFFF"/>
                </a:solidFill>
                <a:latin typeface="Pretendard" pitchFamily="34" charset="0"/>
                <a:ea typeface="Pretendard" pitchFamily="34" charset="-122"/>
                <a:cs typeface="Pretendard" pitchFamily="34" charset="-120"/>
              </a:rPr>
              <a:t>감사합니다</a:t>
            </a:r>
            <a:endParaRPr lang="en-US" sz="2800" dirty="0"/>
          </a:p>
        </p:txBody>
      </p:sp>
      <p:sp>
        <p:nvSpPr>
          <p:cNvPr id="35" name="o483"/>
          <p:cNvSpPr txBox="1"/>
          <p:nvPr/>
        </p:nvSpPr>
        <p:spPr>
          <a:xfrm>
            <a:off x="7810500" y="5619750"/>
            <a:ext cx="3467100" cy="190500"/>
          </a:xfrm>
          <a:prstGeom prst="rect">
            <a:avLst/>
          </a:prstGeom>
          <a:noFill/>
          <a:ln/>
        </p:spPr>
        <p:txBody>
          <a:bodyPr wrap="square" lIns="0" tIns="0" rIns="0" bIns="0" rtlCol="0" anchor="t"/>
          <a:lstStyle/>
          <a:p>
            <a:pPr indent="0" marL="0">
              <a:buNone/>
            </a:pPr>
            <a:r>
              <a:rPr lang="en-US" sz="1100" dirty="0">
                <a:solidFill>
                  <a:srgbClr val="E0E0E0"/>
                </a:solidFill>
                <a:latin typeface="Pretendard" pitchFamily="34" charset="0"/>
                <a:ea typeface="Pretendard" pitchFamily="34" charset="-122"/>
                <a:cs typeface="Pretendard" pitchFamily="34" charset="-120"/>
              </a:rPr>
              <a:t>문의 · 보건관리실 내선 3293 · 3034</a:t>
            </a:r>
            <a:endParaRPr lang="en-US" sz="1100" dirty="0"/>
          </a:p>
        </p:txBody>
      </p:sp>
    </p:spTree>
  </p:cSld>
  <p:clrMapOvr>
    <a:masterClrMapping/>
  </p:clrMapOvr>
</p:sld>
</file>

<file path=ppt/theme/theme1.xml><?xml version="1.0" encoding="utf-8"?>
<a:theme xmlns:a="http://schemas.openxmlformats.org/drawingml/2006/main" name="Bumin Green">
  <a:themeElements>
    <a:clrScheme name="Bumin Green">
      <a:dk1>
        <a:srgbClr val="1E1E1C"/>
      </a:dk1>
      <a:lt1>
        <a:srgbClr val="FFFFFF"/>
      </a:lt1>
      <a:dk2>
        <a:srgbClr val="45423D"/>
      </a:dk2>
      <a:lt2>
        <a:srgbClr val="F5F6F2"/>
      </a:lt2>
      <a:accent1>
        <a:srgbClr val="67AF28"/>
      </a:accent1>
      <a:accent2>
        <a:srgbClr val="3F7518"/>
      </a:accent2>
      <a:accent3>
        <a:srgbClr val="345C12"/>
      </a:accent3>
      <a:accent4>
        <a:srgbClr val="A3302A"/>
      </a:accent4>
      <a:accent5>
        <a:srgbClr val="4C8A1D"/>
      </a:accent5>
      <a:accent6>
        <a:srgbClr val="EEF6E6"/>
      </a:accent6>
      <a:hlink>
        <a:srgbClr val="3F7518"/>
      </a:hlink>
      <a:folHlink>
        <a:srgbClr val="345C12"/>
      </a:folHlink>
    </a:clrScheme>
    <a:fontScheme name="Bumin Green">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통합 안전보건 플랫폼 구축을 통한 업무 효율성 증가</dc:title>
  <dc:subject>PptxGenJS Presentation</dc:subject>
  <dc:creator>총무-안전보건팀 (Safety First)</dc:creator>
  <cp:lastModifiedBy>총무-안전보건팀 (Safety First)</cp:lastModifiedBy>
  <cp:revision>1</cp:revision>
  <dcterms:created xsi:type="dcterms:W3CDTF">2026-10-27T08:33:45Z</dcterms:created>
  <dcterms:modified xsi:type="dcterms:W3CDTF">2026-10-27T08:33:45Z</dcterms:modified>
</cp:coreProperties>
</file>