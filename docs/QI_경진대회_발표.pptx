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b6dd4be-16b2-caa0-65aa-17f5e2a804e0}">
          <p14:sldIdLst>
            <p14:sldId id="256"/>
            <p14:sldId id="257"/>
            <p14:sldId id="258"/>
          </p14:sldIdLst>
        </p14:section>
        <p14:section name="Plan" id="{a8332669-948a-97cc-be59-2199559cf9d8}">
          <p14:sldIdLst>
            <p14:sldId id="259"/>
            <p14:sldId id="260"/>
            <p14:sldId id="261"/>
            <p14:sldId id="262"/>
          </p14:sldIdLst>
        </p14:section>
        <p14:section name="Do" id="{ec6f2970-1556-66e9-4474-9feba03253ea}">
          <p14:sldIdLst>
            <p14:sldId id="263"/>
          </p14:sldIdLst>
        </p14:section>
        <p14:section name="Check" id="{a58fab13-3833-9c3f-2814-6ece1db11f1e}">
          <p14:sldIdLst>
            <p14:sldId id="264"/>
            <p14:sldId id="265"/>
          </p14:sldIdLst>
        </p14:section>
        <p14:section name="Act" id="{13dc716d-4722-27ec-f826-4f907810edba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이행</c:v>
                </c:pt>
              </c:strCache>
            </c:strRef>
          </c:tx>
          <c:spPr>
            <a:solidFill>
              <a:srgbClr val="67AF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8</c:v>
                </c:pt>
                <c:pt idx="2">
                  <c:v>16</c:v>
                </c:pt>
                <c:pt idx="3">
                  <c:v>7</c:v>
                </c:pt>
                <c:pt idx="4">
                  <c:v>6</c:v>
                </c:pt>
                <c:pt idx="5">
                  <c:v>9</c:v>
                </c:pt>
                <c:pt idx="6">
                  <c:v>11</c:v>
                </c:pt>
                <c:pt idx="7">
                  <c:v>6</c:v>
                </c:pt>
                <c:pt idx="8">
                  <c:v>4</c:v>
                </c:pt>
                <c:pt idx="9">
                  <c:v>1</c:v>
                </c:pt>
                <c:pt idx="10">
                  <c:v>10</c:v>
                </c:pt>
                <c:pt idx="1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누락</c:v>
                </c:pt>
              </c:strCache>
            </c:strRef>
          </c:tx>
          <c:spPr>
            <a:solidFill>
              <a:srgbClr val="A33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6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DDD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6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A56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준수율(%)</c:v>
                </c:pt>
              </c:strCache>
            </c:strRef>
          </c:tx>
          <c:spPr>
            <a:solidFill>
              <a:srgbClr val="B5B2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56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5B2AA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67AF28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67AF28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67AF28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25.1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26.5</c:v>
                  </c:pt>
                  <c:pt idx="13">
                    <c:v>6</c:v>
                  </c:pt>
                  <c:pt idx="14">
                    <c:v>7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63</c:v>
                </c:pt>
                <c:pt idx="1">
                  <c:v>89</c:v>
                </c:pt>
                <c:pt idx="2">
                  <c:v>89</c:v>
                </c:pt>
                <c:pt idx="3">
                  <c:v>100</c:v>
                </c:pt>
                <c:pt idx="4">
                  <c:v>86</c:v>
                </c:pt>
                <c:pt idx="5">
                  <c:v>100</c:v>
                </c:pt>
                <c:pt idx="6">
                  <c:v>85</c:v>
                </c:pt>
                <c:pt idx="7">
                  <c:v>100</c:v>
                </c:pt>
                <c:pt idx="8">
                  <c:v>80</c:v>
                </c:pt>
                <c:pt idx="9">
                  <c:v>50</c:v>
                </c:pt>
                <c:pt idx="10">
                  <c:v>59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56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6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D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6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종이 출력</c:v>
                </c:pt>
              </c:strCache>
            </c:strRef>
          </c:tx>
          <c:spPr>
            <a:solidFill>
              <a:srgbClr val="B5B2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개선 전 월평균</c:v>
                  </c:pt>
                  <c:pt idx="1">
                    <c:v>26년 5월</c:v>
                  </c:pt>
                  <c:pt idx="2">
                    <c:v>6월</c:v>
                  </c:pt>
                  <c:pt idx="3">
                    <c:v>7월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디지털 완결</c:v>
                </c:pt>
              </c:strCache>
            </c:strRef>
          </c:tx>
          <c:spPr>
            <a:solidFill>
              <a:srgbClr val="67AF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개선 전 월평균</c:v>
                  </c:pt>
                  <c:pt idx="1">
                    <c:v>26년 5월</c:v>
                  </c:pt>
                  <c:pt idx="2">
                    <c:v>6월</c:v>
                  </c:pt>
                  <c:pt idx="3">
                    <c:v>7월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9</c:v>
                </c:pt>
                <c:pt idx="2">
                  <c:v>24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6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DDD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6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A56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[도입부 30초 — 짧은 이야기형]
- "작년 11월, 신규 입사자가 한꺼번에 17명 들어왔습니다. 그달 교육일지 7건이 누락됐습니다."
- "담당자가 게을러서가 아니라, 종이로는 누가 빠졌는지 볼 방법이 없었기 때문입니다."
- "올해 6월, 그보다 많은 24건이 몰렸지만 누락은 0건이었습니다. 무엇이 달라졌는지 말씀드리겠습니다."
- "총무-안전보건팀 장은선입니다."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"PDCA 순서로 말씀드리겠습니다." (5초, 바로 넘김)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팀장 김광현: 활동 총괄 / 장은선(보건관리자): 플랫폼 기획 · 직접 코딩 / 장종문(안전관리자): MSDS · AI 위험성평가
- "개발은 보건관리자가 직접 코딩했고, 현장 피드백은 전 부서 시범 운영으로 받았습니다."
- 8~10월 표준화 이후 AI 기능 고도화 (Slide 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교육 미이행 시 과태료, 중대재해 발생 시 교육 이행 기록이 사업주 의무 이행의 핵심 증빙
- 인증 조사 때 바인더를 넘기며 누락자를 찾아야 했던 경험
- 종이 출력 · 운반 · 보관은 병원 ESG(환경) 방향과 맞지 않음
- 근거: 산안법 제29조, 인증기준 10.7 · 11.3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자료수집: 입사자 명단 ↔ 교육일지 대조 전수조사(2025.01~12), 단계별 직접 관찰(Time Study)(2025.01)
- 1월 · 10월 · 11월 이행률 63 · 50 · 59% — 공통점은 "누가 아직 안 했는지"를 볼 수 없었다는 것
- 문제는 사람이 아니라 확인 체계
- "디지털 → 종이 → 디지털"로 매체가 세 번 바뀌어 부서장 · 보건관리자 양쪽이 시간을 씀
- 이동 7분 + 결재 대기 19분 24초 = 26분 24초 (78%)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행정시간은 실제 교육 시간을 제외하고 문서 작성 · 서명 · 취합 · 결재만 포함
- 70% 목표 근거: 이동 · 대기만 없애도 78%가 줄어드는 구조 (33:48 → 10분 이내)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업무 흐름도에서 기여요인 CF1~CF7 도출 → "효과 × 실행 난이도"로 분류
- 효과 높고 쉬운 반복 수기 · 이동 · 모니터링을 먼저 해결
- 이동과 대기는 노력으로 줄일 수 없고 체계를 바꿔야만 없앨 수 있는 구간
- 4월 1주 프로토타입 → 고위험 부서 우선 시범 → 전 부서 확대
- (질의 대비) 피시본 전체 · 우선순위 매트릭스는 부록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영상 전: "보시는 과정이 기존에는 33분 걸리던 일입니다."
- 영상 오른쪽 위에 경과 시간 타이머 표시
- 영상 후: "시범 운영 피드백으로 신규 입사자 알림과 현장 사진 삽입 기능을 추가했습니다."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도입부 이야기 회수: "작년 11월 17건에서 7건이 빠졌던 것과 달리, 올해 6월 24건이 몰렸을 때도 누락은 없었습니다."
- 대시보드에서 미이수자가 바로 보이기 때문. 서류 제출 기한(입사일 3일 이내)도 지켜짐
- 통계(질의 대비): 누락 18/106 vs 0/33, Fisher 정확검정 p = 0.007 — 관찰 기간 12개월 vs 3개월 차이는 한계로 함께 언급
- ESG: 연 94건 출력물 · 바인더 편철 → 0건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절약된 시간은 부서장은 환자 곁으로, 보건관리자는 현장 점검으로 돌아감
- ④ 이동과 ⑥ 파일링이 사라지고, ⑦ 결재가 19분 24초 → 1분으로 줄어든 것이 단축의 대부분
- 인프라 지표: 계획 6개 모듈 6/6 정상 작동 (100%)
- MSDS 교육: 검색 2:09→0:40 · 인쇄 1:19→0 · 서명 0:19→0:09 · 바인더 0:32→0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표준화: 수기 바인더 편철 · 대면 결재 폐지
- "Check 단계에서 남은 과제는 '누가 빠질지 미리 아는 것'이었습니다. 그래서 사람이 찾아보던 일을 시스템이 먼저 알려 주도록 바꿨습니다."
- 신규입사 알림 = 기존 제언(미이수자 부서장 알림)을 실제 구현. AI가 아닌 인사 DB 자동 대조임을 정확히 말할 것
- AI MSDS 검토: 새 물질마다 MSDS 16개 항목을 직접 읽던 일을 AI가 1차 정리. 승인하면 해당 부서에 교육 대상 자동 생성
- 근거: 사업장 위험성평가에 관한 지침 · 산업안전보건기준에 관한 규칙(국가법령정보 OPEN API) · 안전보건공단 OPEN API
- 효과 수치는 아직 없음 → "적용 중, 하반기 측정 예정"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관리자 대시보드로 월별 준수율과 페이퍼리스 유지 여부를 상시 확인 중
- 한계: 개선 후 관찰 기간 3개월 → 하반기까지 추적 예정
- 마무리 한 줄: "이 활동은 새로운 장비가 아니라, 현장 업무를 시간 단위로 들여다본 데서 시작했습니다."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[예상 질문]
- AI는 어디에? → AI MSDS 검토 · AI 도우미 · AI 위험성평가 3곳. 신규입사 알림은 인사 DB 자동 대조. 결과는 제안, 관리자 승인
- AI가 틀리면? → MSDS는 법령대조표 · 기존 판정과 비교 후 승인분만 등록, 위험성평가 점수는 서버 재계산 · 조문 번호 대조
- 개인정보? → 부서 PIN · 관리자 비밀번호, 감사 로그. AI에는 개인정보 미전송, 사진 위치정보 삭제
- 비용? → 외주 없음, AI는 Google Gemini API (요금 확인 후 답변)
- 관찰 기간 3개월? → 하반기까지 추적 중. 업무량이 가장 많던 6월에도 누락 0건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345C12"/>
          </a:solidFill>
          <a:ln w="12700">
            <a:solidFill>
              <a:srgbClr val="345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5532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부산부민병원 안전보건 통합관리 시스템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E1E1C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3F751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3" name="o2"/>
          <p:cNvSpPr/>
          <p:nvPr/>
        </p:nvSpPr>
        <p:spPr>
          <a:xfrm>
            <a:off x="76200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4" name="o3"/>
          <p:cNvSpPr/>
          <p:nvPr/>
        </p:nvSpPr>
        <p:spPr>
          <a:xfrm>
            <a:off x="243205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4"/>
          <p:cNvSpPr/>
          <p:nvPr/>
        </p:nvSpPr>
        <p:spPr>
          <a:xfrm>
            <a:off x="410210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6" name="o5"/>
          <p:cNvSpPr/>
          <p:nvPr/>
        </p:nvSpPr>
        <p:spPr>
          <a:xfrm>
            <a:off x="577215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6"/>
          <p:cNvSpPr txBox="1"/>
          <p:nvPr/>
        </p:nvSpPr>
        <p:spPr>
          <a:xfrm>
            <a:off x="762000" y="18415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7518"/>
                </a:solidFill>
              </a:rPr>
              <a:t>2026 QI 경진대회 · 구연 발표</a:t>
            </a:r>
            <a:endParaRPr lang="en-US" sz="1400" dirty="0"/>
          </a:p>
        </p:txBody>
      </p:sp>
      <p:sp>
        <p:nvSpPr>
          <p:cNvPr id="8" name="o7"/>
          <p:cNvSpPr txBox="1"/>
          <p:nvPr/>
        </p:nvSpPr>
        <p:spPr>
          <a:xfrm>
            <a:off x="762000" y="2133600"/>
            <a:ext cx="7048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E1E1C"/>
                </a:solidFill>
              </a:rPr>
              <a:t>AI 통합 안전보건 플랫폼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E1E1C"/>
                </a:solidFill>
              </a:rPr>
              <a:t>구축을 통한 업무 효율성 증가</a:t>
            </a:r>
            <a:endParaRPr lang="en-US" sz="3400" dirty="0"/>
          </a:p>
        </p:txBody>
      </p:sp>
      <p:sp>
        <p:nvSpPr>
          <p:cNvPr id="9" name="o8"/>
          <p:cNvSpPr txBox="1"/>
          <p:nvPr/>
        </p:nvSpPr>
        <p:spPr>
          <a:xfrm>
            <a:off x="762000" y="35560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50"/>
                </a:solidFill>
              </a:rPr>
              <a:t>Development of an AI-integrated occupational safety and health platform for improved work efficiency</a:t>
            </a:r>
            <a:endParaRPr lang="en-US" sz="1300" dirty="0"/>
          </a:p>
        </p:txBody>
      </p:sp>
      <p:sp>
        <p:nvSpPr>
          <p:cNvPr id="10" name="o9"/>
          <p:cNvSpPr/>
          <p:nvPr/>
        </p:nvSpPr>
        <p:spPr>
          <a:xfrm>
            <a:off x="762000" y="4191000"/>
            <a:ext cx="508000" cy="254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1" name="o10"/>
          <p:cNvSpPr txBox="1"/>
          <p:nvPr/>
        </p:nvSpPr>
        <p:spPr>
          <a:xfrm>
            <a:off x="762000" y="43815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총무-안전보건팀 (Safety First)</a:t>
            </a:r>
            <a:endParaRPr lang="en-US" sz="1800" dirty="0"/>
          </a:p>
        </p:txBody>
      </p:sp>
      <p:sp>
        <p:nvSpPr>
          <p:cNvPr id="12" name="o11"/>
          <p:cNvSpPr txBox="1"/>
          <p:nvPr/>
        </p:nvSpPr>
        <p:spPr>
          <a:xfrm>
            <a:off x="762000" y="47117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발표  장은선    |    팀장  김광현  ·  팀원  장종문</a:t>
            </a:r>
            <a:endParaRPr lang="en-US" sz="1400" dirty="0"/>
          </a:p>
        </p:txBody>
      </p:sp>
      <p:sp>
        <p:nvSpPr>
          <p:cNvPr id="13" name="o12"/>
          <p:cNvSpPr txBox="1"/>
          <p:nvPr/>
        </p:nvSpPr>
        <p:spPr>
          <a:xfrm>
            <a:off x="762000" y="49784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50"/>
                </a:solidFill>
              </a:rPr>
              <a:t>인당의료재단 부민병원</a:t>
            </a:r>
            <a:endParaRPr lang="en-US" sz="1400" dirty="0"/>
          </a:p>
        </p:txBody>
      </p:sp>
      <p:sp>
        <p:nvSpPr>
          <p:cNvPr id="14" name="o13"/>
          <p:cNvSpPr/>
          <p:nvPr/>
        </p:nvSpPr>
        <p:spPr>
          <a:xfrm>
            <a:off x="8890000" y="1016000"/>
            <a:ext cx="2286000" cy="4699000"/>
          </a:xfrm>
          <a:prstGeom prst="roundRect">
            <a:avLst>
              <a:gd name="adj" fmla="val 13333"/>
            </a:avLst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</p:sp>
      <p:sp>
        <p:nvSpPr>
          <p:cNvPr id="15" name="o14"/>
          <p:cNvSpPr/>
          <p:nvPr/>
        </p:nvSpPr>
        <p:spPr>
          <a:xfrm>
            <a:off x="8978900" y="1104900"/>
            <a:ext cx="2108200" cy="452120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o15"/>
          <p:cNvSpPr txBox="1"/>
          <p:nvPr/>
        </p:nvSpPr>
        <p:spPr>
          <a:xfrm>
            <a:off x="9156700" y="1346200"/>
            <a:ext cx="1752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부민병원</a:t>
            </a:r>
            <a:endParaRPr lang="en-US" sz="1100" dirty="0"/>
          </a:p>
        </p:txBody>
      </p:sp>
      <p:sp>
        <p:nvSpPr>
          <p:cNvPr id="17" name="o16"/>
          <p:cNvSpPr txBox="1"/>
          <p:nvPr/>
        </p:nvSpPr>
        <p:spPr>
          <a:xfrm>
            <a:off x="9156700" y="1524000"/>
            <a:ext cx="1752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E1C"/>
                </a:solidFill>
              </a:rPr>
              <a:t>안전보건 통합관리</a:t>
            </a:r>
            <a:endParaRPr lang="en-US" sz="1400" dirty="0"/>
          </a:p>
        </p:txBody>
      </p:sp>
      <p:sp>
        <p:nvSpPr>
          <p:cNvPr id="18" name="o17"/>
          <p:cNvSpPr/>
          <p:nvPr/>
        </p:nvSpPr>
        <p:spPr>
          <a:xfrm>
            <a:off x="9156700" y="1866900"/>
            <a:ext cx="1752600" cy="825500"/>
          </a:xfrm>
          <a:prstGeom prst="roundRect">
            <a:avLst>
              <a:gd name="adj" fmla="val 9231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9" name="o18"/>
          <p:cNvSpPr txBox="1"/>
          <p:nvPr/>
        </p:nvSpPr>
        <p:spPr>
          <a:xfrm>
            <a:off x="9296400" y="2019300"/>
            <a:ext cx="147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MSDS 관리</a:t>
            </a:r>
            <a:endParaRPr lang="en-US" sz="1500" dirty="0"/>
          </a:p>
        </p:txBody>
      </p:sp>
      <p:sp>
        <p:nvSpPr>
          <p:cNvPr id="20" name="o19"/>
          <p:cNvSpPr txBox="1"/>
          <p:nvPr/>
        </p:nvSpPr>
        <p:spPr>
          <a:xfrm>
            <a:off x="9296400" y="2298700"/>
            <a:ext cx="147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부서별 물질 · 원본 PDF</a:t>
            </a:r>
            <a:endParaRPr lang="en-US" sz="1000" dirty="0"/>
          </a:p>
        </p:txBody>
      </p:sp>
      <p:sp>
        <p:nvSpPr>
          <p:cNvPr id="21" name="o20"/>
          <p:cNvSpPr/>
          <p:nvPr/>
        </p:nvSpPr>
        <p:spPr>
          <a:xfrm>
            <a:off x="9156700" y="2794000"/>
            <a:ext cx="8382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A9E22"/>
            </a:solidFill>
            <a:prstDash val="solid"/>
          </a:ln>
        </p:spPr>
      </p:sp>
      <p:sp>
        <p:nvSpPr>
          <p:cNvPr id="22" name="o21"/>
          <p:cNvSpPr txBox="1"/>
          <p:nvPr/>
        </p:nvSpPr>
        <p:spPr>
          <a:xfrm>
            <a:off x="9245600" y="2895600"/>
            <a:ext cx="68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교육일지</a:t>
            </a:r>
            <a:endParaRPr lang="en-US" sz="1100" dirty="0"/>
          </a:p>
        </p:txBody>
      </p:sp>
      <p:sp>
        <p:nvSpPr>
          <p:cNvPr id="23" name="o22"/>
          <p:cNvSpPr/>
          <p:nvPr/>
        </p:nvSpPr>
        <p:spPr>
          <a:xfrm>
            <a:off x="10071100" y="2794000"/>
            <a:ext cx="8382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C8A1D"/>
            </a:solidFill>
            <a:prstDash val="solid"/>
          </a:ln>
        </p:spPr>
      </p:sp>
      <p:sp>
        <p:nvSpPr>
          <p:cNvPr id="24" name="o23"/>
          <p:cNvSpPr txBox="1"/>
          <p:nvPr/>
        </p:nvSpPr>
        <p:spPr>
          <a:xfrm>
            <a:off x="10160000" y="2895600"/>
            <a:ext cx="68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보호구 지급</a:t>
            </a:r>
            <a:endParaRPr lang="en-US" sz="1100" dirty="0"/>
          </a:p>
        </p:txBody>
      </p:sp>
      <p:sp>
        <p:nvSpPr>
          <p:cNvPr id="25" name="o24"/>
          <p:cNvSpPr/>
          <p:nvPr/>
        </p:nvSpPr>
        <p:spPr>
          <a:xfrm>
            <a:off x="9156700" y="3708400"/>
            <a:ext cx="8382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3F7518"/>
            </a:solidFill>
            <a:prstDash val="solid"/>
          </a:ln>
        </p:spPr>
      </p:sp>
      <p:sp>
        <p:nvSpPr>
          <p:cNvPr id="26" name="o25"/>
          <p:cNvSpPr txBox="1"/>
          <p:nvPr/>
        </p:nvSpPr>
        <p:spPr>
          <a:xfrm>
            <a:off x="9245600" y="3810000"/>
            <a:ext cx="68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화학물질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보고서</a:t>
            </a:r>
            <a:endParaRPr lang="en-US" sz="1100" dirty="0"/>
          </a:p>
        </p:txBody>
      </p:sp>
      <p:sp>
        <p:nvSpPr>
          <p:cNvPr id="27" name="o26"/>
          <p:cNvSpPr/>
          <p:nvPr/>
        </p:nvSpPr>
        <p:spPr>
          <a:xfrm>
            <a:off x="10071100" y="3708400"/>
            <a:ext cx="8382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325F13"/>
            </a:solidFill>
            <a:prstDash val="solid"/>
          </a:ln>
        </p:spPr>
      </p:sp>
      <p:sp>
        <p:nvSpPr>
          <p:cNvPr id="28" name="o27"/>
          <p:cNvSpPr txBox="1"/>
          <p:nvPr/>
        </p:nvSpPr>
        <p:spPr>
          <a:xfrm>
            <a:off x="10160000" y="3810000"/>
            <a:ext cx="68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AI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위험성평가</a:t>
            </a:r>
            <a:endParaRPr lang="en-US" sz="1100" dirty="0"/>
          </a:p>
        </p:txBody>
      </p:sp>
      <p:sp>
        <p:nvSpPr>
          <p:cNvPr id="29" name="o28"/>
          <p:cNvSpPr/>
          <p:nvPr/>
        </p:nvSpPr>
        <p:spPr>
          <a:xfrm>
            <a:off x="9156700" y="4724400"/>
            <a:ext cx="1752600" cy="698500"/>
          </a:xfrm>
          <a:prstGeom prst="roundRect">
            <a:avLst>
              <a:gd name="adj" fmla="val 9091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30" name="o29"/>
          <p:cNvSpPr txBox="1"/>
          <p:nvPr/>
        </p:nvSpPr>
        <p:spPr>
          <a:xfrm>
            <a:off x="9271000" y="4838700"/>
            <a:ext cx="152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1E1C"/>
                </a:solidFill>
              </a:rPr>
              <a:t>공지 · 업데이트</a:t>
            </a:r>
            <a:endParaRPr lang="en-US" sz="1000" dirty="0"/>
          </a:p>
        </p:txBody>
      </p:sp>
      <p:sp>
        <p:nvSpPr>
          <p:cNvPr id="31" name="o30"/>
          <p:cNvSpPr txBox="1"/>
          <p:nvPr/>
        </p:nvSpPr>
        <p:spPr>
          <a:xfrm>
            <a:off x="9271000" y="5054600"/>
            <a:ext cx="152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</a:rPr>
              <a:t>AI 도우미 · 신규입사 알림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31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CONTENTS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목차</a:t>
            </a:r>
            <a:endParaRPr lang="en-US" sz="3200" dirty="0"/>
          </a:p>
        </p:txBody>
      </p:sp>
      <p:sp>
        <p:nvSpPr>
          <p:cNvPr id="4" name="o32"/>
          <p:cNvSpPr/>
          <p:nvPr/>
        </p:nvSpPr>
        <p:spPr>
          <a:xfrm>
            <a:off x="762000" y="1905000"/>
            <a:ext cx="2476500" cy="4064000"/>
          </a:xfrm>
          <a:prstGeom prst="roundRect">
            <a:avLst>
              <a:gd name="adj" fmla="val 2051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5" name="o33"/>
          <p:cNvSpPr/>
          <p:nvPr/>
        </p:nvSpPr>
        <p:spPr>
          <a:xfrm>
            <a:off x="762000" y="1905000"/>
            <a:ext cx="2476500" cy="50800"/>
          </a:xfrm>
          <a:prstGeom prst="rect">
            <a:avLst/>
          </a:prstGeom>
          <a:solidFill>
            <a:srgbClr val="5A9E22"/>
          </a:solidFill>
          <a:ln w="12700">
            <a:solidFill>
              <a:srgbClr val="5A9E22"/>
            </a:solidFill>
            <a:prstDash val="solid"/>
          </a:ln>
        </p:spPr>
      </p:sp>
      <p:sp>
        <p:nvSpPr>
          <p:cNvPr id="6" name="o34"/>
          <p:cNvSpPr txBox="1"/>
          <p:nvPr/>
        </p:nvSpPr>
        <p:spPr>
          <a:xfrm>
            <a:off x="1016000" y="2159000"/>
            <a:ext cx="12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3F7518"/>
                </a:solidFill>
              </a:rPr>
              <a:t>P</a:t>
            </a:r>
            <a:endParaRPr lang="en-US" sz="6600" dirty="0"/>
          </a:p>
        </p:txBody>
      </p:sp>
      <p:sp>
        <p:nvSpPr>
          <p:cNvPr id="7" name="o35"/>
          <p:cNvSpPr txBox="1"/>
          <p:nvPr/>
        </p:nvSpPr>
        <p:spPr>
          <a:xfrm>
            <a:off x="1041400" y="3048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5650"/>
                </a:solidFill>
              </a:rPr>
              <a:t>Plan</a:t>
            </a:r>
            <a:endParaRPr lang="en-US" sz="1600" dirty="0"/>
          </a:p>
        </p:txBody>
      </p:sp>
      <p:sp>
        <p:nvSpPr>
          <p:cNvPr id="8" name="o36"/>
          <p:cNvSpPr txBox="1"/>
          <p:nvPr/>
        </p:nvSpPr>
        <p:spPr>
          <a:xfrm>
            <a:off x="1041400" y="3479800"/>
            <a:ext cx="20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주제 선정 배경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현황 분석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지표 정의 · 목표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원인 분석 · 개선 전략</a:t>
            </a:r>
            <a:endParaRPr lang="en-US" sz="1500" dirty="0"/>
          </a:p>
        </p:txBody>
      </p:sp>
      <p:sp>
        <p:nvSpPr>
          <p:cNvPr id="9" name="o37"/>
          <p:cNvSpPr txBox="1"/>
          <p:nvPr/>
        </p:nvSpPr>
        <p:spPr>
          <a:xfrm>
            <a:off x="1041400" y="55245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Slide 4 – 7</a:t>
            </a:r>
            <a:endParaRPr lang="en-US" sz="1100" dirty="0"/>
          </a:p>
        </p:txBody>
      </p:sp>
      <p:sp>
        <p:nvSpPr>
          <p:cNvPr id="10" name="o38"/>
          <p:cNvSpPr/>
          <p:nvPr/>
        </p:nvSpPr>
        <p:spPr>
          <a:xfrm>
            <a:off x="3492500" y="1905000"/>
            <a:ext cx="2476500" cy="4064000"/>
          </a:xfrm>
          <a:prstGeom prst="roundRect">
            <a:avLst>
              <a:gd name="adj" fmla="val 2051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1" name="o39"/>
          <p:cNvSpPr/>
          <p:nvPr/>
        </p:nvSpPr>
        <p:spPr>
          <a:xfrm>
            <a:off x="3492500" y="1905000"/>
            <a:ext cx="2476500" cy="50800"/>
          </a:xfrm>
          <a:prstGeom prst="rect">
            <a:avLst/>
          </a:prstGeom>
          <a:solidFill>
            <a:srgbClr val="4C8A1D"/>
          </a:solidFill>
          <a:ln w="12700">
            <a:solidFill>
              <a:srgbClr val="4C8A1D"/>
            </a:solidFill>
            <a:prstDash val="solid"/>
          </a:ln>
        </p:spPr>
      </p:sp>
      <p:sp>
        <p:nvSpPr>
          <p:cNvPr id="12" name="o40"/>
          <p:cNvSpPr txBox="1"/>
          <p:nvPr/>
        </p:nvSpPr>
        <p:spPr>
          <a:xfrm>
            <a:off x="3746500" y="2159000"/>
            <a:ext cx="12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3F7518"/>
                </a:solidFill>
              </a:rPr>
              <a:t>D</a:t>
            </a:r>
            <a:endParaRPr lang="en-US" sz="6600" dirty="0"/>
          </a:p>
        </p:txBody>
      </p:sp>
      <p:sp>
        <p:nvSpPr>
          <p:cNvPr id="13" name="o41"/>
          <p:cNvSpPr txBox="1"/>
          <p:nvPr/>
        </p:nvSpPr>
        <p:spPr>
          <a:xfrm>
            <a:off x="3771900" y="3048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5650"/>
                </a:solidFill>
              </a:rPr>
              <a:t>Do</a:t>
            </a:r>
            <a:endParaRPr lang="en-US" sz="1600" dirty="0"/>
          </a:p>
        </p:txBody>
      </p:sp>
      <p:sp>
        <p:nvSpPr>
          <p:cNvPr id="14" name="o42"/>
          <p:cNvSpPr txBox="1"/>
          <p:nvPr/>
        </p:nvSpPr>
        <p:spPr>
          <a:xfrm>
            <a:off x="3771900" y="3479800"/>
            <a:ext cx="20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6대 모듈 구축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플랫폼 시연</a:t>
            </a:r>
            <a:endParaRPr lang="en-US" sz="1500" dirty="0"/>
          </a:p>
        </p:txBody>
      </p:sp>
      <p:sp>
        <p:nvSpPr>
          <p:cNvPr id="15" name="o43"/>
          <p:cNvSpPr txBox="1"/>
          <p:nvPr/>
        </p:nvSpPr>
        <p:spPr>
          <a:xfrm>
            <a:off x="3771900" y="55245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Slide 8</a:t>
            </a:r>
            <a:endParaRPr lang="en-US" sz="1100" dirty="0"/>
          </a:p>
        </p:txBody>
      </p:sp>
      <p:sp>
        <p:nvSpPr>
          <p:cNvPr id="16" name="o44"/>
          <p:cNvSpPr/>
          <p:nvPr/>
        </p:nvSpPr>
        <p:spPr>
          <a:xfrm>
            <a:off x="6223000" y="1905000"/>
            <a:ext cx="2476500" cy="4064000"/>
          </a:xfrm>
          <a:prstGeom prst="roundRect">
            <a:avLst>
              <a:gd name="adj" fmla="val 2051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7" name="o45"/>
          <p:cNvSpPr/>
          <p:nvPr/>
        </p:nvSpPr>
        <p:spPr>
          <a:xfrm>
            <a:off x="6223000" y="1905000"/>
            <a:ext cx="2476500" cy="50800"/>
          </a:xfrm>
          <a:prstGeom prst="rect">
            <a:avLst/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18" name="o46"/>
          <p:cNvSpPr txBox="1"/>
          <p:nvPr/>
        </p:nvSpPr>
        <p:spPr>
          <a:xfrm>
            <a:off x="6477000" y="2159000"/>
            <a:ext cx="12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3F7518"/>
                </a:solidFill>
              </a:rPr>
              <a:t>C</a:t>
            </a:r>
            <a:endParaRPr lang="en-US" sz="6600" dirty="0"/>
          </a:p>
        </p:txBody>
      </p:sp>
      <p:sp>
        <p:nvSpPr>
          <p:cNvPr id="19" name="o47"/>
          <p:cNvSpPr txBox="1"/>
          <p:nvPr/>
        </p:nvSpPr>
        <p:spPr>
          <a:xfrm>
            <a:off x="6502400" y="3048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5650"/>
                </a:solidFill>
              </a:rPr>
              <a:t>Check</a:t>
            </a:r>
            <a:endParaRPr lang="en-US" sz="1600" dirty="0"/>
          </a:p>
        </p:txBody>
      </p:sp>
      <p:sp>
        <p:nvSpPr>
          <p:cNvPr id="20" name="o48"/>
          <p:cNvSpPr txBox="1"/>
          <p:nvPr/>
        </p:nvSpPr>
        <p:spPr>
          <a:xfrm>
            <a:off x="6502400" y="3479800"/>
            <a:ext cx="20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법정교육 준수율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페이퍼리스 전환율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행정 소요시간</a:t>
            </a:r>
            <a:endParaRPr lang="en-US" sz="1500" dirty="0"/>
          </a:p>
        </p:txBody>
      </p:sp>
      <p:sp>
        <p:nvSpPr>
          <p:cNvPr id="21" name="o49"/>
          <p:cNvSpPr txBox="1"/>
          <p:nvPr/>
        </p:nvSpPr>
        <p:spPr>
          <a:xfrm>
            <a:off x="6502400" y="55245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Slide 9 – 10</a:t>
            </a:r>
            <a:endParaRPr lang="en-US" sz="1100" dirty="0"/>
          </a:p>
        </p:txBody>
      </p:sp>
      <p:sp>
        <p:nvSpPr>
          <p:cNvPr id="22" name="o50"/>
          <p:cNvSpPr/>
          <p:nvPr/>
        </p:nvSpPr>
        <p:spPr>
          <a:xfrm>
            <a:off x="8953500" y="1905000"/>
            <a:ext cx="2476500" cy="4064000"/>
          </a:xfrm>
          <a:prstGeom prst="roundRect">
            <a:avLst>
              <a:gd name="adj" fmla="val 2051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23" name="o51"/>
          <p:cNvSpPr/>
          <p:nvPr/>
        </p:nvSpPr>
        <p:spPr>
          <a:xfrm>
            <a:off x="8953500" y="1905000"/>
            <a:ext cx="2476500" cy="50800"/>
          </a:xfrm>
          <a:prstGeom prst="rect">
            <a:avLst/>
          </a:prstGeom>
          <a:solidFill>
            <a:srgbClr val="325F13"/>
          </a:solidFill>
          <a:ln w="12700">
            <a:solidFill>
              <a:srgbClr val="325F13"/>
            </a:solidFill>
            <a:prstDash val="solid"/>
          </a:ln>
        </p:spPr>
      </p:sp>
      <p:sp>
        <p:nvSpPr>
          <p:cNvPr id="24" name="o52"/>
          <p:cNvSpPr txBox="1"/>
          <p:nvPr/>
        </p:nvSpPr>
        <p:spPr>
          <a:xfrm>
            <a:off x="9207500" y="2159000"/>
            <a:ext cx="12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3F7518"/>
                </a:solidFill>
              </a:rPr>
              <a:t>A</a:t>
            </a:r>
            <a:endParaRPr lang="en-US" sz="6600" dirty="0"/>
          </a:p>
        </p:txBody>
      </p:sp>
      <p:sp>
        <p:nvSpPr>
          <p:cNvPr id="25" name="o53"/>
          <p:cNvSpPr txBox="1"/>
          <p:nvPr/>
        </p:nvSpPr>
        <p:spPr>
          <a:xfrm>
            <a:off x="9232900" y="3048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5650"/>
                </a:solidFill>
              </a:rPr>
              <a:t>Act</a:t>
            </a:r>
            <a:endParaRPr lang="en-US" sz="1600" dirty="0"/>
          </a:p>
        </p:txBody>
      </p:sp>
      <p:sp>
        <p:nvSpPr>
          <p:cNvPr id="26" name="o54"/>
          <p:cNvSpPr txBox="1"/>
          <p:nvPr/>
        </p:nvSpPr>
        <p:spPr>
          <a:xfrm>
            <a:off x="9232900" y="3479800"/>
            <a:ext cx="20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표준화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AI 통합 플랫폼 고도화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결론 및 제언</a:t>
            </a:r>
            <a:endParaRPr lang="en-US" sz="1500" dirty="0"/>
          </a:p>
        </p:txBody>
      </p:sp>
      <p:sp>
        <p:nvSpPr>
          <p:cNvPr id="27" name="o55"/>
          <p:cNvSpPr txBox="1"/>
          <p:nvPr/>
        </p:nvSpPr>
        <p:spPr>
          <a:xfrm>
            <a:off x="9232900" y="55245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Slide 11 – 12</a:t>
            </a:r>
            <a:endParaRPr lang="en-US" sz="1100" dirty="0"/>
          </a:p>
        </p:txBody>
      </p:sp>
      <p:sp>
        <p:nvSpPr>
          <p:cNvPr id="29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56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팀 구성 · 활동 일정</a:t>
            </a:r>
            <a:endParaRPr lang="en-US" sz="32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3명의 안전보건팀이 기획부터 개발 · 표준화까지 직접 수행했습니다</a:t>
            </a:r>
            <a:endParaRPr lang="en-US" sz="1800" dirty="0"/>
          </a:p>
        </p:txBody>
      </p:sp>
      <p:sp>
        <p:nvSpPr>
          <p:cNvPr id="5" name="o57"/>
          <p:cNvSpPr/>
          <p:nvPr/>
        </p:nvSpPr>
        <p:spPr>
          <a:xfrm>
            <a:off x="762000" y="20955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6" name="o58"/>
          <p:cNvSpPr/>
          <p:nvPr/>
        </p:nvSpPr>
        <p:spPr>
          <a:xfrm>
            <a:off x="939800" y="2298700"/>
            <a:ext cx="609600" cy="6096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59"/>
          <p:cNvSpPr txBox="1"/>
          <p:nvPr/>
        </p:nvSpPr>
        <p:spPr>
          <a:xfrm>
            <a:off x="939800" y="22987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김</a:t>
            </a:r>
            <a:endParaRPr lang="en-US" sz="2200" dirty="0"/>
          </a:p>
        </p:txBody>
      </p:sp>
      <p:sp>
        <p:nvSpPr>
          <p:cNvPr id="8" name="o60"/>
          <p:cNvSpPr txBox="1"/>
          <p:nvPr/>
        </p:nvSpPr>
        <p:spPr>
          <a:xfrm>
            <a:off x="1727200" y="2260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김광현</a:t>
            </a:r>
            <a:endParaRPr lang="en-US" sz="1800" dirty="0"/>
          </a:p>
        </p:txBody>
      </p:sp>
      <p:sp>
        <p:nvSpPr>
          <p:cNvPr id="9" name="o61"/>
          <p:cNvSpPr txBox="1"/>
          <p:nvPr/>
        </p:nvSpPr>
        <p:spPr>
          <a:xfrm>
            <a:off x="1727200" y="2540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팀장</a:t>
            </a:r>
            <a:endParaRPr lang="en-US" sz="1200" dirty="0"/>
          </a:p>
        </p:txBody>
      </p:sp>
      <p:sp>
        <p:nvSpPr>
          <p:cNvPr id="10" name="o62"/>
          <p:cNvSpPr txBox="1"/>
          <p:nvPr/>
        </p:nvSpPr>
        <p:spPr>
          <a:xfrm>
            <a:off x="1727200" y="2743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활동 총괄</a:t>
            </a:r>
            <a:endParaRPr lang="en-US" sz="1200" dirty="0"/>
          </a:p>
        </p:txBody>
      </p:sp>
      <p:sp>
        <p:nvSpPr>
          <p:cNvPr id="11" name="o63"/>
          <p:cNvSpPr/>
          <p:nvPr/>
        </p:nvSpPr>
        <p:spPr>
          <a:xfrm>
            <a:off x="4381500" y="20955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2" name="o64"/>
          <p:cNvSpPr/>
          <p:nvPr/>
        </p:nvSpPr>
        <p:spPr>
          <a:xfrm>
            <a:off x="4559300" y="2298700"/>
            <a:ext cx="609600" cy="6096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3" name="o65"/>
          <p:cNvSpPr txBox="1"/>
          <p:nvPr/>
        </p:nvSpPr>
        <p:spPr>
          <a:xfrm>
            <a:off x="4559300" y="22987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장</a:t>
            </a:r>
            <a:endParaRPr lang="en-US" sz="2200" dirty="0"/>
          </a:p>
        </p:txBody>
      </p:sp>
      <p:sp>
        <p:nvSpPr>
          <p:cNvPr id="14" name="o66"/>
          <p:cNvSpPr txBox="1"/>
          <p:nvPr/>
        </p:nvSpPr>
        <p:spPr>
          <a:xfrm>
            <a:off x="5346700" y="2260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장은선</a:t>
            </a:r>
            <a:endParaRPr lang="en-US" sz="1800" dirty="0"/>
          </a:p>
        </p:txBody>
      </p:sp>
      <p:sp>
        <p:nvSpPr>
          <p:cNvPr id="15" name="o67"/>
          <p:cNvSpPr txBox="1"/>
          <p:nvPr/>
        </p:nvSpPr>
        <p:spPr>
          <a:xfrm>
            <a:off x="5346700" y="2540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팀원 · 보건관리자</a:t>
            </a:r>
            <a:endParaRPr lang="en-US" sz="1200" dirty="0"/>
          </a:p>
        </p:txBody>
      </p:sp>
      <p:sp>
        <p:nvSpPr>
          <p:cNvPr id="16" name="o68"/>
          <p:cNvSpPr txBox="1"/>
          <p:nvPr/>
        </p:nvSpPr>
        <p:spPr>
          <a:xfrm>
            <a:off x="5346700" y="2743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플랫폼 기획 · 개발</a:t>
            </a:r>
            <a:endParaRPr lang="en-US" sz="1200" dirty="0"/>
          </a:p>
        </p:txBody>
      </p:sp>
      <p:sp>
        <p:nvSpPr>
          <p:cNvPr id="17" name="o69"/>
          <p:cNvSpPr/>
          <p:nvPr/>
        </p:nvSpPr>
        <p:spPr>
          <a:xfrm>
            <a:off x="8001000" y="20955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8" name="o70"/>
          <p:cNvSpPr/>
          <p:nvPr/>
        </p:nvSpPr>
        <p:spPr>
          <a:xfrm>
            <a:off x="8178800" y="2298700"/>
            <a:ext cx="609600" cy="6096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9" name="o71"/>
          <p:cNvSpPr txBox="1"/>
          <p:nvPr/>
        </p:nvSpPr>
        <p:spPr>
          <a:xfrm>
            <a:off x="8178800" y="22987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장</a:t>
            </a:r>
            <a:endParaRPr lang="en-US" sz="2200" dirty="0"/>
          </a:p>
        </p:txBody>
      </p:sp>
      <p:sp>
        <p:nvSpPr>
          <p:cNvPr id="20" name="o72"/>
          <p:cNvSpPr txBox="1"/>
          <p:nvPr/>
        </p:nvSpPr>
        <p:spPr>
          <a:xfrm>
            <a:off x="8966200" y="2260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장종문</a:t>
            </a:r>
            <a:endParaRPr lang="en-US" sz="1800" dirty="0"/>
          </a:p>
        </p:txBody>
      </p:sp>
      <p:sp>
        <p:nvSpPr>
          <p:cNvPr id="21" name="o73"/>
          <p:cNvSpPr txBox="1"/>
          <p:nvPr/>
        </p:nvSpPr>
        <p:spPr>
          <a:xfrm>
            <a:off x="8966200" y="2540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팀원 · 안전관리자</a:t>
            </a:r>
            <a:endParaRPr lang="en-US" sz="1200" dirty="0"/>
          </a:p>
        </p:txBody>
      </p:sp>
      <p:sp>
        <p:nvSpPr>
          <p:cNvPr id="22" name="o74"/>
          <p:cNvSpPr txBox="1"/>
          <p:nvPr/>
        </p:nvSpPr>
        <p:spPr>
          <a:xfrm>
            <a:off x="8966200" y="2743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MSDS · AI 위험성평가</a:t>
            </a:r>
            <a:endParaRPr lang="en-US" sz="1200" dirty="0"/>
          </a:p>
        </p:txBody>
      </p:sp>
      <p:sp>
        <p:nvSpPr>
          <p:cNvPr id="23" name="o75"/>
          <p:cNvSpPr txBox="1"/>
          <p:nvPr/>
        </p:nvSpPr>
        <p:spPr>
          <a:xfrm>
            <a:off x="30480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1월</a:t>
            </a:r>
            <a:endParaRPr lang="en-US" sz="1100" dirty="0"/>
          </a:p>
        </p:txBody>
      </p:sp>
      <p:sp>
        <p:nvSpPr>
          <p:cNvPr id="24" name="o76"/>
          <p:cNvSpPr/>
          <p:nvPr/>
        </p:nvSpPr>
        <p:spPr>
          <a:xfrm>
            <a:off x="30480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25" name="o77"/>
          <p:cNvSpPr txBox="1"/>
          <p:nvPr/>
        </p:nvSpPr>
        <p:spPr>
          <a:xfrm>
            <a:off x="38862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2월</a:t>
            </a:r>
            <a:endParaRPr lang="en-US" sz="1100" dirty="0"/>
          </a:p>
        </p:txBody>
      </p:sp>
      <p:sp>
        <p:nvSpPr>
          <p:cNvPr id="26" name="o78"/>
          <p:cNvSpPr/>
          <p:nvPr/>
        </p:nvSpPr>
        <p:spPr>
          <a:xfrm>
            <a:off x="38862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27" name="o79"/>
          <p:cNvSpPr txBox="1"/>
          <p:nvPr/>
        </p:nvSpPr>
        <p:spPr>
          <a:xfrm>
            <a:off x="47244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3월</a:t>
            </a:r>
            <a:endParaRPr lang="en-US" sz="1100" dirty="0"/>
          </a:p>
        </p:txBody>
      </p:sp>
      <p:sp>
        <p:nvSpPr>
          <p:cNvPr id="28" name="o80"/>
          <p:cNvSpPr/>
          <p:nvPr/>
        </p:nvSpPr>
        <p:spPr>
          <a:xfrm>
            <a:off x="47244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29" name="o81"/>
          <p:cNvSpPr txBox="1"/>
          <p:nvPr/>
        </p:nvSpPr>
        <p:spPr>
          <a:xfrm>
            <a:off x="55626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4월</a:t>
            </a:r>
            <a:endParaRPr lang="en-US" sz="1100" dirty="0"/>
          </a:p>
        </p:txBody>
      </p:sp>
      <p:sp>
        <p:nvSpPr>
          <p:cNvPr id="30" name="o82"/>
          <p:cNvSpPr/>
          <p:nvPr/>
        </p:nvSpPr>
        <p:spPr>
          <a:xfrm>
            <a:off x="55626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31" name="o83"/>
          <p:cNvSpPr txBox="1"/>
          <p:nvPr/>
        </p:nvSpPr>
        <p:spPr>
          <a:xfrm>
            <a:off x="64008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5월</a:t>
            </a:r>
            <a:endParaRPr lang="en-US" sz="1100" dirty="0"/>
          </a:p>
        </p:txBody>
      </p:sp>
      <p:sp>
        <p:nvSpPr>
          <p:cNvPr id="32" name="o84"/>
          <p:cNvSpPr/>
          <p:nvPr/>
        </p:nvSpPr>
        <p:spPr>
          <a:xfrm>
            <a:off x="64008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33" name="o85"/>
          <p:cNvSpPr txBox="1"/>
          <p:nvPr/>
        </p:nvSpPr>
        <p:spPr>
          <a:xfrm>
            <a:off x="72390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6월</a:t>
            </a:r>
            <a:endParaRPr lang="en-US" sz="1100" dirty="0"/>
          </a:p>
        </p:txBody>
      </p:sp>
      <p:sp>
        <p:nvSpPr>
          <p:cNvPr id="34" name="o86"/>
          <p:cNvSpPr/>
          <p:nvPr/>
        </p:nvSpPr>
        <p:spPr>
          <a:xfrm>
            <a:off x="72390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35" name="o87"/>
          <p:cNvSpPr txBox="1"/>
          <p:nvPr/>
        </p:nvSpPr>
        <p:spPr>
          <a:xfrm>
            <a:off x="80772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7월</a:t>
            </a:r>
            <a:endParaRPr lang="en-US" sz="1100" dirty="0"/>
          </a:p>
        </p:txBody>
      </p:sp>
      <p:sp>
        <p:nvSpPr>
          <p:cNvPr id="36" name="o88"/>
          <p:cNvSpPr/>
          <p:nvPr/>
        </p:nvSpPr>
        <p:spPr>
          <a:xfrm>
            <a:off x="80772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37" name="o89"/>
          <p:cNvSpPr txBox="1"/>
          <p:nvPr/>
        </p:nvSpPr>
        <p:spPr>
          <a:xfrm>
            <a:off x="89154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8월</a:t>
            </a:r>
            <a:endParaRPr lang="en-US" sz="1100" dirty="0"/>
          </a:p>
        </p:txBody>
      </p:sp>
      <p:sp>
        <p:nvSpPr>
          <p:cNvPr id="38" name="o90"/>
          <p:cNvSpPr/>
          <p:nvPr/>
        </p:nvSpPr>
        <p:spPr>
          <a:xfrm>
            <a:off x="89154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39" name="o91"/>
          <p:cNvSpPr txBox="1"/>
          <p:nvPr/>
        </p:nvSpPr>
        <p:spPr>
          <a:xfrm>
            <a:off x="97536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9월</a:t>
            </a:r>
            <a:endParaRPr lang="en-US" sz="1100" dirty="0"/>
          </a:p>
        </p:txBody>
      </p:sp>
      <p:sp>
        <p:nvSpPr>
          <p:cNvPr id="40" name="o92"/>
          <p:cNvSpPr/>
          <p:nvPr/>
        </p:nvSpPr>
        <p:spPr>
          <a:xfrm>
            <a:off x="97536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41" name="o93"/>
          <p:cNvSpPr txBox="1"/>
          <p:nvPr/>
        </p:nvSpPr>
        <p:spPr>
          <a:xfrm>
            <a:off x="10591800" y="3429000"/>
            <a:ext cx="838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650"/>
                </a:solidFill>
              </a:rPr>
              <a:t>10월</a:t>
            </a:r>
            <a:endParaRPr lang="en-US" sz="1100" dirty="0"/>
          </a:p>
        </p:txBody>
      </p:sp>
      <p:sp>
        <p:nvSpPr>
          <p:cNvPr id="42" name="o94"/>
          <p:cNvSpPr/>
          <p:nvPr/>
        </p:nvSpPr>
        <p:spPr>
          <a:xfrm>
            <a:off x="105918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43" name="o95"/>
          <p:cNvSpPr/>
          <p:nvPr/>
        </p:nvSpPr>
        <p:spPr>
          <a:xfrm>
            <a:off x="11430000" y="3657600"/>
            <a:ext cx="6350" cy="25400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44" name="o96"/>
          <p:cNvSpPr txBox="1"/>
          <p:nvPr/>
        </p:nvSpPr>
        <p:spPr>
          <a:xfrm>
            <a:off x="762000" y="38227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Plan</a:t>
            </a:r>
            <a:endParaRPr lang="en-US" sz="1200" dirty="0"/>
          </a:p>
        </p:txBody>
      </p:sp>
      <p:sp>
        <p:nvSpPr>
          <p:cNvPr id="45" name="o97"/>
          <p:cNvSpPr txBox="1"/>
          <p:nvPr/>
        </p:nvSpPr>
        <p:spPr>
          <a:xfrm>
            <a:off x="1270000" y="38227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23D"/>
                </a:solidFill>
              </a:rPr>
              <a:t>현황 · 목표 · 원인 분석</a:t>
            </a:r>
            <a:endParaRPr lang="en-US" sz="1100" dirty="0"/>
          </a:p>
        </p:txBody>
      </p:sp>
      <p:sp>
        <p:nvSpPr>
          <p:cNvPr id="46" name="o98"/>
          <p:cNvSpPr/>
          <p:nvPr/>
        </p:nvSpPr>
        <p:spPr>
          <a:xfrm>
            <a:off x="3086100" y="3784600"/>
            <a:ext cx="2438400" cy="254000"/>
          </a:xfrm>
          <a:prstGeom prst="roundRect">
            <a:avLst>
              <a:gd name="adj" fmla="val 15000"/>
            </a:avLst>
          </a:prstGeom>
          <a:solidFill>
            <a:srgbClr val="5A9E22"/>
          </a:solidFill>
          <a:ln w="12700">
            <a:solidFill>
              <a:srgbClr val="5A9E22"/>
            </a:solidFill>
            <a:prstDash val="solid"/>
          </a:ln>
        </p:spPr>
      </p:sp>
      <p:sp>
        <p:nvSpPr>
          <p:cNvPr id="47" name="o99"/>
          <p:cNvSpPr txBox="1"/>
          <p:nvPr/>
        </p:nvSpPr>
        <p:spPr>
          <a:xfrm>
            <a:off x="762000" y="42164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Do</a:t>
            </a:r>
            <a:endParaRPr lang="en-US" sz="1200" dirty="0"/>
          </a:p>
        </p:txBody>
      </p:sp>
      <p:sp>
        <p:nvSpPr>
          <p:cNvPr id="48" name="o100"/>
          <p:cNvSpPr txBox="1"/>
          <p:nvPr/>
        </p:nvSpPr>
        <p:spPr>
          <a:xfrm>
            <a:off x="1270000" y="42164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23D"/>
                </a:solidFill>
              </a:rPr>
              <a:t>플랫폼 개발</a:t>
            </a:r>
            <a:endParaRPr lang="en-US" sz="1100" dirty="0"/>
          </a:p>
        </p:txBody>
      </p:sp>
      <p:sp>
        <p:nvSpPr>
          <p:cNvPr id="49" name="o101"/>
          <p:cNvSpPr/>
          <p:nvPr/>
        </p:nvSpPr>
        <p:spPr>
          <a:xfrm>
            <a:off x="4762500" y="4178300"/>
            <a:ext cx="1600200" cy="254000"/>
          </a:xfrm>
          <a:prstGeom prst="roundRect">
            <a:avLst>
              <a:gd name="adj" fmla="val 15000"/>
            </a:avLst>
          </a:prstGeom>
          <a:solidFill>
            <a:srgbClr val="4C8A1D"/>
          </a:solidFill>
          <a:ln w="12700">
            <a:solidFill>
              <a:srgbClr val="4C8A1D"/>
            </a:solidFill>
            <a:prstDash val="solid"/>
          </a:ln>
        </p:spPr>
      </p:sp>
      <p:sp>
        <p:nvSpPr>
          <p:cNvPr id="50" name="o102"/>
          <p:cNvSpPr txBox="1"/>
          <p:nvPr/>
        </p:nvSpPr>
        <p:spPr>
          <a:xfrm>
            <a:off x="762000" y="46101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Do</a:t>
            </a:r>
            <a:endParaRPr lang="en-US" sz="1200" dirty="0"/>
          </a:p>
        </p:txBody>
      </p:sp>
      <p:sp>
        <p:nvSpPr>
          <p:cNvPr id="51" name="o103"/>
          <p:cNvSpPr txBox="1"/>
          <p:nvPr/>
        </p:nvSpPr>
        <p:spPr>
          <a:xfrm>
            <a:off x="1270000" y="46101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23D"/>
                </a:solidFill>
              </a:rPr>
              <a:t>현장 시범 적용 (전 부서)</a:t>
            </a:r>
            <a:endParaRPr lang="en-US" sz="1100" dirty="0"/>
          </a:p>
        </p:txBody>
      </p:sp>
      <p:sp>
        <p:nvSpPr>
          <p:cNvPr id="52" name="o104"/>
          <p:cNvSpPr/>
          <p:nvPr/>
        </p:nvSpPr>
        <p:spPr>
          <a:xfrm>
            <a:off x="6438900" y="4572000"/>
            <a:ext cx="2438400" cy="254000"/>
          </a:xfrm>
          <a:prstGeom prst="roundRect">
            <a:avLst>
              <a:gd name="adj" fmla="val 15000"/>
            </a:avLst>
          </a:prstGeom>
          <a:solidFill>
            <a:srgbClr val="4C8A1D"/>
          </a:solidFill>
          <a:ln w="12700">
            <a:solidFill>
              <a:srgbClr val="4C8A1D"/>
            </a:solidFill>
            <a:prstDash val="solid"/>
          </a:ln>
        </p:spPr>
      </p:sp>
      <p:sp>
        <p:nvSpPr>
          <p:cNvPr id="53" name="o105"/>
          <p:cNvSpPr txBox="1"/>
          <p:nvPr/>
        </p:nvSpPr>
        <p:spPr>
          <a:xfrm>
            <a:off x="762000" y="50038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Check</a:t>
            </a:r>
            <a:endParaRPr lang="en-US" sz="1200" dirty="0"/>
          </a:p>
        </p:txBody>
      </p:sp>
      <p:sp>
        <p:nvSpPr>
          <p:cNvPr id="54" name="o106"/>
          <p:cNvSpPr txBox="1"/>
          <p:nvPr/>
        </p:nvSpPr>
        <p:spPr>
          <a:xfrm>
            <a:off x="1270000" y="50038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23D"/>
                </a:solidFill>
              </a:rPr>
              <a:t>결과 확인</a:t>
            </a:r>
            <a:endParaRPr lang="en-US" sz="1100" dirty="0"/>
          </a:p>
        </p:txBody>
      </p:sp>
      <p:sp>
        <p:nvSpPr>
          <p:cNvPr id="55" name="o107"/>
          <p:cNvSpPr/>
          <p:nvPr/>
        </p:nvSpPr>
        <p:spPr>
          <a:xfrm>
            <a:off x="8115300" y="4965700"/>
            <a:ext cx="762000" cy="254000"/>
          </a:xfrm>
          <a:prstGeom prst="roundRect">
            <a:avLst>
              <a:gd name="adj" fmla="val 15000"/>
            </a:avLst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56" name="o108"/>
          <p:cNvSpPr txBox="1"/>
          <p:nvPr/>
        </p:nvSpPr>
        <p:spPr>
          <a:xfrm>
            <a:off x="762000" y="53975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Act</a:t>
            </a:r>
            <a:endParaRPr lang="en-US" sz="1200" dirty="0"/>
          </a:p>
        </p:txBody>
      </p:sp>
      <p:sp>
        <p:nvSpPr>
          <p:cNvPr id="57" name="o109"/>
          <p:cNvSpPr txBox="1"/>
          <p:nvPr/>
        </p:nvSpPr>
        <p:spPr>
          <a:xfrm>
            <a:off x="1270000" y="53975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23D"/>
                </a:solidFill>
              </a:rPr>
              <a:t>표준화 · AI 고도화</a:t>
            </a:r>
            <a:endParaRPr lang="en-US" sz="1100" dirty="0"/>
          </a:p>
        </p:txBody>
      </p:sp>
      <p:sp>
        <p:nvSpPr>
          <p:cNvPr id="58" name="o110"/>
          <p:cNvSpPr/>
          <p:nvPr/>
        </p:nvSpPr>
        <p:spPr>
          <a:xfrm>
            <a:off x="8953500" y="5359400"/>
            <a:ext cx="2438400" cy="254000"/>
          </a:xfrm>
          <a:prstGeom prst="roundRect">
            <a:avLst>
              <a:gd name="adj" fmla="val 15000"/>
            </a:avLst>
          </a:prstGeom>
          <a:solidFill>
            <a:srgbClr val="325F13"/>
          </a:solidFill>
          <a:ln w="12700">
            <a:solidFill>
              <a:srgbClr val="325F13"/>
            </a:solidFill>
            <a:prstDash val="solid"/>
          </a:ln>
        </p:spPr>
      </p:sp>
      <p:sp>
        <p:nvSpPr>
          <p:cNvPr id="59" name="o111"/>
          <p:cNvSpPr txBox="1"/>
          <p:nvPr/>
        </p:nvSpPr>
        <p:spPr>
          <a:xfrm>
            <a:off x="762000" y="57912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0" name="o112"/>
          <p:cNvSpPr txBox="1"/>
          <p:nvPr/>
        </p:nvSpPr>
        <p:spPr>
          <a:xfrm>
            <a:off x="1270000" y="57912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23D"/>
                </a:solidFill>
              </a:rPr>
              <a:t>QI 경진대회</a:t>
            </a:r>
            <a:endParaRPr lang="en-US" sz="1100" dirty="0"/>
          </a:p>
        </p:txBody>
      </p:sp>
      <p:sp>
        <p:nvSpPr>
          <p:cNvPr id="61" name="o113"/>
          <p:cNvSpPr/>
          <p:nvPr/>
        </p:nvSpPr>
        <p:spPr>
          <a:xfrm>
            <a:off x="9791700" y="5753100"/>
            <a:ext cx="762000" cy="254000"/>
          </a:xfrm>
          <a:prstGeom prst="roundRect">
            <a:avLst>
              <a:gd name="adj" fmla="val 15000"/>
            </a:avLst>
          </a:prstGeom>
          <a:solidFill>
            <a:srgbClr val="345C12"/>
          </a:solidFill>
          <a:ln w="12700">
            <a:solidFill>
              <a:srgbClr val="345C1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14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115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116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" name="o117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118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7" name="o119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120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121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122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PLAN  ·  주제 선정 배경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주제 선정 배경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법은 '실시간 증빙'을 요구하는데, 우리 체계는 '종이'였습니다</a:t>
            </a:r>
            <a:endParaRPr lang="en-US" sz="1800" dirty="0"/>
          </a:p>
        </p:txBody>
      </p:sp>
      <p:sp>
        <p:nvSpPr>
          <p:cNvPr id="13" name="o123"/>
          <p:cNvSpPr/>
          <p:nvPr/>
        </p:nvSpPr>
        <p:spPr>
          <a:xfrm>
            <a:off x="762000" y="2159000"/>
            <a:ext cx="338455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14" name="o124"/>
          <p:cNvSpPr/>
          <p:nvPr/>
        </p:nvSpPr>
        <p:spPr>
          <a:xfrm>
            <a:off x="1016000" y="2413000"/>
            <a:ext cx="406400" cy="406400"/>
          </a:xfrm>
          <a:prstGeom prst="ellipse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15" name="o125"/>
          <p:cNvSpPr txBox="1"/>
          <p:nvPr/>
        </p:nvSpPr>
        <p:spPr>
          <a:xfrm>
            <a:off x="1016000" y="24130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o126"/>
          <p:cNvSpPr txBox="1"/>
          <p:nvPr/>
        </p:nvSpPr>
        <p:spPr>
          <a:xfrm>
            <a:off x="1016000" y="29845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E1C"/>
                </a:solidFill>
              </a:rPr>
              <a:t>법 · 인증</a:t>
            </a:r>
            <a:endParaRPr lang="en-US" sz="2000" dirty="0"/>
          </a:p>
        </p:txBody>
      </p:sp>
      <p:sp>
        <p:nvSpPr>
          <p:cNvPr id="17" name="o127"/>
          <p:cNvSpPr txBox="1"/>
          <p:nvPr/>
        </p:nvSpPr>
        <p:spPr>
          <a:xfrm>
            <a:off x="1016000" y="3429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산업안전보건법 제29조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중대재해처벌법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의료기관 인증기준 10.7 · 11.3</a:t>
            </a:r>
            <a:endParaRPr lang="en-US" sz="1500" dirty="0"/>
          </a:p>
        </p:txBody>
      </p:sp>
      <p:sp>
        <p:nvSpPr>
          <p:cNvPr id="18" name="o128"/>
          <p:cNvSpPr/>
          <p:nvPr/>
        </p:nvSpPr>
        <p:spPr>
          <a:xfrm>
            <a:off x="2444750" y="4699000"/>
            <a:ext cx="25400" cy="3810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9" name="o129"/>
          <p:cNvSpPr/>
          <p:nvPr/>
        </p:nvSpPr>
        <p:spPr>
          <a:xfrm>
            <a:off x="4400550" y="2159000"/>
            <a:ext cx="338455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20" name="o130"/>
          <p:cNvSpPr/>
          <p:nvPr/>
        </p:nvSpPr>
        <p:spPr>
          <a:xfrm>
            <a:off x="4654550" y="2413000"/>
            <a:ext cx="406400" cy="406400"/>
          </a:xfrm>
          <a:prstGeom prst="ellipse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21" name="o131"/>
          <p:cNvSpPr txBox="1"/>
          <p:nvPr/>
        </p:nvSpPr>
        <p:spPr>
          <a:xfrm>
            <a:off x="4654550" y="24130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o132"/>
          <p:cNvSpPr txBox="1"/>
          <p:nvPr/>
        </p:nvSpPr>
        <p:spPr>
          <a:xfrm>
            <a:off x="4654550" y="29845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E1C"/>
                </a:solidFill>
              </a:rPr>
              <a:t>현장</a:t>
            </a:r>
            <a:endParaRPr lang="en-US" sz="2000" dirty="0"/>
          </a:p>
        </p:txBody>
      </p:sp>
      <p:sp>
        <p:nvSpPr>
          <p:cNvPr id="23" name="o133"/>
          <p:cNvSpPr txBox="1"/>
          <p:nvPr/>
        </p:nvSpPr>
        <p:spPr>
          <a:xfrm>
            <a:off x="4654550" y="3429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교육일지 100% 수기 작성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대면 서명 · 오프라인 결재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바인더 편철 보관</a:t>
            </a:r>
            <a:endParaRPr lang="en-US" sz="1500" dirty="0"/>
          </a:p>
        </p:txBody>
      </p:sp>
      <p:sp>
        <p:nvSpPr>
          <p:cNvPr id="24" name="o134"/>
          <p:cNvSpPr/>
          <p:nvPr/>
        </p:nvSpPr>
        <p:spPr>
          <a:xfrm>
            <a:off x="6083300" y="4699000"/>
            <a:ext cx="25400" cy="3810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25" name="o135"/>
          <p:cNvSpPr/>
          <p:nvPr/>
        </p:nvSpPr>
        <p:spPr>
          <a:xfrm>
            <a:off x="8039100" y="2159000"/>
            <a:ext cx="338455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26" name="o136"/>
          <p:cNvSpPr/>
          <p:nvPr/>
        </p:nvSpPr>
        <p:spPr>
          <a:xfrm>
            <a:off x="8293100" y="2413000"/>
            <a:ext cx="406400" cy="406400"/>
          </a:xfrm>
          <a:prstGeom prst="ellipse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27" name="o137"/>
          <p:cNvSpPr txBox="1"/>
          <p:nvPr/>
        </p:nvSpPr>
        <p:spPr>
          <a:xfrm>
            <a:off x="8293100" y="24130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o138"/>
          <p:cNvSpPr txBox="1"/>
          <p:nvPr/>
        </p:nvSpPr>
        <p:spPr>
          <a:xfrm>
            <a:off x="8293100" y="29845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E1C"/>
                </a:solidFill>
              </a:rPr>
              <a:t>경영 (ESG)</a:t>
            </a:r>
            <a:endParaRPr lang="en-US" sz="2000" dirty="0"/>
          </a:p>
        </p:txBody>
      </p:sp>
      <p:sp>
        <p:nvSpPr>
          <p:cNvPr id="29" name="o139"/>
          <p:cNvSpPr txBox="1"/>
          <p:nvPr/>
        </p:nvSpPr>
        <p:spPr>
          <a:xfrm>
            <a:off x="8293100" y="3429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연 94건 종이 출력 · 보관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5423D"/>
                </a:solidFill>
              </a:rPr>
              <a:t>친환경 경영 방향과 불일치</a:t>
            </a:r>
            <a:endParaRPr lang="en-US" sz="1500" dirty="0"/>
          </a:p>
        </p:txBody>
      </p:sp>
      <p:sp>
        <p:nvSpPr>
          <p:cNvPr id="30" name="o140"/>
          <p:cNvSpPr/>
          <p:nvPr/>
        </p:nvSpPr>
        <p:spPr>
          <a:xfrm>
            <a:off x="9721850" y="4699000"/>
            <a:ext cx="25400" cy="3810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1" name="o141"/>
          <p:cNvSpPr/>
          <p:nvPr/>
        </p:nvSpPr>
        <p:spPr>
          <a:xfrm>
            <a:off x="762000" y="5080000"/>
            <a:ext cx="10668000" cy="825500"/>
          </a:xfrm>
          <a:prstGeom prst="roundRect">
            <a:avLst>
              <a:gd name="adj" fmla="val 6154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32" name="o142"/>
          <p:cNvSpPr txBox="1"/>
          <p:nvPr/>
        </p:nvSpPr>
        <p:spPr>
          <a:xfrm>
            <a:off x="1079500" y="5080000"/>
            <a:ext cx="1003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518"/>
                </a:solidFill>
              </a:rPr>
              <a:t>모바일 기반 통합 디지털 안전보건 체계가 필요했습니다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43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144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145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" name="o146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147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7" name="o148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149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150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151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PLAN  ·  현황 분석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현황 분석 — 누락과 시간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6건 중 1건이 누락됐고, 33분 중 26분은 이동과 대기였습니다</a:t>
            </a:r>
            <a:endParaRPr lang="en-US" sz="1800" dirty="0"/>
          </a:p>
        </p:txBody>
      </p:sp>
      <p:sp>
        <p:nvSpPr>
          <p:cNvPr id="13" name="o152"/>
          <p:cNvSpPr txBox="1"/>
          <p:nvPr/>
        </p:nvSpPr>
        <p:spPr>
          <a:xfrm>
            <a:off x="762000" y="20320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1E1C"/>
                </a:solidFill>
              </a:rPr>
              <a:t>17%</a:t>
            </a:r>
            <a:endParaRPr lang="en-US" sz="5400" dirty="0"/>
          </a:p>
        </p:txBody>
      </p:sp>
      <p:sp>
        <p:nvSpPr>
          <p:cNvPr id="14" name="o153"/>
          <p:cNvSpPr txBox="1"/>
          <p:nvPr/>
        </p:nvSpPr>
        <p:spPr>
          <a:xfrm>
            <a:off x="2476500" y="21590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2025년 신규 입사자 법정교육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106건 중 18건 누락 (이행률 83%)</a:t>
            </a:r>
            <a:endParaRPr lang="en-US" sz="1400" dirty="0"/>
          </a:p>
        </p:txBody>
      </p:sp>
      <p:graphicFrame>
        <p:nvGraphicFramePr>
          <p:cNvPr id="15" name="o154" descr=""/>
          <p:cNvGraphicFramePr/>
          <p:nvPr/>
        </p:nvGraphicFramePr>
        <p:xfrm>
          <a:off x="698500" y="2857500"/>
          <a:ext cx="5270500" cy="2984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o155"/>
          <p:cNvSpPr txBox="1"/>
          <p:nvPr/>
        </p:nvSpPr>
        <p:spPr>
          <a:xfrm>
            <a:off x="4064000" y="298450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302A"/>
                </a:solidFill>
              </a:rPr>
              <a:t>11월: 17건 중 7건 누락</a:t>
            </a:r>
            <a:endParaRPr lang="en-US" sz="1200" dirty="0"/>
          </a:p>
        </p:txBody>
      </p:sp>
      <p:sp>
        <p:nvSpPr>
          <p:cNvPr id="17" name="o156"/>
          <p:cNvSpPr txBox="1"/>
          <p:nvPr/>
        </p:nvSpPr>
        <p:spPr>
          <a:xfrm>
            <a:off x="762000" y="5969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자료: 2025.01–12 입사자 명단 ↔ 교육일지 대조 전수조사</a:t>
            </a:r>
            <a:endParaRPr lang="en-US" sz="1000" dirty="0"/>
          </a:p>
        </p:txBody>
      </p:sp>
      <p:sp>
        <p:nvSpPr>
          <p:cNvPr id="18" name="o157"/>
          <p:cNvSpPr txBox="1"/>
          <p:nvPr/>
        </p:nvSpPr>
        <p:spPr>
          <a:xfrm>
            <a:off x="6350000" y="20320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1E1C"/>
                </a:solidFill>
              </a:rPr>
              <a:t>78%</a:t>
            </a:r>
            <a:endParaRPr lang="en-US" sz="5400" dirty="0"/>
          </a:p>
        </p:txBody>
      </p:sp>
      <p:sp>
        <p:nvSpPr>
          <p:cNvPr id="19" name="o158"/>
          <p:cNvSpPr txBox="1"/>
          <p:nvPr/>
        </p:nvSpPr>
        <p:spPr>
          <a:xfrm>
            <a:off x="8001000" y="21590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특별안전보건교육 1건 33분 48초 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이동 + 결재 대기 26분 24초</a:t>
            </a:r>
            <a:endParaRPr lang="en-US" sz="1400" dirty="0"/>
          </a:p>
        </p:txBody>
      </p:sp>
      <p:sp>
        <p:nvSpPr>
          <p:cNvPr id="20" name="o159"/>
          <p:cNvSpPr txBox="1"/>
          <p:nvPr/>
        </p:nvSpPr>
        <p:spPr>
          <a:xfrm>
            <a:off x="6350000" y="29845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① 초안 작성</a:t>
            </a:r>
            <a:endParaRPr lang="en-US" sz="1200" dirty="0"/>
          </a:p>
        </p:txBody>
      </p:sp>
      <p:sp>
        <p:nvSpPr>
          <p:cNvPr id="21" name="o160"/>
          <p:cNvSpPr/>
          <p:nvPr/>
        </p:nvSpPr>
        <p:spPr>
          <a:xfrm>
            <a:off x="7874000" y="2997200"/>
            <a:ext cx="331247" cy="228600"/>
          </a:xfrm>
          <a:prstGeom prst="roundRect">
            <a:avLst>
              <a:gd name="adj" fmla="val 11111"/>
            </a:avLst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22" name="o161"/>
          <p:cNvSpPr txBox="1"/>
          <p:nvPr/>
        </p:nvSpPr>
        <p:spPr>
          <a:xfrm>
            <a:off x="8281447" y="29845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650"/>
                </a:solidFill>
              </a:rPr>
              <a:t>2:18</a:t>
            </a:r>
            <a:endParaRPr lang="en-US" sz="1300" dirty="0"/>
          </a:p>
        </p:txBody>
      </p:sp>
      <p:sp>
        <p:nvSpPr>
          <p:cNvPr id="23" name="o162"/>
          <p:cNvSpPr txBox="1"/>
          <p:nvPr/>
        </p:nvSpPr>
        <p:spPr>
          <a:xfrm>
            <a:off x="6350000" y="33782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② 부서장 전송</a:t>
            </a:r>
            <a:endParaRPr lang="en-US" sz="1200" dirty="0"/>
          </a:p>
        </p:txBody>
      </p:sp>
      <p:sp>
        <p:nvSpPr>
          <p:cNvPr id="24" name="o163"/>
          <p:cNvSpPr/>
          <p:nvPr/>
        </p:nvSpPr>
        <p:spPr>
          <a:xfrm>
            <a:off x="7874000" y="3390900"/>
            <a:ext cx="144021" cy="228600"/>
          </a:xfrm>
          <a:prstGeom prst="roundRect">
            <a:avLst>
              <a:gd name="adj" fmla="val 17636"/>
            </a:avLst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25" name="o164"/>
          <p:cNvSpPr txBox="1"/>
          <p:nvPr/>
        </p:nvSpPr>
        <p:spPr>
          <a:xfrm>
            <a:off x="8094221" y="33782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650"/>
                </a:solidFill>
              </a:rPr>
              <a:t>1:00</a:t>
            </a:r>
            <a:endParaRPr lang="en-US" sz="1300" dirty="0"/>
          </a:p>
        </p:txBody>
      </p:sp>
      <p:sp>
        <p:nvSpPr>
          <p:cNvPr id="26" name="o165"/>
          <p:cNvSpPr txBox="1"/>
          <p:nvPr/>
        </p:nvSpPr>
        <p:spPr>
          <a:xfrm>
            <a:off x="6350000" y="37719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③ 출력 · 서명</a:t>
            </a:r>
            <a:endParaRPr lang="en-US" sz="1200" dirty="0"/>
          </a:p>
        </p:txBody>
      </p:sp>
      <p:sp>
        <p:nvSpPr>
          <p:cNvPr id="27" name="o166"/>
          <p:cNvSpPr/>
          <p:nvPr/>
        </p:nvSpPr>
        <p:spPr>
          <a:xfrm>
            <a:off x="7874000" y="3784600"/>
            <a:ext cx="216031" cy="228600"/>
          </a:xfrm>
          <a:prstGeom prst="roundRect">
            <a:avLst>
              <a:gd name="adj" fmla="val 11758"/>
            </a:avLst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28" name="o167"/>
          <p:cNvSpPr txBox="1"/>
          <p:nvPr/>
        </p:nvSpPr>
        <p:spPr>
          <a:xfrm>
            <a:off x="8166231" y="37719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650"/>
                </a:solidFill>
              </a:rPr>
              <a:t>1:30</a:t>
            </a:r>
            <a:endParaRPr lang="en-US" sz="1300" dirty="0"/>
          </a:p>
        </p:txBody>
      </p:sp>
      <p:sp>
        <p:nvSpPr>
          <p:cNvPr id="29" name="o168"/>
          <p:cNvSpPr txBox="1"/>
          <p:nvPr/>
        </p:nvSpPr>
        <p:spPr>
          <a:xfrm>
            <a:off x="6350000" y="41656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C"/>
                </a:solidFill>
              </a:rPr>
              <a:t>④ 보건실 직접 제출</a:t>
            </a:r>
            <a:endParaRPr lang="en-US" sz="1200" dirty="0"/>
          </a:p>
        </p:txBody>
      </p:sp>
      <p:sp>
        <p:nvSpPr>
          <p:cNvPr id="30" name="o169"/>
          <p:cNvSpPr/>
          <p:nvPr/>
        </p:nvSpPr>
        <p:spPr>
          <a:xfrm>
            <a:off x="7874000" y="4178300"/>
            <a:ext cx="1008144" cy="228600"/>
          </a:xfrm>
          <a:prstGeom prst="roundRect">
            <a:avLst>
              <a:gd name="adj" fmla="val 11111"/>
            </a:avLst>
          </a:prstGeom>
          <a:solidFill>
            <a:srgbClr val="45423D"/>
          </a:solidFill>
          <a:ln w="12700">
            <a:solidFill>
              <a:srgbClr val="45423D"/>
            </a:solidFill>
            <a:prstDash val="solid"/>
          </a:ln>
        </p:spPr>
      </p:sp>
      <p:sp>
        <p:nvSpPr>
          <p:cNvPr id="31" name="o170"/>
          <p:cNvSpPr txBox="1"/>
          <p:nvPr/>
        </p:nvSpPr>
        <p:spPr>
          <a:xfrm>
            <a:off x="8958344" y="41656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C"/>
                </a:solidFill>
              </a:rPr>
              <a:t>7:00</a:t>
            </a:r>
            <a:endParaRPr lang="en-US" sz="1300" dirty="0"/>
          </a:p>
        </p:txBody>
      </p:sp>
      <p:sp>
        <p:nvSpPr>
          <p:cNvPr id="32" name="o171"/>
          <p:cNvSpPr txBox="1"/>
          <p:nvPr/>
        </p:nvSpPr>
        <p:spPr>
          <a:xfrm>
            <a:off x="6350000" y="45593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⑤ 사진 전송</a:t>
            </a:r>
            <a:endParaRPr lang="en-US" sz="1200" dirty="0"/>
          </a:p>
        </p:txBody>
      </p:sp>
      <p:sp>
        <p:nvSpPr>
          <p:cNvPr id="33" name="o172"/>
          <p:cNvSpPr/>
          <p:nvPr/>
        </p:nvSpPr>
        <p:spPr>
          <a:xfrm>
            <a:off x="7874000" y="4572000"/>
            <a:ext cx="72010" cy="228600"/>
          </a:xfrm>
          <a:prstGeom prst="roundRect">
            <a:avLst>
              <a:gd name="adj" fmla="val 35273"/>
            </a:avLst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34" name="o173"/>
          <p:cNvSpPr txBox="1"/>
          <p:nvPr/>
        </p:nvSpPr>
        <p:spPr>
          <a:xfrm>
            <a:off x="8022210" y="45593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650"/>
                </a:solidFill>
              </a:rPr>
              <a:t>0:30</a:t>
            </a:r>
            <a:endParaRPr lang="en-US" sz="1300" dirty="0"/>
          </a:p>
        </p:txBody>
      </p:sp>
      <p:sp>
        <p:nvSpPr>
          <p:cNvPr id="35" name="o174"/>
          <p:cNvSpPr txBox="1"/>
          <p:nvPr/>
        </p:nvSpPr>
        <p:spPr>
          <a:xfrm>
            <a:off x="6350000" y="49530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⑥ 취합 · 파일링</a:t>
            </a:r>
            <a:endParaRPr lang="en-US" sz="1200" dirty="0"/>
          </a:p>
        </p:txBody>
      </p:sp>
      <p:sp>
        <p:nvSpPr>
          <p:cNvPr id="36" name="o175"/>
          <p:cNvSpPr/>
          <p:nvPr/>
        </p:nvSpPr>
        <p:spPr>
          <a:xfrm>
            <a:off x="7874000" y="4965700"/>
            <a:ext cx="302443" cy="228600"/>
          </a:xfrm>
          <a:prstGeom prst="roundRect">
            <a:avLst>
              <a:gd name="adj" fmla="val 11111"/>
            </a:avLst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37" name="o176"/>
          <p:cNvSpPr txBox="1"/>
          <p:nvPr/>
        </p:nvSpPr>
        <p:spPr>
          <a:xfrm>
            <a:off x="8252643" y="49530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650"/>
                </a:solidFill>
              </a:rPr>
              <a:t>2:06</a:t>
            </a:r>
            <a:endParaRPr lang="en-US" sz="1300" dirty="0"/>
          </a:p>
        </p:txBody>
      </p:sp>
      <p:sp>
        <p:nvSpPr>
          <p:cNvPr id="38" name="o177"/>
          <p:cNvSpPr txBox="1"/>
          <p:nvPr/>
        </p:nvSpPr>
        <p:spPr>
          <a:xfrm>
            <a:off x="6350000" y="53467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C"/>
                </a:solidFill>
              </a:rPr>
              <a:t>⑦ 아날로그 결재</a:t>
            </a:r>
            <a:endParaRPr lang="en-US" sz="1200" dirty="0"/>
          </a:p>
        </p:txBody>
      </p:sp>
      <p:sp>
        <p:nvSpPr>
          <p:cNvPr id="39" name="o178"/>
          <p:cNvSpPr/>
          <p:nvPr/>
        </p:nvSpPr>
        <p:spPr>
          <a:xfrm>
            <a:off x="7874000" y="5359400"/>
            <a:ext cx="2794000" cy="228600"/>
          </a:xfrm>
          <a:prstGeom prst="roundRect">
            <a:avLst>
              <a:gd name="adj" fmla="val 11111"/>
            </a:avLst>
          </a:prstGeom>
          <a:solidFill>
            <a:srgbClr val="45423D"/>
          </a:solidFill>
          <a:ln w="12700">
            <a:solidFill>
              <a:srgbClr val="45423D"/>
            </a:solidFill>
            <a:prstDash val="solid"/>
          </a:ln>
        </p:spPr>
      </p:sp>
      <p:sp>
        <p:nvSpPr>
          <p:cNvPr id="40" name="o179"/>
          <p:cNvSpPr txBox="1"/>
          <p:nvPr/>
        </p:nvSpPr>
        <p:spPr>
          <a:xfrm>
            <a:off x="10744200" y="53467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C"/>
                </a:solidFill>
              </a:rPr>
              <a:t>19:24</a:t>
            </a:r>
            <a:endParaRPr lang="en-US" sz="1300" dirty="0"/>
          </a:p>
        </p:txBody>
      </p:sp>
      <p:sp>
        <p:nvSpPr>
          <p:cNvPr id="41" name="o180"/>
          <p:cNvSpPr txBox="1"/>
          <p:nvPr/>
        </p:nvSpPr>
        <p:spPr>
          <a:xfrm>
            <a:off x="6350000" y="59690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자료: 직접 관찰(Time Study), 2025.01  ·  진한 막대 = 이동 · 대기  ·  MSDS 교육 1건 4분 18초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81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182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183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" name="o184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185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7" name="o186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187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188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189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PLAN  ·  지표 정의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지표 정의 · 목표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4개 지표로 개선을 측정했습니다</a:t>
            </a:r>
            <a:endParaRPr lang="en-US" sz="1800" dirty="0"/>
          </a:p>
        </p:txBody>
      </p:sp>
      <p:sp>
        <p:nvSpPr>
          <p:cNvPr id="13" name="o190"/>
          <p:cNvSpPr/>
          <p:nvPr/>
        </p:nvSpPr>
        <p:spPr>
          <a:xfrm>
            <a:off x="762000" y="2095500"/>
            <a:ext cx="5207000" cy="177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14" name="o191"/>
          <p:cNvSpPr/>
          <p:nvPr/>
        </p:nvSpPr>
        <p:spPr>
          <a:xfrm>
            <a:off x="1016000" y="2349500"/>
            <a:ext cx="127000" cy="127000"/>
          </a:xfrm>
          <a:prstGeom prst="ellipse">
            <a:avLst/>
          </a:prstGeom>
          <a:solidFill>
            <a:srgbClr val="5A9E22"/>
          </a:solidFill>
          <a:ln w="12700">
            <a:solidFill>
              <a:srgbClr val="5A9E22"/>
            </a:solidFill>
            <a:prstDash val="solid"/>
          </a:ln>
        </p:spPr>
      </p:sp>
      <p:sp>
        <p:nvSpPr>
          <p:cNvPr id="15" name="o192"/>
          <p:cNvSpPr txBox="1"/>
          <p:nvPr/>
        </p:nvSpPr>
        <p:spPr>
          <a:xfrm>
            <a:off x="1219200" y="2311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[과정지표]</a:t>
            </a:r>
            <a:endParaRPr lang="en-US" sz="1200" dirty="0"/>
          </a:p>
        </p:txBody>
      </p:sp>
      <p:sp>
        <p:nvSpPr>
          <p:cNvPr id="16" name="o193"/>
          <p:cNvSpPr txBox="1"/>
          <p:nvPr/>
        </p:nvSpPr>
        <p:spPr>
          <a:xfrm>
            <a:off x="1016000" y="25908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E1C"/>
                </a:solidFill>
              </a:rPr>
              <a:t>법정 의무교육 준수율</a:t>
            </a:r>
            <a:endParaRPr lang="en-US" sz="2200" dirty="0"/>
          </a:p>
        </p:txBody>
      </p:sp>
      <p:sp>
        <p:nvSpPr>
          <p:cNvPr id="17" name="o194"/>
          <p:cNvSpPr txBox="1"/>
          <p:nvPr/>
        </p:nvSpPr>
        <p:spPr>
          <a:xfrm>
            <a:off x="1016000" y="29845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50"/>
                </a:solidFill>
              </a:rPr>
              <a:t>기한 내 이행 완료 건수 ÷ 법정 교육 대상 건수</a:t>
            </a:r>
            <a:endParaRPr lang="en-US" sz="1400" dirty="0"/>
          </a:p>
        </p:txBody>
      </p:sp>
      <p:sp>
        <p:nvSpPr>
          <p:cNvPr id="18" name="o195"/>
          <p:cNvSpPr/>
          <p:nvPr/>
        </p:nvSpPr>
        <p:spPr>
          <a:xfrm>
            <a:off x="1016000" y="3365500"/>
            <a:ext cx="2794000" cy="330200"/>
          </a:xfrm>
          <a:prstGeom prst="roundRect">
            <a:avLst>
              <a:gd name="adj" fmla="val 50000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19" name="o196"/>
          <p:cNvSpPr txBox="1"/>
          <p:nvPr/>
        </p:nvSpPr>
        <p:spPr>
          <a:xfrm>
            <a:off x="1168400" y="33655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목표   누락 0건 (100%)</a:t>
            </a:r>
            <a:endParaRPr lang="en-US" sz="1500" dirty="0"/>
          </a:p>
        </p:txBody>
      </p:sp>
      <p:sp>
        <p:nvSpPr>
          <p:cNvPr id="20" name="o197"/>
          <p:cNvSpPr/>
          <p:nvPr/>
        </p:nvSpPr>
        <p:spPr>
          <a:xfrm>
            <a:off x="6223000" y="2095500"/>
            <a:ext cx="5207000" cy="177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21" name="o198"/>
          <p:cNvSpPr/>
          <p:nvPr/>
        </p:nvSpPr>
        <p:spPr>
          <a:xfrm>
            <a:off x="6477000" y="2349500"/>
            <a:ext cx="127000" cy="127000"/>
          </a:xfrm>
          <a:prstGeom prst="ellipse">
            <a:avLst/>
          </a:prstGeom>
          <a:solidFill>
            <a:srgbClr val="4C8A1D"/>
          </a:solidFill>
          <a:ln w="12700">
            <a:solidFill>
              <a:srgbClr val="4C8A1D"/>
            </a:solidFill>
            <a:prstDash val="solid"/>
          </a:ln>
        </p:spPr>
      </p:sp>
      <p:sp>
        <p:nvSpPr>
          <p:cNvPr id="22" name="o199"/>
          <p:cNvSpPr txBox="1"/>
          <p:nvPr/>
        </p:nvSpPr>
        <p:spPr>
          <a:xfrm>
            <a:off x="6680200" y="2311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[효율지표]</a:t>
            </a:r>
            <a:endParaRPr lang="en-US" sz="1200" dirty="0"/>
          </a:p>
        </p:txBody>
      </p:sp>
      <p:sp>
        <p:nvSpPr>
          <p:cNvPr id="23" name="o200"/>
          <p:cNvSpPr txBox="1"/>
          <p:nvPr/>
        </p:nvSpPr>
        <p:spPr>
          <a:xfrm>
            <a:off x="6477000" y="25908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E1C"/>
                </a:solidFill>
              </a:rPr>
              <a:t>행정 소요시간 단축률</a:t>
            </a:r>
            <a:endParaRPr lang="en-US" sz="2200" dirty="0"/>
          </a:p>
        </p:txBody>
      </p:sp>
      <p:sp>
        <p:nvSpPr>
          <p:cNvPr id="24" name="o201"/>
          <p:cNvSpPr txBox="1"/>
          <p:nvPr/>
        </p:nvSpPr>
        <p:spPr>
          <a:xfrm>
            <a:off x="6477000" y="29845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50"/>
                </a:solidFill>
              </a:rPr>
              <a:t>(수기 시간 − 플랫폼 시간) ÷ 수기 시간</a:t>
            </a:r>
            <a:endParaRPr lang="en-US" sz="1400" dirty="0"/>
          </a:p>
        </p:txBody>
      </p:sp>
      <p:sp>
        <p:nvSpPr>
          <p:cNvPr id="25" name="o202"/>
          <p:cNvSpPr/>
          <p:nvPr/>
        </p:nvSpPr>
        <p:spPr>
          <a:xfrm>
            <a:off x="6477000" y="3365500"/>
            <a:ext cx="2794000" cy="330200"/>
          </a:xfrm>
          <a:prstGeom prst="roundRect">
            <a:avLst>
              <a:gd name="adj" fmla="val 50000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26" name="o203"/>
          <p:cNvSpPr txBox="1"/>
          <p:nvPr/>
        </p:nvSpPr>
        <p:spPr>
          <a:xfrm>
            <a:off x="6629400" y="33655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목표   70% 이상 단축</a:t>
            </a:r>
            <a:endParaRPr lang="en-US" sz="1500" dirty="0"/>
          </a:p>
        </p:txBody>
      </p:sp>
      <p:sp>
        <p:nvSpPr>
          <p:cNvPr id="27" name="o204"/>
          <p:cNvSpPr/>
          <p:nvPr/>
        </p:nvSpPr>
        <p:spPr>
          <a:xfrm>
            <a:off x="762000" y="4064000"/>
            <a:ext cx="5207000" cy="177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28" name="o205"/>
          <p:cNvSpPr/>
          <p:nvPr/>
        </p:nvSpPr>
        <p:spPr>
          <a:xfrm>
            <a:off x="1016000" y="4318000"/>
            <a:ext cx="127000" cy="127000"/>
          </a:xfrm>
          <a:prstGeom prst="ellipse">
            <a:avLst/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29" name="o206"/>
          <p:cNvSpPr txBox="1"/>
          <p:nvPr/>
        </p:nvSpPr>
        <p:spPr>
          <a:xfrm>
            <a:off x="1219200" y="42799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[결과지표]</a:t>
            </a:r>
            <a:endParaRPr lang="en-US" sz="1200" dirty="0"/>
          </a:p>
        </p:txBody>
      </p:sp>
      <p:sp>
        <p:nvSpPr>
          <p:cNvPr id="30" name="o207"/>
          <p:cNvSpPr txBox="1"/>
          <p:nvPr/>
        </p:nvSpPr>
        <p:spPr>
          <a:xfrm>
            <a:off x="1016000" y="45593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E1C"/>
                </a:solidFill>
              </a:rPr>
              <a:t>페이퍼리스 전환율</a:t>
            </a:r>
            <a:endParaRPr lang="en-US" sz="2200" dirty="0"/>
          </a:p>
        </p:txBody>
      </p:sp>
      <p:sp>
        <p:nvSpPr>
          <p:cNvPr id="31" name="o208"/>
          <p:cNvSpPr txBox="1"/>
          <p:nvPr/>
        </p:nvSpPr>
        <p:spPr>
          <a:xfrm>
            <a:off x="1016000" y="49530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50"/>
                </a:solidFill>
              </a:rPr>
              <a:t>종이 없이 DB 저장 완결 건수 ÷ 대상 업무 건수</a:t>
            </a:r>
            <a:endParaRPr lang="en-US" sz="1400" dirty="0"/>
          </a:p>
        </p:txBody>
      </p:sp>
      <p:sp>
        <p:nvSpPr>
          <p:cNvPr id="32" name="o209"/>
          <p:cNvSpPr/>
          <p:nvPr/>
        </p:nvSpPr>
        <p:spPr>
          <a:xfrm>
            <a:off x="1016000" y="5334000"/>
            <a:ext cx="2794000" cy="330200"/>
          </a:xfrm>
          <a:prstGeom prst="roundRect">
            <a:avLst>
              <a:gd name="adj" fmla="val 50000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33" name="o210"/>
          <p:cNvSpPr txBox="1"/>
          <p:nvPr/>
        </p:nvSpPr>
        <p:spPr>
          <a:xfrm>
            <a:off x="1168400" y="53340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목표   100%</a:t>
            </a:r>
            <a:endParaRPr lang="en-US" sz="1500" dirty="0"/>
          </a:p>
        </p:txBody>
      </p:sp>
      <p:sp>
        <p:nvSpPr>
          <p:cNvPr id="34" name="o211"/>
          <p:cNvSpPr/>
          <p:nvPr/>
        </p:nvSpPr>
        <p:spPr>
          <a:xfrm>
            <a:off x="6223000" y="4064000"/>
            <a:ext cx="5207000" cy="177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35" name="o212"/>
          <p:cNvSpPr/>
          <p:nvPr/>
        </p:nvSpPr>
        <p:spPr>
          <a:xfrm>
            <a:off x="6477000" y="4318000"/>
            <a:ext cx="127000" cy="127000"/>
          </a:xfrm>
          <a:prstGeom prst="ellipse">
            <a:avLst/>
          </a:prstGeom>
          <a:solidFill>
            <a:srgbClr val="325F13"/>
          </a:solidFill>
          <a:ln w="12700">
            <a:solidFill>
              <a:srgbClr val="325F13"/>
            </a:solidFill>
            <a:prstDash val="solid"/>
          </a:ln>
        </p:spPr>
      </p:sp>
      <p:sp>
        <p:nvSpPr>
          <p:cNvPr id="36" name="o213"/>
          <p:cNvSpPr txBox="1"/>
          <p:nvPr/>
        </p:nvSpPr>
        <p:spPr>
          <a:xfrm>
            <a:off x="6680200" y="42799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[인프라지표]</a:t>
            </a:r>
            <a:endParaRPr lang="en-US" sz="1200" dirty="0"/>
          </a:p>
        </p:txBody>
      </p:sp>
      <p:sp>
        <p:nvSpPr>
          <p:cNvPr id="37" name="o214"/>
          <p:cNvSpPr txBox="1"/>
          <p:nvPr/>
        </p:nvSpPr>
        <p:spPr>
          <a:xfrm>
            <a:off x="6477000" y="45593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E1C"/>
                </a:solidFill>
              </a:rPr>
              <a:t>플랫폼 구축 완성도</a:t>
            </a:r>
            <a:endParaRPr lang="en-US" sz="2200" dirty="0"/>
          </a:p>
        </p:txBody>
      </p:sp>
      <p:sp>
        <p:nvSpPr>
          <p:cNvPr id="38" name="o215"/>
          <p:cNvSpPr txBox="1"/>
          <p:nvPr/>
        </p:nvSpPr>
        <p:spPr>
          <a:xfrm>
            <a:off x="6477000" y="49530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50"/>
                </a:solidFill>
              </a:rPr>
              <a:t>정상 작동 기능 수 ÷ 계획 기능 수</a:t>
            </a:r>
            <a:endParaRPr lang="en-US" sz="1400" dirty="0"/>
          </a:p>
        </p:txBody>
      </p:sp>
      <p:sp>
        <p:nvSpPr>
          <p:cNvPr id="39" name="o216"/>
          <p:cNvSpPr/>
          <p:nvPr/>
        </p:nvSpPr>
        <p:spPr>
          <a:xfrm>
            <a:off x="6477000" y="5334000"/>
            <a:ext cx="2794000" cy="330200"/>
          </a:xfrm>
          <a:prstGeom prst="roundRect">
            <a:avLst>
              <a:gd name="adj" fmla="val 50000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40" name="o217"/>
          <p:cNvSpPr txBox="1"/>
          <p:nvPr/>
        </p:nvSpPr>
        <p:spPr>
          <a:xfrm>
            <a:off x="6629400" y="53340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목표   6 / 6 (100%)</a:t>
            </a:r>
            <a:endParaRPr lang="en-US" sz="1500" dirty="0"/>
          </a:p>
        </p:txBody>
      </p:sp>
      <p:sp>
        <p:nvSpPr>
          <p:cNvPr id="41" name="o218"/>
          <p:cNvSpPr txBox="1"/>
          <p:nvPr/>
        </p:nvSpPr>
        <p:spPr>
          <a:xfrm>
            <a:off x="762000" y="6096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자료수집 기간  개선 전 2025.01–12  ·  개선 후 2026.05–07     |     행정시간은 실제 교육 시간을 제외하고 작성 · 서명 · 취합 · 결재만 포함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219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220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221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" name="o222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223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7" name="o224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225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226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227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PLAN → DO  ·  원인 분석 · 개선 전략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원인 분석 → 개선 전략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종이에 갇힌 정보가 근본 원인 — 원인마다 기능 하나씩, 6개 모듈로 설계했습니다</a:t>
            </a:r>
            <a:endParaRPr lang="en-US" sz="1800" dirty="0"/>
          </a:p>
        </p:txBody>
      </p:sp>
      <p:sp>
        <p:nvSpPr>
          <p:cNvPr id="13" name="o228"/>
          <p:cNvSpPr txBox="1"/>
          <p:nvPr/>
        </p:nvSpPr>
        <p:spPr>
          <a:xfrm>
            <a:off x="762000" y="20066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650"/>
                </a:solidFill>
              </a:rPr>
              <a:t>원인 (피시본 분류)</a:t>
            </a:r>
            <a:endParaRPr lang="en-US" sz="1200" dirty="0"/>
          </a:p>
        </p:txBody>
      </p:sp>
      <p:sp>
        <p:nvSpPr>
          <p:cNvPr id="14" name="o229"/>
          <p:cNvSpPr txBox="1"/>
          <p:nvPr/>
        </p:nvSpPr>
        <p:spPr>
          <a:xfrm>
            <a:off x="6731000" y="20066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650"/>
                </a:solidFill>
              </a:rPr>
              <a:t>해결 기능</a:t>
            </a:r>
            <a:endParaRPr lang="en-US" sz="1200" dirty="0"/>
          </a:p>
        </p:txBody>
      </p:sp>
      <p:sp>
        <p:nvSpPr>
          <p:cNvPr id="15" name="o230"/>
          <p:cNvSpPr/>
          <p:nvPr/>
        </p:nvSpPr>
        <p:spPr>
          <a:xfrm>
            <a:off x="762000" y="2260600"/>
            <a:ext cx="5461000" cy="520700"/>
          </a:xfrm>
          <a:prstGeom prst="roundRect">
            <a:avLst>
              <a:gd name="adj" fmla="val 975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6" name="o231"/>
          <p:cNvSpPr txBox="1"/>
          <p:nvPr/>
        </p:nvSpPr>
        <p:spPr>
          <a:xfrm>
            <a:off x="939800" y="23241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650"/>
                </a:solidFill>
              </a:rPr>
              <a:t>시스템</a:t>
            </a:r>
            <a:endParaRPr lang="en-US" sz="1000" dirty="0"/>
          </a:p>
        </p:txBody>
      </p:sp>
      <p:sp>
        <p:nvSpPr>
          <p:cNvPr id="17" name="o232"/>
          <p:cNvSpPr txBox="1"/>
          <p:nvPr/>
        </p:nvSpPr>
        <p:spPr>
          <a:xfrm>
            <a:off x="939800" y="24892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C"/>
                </a:solidFill>
              </a:rPr>
              <a:t>인트라넷 검색 어려움 · 개정본 비치 확인 미흡</a:t>
            </a:r>
            <a:endParaRPr lang="en-US" sz="1500" dirty="0"/>
          </a:p>
        </p:txBody>
      </p:sp>
      <p:sp>
        <p:nvSpPr>
          <p:cNvPr id="18" name="o233"/>
          <p:cNvSpPr txBox="1"/>
          <p:nvPr/>
        </p:nvSpPr>
        <p:spPr>
          <a:xfrm>
            <a:off x="6286500" y="2260600"/>
            <a:ext cx="381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AF2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o234"/>
          <p:cNvSpPr/>
          <p:nvPr/>
        </p:nvSpPr>
        <p:spPr>
          <a:xfrm>
            <a:off x="6731000" y="2260600"/>
            <a:ext cx="4699000" cy="5207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5A9E22"/>
            </a:solidFill>
            <a:prstDash val="solid"/>
          </a:ln>
        </p:spPr>
      </p:sp>
      <p:sp>
        <p:nvSpPr>
          <p:cNvPr id="20" name="o235"/>
          <p:cNvSpPr/>
          <p:nvPr/>
        </p:nvSpPr>
        <p:spPr>
          <a:xfrm>
            <a:off x="6883400" y="2381250"/>
            <a:ext cx="279400" cy="279400"/>
          </a:xfrm>
          <a:prstGeom prst="ellipse">
            <a:avLst/>
          </a:prstGeom>
          <a:solidFill>
            <a:srgbClr val="5A9E22"/>
          </a:solidFill>
          <a:ln w="12700">
            <a:solidFill>
              <a:srgbClr val="5A9E22"/>
            </a:solidFill>
            <a:prstDash val="solid"/>
          </a:ln>
        </p:spPr>
      </p:sp>
      <p:sp>
        <p:nvSpPr>
          <p:cNvPr id="21" name="o236"/>
          <p:cNvSpPr txBox="1"/>
          <p:nvPr/>
        </p:nvSpPr>
        <p:spPr>
          <a:xfrm>
            <a:off x="6883400" y="23812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o237"/>
          <p:cNvSpPr txBox="1"/>
          <p:nvPr/>
        </p:nvSpPr>
        <p:spPr>
          <a:xfrm>
            <a:off x="7289800" y="2260600"/>
            <a:ext cx="3937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C"/>
                </a:solidFill>
              </a:rPr>
              <a:t>MSDS 디지털 라이브러리</a:t>
            </a:r>
            <a:endParaRPr lang="en-US" sz="1700" dirty="0"/>
          </a:p>
        </p:txBody>
      </p:sp>
      <p:sp>
        <p:nvSpPr>
          <p:cNvPr id="23" name="o238"/>
          <p:cNvSpPr/>
          <p:nvPr/>
        </p:nvSpPr>
        <p:spPr>
          <a:xfrm>
            <a:off x="762000" y="2870200"/>
            <a:ext cx="5461000" cy="520700"/>
          </a:xfrm>
          <a:prstGeom prst="roundRect">
            <a:avLst>
              <a:gd name="adj" fmla="val 975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24" name="o239"/>
          <p:cNvSpPr txBox="1"/>
          <p:nvPr/>
        </p:nvSpPr>
        <p:spPr>
          <a:xfrm>
            <a:off x="939800" y="29337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650"/>
                </a:solidFill>
              </a:rPr>
              <a:t>시스템</a:t>
            </a:r>
            <a:endParaRPr lang="en-US" sz="1000" dirty="0"/>
          </a:p>
        </p:txBody>
      </p:sp>
      <p:sp>
        <p:nvSpPr>
          <p:cNvPr id="25" name="o240"/>
          <p:cNvSpPr txBox="1"/>
          <p:nvPr/>
        </p:nvSpPr>
        <p:spPr>
          <a:xfrm>
            <a:off x="939800" y="30988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C"/>
                </a:solidFill>
              </a:rPr>
              <a:t>입사 때마다 같은 양식을 반복 수기 작성</a:t>
            </a:r>
            <a:endParaRPr lang="en-US" sz="1500" dirty="0"/>
          </a:p>
        </p:txBody>
      </p:sp>
      <p:sp>
        <p:nvSpPr>
          <p:cNvPr id="26" name="o241"/>
          <p:cNvSpPr txBox="1"/>
          <p:nvPr/>
        </p:nvSpPr>
        <p:spPr>
          <a:xfrm>
            <a:off x="6286500" y="2870200"/>
            <a:ext cx="381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AF28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o242"/>
          <p:cNvSpPr/>
          <p:nvPr/>
        </p:nvSpPr>
        <p:spPr>
          <a:xfrm>
            <a:off x="6731000" y="2870200"/>
            <a:ext cx="4699000" cy="5207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4C8A1D"/>
            </a:solidFill>
            <a:prstDash val="solid"/>
          </a:ln>
        </p:spPr>
      </p:sp>
      <p:sp>
        <p:nvSpPr>
          <p:cNvPr id="28" name="o243"/>
          <p:cNvSpPr/>
          <p:nvPr/>
        </p:nvSpPr>
        <p:spPr>
          <a:xfrm>
            <a:off x="6883400" y="2990850"/>
            <a:ext cx="279400" cy="279400"/>
          </a:xfrm>
          <a:prstGeom prst="ellipse">
            <a:avLst/>
          </a:prstGeom>
          <a:solidFill>
            <a:srgbClr val="4C8A1D"/>
          </a:solidFill>
          <a:ln w="12700">
            <a:solidFill>
              <a:srgbClr val="4C8A1D"/>
            </a:solidFill>
            <a:prstDash val="solid"/>
          </a:ln>
        </p:spPr>
      </p:sp>
      <p:sp>
        <p:nvSpPr>
          <p:cNvPr id="29" name="o244"/>
          <p:cNvSpPr txBox="1"/>
          <p:nvPr/>
        </p:nvSpPr>
        <p:spPr>
          <a:xfrm>
            <a:off x="6883400" y="29908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o245"/>
          <p:cNvSpPr txBox="1"/>
          <p:nvPr/>
        </p:nvSpPr>
        <p:spPr>
          <a:xfrm>
            <a:off x="7289800" y="2870200"/>
            <a:ext cx="3937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C"/>
                </a:solidFill>
              </a:rPr>
              <a:t>법정 서류 자동 작성</a:t>
            </a:r>
            <a:endParaRPr lang="en-US" sz="1700" dirty="0"/>
          </a:p>
        </p:txBody>
      </p:sp>
      <p:sp>
        <p:nvSpPr>
          <p:cNvPr id="31" name="o246"/>
          <p:cNvSpPr/>
          <p:nvPr/>
        </p:nvSpPr>
        <p:spPr>
          <a:xfrm>
            <a:off x="762000" y="3479800"/>
            <a:ext cx="5461000" cy="520700"/>
          </a:xfrm>
          <a:prstGeom prst="roundRect">
            <a:avLst>
              <a:gd name="adj" fmla="val 975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32" name="o247"/>
          <p:cNvSpPr txBox="1"/>
          <p:nvPr/>
        </p:nvSpPr>
        <p:spPr>
          <a:xfrm>
            <a:off x="939800" y="35433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650"/>
                </a:solidFill>
              </a:rPr>
              <a:t>방법 · 환경</a:t>
            </a:r>
            <a:endParaRPr lang="en-US" sz="1000" dirty="0"/>
          </a:p>
        </p:txBody>
      </p:sp>
      <p:sp>
        <p:nvSpPr>
          <p:cNvPr id="33" name="o248"/>
          <p:cNvSpPr txBox="1"/>
          <p:nvPr/>
        </p:nvSpPr>
        <p:spPr>
          <a:xfrm>
            <a:off x="939800" y="37084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C"/>
                </a:solidFill>
              </a:rPr>
              <a:t>방문 제출 7분 · 아날로그 결재 19분</a:t>
            </a:r>
            <a:endParaRPr lang="en-US" sz="1500" dirty="0"/>
          </a:p>
        </p:txBody>
      </p:sp>
      <p:sp>
        <p:nvSpPr>
          <p:cNvPr id="34" name="o249"/>
          <p:cNvSpPr txBox="1"/>
          <p:nvPr/>
        </p:nvSpPr>
        <p:spPr>
          <a:xfrm>
            <a:off x="6286500" y="3479800"/>
            <a:ext cx="381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AF28"/>
                </a:solidFill>
              </a:rPr>
              <a:t>→</a:t>
            </a:r>
            <a:endParaRPr lang="en-US" sz="2200" dirty="0"/>
          </a:p>
        </p:txBody>
      </p:sp>
      <p:sp>
        <p:nvSpPr>
          <p:cNvPr id="35" name="o250"/>
          <p:cNvSpPr/>
          <p:nvPr/>
        </p:nvSpPr>
        <p:spPr>
          <a:xfrm>
            <a:off x="6731000" y="3479800"/>
            <a:ext cx="4699000" cy="5207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3F7518"/>
            </a:solidFill>
            <a:prstDash val="solid"/>
          </a:ln>
        </p:spPr>
      </p:sp>
      <p:sp>
        <p:nvSpPr>
          <p:cNvPr id="36" name="o251"/>
          <p:cNvSpPr/>
          <p:nvPr/>
        </p:nvSpPr>
        <p:spPr>
          <a:xfrm>
            <a:off x="6883400" y="3600450"/>
            <a:ext cx="279400" cy="279400"/>
          </a:xfrm>
          <a:prstGeom prst="ellipse">
            <a:avLst/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37" name="o252"/>
          <p:cNvSpPr txBox="1"/>
          <p:nvPr/>
        </p:nvSpPr>
        <p:spPr>
          <a:xfrm>
            <a:off x="6883400" y="36004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o253"/>
          <p:cNvSpPr txBox="1"/>
          <p:nvPr/>
        </p:nvSpPr>
        <p:spPr>
          <a:xfrm>
            <a:off x="7289800" y="3479800"/>
            <a:ext cx="3937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C"/>
                </a:solidFill>
              </a:rPr>
              <a:t>모바일 서명 + 비대면 전자결재</a:t>
            </a:r>
            <a:endParaRPr lang="en-US" sz="1700" dirty="0"/>
          </a:p>
        </p:txBody>
      </p:sp>
      <p:sp>
        <p:nvSpPr>
          <p:cNvPr id="39" name="o254"/>
          <p:cNvSpPr/>
          <p:nvPr/>
        </p:nvSpPr>
        <p:spPr>
          <a:xfrm>
            <a:off x="762000" y="4089400"/>
            <a:ext cx="5461000" cy="520700"/>
          </a:xfrm>
          <a:prstGeom prst="roundRect">
            <a:avLst>
              <a:gd name="adj" fmla="val 975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40" name="o255"/>
          <p:cNvSpPr txBox="1"/>
          <p:nvPr/>
        </p:nvSpPr>
        <p:spPr>
          <a:xfrm>
            <a:off x="939800" y="41529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650"/>
                </a:solidFill>
              </a:rPr>
              <a:t>매체</a:t>
            </a:r>
            <a:endParaRPr lang="en-US" sz="1000" dirty="0"/>
          </a:p>
        </p:txBody>
      </p:sp>
      <p:sp>
        <p:nvSpPr>
          <p:cNvPr id="41" name="o256"/>
          <p:cNvSpPr txBox="1"/>
          <p:nvPr/>
        </p:nvSpPr>
        <p:spPr>
          <a:xfrm>
            <a:off x="939800" y="4318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C"/>
                </a:solidFill>
              </a:rPr>
              <a:t>바인더 · 서류 분산 보관</a:t>
            </a:r>
            <a:endParaRPr lang="en-US" sz="1500" dirty="0"/>
          </a:p>
        </p:txBody>
      </p:sp>
      <p:sp>
        <p:nvSpPr>
          <p:cNvPr id="42" name="o257"/>
          <p:cNvSpPr txBox="1"/>
          <p:nvPr/>
        </p:nvSpPr>
        <p:spPr>
          <a:xfrm>
            <a:off x="6286500" y="4089400"/>
            <a:ext cx="381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AF28"/>
                </a:solidFill>
              </a:rPr>
              <a:t>→</a:t>
            </a:r>
            <a:endParaRPr lang="en-US" sz="2200" dirty="0"/>
          </a:p>
        </p:txBody>
      </p:sp>
      <p:sp>
        <p:nvSpPr>
          <p:cNvPr id="43" name="o258"/>
          <p:cNvSpPr/>
          <p:nvPr/>
        </p:nvSpPr>
        <p:spPr>
          <a:xfrm>
            <a:off x="6731000" y="4089400"/>
            <a:ext cx="4699000" cy="5207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325F13"/>
            </a:solidFill>
            <a:prstDash val="solid"/>
          </a:ln>
        </p:spPr>
      </p:sp>
      <p:sp>
        <p:nvSpPr>
          <p:cNvPr id="44" name="o259"/>
          <p:cNvSpPr/>
          <p:nvPr/>
        </p:nvSpPr>
        <p:spPr>
          <a:xfrm>
            <a:off x="6883400" y="4210050"/>
            <a:ext cx="279400" cy="279400"/>
          </a:xfrm>
          <a:prstGeom prst="ellipse">
            <a:avLst/>
          </a:prstGeom>
          <a:solidFill>
            <a:srgbClr val="325F13"/>
          </a:solidFill>
          <a:ln w="12700">
            <a:solidFill>
              <a:srgbClr val="325F13"/>
            </a:solidFill>
            <a:prstDash val="solid"/>
          </a:ln>
        </p:spPr>
      </p:sp>
      <p:sp>
        <p:nvSpPr>
          <p:cNvPr id="45" name="o260"/>
          <p:cNvSpPr txBox="1"/>
          <p:nvPr/>
        </p:nvSpPr>
        <p:spPr>
          <a:xfrm>
            <a:off x="6883400" y="42100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o261"/>
          <p:cNvSpPr txBox="1"/>
          <p:nvPr/>
        </p:nvSpPr>
        <p:spPr>
          <a:xfrm>
            <a:off x="7289800" y="4089400"/>
            <a:ext cx="3937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C"/>
                </a:solidFill>
              </a:rPr>
              <a:t>전자 문서 보관</a:t>
            </a:r>
            <a:endParaRPr lang="en-US" sz="1700" dirty="0"/>
          </a:p>
        </p:txBody>
      </p:sp>
      <p:sp>
        <p:nvSpPr>
          <p:cNvPr id="47" name="o262"/>
          <p:cNvSpPr/>
          <p:nvPr/>
        </p:nvSpPr>
        <p:spPr>
          <a:xfrm>
            <a:off x="762000" y="4699000"/>
            <a:ext cx="5461000" cy="520700"/>
          </a:xfrm>
          <a:prstGeom prst="roundRect">
            <a:avLst>
              <a:gd name="adj" fmla="val 975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48" name="o263"/>
          <p:cNvSpPr txBox="1"/>
          <p:nvPr/>
        </p:nvSpPr>
        <p:spPr>
          <a:xfrm>
            <a:off x="939800" y="47625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650"/>
                </a:solidFill>
              </a:rPr>
              <a:t>시스템</a:t>
            </a:r>
            <a:endParaRPr lang="en-US" sz="1000" dirty="0"/>
          </a:p>
        </p:txBody>
      </p:sp>
      <p:sp>
        <p:nvSpPr>
          <p:cNvPr id="49" name="o264"/>
          <p:cNvSpPr txBox="1"/>
          <p:nvPr/>
        </p:nvSpPr>
        <p:spPr>
          <a:xfrm>
            <a:off x="939800" y="49276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C"/>
                </a:solidFill>
              </a:rPr>
              <a:t>실시간 모니터링 불가</a:t>
            </a:r>
            <a:endParaRPr lang="en-US" sz="1500" dirty="0"/>
          </a:p>
        </p:txBody>
      </p:sp>
      <p:sp>
        <p:nvSpPr>
          <p:cNvPr id="50" name="o265"/>
          <p:cNvSpPr txBox="1"/>
          <p:nvPr/>
        </p:nvSpPr>
        <p:spPr>
          <a:xfrm>
            <a:off x="6286500" y="4699000"/>
            <a:ext cx="381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AF28"/>
                </a:solidFill>
              </a:rPr>
              <a:t>→</a:t>
            </a:r>
            <a:endParaRPr lang="en-US" sz="2200" dirty="0"/>
          </a:p>
        </p:txBody>
      </p:sp>
      <p:sp>
        <p:nvSpPr>
          <p:cNvPr id="51" name="o266"/>
          <p:cNvSpPr/>
          <p:nvPr/>
        </p:nvSpPr>
        <p:spPr>
          <a:xfrm>
            <a:off x="6731000" y="4699000"/>
            <a:ext cx="4699000" cy="5207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4C8A1D"/>
            </a:solidFill>
            <a:prstDash val="solid"/>
          </a:ln>
        </p:spPr>
      </p:sp>
      <p:sp>
        <p:nvSpPr>
          <p:cNvPr id="52" name="o267"/>
          <p:cNvSpPr/>
          <p:nvPr/>
        </p:nvSpPr>
        <p:spPr>
          <a:xfrm>
            <a:off x="6883400" y="4819650"/>
            <a:ext cx="279400" cy="279400"/>
          </a:xfrm>
          <a:prstGeom prst="ellipse">
            <a:avLst/>
          </a:prstGeom>
          <a:solidFill>
            <a:srgbClr val="4C8A1D"/>
          </a:solidFill>
          <a:ln w="12700">
            <a:solidFill>
              <a:srgbClr val="4C8A1D"/>
            </a:solidFill>
            <a:prstDash val="solid"/>
          </a:ln>
        </p:spPr>
      </p:sp>
      <p:sp>
        <p:nvSpPr>
          <p:cNvPr id="53" name="o268"/>
          <p:cNvSpPr txBox="1"/>
          <p:nvPr/>
        </p:nvSpPr>
        <p:spPr>
          <a:xfrm>
            <a:off x="6883400" y="48196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4" name="o269"/>
          <p:cNvSpPr txBox="1"/>
          <p:nvPr/>
        </p:nvSpPr>
        <p:spPr>
          <a:xfrm>
            <a:off x="7289800" y="4699000"/>
            <a:ext cx="3937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C"/>
                </a:solidFill>
              </a:rPr>
              <a:t>관리자 대시보드</a:t>
            </a:r>
            <a:endParaRPr lang="en-US" sz="1700" dirty="0"/>
          </a:p>
        </p:txBody>
      </p:sp>
      <p:sp>
        <p:nvSpPr>
          <p:cNvPr id="55" name="o270"/>
          <p:cNvSpPr/>
          <p:nvPr/>
        </p:nvSpPr>
        <p:spPr>
          <a:xfrm>
            <a:off x="762000" y="5308600"/>
            <a:ext cx="5461000" cy="520700"/>
          </a:xfrm>
          <a:prstGeom prst="roundRect">
            <a:avLst>
              <a:gd name="adj" fmla="val 975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56" name="o271"/>
          <p:cNvSpPr txBox="1"/>
          <p:nvPr/>
        </p:nvSpPr>
        <p:spPr>
          <a:xfrm>
            <a:off x="939800" y="53721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650"/>
                </a:solidFill>
              </a:rPr>
              <a:t>추가 과제</a:t>
            </a:r>
            <a:endParaRPr lang="en-US" sz="1000" dirty="0"/>
          </a:p>
        </p:txBody>
      </p:sp>
      <p:sp>
        <p:nvSpPr>
          <p:cNvPr id="57" name="o272"/>
          <p:cNvSpPr txBox="1"/>
          <p:nvPr/>
        </p:nvSpPr>
        <p:spPr>
          <a:xfrm>
            <a:off x="939800" y="55372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C"/>
                </a:solidFill>
              </a:rPr>
              <a:t>수시 위험성평가 부담</a:t>
            </a:r>
            <a:endParaRPr lang="en-US" sz="1500" dirty="0"/>
          </a:p>
        </p:txBody>
      </p:sp>
      <p:sp>
        <p:nvSpPr>
          <p:cNvPr id="58" name="o273"/>
          <p:cNvSpPr txBox="1"/>
          <p:nvPr/>
        </p:nvSpPr>
        <p:spPr>
          <a:xfrm>
            <a:off x="6286500" y="5308600"/>
            <a:ext cx="381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AF28"/>
                </a:solidFill>
              </a:rPr>
              <a:t>→</a:t>
            </a:r>
            <a:endParaRPr lang="en-US" sz="2200" dirty="0"/>
          </a:p>
        </p:txBody>
      </p:sp>
      <p:sp>
        <p:nvSpPr>
          <p:cNvPr id="59" name="o274"/>
          <p:cNvSpPr/>
          <p:nvPr/>
        </p:nvSpPr>
        <p:spPr>
          <a:xfrm>
            <a:off x="6731000" y="5308600"/>
            <a:ext cx="4699000" cy="5207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345C12"/>
            </a:solidFill>
            <a:prstDash val="solid"/>
          </a:ln>
        </p:spPr>
      </p:sp>
      <p:sp>
        <p:nvSpPr>
          <p:cNvPr id="60" name="o275"/>
          <p:cNvSpPr/>
          <p:nvPr/>
        </p:nvSpPr>
        <p:spPr>
          <a:xfrm>
            <a:off x="6883400" y="5429250"/>
            <a:ext cx="279400" cy="279400"/>
          </a:xfrm>
          <a:prstGeom prst="ellipse">
            <a:avLst/>
          </a:prstGeom>
          <a:solidFill>
            <a:srgbClr val="345C12"/>
          </a:solidFill>
          <a:ln w="12700">
            <a:solidFill>
              <a:srgbClr val="345C12"/>
            </a:solidFill>
            <a:prstDash val="solid"/>
          </a:ln>
        </p:spPr>
      </p:sp>
      <p:sp>
        <p:nvSpPr>
          <p:cNvPr id="61" name="o276"/>
          <p:cNvSpPr txBox="1"/>
          <p:nvPr/>
        </p:nvSpPr>
        <p:spPr>
          <a:xfrm>
            <a:off x="6883400" y="54292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62" name="o277"/>
          <p:cNvSpPr txBox="1"/>
          <p:nvPr/>
        </p:nvSpPr>
        <p:spPr>
          <a:xfrm>
            <a:off x="7289800" y="5308600"/>
            <a:ext cx="3937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C"/>
                </a:solidFill>
              </a:rPr>
              <a:t>AI 위험성평가</a:t>
            </a:r>
            <a:endParaRPr lang="en-US" sz="1700" dirty="0"/>
          </a:p>
        </p:txBody>
      </p:sp>
      <p:sp>
        <p:nvSpPr>
          <p:cNvPr id="63" name="o278"/>
          <p:cNvSpPr txBox="1"/>
          <p:nvPr/>
        </p:nvSpPr>
        <p:spPr>
          <a:xfrm>
            <a:off x="762000" y="60071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Google Sheets · AppSheet · Apps Script · EmailJS · GitHub  —  외부 개발 · 별도 예산 없이 보건관리자가 직접 개발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279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280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281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282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283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7" name="o284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285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286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287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DO  ·  개선 활동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플랫폼 시연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서류 한 건이 현장에서 2분 안에 결재까지 끝납니다</a:t>
            </a:r>
            <a:endParaRPr lang="en-US" sz="1800" dirty="0"/>
          </a:p>
        </p:txBody>
      </p:sp>
      <p:sp>
        <p:nvSpPr>
          <p:cNvPr id="13" name="o288"/>
          <p:cNvSpPr/>
          <p:nvPr/>
        </p:nvSpPr>
        <p:spPr>
          <a:xfrm>
            <a:off x="762000" y="2095500"/>
            <a:ext cx="6604000" cy="3714750"/>
          </a:xfrm>
          <a:prstGeom prst="roundRect">
            <a:avLst>
              <a:gd name="adj" fmla="val 2051"/>
            </a:avLst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</p:sp>
      <p:sp>
        <p:nvSpPr>
          <p:cNvPr id="14" name="o289"/>
          <p:cNvSpPr/>
          <p:nvPr/>
        </p:nvSpPr>
        <p:spPr>
          <a:xfrm>
            <a:off x="3746500" y="3632200"/>
            <a:ext cx="635000" cy="6350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5" name="o290"/>
          <p:cNvSpPr/>
          <p:nvPr/>
        </p:nvSpPr>
        <p:spPr>
          <a:xfrm rot="5400000">
            <a:off x="3962400" y="3822700"/>
            <a:ext cx="254000" cy="2540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o291"/>
          <p:cNvSpPr txBox="1"/>
          <p:nvPr/>
        </p:nvSpPr>
        <p:spPr>
          <a:xfrm>
            <a:off x="762000" y="4445000"/>
            <a:ext cx="660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시연 영상 1:20  —  이 자리에 영상 삽입 (삽입 → 비디오)</a:t>
            </a:r>
            <a:endParaRPr lang="en-US" sz="1400" dirty="0"/>
          </a:p>
        </p:txBody>
      </p:sp>
      <p:sp>
        <p:nvSpPr>
          <p:cNvPr id="17" name="o292"/>
          <p:cNvSpPr txBox="1"/>
          <p:nvPr/>
        </p:nvSpPr>
        <p:spPr>
          <a:xfrm>
            <a:off x="762000" y="59182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테스트 계정으로 촬영 · 실제 직원 이름 · 서명 비노출</a:t>
            </a:r>
            <a:endParaRPr lang="en-US" sz="1000" dirty="0"/>
          </a:p>
        </p:txBody>
      </p:sp>
      <p:sp>
        <p:nvSpPr>
          <p:cNvPr id="18" name="o293"/>
          <p:cNvSpPr/>
          <p:nvPr/>
        </p:nvSpPr>
        <p:spPr>
          <a:xfrm>
            <a:off x="7874000" y="2095500"/>
            <a:ext cx="25400" cy="787400"/>
          </a:xfrm>
          <a:prstGeom prst="rect">
            <a:avLst/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19" name="o294"/>
          <p:cNvSpPr txBox="1"/>
          <p:nvPr/>
        </p:nvSpPr>
        <p:spPr>
          <a:xfrm>
            <a:off x="8051800" y="20955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0:00</a:t>
            </a:r>
            <a:endParaRPr lang="en-US" sz="1200" dirty="0"/>
          </a:p>
        </p:txBody>
      </p:sp>
      <p:sp>
        <p:nvSpPr>
          <p:cNvPr id="20" name="o295"/>
          <p:cNvSpPr txBox="1"/>
          <p:nvPr/>
        </p:nvSpPr>
        <p:spPr>
          <a:xfrm>
            <a:off x="8051800" y="22987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MSDS 라이브러리</a:t>
            </a:r>
            <a:endParaRPr lang="en-US" sz="1800" dirty="0"/>
          </a:p>
        </p:txBody>
      </p:sp>
      <p:sp>
        <p:nvSpPr>
          <p:cNvPr id="21" name="o296"/>
          <p:cNvSpPr txBox="1"/>
          <p:nvPr/>
        </p:nvSpPr>
        <p:spPr>
          <a:xfrm>
            <a:off x="8051800" y="2578100"/>
            <a:ext cx="336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부서 선택 → 물질 → 원본 PDF</a:t>
            </a:r>
            <a:endParaRPr lang="en-US" sz="1200" dirty="0"/>
          </a:p>
        </p:txBody>
      </p:sp>
      <p:sp>
        <p:nvSpPr>
          <p:cNvPr id="22" name="o297"/>
          <p:cNvSpPr/>
          <p:nvPr/>
        </p:nvSpPr>
        <p:spPr>
          <a:xfrm>
            <a:off x="7874000" y="3035300"/>
            <a:ext cx="25400" cy="787400"/>
          </a:xfrm>
          <a:prstGeom prst="rect">
            <a:avLst/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23" name="o298"/>
          <p:cNvSpPr txBox="1"/>
          <p:nvPr/>
        </p:nvSpPr>
        <p:spPr>
          <a:xfrm>
            <a:off x="8051800" y="30353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0:15</a:t>
            </a:r>
            <a:endParaRPr lang="en-US" sz="1200" dirty="0"/>
          </a:p>
        </p:txBody>
      </p:sp>
      <p:sp>
        <p:nvSpPr>
          <p:cNvPr id="24" name="o299"/>
          <p:cNvSpPr txBox="1"/>
          <p:nvPr/>
        </p:nvSpPr>
        <p:spPr>
          <a:xfrm>
            <a:off x="8051800" y="32385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교육일지 작성</a:t>
            </a:r>
            <a:endParaRPr lang="en-US" sz="1800" dirty="0"/>
          </a:p>
        </p:txBody>
      </p:sp>
      <p:sp>
        <p:nvSpPr>
          <p:cNvPr id="25" name="o300"/>
          <p:cNvSpPr txBox="1"/>
          <p:nvPr/>
        </p:nvSpPr>
        <p:spPr>
          <a:xfrm>
            <a:off x="8051800" y="3517900"/>
            <a:ext cx="336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이름 검색 → 정보 자동 입력 → 사진 → 휴대폰 서명</a:t>
            </a:r>
            <a:endParaRPr lang="en-US" sz="1200" dirty="0"/>
          </a:p>
        </p:txBody>
      </p:sp>
      <p:sp>
        <p:nvSpPr>
          <p:cNvPr id="26" name="o301"/>
          <p:cNvSpPr/>
          <p:nvPr/>
        </p:nvSpPr>
        <p:spPr>
          <a:xfrm>
            <a:off x="7874000" y="3975100"/>
            <a:ext cx="25400" cy="787400"/>
          </a:xfrm>
          <a:prstGeom prst="rect">
            <a:avLst/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27" name="o302"/>
          <p:cNvSpPr txBox="1"/>
          <p:nvPr/>
        </p:nvSpPr>
        <p:spPr>
          <a:xfrm>
            <a:off x="8051800" y="39751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0:50</a:t>
            </a:r>
            <a:endParaRPr lang="en-US" sz="1200" dirty="0"/>
          </a:p>
        </p:txBody>
      </p:sp>
      <p:sp>
        <p:nvSpPr>
          <p:cNvPr id="28" name="o303"/>
          <p:cNvSpPr txBox="1"/>
          <p:nvPr/>
        </p:nvSpPr>
        <p:spPr>
          <a:xfrm>
            <a:off x="8051800" y="41783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비대면 결재</a:t>
            </a:r>
            <a:endParaRPr lang="en-US" sz="1800" dirty="0"/>
          </a:p>
        </p:txBody>
      </p:sp>
      <p:sp>
        <p:nvSpPr>
          <p:cNvPr id="29" name="o304"/>
          <p:cNvSpPr txBox="1"/>
          <p:nvPr/>
        </p:nvSpPr>
        <p:spPr>
          <a:xfrm>
            <a:off x="8051800" y="4457700"/>
            <a:ext cx="336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메일 알림 → 관리자 결재 → 자동 보관</a:t>
            </a:r>
            <a:endParaRPr lang="en-US" sz="1200" dirty="0"/>
          </a:p>
        </p:txBody>
      </p:sp>
      <p:sp>
        <p:nvSpPr>
          <p:cNvPr id="30" name="o305"/>
          <p:cNvSpPr/>
          <p:nvPr/>
        </p:nvSpPr>
        <p:spPr>
          <a:xfrm>
            <a:off x="7874000" y="4914900"/>
            <a:ext cx="25400" cy="787400"/>
          </a:xfrm>
          <a:prstGeom prst="rect">
            <a:avLst/>
          </a:prstGeom>
          <a:solidFill>
            <a:srgbClr val="CFE5BA"/>
          </a:solidFill>
          <a:ln w="12700">
            <a:solidFill>
              <a:srgbClr val="CFE5BA"/>
            </a:solidFill>
            <a:prstDash val="solid"/>
          </a:ln>
        </p:spPr>
      </p:sp>
      <p:sp>
        <p:nvSpPr>
          <p:cNvPr id="31" name="o306"/>
          <p:cNvSpPr txBox="1"/>
          <p:nvPr/>
        </p:nvSpPr>
        <p:spPr>
          <a:xfrm>
            <a:off x="8051800" y="49149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1:05</a:t>
            </a:r>
            <a:endParaRPr lang="en-US" sz="1200" dirty="0"/>
          </a:p>
        </p:txBody>
      </p:sp>
      <p:sp>
        <p:nvSpPr>
          <p:cNvPr id="32" name="o307"/>
          <p:cNvSpPr txBox="1"/>
          <p:nvPr/>
        </p:nvSpPr>
        <p:spPr>
          <a:xfrm>
            <a:off x="8051800" y="51181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E1C"/>
                </a:solidFill>
              </a:rPr>
              <a:t>관리자 대시보드</a:t>
            </a:r>
            <a:endParaRPr lang="en-US" sz="1800" dirty="0"/>
          </a:p>
        </p:txBody>
      </p:sp>
      <p:sp>
        <p:nvSpPr>
          <p:cNvPr id="33" name="o308"/>
          <p:cNvSpPr txBox="1"/>
          <p:nvPr/>
        </p:nvSpPr>
        <p:spPr>
          <a:xfrm>
            <a:off x="8051800" y="5397500"/>
            <a:ext cx="336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50"/>
                </a:solidFill>
              </a:rPr>
              <a:t>부서별 이수 현황 · 미이수자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309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310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311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312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313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314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315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316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317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CHECK  ·  활동 효과 ①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법정교육 누락 0건 · 종이 0건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업무량은 2배가 됐지만, 누락과 종이는 0이 됐습니다</a:t>
            </a:r>
            <a:endParaRPr lang="en-US" sz="1800" dirty="0"/>
          </a:p>
        </p:txBody>
      </p:sp>
      <p:sp>
        <p:nvSpPr>
          <p:cNvPr id="13" name="o318"/>
          <p:cNvSpPr txBox="1"/>
          <p:nvPr/>
        </p:nvSpPr>
        <p:spPr>
          <a:xfrm>
            <a:off x="762000" y="2032000"/>
            <a:ext cx="520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F7518"/>
                </a:solidFill>
              </a:rPr>
              <a:t>83% → 100%</a:t>
            </a:r>
            <a:endParaRPr lang="en-US" sz="4000" dirty="0"/>
          </a:p>
        </p:txBody>
      </p:sp>
      <p:sp>
        <p:nvSpPr>
          <p:cNvPr id="14" name="o319"/>
          <p:cNvSpPr txBox="1"/>
          <p:nvPr/>
        </p:nvSpPr>
        <p:spPr>
          <a:xfrm>
            <a:off x="762000" y="2603500"/>
            <a:ext cx="520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법정 의무교육 준수율  ·  누락 18건 → 0건 (2026.05–07 대상 33건 전원 기한 내 이수)</a:t>
            </a:r>
            <a:endParaRPr lang="en-US" sz="1200" dirty="0"/>
          </a:p>
        </p:txBody>
      </p:sp>
      <p:graphicFrame>
        <p:nvGraphicFramePr>
          <p:cNvPr id="15" name="o320" descr=""/>
          <p:cNvGraphicFramePr/>
          <p:nvPr/>
        </p:nvGraphicFramePr>
        <p:xfrm>
          <a:off x="698500" y="2984500"/>
          <a:ext cx="5334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o321"/>
          <p:cNvSpPr txBox="1"/>
          <p:nvPr/>
        </p:nvSpPr>
        <p:spPr>
          <a:xfrm>
            <a:off x="762000" y="5969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회색 2025년(개선 전)  ·  초록 2026년(개선 후)</a:t>
            </a:r>
            <a:endParaRPr lang="en-US" sz="1000" dirty="0"/>
          </a:p>
        </p:txBody>
      </p:sp>
      <p:sp>
        <p:nvSpPr>
          <p:cNvPr id="17" name="o322"/>
          <p:cNvSpPr txBox="1"/>
          <p:nvPr/>
        </p:nvSpPr>
        <p:spPr>
          <a:xfrm>
            <a:off x="6350000" y="2032000"/>
            <a:ext cx="508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F7518"/>
                </a:solidFill>
              </a:rPr>
              <a:t>0% → 100%</a:t>
            </a:r>
            <a:endParaRPr lang="en-US" sz="4000" dirty="0"/>
          </a:p>
        </p:txBody>
      </p:sp>
      <p:sp>
        <p:nvSpPr>
          <p:cNvPr id="18" name="o323"/>
          <p:cNvSpPr txBox="1"/>
          <p:nvPr/>
        </p:nvSpPr>
        <p:spPr>
          <a:xfrm>
            <a:off x="6350000" y="26035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23D"/>
                </a:solidFill>
              </a:rPr>
              <a:t>페이퍼리스 전환율  ·  월 7.8건 종이 → 월 17.3건 전량 디지털 (5–7월 52건)</a:t>
            </a:r>
            <a:endParaRPr lang="en-US" sz="1200" dirty="0"/>
          </a:p>
        </p:txBody>
      </p:sp>
      <p:graphicFrame>
        <p:nvGraphicFramePr>
          <p:cNvPr id="19" name="o324" descr=""/>
          <p:cNvGraphicFramePr/>
          <p:nvPr/>
        </p:nvGraphicFramePr>
        <p:xfrm>
          <a:off x="6286500" y="2984500"/>
          <a:ext cx="5207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o325"/>
          <p:cNvSpPr txBox="1"/>
          <p:nvPr/>
        </p:nvSpPr>
        <p:spPr>
          <a:xfrm>
            <a:off x="6350000" y="59690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단위: 건  ·  대상 업무: MSDS · 안전보건교육 · 보호구 수령증 · 유해화학물질 보고서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326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327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328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329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330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331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332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o333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334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CHECK  ·  활동 효과 ②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행정 소요시간 단축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이동과 대기를 없애자 33분이 2분이 됐습니다</a:t>
            </a:r>
            <a:endParaRPr lang="en-US" sz="1800" dirty="0"/>
          </a:p>
        </p:txBody>
      </p:sp>
      <p:sp>
        <p:nvSpPr>
          <p:cNvPr id="13" name="o335"/>
          <p:cNvSpPr/>
          <p:nvPr/>
        </p:nvSpPr>
        <p:spPr>
          <a:xfrm>
            <a:off x="762000" y="2032000"/>
            <a:ext cx="5207000" cy="1079500"/>
          </a:xfrm>
          <a:prstGeom prst="roundRect">
            <a:avLst>
              <a:gd name="adj" fmla="val 4706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14" name="o336"/>
          <p:cNvSpPr txBox="1"/>
          <p:nvPr/>
        </p:nvSpPr>
        <p:spPr>
          <a:xfrm>
            <a:off x="1016000" y="21336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3F7518"/>
                </a:solidFill>
              </a:rPr>
              <a:t>93%</a:t>
            </a:r>
            <a:endParaRPr lang="en-US" sz="5000" dirty="0"/>
          </a:p>
        </p:txBody>
      </p:sp>
      <p:sp>
        <p:nvSpPr>
          <p:cNvPr id="15" name="o337"/>
          <p:cNvSpPr txBox="1"/>
          <p:nvPr/>
        </p:nvSpPr>
        <p:spPr>
          <a:xfrm>
            <a:off x="2921000" y="22225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1C"/>
                </a:solidFill>
              </a:rPr>
              <a:t>특별안전보건교육 단축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E1C"/>
                </a:solidFill>
              </a:rPr>
              <a:t>33분 48초 → 2분 22초</a:t>
            </a:r>
            <a:endParaRPr lang="en-US" sz="1500" dirty="0"/>
          </a:p>
        </p:txBody>
      </p:sp>
      <p:sp>
        <p:nvSpPr>
          <p:cNvPr id="16" name="o338"/>
          <p:cNvSpPr/>
          <p:nvPr/>
        </p:nvSpPr>
        <p:spPr>
          <a:xfrm>
            <a:off x="6223000" y="2032000"/>
            <a:ext cx="5207000" cy="1079500"/>
          </a:xfrm>
          <a:prstGeom prst="roundRect">
            <a:avLst>
              <a:gd name="adj" fmla="val 4706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7" name="o339"/>
          <p:cNvSpPr txBox="1"/>
          <p:nvPr/>
        </p:nvSpPr>
        <p:spPr>
          <a:xfrm>
            <a:off x="6477000" y="21336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E1E1C"/>
                </a:solidFill>
              </a:rPr>
              <a:t>81%</a:t>
            </a:r>
            <a:endParaRPr lang="en-US" sz="5000" dirty="0"/>
          </a:p>
        </p:txBody>
      </p:sp>
      <p:sp>
        <p:nvSpPr>
          <p:cNvPr id="18" name="o340"/>
          <p:cNvSpPr txBox="1"/>
          <p:nvPr/>
        </p:nvSpPr>
        <p:spPr>
          <a:xfrm>
            <a:off x="8382000" y="22225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E1C"/>
                </a:solidFill>
              </a:rPr>
              <a:t>MSDS 교육 단축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E1C"/>
                </a:solidFill>
              </a:rPr>
              <a:t>4분 18초 → 49초</a:t>
            </a:r>
            <a:endParaRPr lang="en-US" sz="1500" dirty="0"/>
          </a:p>
        </p:txBody>
      </p:sp>
      <p:sp>
        <p:nvSpPr>
          <p:cNvPr id="19" name="o341"/>
          <p:cNvSpPr txBox="1"/>
          <p:nvPr/>
        </p:nvSpPr>
        <p:spPr>
          <a:xfrm>
            <a:off x="1016000" y="2794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목표 70% 초과 달성</a:t>
            </a:r>
            <a:endParaRPr lang="en-US" sz="1200" dirty="0"/>
          </a:p>
        </p:txBody>
      </p:sp>
      <p:sp>
        <p:nvSpPr>
          <p:cNvPr id="20" name="o342"/>
          <p:cNvSpPr txBox="1"/>
          <p:nvPr/>
        </p:nvSpPr>
        <p:spPr>
          <a:xfrm>
            <a:off x="6477000" y="2794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650"/>
                </a:solidFill>
              </a:rPr>
              <a:t>목표 70% 초과 달성</a:t>
            </a:r>
            <a:endParaRPr lang="en-US" sz="1200" dirty="0"/>
          </a:p>
        </p:txBody>
      </p:sp>
      <p:sp>
        <p:nvSpPr>
          <p:cNvPr id="21" name="o343"/>
          <p:cNvSpPr/>
          <p:nvPr/>
        </p:nvSpPr>
        <p:spPr>
          <a:xfrm>
            <a:off x="762000" y="3327400"/>
            <a:ext cx="88900" cy="88900"/>
          </a:xfrm>
          <a:prstGeom prst="rect">
            <a:avLst/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22" name="o344"/>
          <p:cNvSpPr txBox="1"/>
          <p:nvPr/>
        </p:nvSpPr>
        <p:spPr>
          <a:xfrm>
            <a:off x="901700" y="3289300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개선 전</a:t>
            </a:r>
            <a:endParaRPr lang="en-US" sz="1000" dirty="0"/>
          </a:p>
        </p:txBody>
      </p:sp>
      <p:sp>
        <p:nvSpPr>
          <p:cNvPr id="23" name="o345"/>
          <p:cNvSpPr/>
          <p:nvPr/>
        </p:nvSpPr>
        <p:spPr>
          <a:xfrm>
            <a:off x="1460500" y="3327400"/>
            <a:ext cx="88900" cy="889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24" name="o346"/>
          <p:cNvSpPr txBox="1"/>
          <p:nvPr/>
        </p:nvSpPr>
        <p:spPr>
          <a:xfrm>
            <a:off x="1600200" y="3289300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개선 후</a:t>
            </a:r>
            <a:endParaRPr lang="en-US" sz="1000" dirty="0"/>
          </a:p>
        </p:txBody>
      </p:sp>
      <p:sp>
        <p:nvSpPr>
          <p:cNvPr id="25" name="o347"/>
          <p:cNvSpPr txBox="1"/>
          <p:nvPr/>
        </p:nvSpPr>
        <p:spPr>
          <a:xfrm>
            <a:off x="6985000" y="3289300"/>
            <a:ext cx="444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50"/>
                </a:solidFill>
              </a:rPr>
              <a:t>특별안전보건교육 단계별 소요시간 (분:초)</a:t>
            </a:r>
            <a:endParaRPr lang="en-US" sz="1000" dirty="0"/>
          </a:p>
        </p:txBody>
      </p:sp>
      <p:sp>
        <p:nvSpPr>
          <p:cNvPr id="26" name="o348"/>
          <p:cNvSpPr txBox="1"/>
          <p:nvPr/>
        </p:nvSpPr>
        <p:spPr>
          <a:xfrm>
            <a:off x="762000" y="35560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① 초안 작성</a:t>
            </a:r>
            <a:endParaRPr lang="en-US" sz="1300" dirty="0"/>
          </a:p>
        </p:txBody>
      </p:sp>
      <p:sp>
        <p:nvSpPr>
          <p:cNvPr id="27" name="o349"/>
          <p:cNvSpPr/>
          <p:nvPr/>
        </p:nvSpPr>
        <p:spPr>
          <a:xfrm>
            <a:off x="2540000" y="3568700"/>
            <a:ext cx="888345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28" name="o350"/>
          <p:cNvSpPr txBox="1"/>
          <p:nvPr/>
        </p:nvSpPr>
        <p:spPr>
          <a:xfrm>
            <a:off x="3491845" y="35433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2:18</a:t>
            </a:r>
            <a:endParaRPr lang="en-US" sz="1100" dirty="0"/>
          </a:p>
        </p:txBody>
      </p:sp>
      <p:sp>
        <p:nvSpPr>
          <p:cNvPr id="29" name="o351"/>
          <p:cNvSpPr/>
          <p:nvPr/>
        </p:nvSpPr>
        <p:spPr>
          <a:xfrm>
            <a:off x="2540000" y="3733800"/>
            <a:ext cx="115871" cy="139700"/>
          </a:xfrm>
          <a:prstGeom prst="roundRect">
            <a:avLst>
              <a:gd name="adj" fmla="val 16441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0" name="o352"/>
          <p:cNvSpPr txBox="1"/>
          <p:nvPr/>
        </p:nvSpPr>
        <p:spPr>
          <a:xfrm>
            <a:off x="2719371" y="37084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0:18</a:t>
            </a:r>
            <a:endParaRPr lang="en-US" sz="1100" dirty="0"/>
          </a:p>
        </p:txBody>
      </p:sp>
      <p:sp>
        <p:nvSpPr>
          <p:cNvPr id="31" name="o353"/>
          <p:cNvSpPr txBox="1"/>
          <p:nvPr/>
        </p:nvSpPr>
        <p:spPr>
          <a:xfrm>
            <a:off x="762000" y="39497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② 부서장 전송</a:t>
            </a:r>
            <a:endParaRPr lang="en-US" sz="1300" dirty="0"/>
          </a:p>
        </p:txBody>
      </p:sp>
      <p:sp>
        <p:nvSpPr>
          <p:cNvPr id="32" name="o354"/>
          <p:cNvSpPr/>
          <p:nvPr/>
        </p:nvSpPr>
        <p:spPr>
          <a:xfrm>
            <a:off x="2540000" y="3962400"/>
            <a:ext cx="386237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33" name="o355"/>
          <p:cNvSpPr txBox="1"/>
          <p:nvPr/>
        </p:nvSpPr>
        <p:spPr>
          <a:xfrm>
            <a:off x="2989737" y="39370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1:00</a:t>
            </a:r>
            <a:endParaRPr lang="en-US" sz="1100" dirty="0"/>
          </a:p>
        </p:txBody>
      </p:sp>
      <p:sp>
        <p:nvSpPr>
          <p:cNvPr id="34" name="o356"/>
          <p:cNvSpPr/>
          <p:nvPr/>
        </p:nvSpPr>
        <p:spPr>
          <a:xfrm>
            <a:off x="2540000" y="4127500"/>
            <a:ext cx="321864" cy="139700"/>
          </a:xfrm>
          <a:prstGeom prst="roundRect">
            <a:avLst>
              <a:gd name="adj" fmla="val 13636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5" name="o357"/>
          <p:cNvSpPr txBox="1"/>
          <p:nvPr/>
        </p:nvSpPr>
        <p:spPr>
          <a:xfrm>
            <a:off x="2925364" y="41021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0:50</a:t>
            </a:r>
            <a:endParaRPr lang="en-US" sz="1100" dirty="0"/>
          </a:p>
        </p:txBody>
      </p:sp>
      <p:sp>
        <p:nvSpPr>
          <p:cNvPr id="36" name="o358"/>
          <p:cNvSpPr txBox="1"/>
          <p:nvPr/>
        </p:nvSpPr>
        <p:spPr>
          <a:xfrm>
            <a:off x="762000" y="43434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③ 출력 · 서명</a:t>
            </a:r>
            <a:endParaRPr lang="en-US" sz="1300" dirty="0"/>
          </a:p>
        </p:txBody>
      </p:sp>
      <p:sp>
        <p:nvSpPr>
          <p:cNvPr id="37" name="o359"/>
          <p:cNvSpPr/>
          <p:nvPr/>
        </p:nvSpPr>
        <p:spPr>
          <a:xfrm>
            <a:off x="2540000" y="4356100"/>
            <a:ext cx="579356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38" name="o360"/>
          <p:cNvSpPr txBox="1"/>
          <p:nvPr/>
        </p:nvSpPr>
        <p:spPr>
          <a:xfrm>
            <a:off x="3182856" y="43307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1:30</a:t>
            </a:r>
            <a:endParaRPr lang="en-US" sz="1100" dirty="0"/>
          </a:p>
        </p:txBody>
      </p:sp>
      <p:sp>
        <p:nvSpPr>
          <p:cNvPr id="39" name="o361"/>
          <p:cNvSpPr/>
          <p:nvPr/>
        </p:nvSpPr>
        <p:spPr>
          <a:xfrm>
            <a:off x="2540000" y="4521200"/>
            <a:ext cx="57936" cy="139700"/>
          </a:xfrm>
          <a:prstGeom prst="roundRect">
            <a:avLst>
              <a:gd name="adj" fmla="val 32881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40" name="o362"/>
          <p:cNvSpPr txBox="1"/>
          <p:nvPr/>
        </p:nvSpPr>
        <p:spPr>
          <a:xfrm>
            <a:off x="2661436" y="44958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0:09</a:t>
            </a:r>
            <a:endParaRPr lang="en-US" sz="1100" dirty="0"/>
          </a:p>
        </p:txBody>
      </p:sp>
      <p:sp>
        <p:nvSpPr>
          <p:cNvPr id="41" name="o363"/>
          <p:cNvSpPr txBox="1"/>
          <p:nvPr/>
        </p:nvSpPr>
        <p:spPr>
          <a:xfrm>
            <a:off x="762000" y="47371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④ 보건실 직접 제출</a:t>
            </a:r>
            <a:endParaRPr lang="en-US" sz="1300" dirty="0"/>
          </a:p>
        </p:txBody>
      </p:sp>
      <p:sp>
        <p:nvSpPr>
          <p:cNvPr id="42" name="o364"/>
          <p:cNvSpPr/>
          <p:nvPr/>
        </p:nvSpPr>
        <p:spPr>
          <a:xfrm>
            <a:off x="2540000" y="4749800"/>
            <a:ext cx="2703660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43" name="o365"/>
          <p:cNvSpPr txBox="1"/>
          <p:nvPr/>
        </p:nvSpPr>
        <p:spPr>
          <a:xfrm>
            <a:off x="5307160" y="47244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7:00</a:t>
            </a:r>
            <a:endParaRPr lang="en-US" sz="1100" dirty="0"/>
          </a:p>
        </p:txBody>
      </p:sp>
      <p:sp>
        <p:nvSpPr>
          <p:cNvPr id="44" name="o366"/>
          <p:cNvSpPr/>
          <p:nvPr/>
        </p:nvSpPr>
        <p:spPr>
          <a:xfrm>
            <a:off x="2540000" y="4914900"/>
            <a:ext cx="25400" cy="139700"/>
          </a:xfrm>
          <a:prstGeom prst="roundRect">
            <a:avLst>
              <a:gd name="adj" fmla="val 75000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45" name="o367"/>
          <p:cNvSpPr txBox="1"/>
          <p:nvPr/>
        </p:nvSpPr>
        <p:spPr>
          <a:xfrm>
            <a:off x="2628900" y="48895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0:00 (없어짐)</a:t>
            </a:r>
            <a:endParaRPr lang="en-US" sz="1100" dirty="0"/>
          </a:p>
        </p:txBody>
      </p:sp>
      <p:sp>
        <p:nvSpPr>
          <p:cNvPr id="46" name="o368"/>
          <p:cNvSpPr txBox="1"/>
          <p:nvPr/>
        </p:nvSpPr>
        <p:spPr>
          <a:xfrm>
            <a:off x="762000" y="51308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⑤ 사진 전송</a:t>
            </a:r>
            <a:endParaRPr lang="en-US" sz="1300" dirty="0"/>
          </a:p>
        </p:txBody>
      </p:sp>
      <p:sp>
        <p:nvSpPr>
          <p:cNvPr id="47" name="o369"/>
          <p:cNvSpPr/>
          <p:nvPr/>
        </p:nvSpPr>
        <p:spPr>
          <a:xfrm>
            <a:off x="2540000" y="5143500"/>
            <a:ext cx="193119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48" name="o370"/>
          <p:cNvSpPr txBox="1"/>
          <p:nvPr/>
        </p:nvSpPr>
        <p:spPr>
          <a:xfrm>
            <a:off x="2796619" y="51181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0:30</a:t>
            </a:r>
            <a:endParaRPr lang="en-US" sz="1100" dirty="0"/>
          </a:p>
        </p:txBody>
      </p:sp>
      <p:sp>
        <p:nvSpPr>
          <p:cNvPr id="49" name="o371"/>
          <p:cNvSpPr/>
          <p:nvPr/>
        </p:nvSpPr>
        <p:spPr>
          <a:xfrm>
            <a:off x="2540000" y="5308600"/>
            <a:ext cx="38624" cy="139700"/>
          </a:xfrm>
          <a:prstGeom prst="roundRect">
            <a:avLst>
              <a:gd name="adj" fmla="val 49322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0" name="o372"/>
          <p:cNvSpPr txBox="1"/>
          <p:nvPr/>
        </p:nvSpPr>
        <p:spPr>
          <a:xfrm>
            <a:off x="2642124" y="52832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0:06</a:t>
            </a:r>
            <a:endParaRPr lang="en-US" sz="1100" dirty="0"/>
          </a:p>
        </p:txBody>
      </p:sp>
      <p:sp>
        <p:nvSpPr>
          <p:cNvPr id="51" name="o373"/>
          <p:cNvSpPr txBox="1"/>
          <p:nvPr/>
        </p:nvSpPr>
        <p:spPr>
          <a:xfrm>
            <a:off x="762000" y="55245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⑥ 취합 · 파일링</a:t>
            </a:r>
            <a:endParaRPr lang="en-US" sz="1300" dirty="0"/>
          </a:p>
        </p:txBody>
      </p:sp>
      <p:sp>
        <p:nvSpPr>
          <p:cNvPr id="52" name="o374"/>
          <p:cNvSpPr/>
          <p:nvPr/>
        </p:nvSpPr>
        <p:spPr>
          <a:xfrm>
            <a:off x="2540000" y="5537200"/>
            <a:ext cx="811098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53" name="o375"/>
          <p:cNvSpPr txBox="1"/>
          <p:nvPr/>
        </p:nvSpPr>
        <p:spPr>
          <a:xfrm>
            <a:off x="3414598" y="55118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2:06</a:t>
            </a:r>
            <a:endParaRPr lang="en-US" sz="1100" dirty="0"/>
          </a:p>
        </p:txBody>
      </p:sp>
      <p:sp>
        <p:nvSpPr>
          <p:cNvPr id="54" name="o376"/>
          <p:cNvSpPr/>
          <p:nvPr/>
        </p:nvSpPr>
        <p:spPr>
          <a:xfrm>
            <a:off x="2540000" y="5702300"/>
            <a:ext cx="25400" cy="139700"/>
          </a:xfrm>
          <a:prstGeom prst="roundRect">
            <a:avLst>
              <a:gd name="adj" fmla="val 75000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5" name="o377"/>
          <p:cNvSpPr txBox="1"/>
          <p:nvPr/>
        </p:nvSpPr>
        <p:spPr>
          <a:xfrm>
            <a:off x="2628900" y="56769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0:00 (없어짐)</a:t>
            </a:r>
            <a:endParaRPr lang="en-US" sz="1100" dirty="0"/>
          </a:p>
        </p:txBody>
      </p:sp>
      <p:sp>
        <p:nvSpPr>
          <p:cNvPr id="56" name="o378"/>
          <p:cNvSpPr txBox="1"/>
          <p:nvPr/>
        </p:nvSpPr>
        <p:spPr>
          <a:xfrm>
            <a:off x="762000" y="5918200"/>
            <a:ext cx="165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23D"/>
                </a:solidFill>
              </a:rPr>
              <a:t>⑦ 결재</a:t>
            </a:r>
            <a:endParaRPr lang="en-US" sz="1300" dirty="0"/>
          </a:p>
        </p:txBody>
      </p:sp>
      <p:sp>
        <p:nvSpPr>
          <p:cNvPr id="57" name="o379"/>
          <p:cNvSpPr/>
          <p:nvPr/>
        </p:nvSpPr>
        <p:spPr>
          <a:xfrm>
            <a:off x="2540000" y="5930900"/>
            <a:ext cx="7493000" cy="139700"/>
          </a:xfrm>
          <a:prstGeom prst="roundRect">
            <a:avLst>
              <a:gd name="adj" fmla="val 13636"/>
            </a:avLst>
          </a:prstGeom>
          <a:solidFill>
            <a:srgbClr val="B5B2AA"/>
          </a:solidFill>
          <a:ln w="12700">
            <a:solidFill>
              <a:srgbClr val="B5B2AA"/>
            </a:solidFill>
            <a:prstDash val="solid"/>
          </a:ln>
        </p:spPr>
      </p:sp>
      <p:sp>
        <p:nvSpPr>
          <p:cNvPr id="58" name="o380"/>
          <p:cNvSpPr txBox="1"/>
          <p:nvPr/>
        </p:nvSpPr>
        <p:spPr>
          <a:xfrm>
            <a:off x="10096500" y="5905500"/>
            <a:ext cx="57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19:24</a:t>
            </a:r>
            <a:endParaRPr lang="en-US" sz="1100" dirty="0"/>
          </a:p>
        </p:txBody>
      </p:sp>
      <p:sp>
        <p:nvSpPr>
          <p:cNvPr id="59" name="o381"/>
          <p:cNvSpPr/>
          <p:nvPr/>
        </p:nvSpPr>
        <p:spPr>
          <a:xfrm>
            <a:off x="2540000" y="6096000"/>
            <a:ext cx="386237" cy="139700"/>
          </a:xfrm>
          <a:prstGeom prst="roundRect">
            <a:avLst>
              <a:gd name="adj" fmla="val 13636"/>
            </a:avLst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60" name="o382"/>
          <p:cNvSpPr txBox="1"/>
          <p:nvPr/>
        </p:nvSpPr>
        <p:spPr>
          <a:xfrm>
            <a:off x="2989737" y="60706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1:00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383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384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385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386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387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388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389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9" name="o390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391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ACT  ·  표준화 · 고도화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표준화 · AI 통합 플랫폼 고도화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표준 업무로 정착시킨 뒤, AI로 '기록하는 시스템'에서 '먼저 알려 주는 시스템'으로 고도화했습니다</a:t>
            </a:r>
            <a:endParaRPr lang="en-US" sz="1800" dirty="0"/>
          </a:p>
        </p:txBody>
      </p:sp>
      <p:sp>
        <p:nvSpPr>
          <p:cNvPr id="13" name="o392"/>
          <p:cNvSpPr/>
          <p:nvPr/>
        </p:nvSpPr>
        <p:spPr>
          <a:xfrm>
            <a:off x="762000" y="2070100"/>
            <a:ext cx="10668000" cy="609600"/>
          </a:xfrm>
          <a:prstGeom prst="roundRect">
            <a:avLst>
              <a:gd name="adj" fmla="val 8333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4" name="o393"/>
          <p:cNvSpPr txBox="1"/>
          <p:nvPr/>
        </p:nvSpPr>
        <p:spPr>
          <a:xfrm>
            <a:off x="952500" y="2070100"/>
            <a:ext cx="13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518"/>
                </a:solidFill>
              </a:rPr>
              <a:t>사내 표준 업무</a:t>
            </a:r>
            <a:endParaRPr lang="en-US" sz="1300" dirty="0"/>
          </a:p>
        </p:txBody>
      </p:sp>
      <p:sp>
        <p:nvSpPr>
          <p:cNvPr id="15" name="o394"/>
          <p:cNvSpPr/>
          <p:nvPr/>
        </p:nvSpPr>
        <p:spPr>
          <a:xfrm>
            <a:off x="2540000" y="2235200"/>
            <a:ext cx="279400" cy="2794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6" name="o395"/>
          <p:cNvSpPr txBox="1"/>
          <p:nvPr/>
        </p:nvSpPr>
        <p:spPr>
          <a:xfrm>
            <a:off x="2540000" y="2235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o396"/>
          <p:cNvSpPr txBox="1"/>
          <p:nvPr/>
        </p:nvSpPr>
        <p:spPr>
          <a:xfrm>
            <a:off x="2895600" y="2070100"/>
            <a:ext cx="158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C"/>
                </a:solidFill>
              </a:rPr>
              <a:t>모바일 작성</a:t>
            </a:r>
            <a:endParaRPr lang="en-US" sz="1400" dirty="0"/>
          </a:p>
        </p:txBody>
      </p:sp>
      <p:sp>
        <p:nvSpPr>
          <p:cNvPr id="18" name="o397"/>
          <p:cNvSpPr txBox="1"/>
          <p:nvPr/>
        </p:nvSpPr>
        <p:spPr>
          <a:xfrm>
            <a:off x="4381500" y="2070100"/>
            <a:ext cx="31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AF2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o398"/>
          <p:cNvSpPr/>
          <p:nvPr/>
        </p:nvSpPr>
        <p:spPr>
          <a:xfrm>
            <a:off x="4762500" y="2235200"/>
            <a:ext cx="279400" cy="2794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20" name="o399"/>
          <p:cNvSpPr txBox="1"/>
          <p:nvPr/>
        </p:nvSpPr>
        <p:spPr>
          <a:xfrm>
            <a:off x="4762500" y="2235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o400"/>
          <p:cNvSpPr txBox="1"/>
          <p:nvPr/>
        </p:nvSpPr>
        <p:spPr>
          <a:xfrm>
            <a:off x="5118100" y="2070100"/>
            <a:ext cx="158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C"/>
                </a:solidFill>
              </a:rPr>
              <a:t>전자서명</a:t>
            </a:r>
            <a:endParaRPr lang="en-US" sz="1400" dirty="0"/>
          </a:p>
        </p:txBody>
      </p:sp>
      <p:sp>
        <p:nvSpPr>
          <p:cNvPr id="22" name="o401"/>
          <p:cNvSpPr txBox="1"/>
          <p:nvPr/>
        </p:nvSpPr>
        <p:spPr>
          <a:xfrm>
            <a:off x="6604000" y="2070100"/>
            <a:ext cx="31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AF2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o402"/>
          <p:cNvSpPr/>
          <p:nvPr/>
        </p:nvSpPr>
        <p:spPr>
          <a:xfrm>
            <a:off x="6985000" y="2235200"/>
            <a:ext cx="279400" cy="2794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24" name="o403"/>
          <p:cNvSpPr txBox="1"/>
          <p:nvPr/>
        </p:nvSpPr>
        <p:spPr>
          <a:xfrm>
            <a:off x="6985000" y="2235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o404"/>
          <p:cNvSpPr txBox="1"/>
          <p:nvPr/>
        </p:nvSpPr>
        <p:spPr>
          <a:xfrm>
            <a:off x="7340600" y="2070100"/>
            <a:ext cx="158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C"/>
                </a:solidFill>
              </a:rPr>
              <a:t>비대면 승인</a:t>
            </a:r>
            <a:endParaRPr lang="en-US" sz="1400" dirty="0"/>
          </a:p>
        </p:txBody>
      </p:sp>
      <p:sp>
        <p:nvSpPr>
          <p:cNvPr id="26" name="o405"/>
          <p:cNvSpPr txBox="1"/>
          <p:nvPr/>
        </p:nvSpPr>
        <p:spPr>
          <a:xfrm>
            <a:off x="8826500" y="2070100"/>
            <a:ext cx="31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AF28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o406"/>
          <p:cNvSpPr/>
          <p:nvPr/>
        </p:nvSpPr>
        <p:spPr>
          <a:xfrm>
            <a:off x="9207500" y="2235200"/>
            <a:ext cx="279400" cy="279400"/>
          </a:xfrm>
          <a:prstGeom prst="ellipse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28" name="o407"/>
          <p:cNvSpPr txBox="1"/>
          <p:nvPr/>
        </p:nvSpPr>
        <p:spPr>
          <a:xfrm>
            <a:off x="9207500" y="2235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o408"/>
          <p:cNvSpPr txBox="1"/>
          <p:nvPr/>
        </p:nvSpPr>
        <p:spPr>
          <a:xfrm>
            <a:off x="9563100" y="2070100"/>
            <a:ext cx="158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C"/>
                </a:solidFill>
              </a:rPr>
              <a:t>MSDS 상시 개정</a:t>
            </a:r>
            <a:endParaRPr lang="en-US" sz="1400" dirty="0"/>
          </a:p>
        </p:txBody>
      </p:sp>
      <p:sp>
        <p:nvSpPr>
          <p:cNvPr id="30" name="o409"/>
          <p:cNvSpPr/>
          <p:nvPr/>
        </p:nvSpPr>
        <p:spPr>
          <a:xfrm>
            <a:off x="762000" y="2857500"/>
            <a:ext cx="2552700" cy="317500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25400">
            <a:solidFill>
              <a:srgbClr val="5A9E22"/>
            </a:solidFill>
            <a:prstDash val="solid"/>
          </a:ln>
        </p:spPr>
      </p:sp>
      <p:sp>
        <p:nvSpPr>
          <p:cNvPr id="31" name="o410"/>
          <p:cNvSpPr/>
          <p:nvPr/>
        </p:nvSpPr>
        <p:spPr>
          <a:xfrm>
            <a:off x="939800" y="3035300"/>
            <a:ext cx="355600" cy="203200"/>
          </a:xfrm>
          <a:prstGeom prst="roundRect">
            <a:avLst>
              <a:gd name="adj" fmla="val 50000"/>
            </a:avLst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32" name="o411"/>
          <p:cNvSpPr txBox="1"/>
          <p:nvPr/>
        </p:nvSpPr>
        <p:spPr>
          <a:xfrm>
            <a:off x="939800" y="30353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33" name="o412"/>
          <p:cNvSpPr txBox="1"/>
          <p:nvPr/>
        </p:nvSpPr>
        <p:spPr>
          <a:xfrm>
            <a:off x="939800" y="33528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E1C"/>
                </a:solidFill>
              </a:rPr>
              <a:t>AI MSDS 검토</a:t>
            </a:r>
            <a:endParaRPr lang="en-US" sz="1900" dirty="0"/>
          </a:p>
        </p:txBody>
      </p:sp>
      <p:sp>
        <p:nvSpPr>
          <p:cNvPr id="34" name="o413"/>
          <p:cNvSpPr txBox="1"/>
          <p:nvPr/>
        </p:nvSpPr>
        <p:spPr>
          <a:xfrm>
            <a:off x="939800" y="37338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423D"/>
                </a:solidFill>
              </a:rPr>
              <a:t>MSDS PDF를 읽고 관리대상 · 특별관리 · 특수건강진단 · 작업환경측정 해당 여부를 제안</a:t>
            </a:r>
            <a:endParaRPr lang="en-US" sz="1300" dirty="0"/>
          </a:p>
        </p:txBody>
      </p:sp>
      <p:sp>
        <p:nvSpPr>
          <p:cNvPr id="35" name="o414"/>
          <p:cNvSpPr/>
          <p:nvPr/>
        </p:nvSpPr>
        <p:spPr>
          <a:xfrm>
            <a:off x="939800" y="5016500"/>
            <a:ext cx="2197100" cy="635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36" name="o415"/>
          <p:cNvSpPr txBox="1"/>
          <p:nvPr/>
        </p:nvSpPr>
        <p:spPr>
          <a:xfrm>
            <a:off x="939800" y="5118100"/>
            <a:ext cx="2197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7518"/>
                </a:solidFill>
              </a:rPr>
              <a:t>사람이 확인하는 지점</a:t>
            </a:r>
            <a:endParaRPr lang="en-US" sz="1000" dirty="0"/>
          </a:p>
        </p:txBody>
      </p:sp>
      <p:sp>
        <p:nvSpPr>
          <p:cNvPr id="37" name="o416"/>
          <p:cNvSpPr txBox="1"/>
          <p:nvPr/>
        </p:nvSpPr>
        <p:spPr>
          <a:xfrm>
            <a:off x="939800" y="5308600"/>
            <a:ext cx="2197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650"/>
                </a:solidFill>
              </a:rPr>
              <a:t>법령대조표 · 기존 판정과 비교 → 관리자 승인분만 등록</a:t>
            </a:r>
            <a:endParaRPr lang="en-US" sz="1100" dirty="0"/>
          </a:p>
        </p:txBody>
      </p:sp>
      <p:sp>
        <p:nvSpPr>
          <p:cNvPr id="38" name="o417"/>
          <p:cNvSpPr/>
          <p:nvPr/>
        </p:nvSpPr>
        <p:spPr>
          <a:xfrm>
            <a:off x="3467100" y="2857500"/>
            <a:ext cx="2552700" cy="317500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25400">
            <a:solidFill>
              <a:srgbClr val="4C8A1D"/>
            </a:solidFill>
            <a:prstDash val="solid"/>
          </a:ln>
        </p:spPr>
      </p:sp>
      <p:sp>
        <p:nvSpPr>
          <p:cNvPr id="39" name="o418"/>
          <p:cNvSpPr/>
          <p:nvPr/>
        </p:nvSpPr>
        <p:spPr>
          <a:xfrm>
            <a:off x="3644900" y="3035300"/>
            <a:ext cx="355600" cy="203200"/>
          </a:xfrm>
          <a:prstGeom prst="roundRect">
            <a:avLst>
              <a:gd name="adj" fmla="val 50000"/>
            </a:avLst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40" name="o419"/>
          <p:cNvSpPr txBox="1"/>
          <p:nvPr/>
        </p:nvSpPr>
        <p:spPr>
          <a:xfrm>
            <a:off x="3644900" y="30353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41" name="o420"/>
          <p:cNvSpPr txBox="1"/>
          <p:nvPr/>
        </p:nvSpPr>
        <p:spPr>
          <a:xfrm>
            <a:off x="3644900" y="33528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E1C"/>
                </a:solidFill>
              </a:rPr>
              <a:t>AI 도우미</a:t>
            </a:r>
            <a:endParaRPr lang="en-US" sz="1900" dirty="0"/>
          </a:p>
        </p:txBody>
      </p:sp>
      <p:sp>
        <p:nvSpPr>
          <p:cNvPr id="42" name="o421"/>
          <p:cNvSpPr txBox="1"/>
          <p:nvPr/>
        </p:nvSpPr>
        <p:spPr>
          <a:xfrm>
            <a:off x="3644900" y="37338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423D"/>
                </a:solidFill>
              </a:rPr>
              <a:t>사용법 · 교육 기한 · MSDS · 법령을 직원이 바로 질문</a:t>
            </a:r>
            <a:endParaRPr lang="en-US" sz="1300" dirty="0"/>
          </a:p>
        </p:txBody>
      </p:sp>
      <p:sp>
        <p:nvSpPr>
          <p:cNvPr id="43" name="o422"/>
          <p:cNvSpPr/>
          <p:nvPr/>
        </p:nvSpPr>
        <p:spPr>
          <a:xfrm>
            <a:off x="3644900" y="5016500"/>
            <a:ext cx="2197100" cy="635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44" name="o423"/>
          <p:cNvSpPr txBox="1"/>
          <p:nvPr/>
        </p:nvSpPr>
        <p:spPr>
          <a:xfrm>
            <a:off x="3644900" y="5118100"/>
            <a:ext cx="2197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7518"/>
                </a:solidFill>
              </a:rPr>
              <a:t>사람이 확인하는 지점</a:t>
            </a:r>
            <a:endParaRPr lang="en-US" sz="1000" dirty="0"/>
          </a:p>
        </p:txBody>
      </p:sp>
      <p:sp>
        <p:nvSpPr>
          <p:cNvPr id="45" name="o424"/>
          <p:cNvSpPr txBox="1"/>
          <p:nvPr/>
        </p:nvSpPr>
        <p:spPr>
          <a:xfrm>
            <a:off x="3644900" y="5308600"/>
            <a:ext cx="2197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650"/>
                </a:solidFill>
              </a:rPr>
              <a:t>답마다 출처 표시 (사내 FAQ · 법령 조문 · 안전보건공단 자료)</a:t>
            </a:r>
            <a:endParaRPr lang="en-US" sz="1100" dirty="0"/>
          </a:p>
        </p:txBody>
      </p:sp>
      <p:sp>
        <p:nvSpPr>
          <p:cNvPr id="46" name="o425"/>
          <p:cNvSpPr/>
          <p:nvPr/>
        </p:nvSpPr>
        <p:spPr>
          <a:xfrm>
            <a:off x="6172200" y="2857500"/>
            <a:ext cx="2552700" cy="317500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25400">
            <a:solidFill>
              <a:srgbClr val="3F7518"/>
            </a:solidFill>
            <a:prstDash val="solid"/>
          </a:ln>
        </p:spPr>
      </p:sp>
      <p:sp>
        <p:nvSpPr>
          <p:cNvPr id="47" name="o426"/>
          <p:cNvSpPr/>
          <p:nvPr/>
        </p:nvSpPr>
        <p:spPr>
          <a:xfrm>
            <a:off x="6350000" y="3035300"/>
            <a:ext cx="355600" cy="203200"/>
          </a:xfrm>
          <a:prstGeom prst="roundRect">
            <a:avLst>
              <a:gd name="adj" fmla="val 50000"/>
            </a:avLst>
          </a:prstGeom>
          <a:solidFill>
            <a:srgbClr val="3F7518"/>
          </a:solidFill>
          <a:ln w="12700">
            <a:solidFill>
              <a:srgbClr val="3F7518"/>
            </a:solidFill>
            <a:prstDash val="solid"/>
          </a:ln>
        </p:spPr>
      </p:sp>
      <p:sp>
        <p:nvSpPr>
          <p:cNvPr id="48" name="o427"/>
          <p:cNvSpPr txBox="1"/>
          <p:nvPr/>
        </p:nvSpPr>
        <p:spPr>
          <a:xfrm>
            <a:off x="6350000" y="30353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49" name="o428"/>
          <p:cNvSpPr txBox="1"/>
          <p:nvPr/>
        </p:nvSpPr>
        <p:spPr>
          <a:xfrm>
            <a:off x="6350000" y="33528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E1C"/>
                </a:solidFill>
              </a:rPr>
              <a:t>AI 위험성평가</a:t>
            </a:r>
            <a:endParaRPr lang="en-US" sz="1900" dirty="0"/>
          </a:p>
        </p:txBody>
      </p:sp>
      <p:sp>
        <p:nvSpPr>
          <p:cNvPr id="50" name="o429"/>
          <p:cNvSpPr txBox="1"/>
          <p:nvPr/>
        </p:nvSpPr>
        <p:spPr>
          <a:xfrm>
            <a:off x="6350000" y="37338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423D"/>
                </a:solidFill>
              </a:rPr>
              <a:t>현장 사진 1장 → 유해 · 위험요인 → 가능성 × 중대성(5×4) → 감소대책</a:t>
            </a:r>
            <a:endParaRPr lang="en-US" sz="1300" dirty="0"/>
          </a:p>
        </p:txBody>
      </p:sp>
      <p:sp>
        <p:nvSpPr>
          <p:cNvPr id="51" name="o430"/>
          <p:cNvSpPr/>
          <p:nvPr/>
        </p:nvSpPr>
        <p:spPr>
          <a:xfrm>
            <a:off x="6350000" y="5016500"/>
            <a:ext cx="2197100" cy="635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2" name="o431"/>
          <p:cNvSpPr txBox="1"/>
          <p:nvPr/>
        </p:nvSpPr>
        <p:spPr>
          <a:xfrm>
            <a:off x="6350000" y="5118100"/>
            <a:ext cx="2197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7518"/>
                </a:solidFill>
              </a:rPr>
              <a:t>사람이 확인하는 지점</a:t>
            </a:r>
            <a:endParaRPr lang="en-US" sz="1000" dirty="0"/>
          </a:p>
        </p:txBody>
      </p:sp>
      <p:sp>
        <p:nvSpPr>
          <p:cNvPr id="53" name="o432"/>
          <p:cNvSpPr txBox="1"/>
          <p:nvPr/>
        </p:nvSpPr>
        <p:spPr>
          <a:xfrm>
            <a:off x="6350000" y="5308600"/>
            <a:ext cx="2197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650"/>
                </a:solidFill>
              </a:rPr>
              <a:t>점수 · 등급은 서버가 재계산 · 법령 조문 번호 대조</a:t>
            </a:r>
            <a:endParaRPr lang="en-US" sz="1100" dirty="0"/>
          </a:p>
        </p:txBody>
      </p:sp>
      <p:sp>
        <p:nvSpPr>
          <p:cNvPr id="54" name="o433"/>
          <p:cNvSpPr/>
          <p:nvPr/>
        </p:nvSpPr>
        <p:spPr>
          <a:xfrm>
            <a:off x="8877300" y="2857500"/>
            <a:ext cx="2552700" cy="317500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25400">
            <a:solidFill>
              <a:srgbClr val="325F13"/>
            </a:solidFill>
            <a:prstDash val="solid"/>
          </a:ln>
        </p:spPr>
      </p:sp>
      <p:sp>
        <p:nvSpPr>
          <p:cNvPr id="55" name="o434"/>
          <p:cNvSpPr/>
          <p:nvPr/>
        </p:nvSpPr>
        <p:spPr>
          <a:xfrm>
            <a:off x="9055100" y="3035300"/>
            <a:ext cx="584200" cy="203200"/>
          </a:xfrm>
          <a:prstGeom prst="roundRect">
            <a:avLst>
              <a:gd name="adj" fmla="val 50000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56" name="o435"/>
          <p:cNvSpPr txBox="1"/>
          <p:nvPr/>
        </p:nvSpPr>
        <p:spPr>
          <a:xfrm>
            <a:off x="9055100" y="30353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자동화</a:t>
            </a:r>
            <a:endParaRPr lang="en-US" sz="1100" dirty="0"/>
          </a:p>
        </p:txBody>
      </p:sp>
      <p:sp>
        <p:nvSpPr>
          <p:cNvPr id="57" name="o436"/>
          <p:cNvSpPr txBox="1"/>
          <p:nvPr/>
        </p:nvSpPr>
        <p:spPr>
          <a:xfrm>
            <a:off x="9055100" y="33528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E1C"/>
                </a:solidFill>
              </a:rPr>
              <a:t>신규입사 자동 알림</a:t>
            </a:r>
            <a:endParaRPr lang="en-US" sz="1900" dirty="0"/>
          </a:p>
        </p:txBody>
      </p:sp>
      <p:sp>
        <p:nvSpPr>
          <p:cNvPr id="58" name="o437"/>
          <p:cNvSpPr txBox="1"/>
          <p:nvPr/>
        </p:nvSpPr>
        <p:spPr>
          <a:xfrm>
            <a:off x="9055100" y="37338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5423D"/>
                </a:solidFill>
              </a:rPr>
              <a:t>인사 DB를 매일 대조 → 화학물질 사용 부서 입사자 발생 시 부서장에게 메일 (기한 입사 후 3일)</a:t>
            </a:r>
            <a:endParaRPr lang="en-US" sz="1300" dirty="0"/>
          </a:p>
        </p:txBody>
      </p:sp>
      <p:sp>
        <p:nvSpPr>
          <p:cNvPr id="59" name="o438"/>
          <p:cNvSpPr/>
          <p:nvPr/>
        </p:nvSpPr>
        <p:spPr>
          <a:xfrm>
            <a:off x="9055100" y="5016500"/>
            <a:ext cx="2197100" cy="6350"/>
          </a:xfrm>
          <a:prstGeom prst="rect">
            <a:avLst/>
          </a:prstGeom>
          <a:solidFill>
            <a:srgbClr val="DDDBD5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60" name="o439"/>
          <p:cNvSpPr txBox="1"/>
          <p:nvPr/>
        </p:nvSpPr>
        <p:spPr>
          <a:xfrm>
            <a:off x="9055100" y="5118100"/>
            <a:ext cx="2197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7518"/>
                </a:solidFill>
              </a:rPr>
              <a:t>사람이 확인하는 지점</a:t>
            </a:r>
            <a:endParaRPr lang="en-US" sz="1000" dirty="0"/>
          </a:p>
        </p:txBody>
      </p:sp>
      <p:sp>
        <p:nvSpPr>
          <p:cNvPr id="61" name="o440"/>
          <p:cNvSpPr txBox="1"/>
          <p:nvPr/>
        </p:nvSpPr>
        <p:spPr>
          <a:xfrm>
            <a:off x="9055100" y="5308600"/>
            <a:ext cx="2197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650"/>
                </a:solidFill>
              </a:rPr>
              <a:t>미회신 시 3일마다 재알림 (최대 3회)</a:t>
            </a:r>
            <a:endParaRPr lang="en-US" sz="1100" dirty="0"/>
          </a:p>
        </p:txBody>
      </p:sp>
      <p:sp>
        <p:nvSpPr>
          <p:cNvPr id="62" name="o441"/>
          <p:cNvSpPr txBox="1"/>
          <p:nvPr/>
        </p:nvSpPr>
        <p:spPr>
          <a:xfrm>
            <a:off x="762000" y="61341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원칙   AI는 제안, 결정은 사람  ·  개인정보는 AI에 보내지 않음(사진 위치정보 삭제)  ·  근거와 출처 표시     |     8–10월 적용, 효과는 하반기 측정 예정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442"/>
          <p:cNvSpPr/>
          <p:nvPr/>
        </p:nvSpPr>
        <p:spPr>
          <a:xfrm>
            <a:off x="7620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3" name="o443"/>
          <p:cNvSpPr txBox="1"/>
          <p:nvPr/>
        </p:nvSpPr>
        <p:spPr>
          <a:xfrm>
            <a:off x="7620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Plan</a:t>
            </a:r>
            <a:endParaRPr lang="en-US" sz="1100" dirty="0"/>
          </a:p>
        </p:txBody>
      </p:sp>
      <p:sp>
        <p:nvSpPr>
          <p:cNvPr id="4" name="o444"/>
          <p:cNvSpPr/>
          <p:nvPr/>
        </p:nvSpPr>
        <p:spPr>
          <a:xfrm>
            <a:off x="34480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445"/>
          <p:cNvSpPr txBox="1"/>
          <p:nvPr/>
        </p:nvSpPr>
        <p:spPr>
          <a:xfrm>
            <a:off x="34480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Do</a:t>
            </a:r>
            <a:endParaRPr lang="en-US" sz="1100" dirty="0"/>
          </a:p>
        </p:txBody>
      </p:sp>
      <p:sp>
        <p:nvSpPr>
          <p:cNvPr id="6" name="o446"/>
          <p:cNvSpPr/>
          <p:nvPr/>
        </p:nvSpPr>
        <p:spPr>
          <a:xfrm>
            <a:off x="613410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447"/>
          <p:cNvSpPr txBox="1"/>
          <p:nvPr/>
        </p:nvSpPr>
        <p:spPr>
          <a:xfrm>
            <a:off x="613410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B2AA"/>
                </a:solidFill>
              </a:rPr>
              <a:t>Check</a:t>
            </a:r>
            <a:endParaRPr lang="en-US" sz="1100" dirty="0"/>
          </a:p>
        </p:txBody>
      </p:sp>
      <p:sp>
        <p:nvSpPr>
          <p:cNvPr id="8" name="o448"/>
          <p:cNvSpPr/>
          <p:nvPr/>
        </p:nvSpPr>
        <p:spPr>
          <a:xfrm>
            <a:off x="8820150" y="355600"/>
            <a:ext cx="2609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9" name="o449"/>
          <p:cNvSpPr txBox="1"/>
          <p:nvPr/>
        </p:nvSpPr>
        <p:spPr>
          <a:xfrm>
            <a:off x="8820150" y="444500"/>
            <a:ext cx="2609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7518"/>
                </a:solidFill>
              </a:rPr>
              <a:t>Act</a:t>
            </a:r>
            <a:endParaRPr lang="en-US" sz="1100" dirty="0"/>
          </a:p>
        </p:txBody>
      </p:sp>
      <p:sp>
        <p:nvSpPr>
          <p:cNvPr id="10" name="o450"/>
          <p:cNvSpPr txBox="1"/>
          <p:nvPr/>
        </p:nvSpPr>
        <p:spPr>
          <a:xfrm>
            <a:off x="762000" y="812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ACT  ·  결론 및 제언</a:t>
            </a:r>
            <a:endParaRPr lang="en-US" sz="1200" dirty="0"/>
          </a:p>
        </p:txBody>
      </p:sp>
      <p:sp>
        <p:nvSpPr>
          <p:cNvPr id="11" name="Text 2"/>
          <p:cNvSpPr/>
          <p:nvPr>
            <p:ph idx="102" type="title" hasCustomPrompt="1"/>
          </p:nvPr>
        </p:nvSpPr>
        <p:spPr>
          <a:xfrm>
            <a:off x="762000" y="1054100"/>
            <a:ext cx="1066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C"/>
                </a:solidFill>
              </a:rPr>
              <a:t>결론 및 제언</a:t>
            </a:r>
            <a:endParaRPr lang="en-US" sz="3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762000" y="15748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518"/>
                </a:solidFill>
              </a:rPr>
              <a:t>보건관리자가 직접 만든 플랫폼으로 안전 · 효율 · 환경을 함께 얻었습니다</a:t>
            </a:r>
            <a:endParaRPr lang="en-US" sz="1800" dirty="0"/>
          </a:p>
        </p:txBody>
      </p:sp>
      <p:sp>
        <p:nvSpPr>
          <p:cNvPr id="13" name="o451"/>
          <p:cNvSpPr/>
          <p:nvPr/>
        </p:nvSpPr>
        <p:spPr>
          <a:xfrm>
            <a:off x="762000" y="2095500"/>
            <a:ext cx="3384550" cy="2413000"/>
          </a:xfrm>
          <a:prstGeom prst="roundRect">
            <a:avLst>
              <a:gd name="adj" fmla="val 2105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14" name="o452"/>
          <p:cNvSpPr txBox="1"/>
          <p:nvPr/>
        </p:nvSpPr>
        <p:spPr>
          <a:xfrm>
            <a:off x="1041400" y="23241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안전</a:t>
            </a:r>
            <a:endParaRPr lang="en-US" sz="1500" dirty="0"/>
          </a:p>
        </p:txBody>
      </p:sp>
      <p:sp>
        <p:nvSpPr>
          <p:cNvPr id="15" name="o453"/>
          <p:cNvSpPr txBox="1"/>
          <p:nvPr/>
        </p:nvSpPr>
        <p:spPr>
          <a:xfrm>
            <a:off x="1041400" y="2667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E1E1C"/>
                </a:solidFill>
              </a:rPr>
              <a:t>0건</a:t>
            </a:r>
            <a:endParaRPr lang="en-US" sz="6000" dirty="0"/>
          </a:p>
        </p:txBody>
      </p:sp>
      <p:sp>
        <p:nvSpPr>
          <p:cNvPr id="16" name="o454"/>
          <p:cNvSpPr txBox="1"/>
          <p:nvPr/>
        </p:nvSpPr>
        <p:spPr>
          <a:xfrm>
            <a:off x="104140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법정교육 누락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(2025년 18건)</a:t>
            </a:r>
            <a:endParaRPr lang="en-US" sz="1400" dirty="0"/>
          </a:p>
        </p:txBody>
      </p:sp>
      <p:sp>
        <p:nvSpPr>
          <p:cNvPr id="17" name="o455"/>
          <p:cNvSpPr/>
          <p:nvPr/>
        </p:nvSpPr>
        <p:spPr>
          <a:xfrm>
            <a:off x="4400550" y="2095500"/>
            <a:ext cx="3384550" cy="2413000"/>
          </a:xfrm>
          <a:prstGeom prst="roundRect">
            <a:avLst>
              <a:gd name="adj" fmla="val 2105"/>
            </a:avLst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18" name="o456"/>
          <p:cNvSpPr txBox="1"/>
          <p:nvPr/>
        </p:nvSpPr>
        <p:spPr>
          <a:xfrm>
            <a:off x="4679950" y="23241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효율</a:t>
            </a:r>
            <a:endParaRPr lang="en-US" sz="1500" dirty="0"/>
          </a:p>
        </p:txBody>
      </p:sp>
      <p:sp>
        <p:nvSpPr>
          <p:cNvPr id="19" name="o457"/>
          <p:cNvSpPr txBox="1"/>
          <p:nvPr/>
        </p:nvSpPr>
        <p:spPr>
          <a:xfrm>
            <a:off x="4679950" y="2667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3F7518"/>
                </a:solidFill>
              </a:rPr>
              <a:t>93%</a:t>
            </a:r>
            <a:endParaRPr lang="en-US" sz="6000" dirty="0"/>
          </a:p>
        </p:txBody>
      </p:sp>
      <p:sp>
        <p:nvSpPr>
          <p:cNvPr id="20" name="o458"/>
          <p:cNvSpPr txBox="1"/>
          <p:nvPr/>
        </p:nvSpPr>
        <p:spPr>
          <a:xfrm>
            <a:off x="467995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행정 소요시간 단축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(33분 48초 → 2분 22초)</a:t>
            </a:r>
            <a:endParaRPr lang="en-US" sz="1400" dirty="0"/>
          </a:p>
        </p:txBody>
      </p:sp>
      <p:sp>
        <p:nvSpPr>
          <p:cNvPr id="21" name="o459"/>
          <p:cNvSpPr/>
          <p:nvPr/>
        </p:nvSpPr>
        <p:spPr>
          <a:xfrm>
            <a:off x="8039100" y="2095500"/>
            <a:ext cx="3384550" cy="2413000"/>
          </a:xfrm>
          <a:prstGeom prst="roundRect">
            <a:avLst>
              <a:gd name="adj" fmla="val 2105"/>
            </a:avLst>
          </a:prstGeom>
          <a:solidFill>
            <a:srgbClr val="F5F6F2"/>
          </a:solidFill>
          <a:ln w="12700">
            <a:solidFill>
              <a:srgbClr val="F5F6F2"/>
            </a:solidFill>
            <a:prstDash val="solid"/>
          </a:ln>
        </p:spPr>
      </p:sp>
      <p:sp>
        <p:nvSpPr>
          <p:cNvPr id="22" name="o460"/>
          <p:cNvSpPr txBox="1"/>
          <p:nvPr/>
        </p:nvSpPr>
        <p:spPr>
          <a:xfrm>
            <a:off x="8318500" y="23241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7518"/>
                </a:solidFill>
              </a:rPr>
              <a:t>ESG</a:t>
            </a:r>
            <a:endParaRPr lang="en-US" sz="1500" dirty="0"/>
          </a:p>
        </p:txBody>
      </p:sp>
      <p:sp>
        <p:nvSpPr>
          <p:cNvPr id="23" name="o461"/>
          <p:cNvSpPr txBox="1"/>
          <p:nvPr/>
        </p:nvSpPr>
        <p:spPr>
          <a:xfrm>
            <a:off x="8318500" y="2667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E1E1C"/>
                </a:solidFill>
              </a:rPr>
              <a:t>0건</a:t>
            </a:r>
            <a:endParaRPr lang="en-US" sz="6000" dirty="0"/>
          </a:p>
        </p:txBody>
      </p:sp>
      <p:sp>
        <p:nvSpPr>
          <p:cNvPr id="24" name="o462"/>
          <p:cNvSpPr txBox="1"/>
          <p:nvPr/>
        </p:nvSpPr>
        <p:spPr>
          <a:xfrm>
            <a:off x="831850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종이 출력 · 바인더 편철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5423D"/>
                </a:solidFill>
              </a:rPr>
              <a:t>(연 94건)</a:t>
            </a:r>
            <a:endParaRPr lang="en-US" sz="1400" dirty="0"/>
          </a:p>
        </p:txBody>
      </p:sp>
      <p:sp>
        <p:nvSpPr>
          <p:cNvPr id="25" name="o463"/>
          <p:cNvSpPr txBox="1"/>
          <p:nvPr/>
        </p:nvSpPr>
        <p:spPr>
          <a:xfrm>
            <a:off x="762000" y="4826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7518"/>
                </a:solidFill>
              </a:rPr>
              <a:t>제언</a:t>
            </a:r>
            <a:endParaRPr lang="en-US" sz="1400" dirty="0"/>
          </a:p>
        </p:txBody>
      </p:sp>
      <p:sp>
        <p:nvSpPr>
          <p:cNvPr id="26" name="o464"/>
          <p:cNvSpPr/>
          <p:nvPr/>
        </p:nvSpPr>
        <p:spPr>
          <a:xfrm>
            <a:off x="762000" y="5181600"/>
            <a:ext cx="254000" cy="254000"/>
          </a:xfrm>
          <a:prstGeom prst="ellipse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27" name="o465"/>
          <p:cNvSpPr txBox="1"/>
          <p:nvPr/>
        </p:nvSpPr>
        <p:spPr>
          <a:xfrm>
            <a:off x="762000" y="51816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o466"/>
          <p:cNvSpPr txBox="1"/>
          <p:nvPr/>
        </p:nvSpPr>
        <p:spPr>
          <a:xfrm>
            <a:off x="1168400" y="51435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C"/>
                </a:solidFill>
              </a:rPr>
              <a:t>고도화 기능(AI MSDS 검토 · 신규입사 알림)의 효과를 동일 지표로 하반기까지 측정</a:t>
            </a:r>
            <a:endParaRPr lang="en-US" sz="1600" dirty="0"/>
          </a:p>
        </p:txBody>
      </p:sp>
      <p:sp>
        <p:nvSpPr>
          <p:cNvPr id="29" name="o467"/>
          <p:cNvSpPr/>
          <p:nvPr/>
        </p:nvSpPr>
        <p:spPr>
          <a:xfrm>
            <a:off x="762000" y="5664200"/>
            <a:ext cx="254000" cy="254000"/>
          </a:xfrm>
          <a:prstGeom prst="ellipse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30" name="o468"/>
          <p:cNvSpPr txBox="1"/>
          <p:nvPr/>
        </p:nvSpPr>
        <p:spPr>
          <a:xfrm>
            <a:off x="762000" y="5664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7518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o469"/>
          <p:cNvSpPr txBox="1"/>
          <p:nvPr/>
        </p:nvSpPr>
        <p:spPr>
          <a:xfrm>
            <a:off x="1168400" y="56261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C"/>
                </a:solidFill>
              </a:rPr>
              <a:t>AI 위험성평가로 근로자 참여형 수시 위험성평가 확대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00" y="6616700"/>
            <a:ext cx="889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470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EEF6E6"/>
          </a:solidFill>
          <a:ln w="12700">
            <a:solidFill>
              <a:srgbClr val="EEF6E6"/>
            </a:solidFill>
            <a:prstDash val="solid"/>
          </a:ln>
        </p:spPr>
      </p:sp>
      <p:sp>
        <p:nvSpPr>
          <p:cNvPr id="3" name="o471"/>
          <p:cNvSpPr/>
          <p:nvPr/>
        </p:nvSpPr>
        <p:spPr>
          <a:xfrm>
            <a:off x="76200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4" name="o472"/>
          <p:cNvSpPr/>
          <p:nvPr/>
        </p:nvSpPr>
        <p:spPr>
          <a:xfrm>
            <a:off x="243205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5" name="o473"/>
          <p:cNvSpPr/>
          <p:nvPr/>
        </p:nvSpPr>
        <p:spPr>
          <a:xfrm>
            <a:off x="410210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6" name="o474"/>
          <p:cNvSpPr/>
          <p:nvPr/>
        </p:nvSpPr>
        <p:spPr>
          <a:xfrm>
            <a:off x="5772150" y="762000"/>
            <a:ext cx="1593850" cy="381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7" name="o475"/>
          <p:cNvSpPr txBox="1"/>
          <p:nvPr/>
        </p:nvSpPr>
        <p:spPr>
          <a:xfrm>
            <a:off x="762000" y="2413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1E1C"/>
                </a:solidFill>
              </a:rPr>
              <a:t>감사합니다</a:t>
            </a:r>
            <a:endParaRPr lang="en-US" sz="5400" dirty="0"/>
          </a:p>
        </p:txBody>
      </p:sp>
      <p:sp>
        <p:nvSpPr>
          <p:cNvPr id="8" name="o476"/>
          <p:cNvSpPr txBox="1"/>
          <p:nvPr/>
        </p:nvSpPr>
        <p:spPr>
          <a:xfrm>
            <a:off x="762000" y="3238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F7518"/>
                </a:solidFill>
              </a:rPr>
              <a:t>질의응답</a:t>
            </a:r>
            <a:endParaRPr lang="en-US" sz="2000" dirty="0"/>
          </a:p>
        </p:txBody>
      </p:sp>
      <p:sp>
        <p:nvSpPr>
          <p:cNvPr id="9" name="o477"/>
          <p:cNvSpPr/>
          <p:nvPr/>
        </p:nvSpPr>
        <p:spPr>
          <a:xfrm>
            <a:off x="762000" y="3810000"/>
            <a:ext cx="508000" cy="25400"/>
          </a:xfrm>
          <a:prstGeom prst="rect">
            <a:avLst/>
          </a:prstGeom>
          <a:solidFill>
            <a:srgbClr val="67AF28"/>
          </a:solidFill>
          <a:ln w="12700">
            <a:solidFill>
              <a:srgbClr val="67AF28"/>
            </a:solidFill>
            <a:prstDash val="solid"/>
          </a:ln>
        </p:spPr>
      </p:sp>
      <p:sp>
        <p:nvSpPr>
          <p:cNvPr id="10" name="o478"/>
          <p:cNvSpPr txBox="1"/>
          <p:nvPr/>
        </p:nvSpPr>
        <p:spPr>
          <a:xfrm>
            <a:off x="762000" y="40005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5423D"/>
                </a:solidFill>
              </a:rPr>
              <a:t>총무-안전보건팀 (Safety First)  ·  인당의료재단 부민병원</a:t>
            </a:r>
            <a:endParaRPr lang="en-US" sz="1500" dirty="0"/>
          </a:p>
        </p:txBody>
      </p:sp>
      <p:sp>
        <p:nvSpPr>
          <p:cNvPr id="11" name="o479"/>
          <p:cNvSpPr txBox="1"/>
          <p:nvPr/>
        </p:nvSpPr>
        <p:spPr>
          <a:xfrm>
            <a:off x="762000" y="4292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650"/>
                </a:solidFill>
              </a:rPr>
              <a:t>문의  보건관리실 내선 3293 · 3034</a:t>
            </a:r>
            <a:endParaRPr lang="en-US" sz="1500" dirty="0"/>
          </a:p>
        </p:txBody>
      </p:sp>
      <p:sp>
        <p:nvSpPr>
          <p:cNvPr id="12" name="o480"/>
          <p:cNvSpPr/>
          <p:nvPr/>
        </p:nvSpPr>
        <p:spPr>
          <a:xfrm>
            <a:off x="9398000" y="2413000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4E2DC"/>
            </a:solidFill>
            <a:prstDash val="solid"/>
          </a:ln>
        </p:spPr>
      </p:sp>
      <p:sp>
        <p:nvSpPr>
          <p:cNvPr id="13" name="o481"/>
          <p:cNvSpPr txBox="1"/>
          <p:nvPr/>
        </p:nvSpPr>
        <p:spPr>
          <a:xfrm>
            <a:off x="9398000" y="2413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B2AA"/>
                </a:solidFill>
              </a:rPr>
              <a:t>플랫폼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5B2AA"/>
                </a:solidFill>
              </a:rPr>
              <a:t>접속 QR</a:t>
            </a:r>
            <a:endParaRPr lang="en-US" sz="1400" dirty="0"/>
          </a:p>
        </p:txBody>
      </p:sp>
      <p:sp>
        <p:nvSpPr>
          <p:cNvPr id="14" name="o482"/>
          <p:cNvSpPr txBox="1"/>
          <p:nvPr/>
        </p:nvSpPr>
        <p:spPr>
          <a:xfrm>
            <a:off x="8890000" y="40640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50"/>
                </a:solidFill>
              </a:rPr>
              <a:t>QR 이미지로 바꿔 넣기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min Safety">
  <a:themeElements>
    <a:clrScheme name="Bumin Safety">
      <a:dk1>
        <a:srgbClr val="1E1E1C"/>
      </a:dk1>
      <a:lt1>
        <a:srgbClr val="FFFFFF"/>
      </a:lt1>
      <a:dk2>
        <a:srgbClr val="45423D"/>
      </a:dk2>
      <a:lt2>
        <a:srgbClr val="F5F6F2"/>
      </a:lt2>
      <a:accent1>
        <a:srgbClr val="67AF28"/>
      </a:accent1>
      <a:accent2>
        <a:srgbClr val="3F7518"/>
      </a:accent2>
      <a:accent3>
        <a:srgbClr val="345C12"/>
      </a:accent3>
      <a:accent4>
        <a:srgbClr val="A3302A"/>
      </a:accent4>
      <a:accent5>
        <a:srgbClr val="B5B2AA"/>
      </a:accent5>
      <a:accent6>
        <a:srgbClr val="CFE5BA"/>
      </a:accent6>
      <a:hlink>
        <a:srgbClr val="3F7518"/>
      </a:hlink>
      <a:folHlink>
        <a:srgbClr val="345C12"/>
      </a:folHlink>
    </a:clrScheme>
    <a:fontScheme name="Bumin Safet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통합 안전보건 플랫폼 구축을 통한 업무 효율성 증가</dc:title>
  <dc:subject>PptxGenJS Presentation</dc:subject>
  <dc:creator>총무-안전보건팀 (Safety First)</dc:creator>
  <cp:lastModifiedBy>총무-안전보건팀 (Safety First)</cp:lastModifiedBy>
  <cp:revision>1</cp:revision>
  <dcterms:created xsi:type="dcterms:W3CDTF">2026-10-27T05:39:52Z</dcterms:created>
  <dcterms:modified xsi:type="dcterms:W3CDTF">2026-10-27T05:39:52Z</dcterms:modified>
</cp:coreProperties>
</file>